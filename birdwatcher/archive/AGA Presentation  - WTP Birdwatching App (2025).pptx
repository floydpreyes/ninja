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3_2740AF57.xml" ContentType="application/vnd.ms-powerpoint.comments+xml"/>
  <Override PartName="/ppt/comments/modernComment_1F0_10F5A084.xml" ContentType="application/vnd.ms-powerpoint.comments+xml"/>
  <Override PartName="/ppt/comments/modernComment_1EE_865F779A.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257" r:id="rId5"/>
    <p:sldId id="258" r:id="rId6"/>
    <p:sldId id="259" r:id="rId7"/>
    <p:sldId id="495" r:id="rId8"/>
    <p:sldId id="497" r:id="rId9"/>
    <p:sldId id="496" r:id="rId10"/>
    <p:sldId id="494" r:id="rId11"/>
    <p:sldId id="498" r:id="rId12"/>
    <p:sldId id="261" r:id="rId13"/>
    <p:sldId id="262" r:id="rId14"/>
    <p:sldId id="260" r:id="rId15"/>
    <p:sldId id="48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9F7EE0-740B-0440-F1EE-EE19D8F8B28E}" name="Gary Franks" initials="GF" userId="S::gary.franks@melbournewater.com.au::1e652f70-5a52-41fc-aa9e-c2ea77c71588" providerId="AD"/>
  <p188:author id="{FD161CE6-2ABC-6612-9958-1B15773C053D}" name="Alistair McIntosh" initials="AM" userId="S::alistair.mcintosh@melbournewater.com.au::621ad4d6-778b-46ee-bb82-30ef86c5dc3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B5D8FF"/>
    <a:srgbClr val="DAC396"/>
    <a:srgbClr val="F9DD77"/>
    <a:srgbClr val="FF3737"/>
    <a:srgbClr val="FF69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E7B956-42FC-1294-B4CF-4D2FDE85578B}" v="4" dt="2025-11-12T03:53:24.101"/>
  </p1510:revLst>
</p1510:revInfo>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94" autoAdjust="0"/>
    <p:restoredTop sz="94660"/>
  </p:normalViewPr>
  <p:slideViewPr>
    <p:cSldViewPr snapToGrid="0">
      <p:cViewPr varScale="1">
        <p:scale>
          <a:sx n="111" d="100"/>
          <a:sy n="111" d="100"/>
        </p:scale>
        <p:origin x="62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omments/modernComment_1EE_865F779A.xml><?xml version="1.0" encoding="utf-8"?>
<p188:cmLst xmlns:a="http://schemas.openxmlformats.org/drawingml/2006/main" xmlns:r="http://schemas.openxmlformats.org/officeDocument/2006/relationships" xmlns:p188="http://schemas.microsoft.com/office/powerpoint/2018/8/main">
  <p188:cm id="{7DCE4E2E-0B89-42F9-8AB1-7FE2CA2FA65D}" authorId="{FD161CE6-2ABC-6612-9958-1B15773C053D}" created="2025-11-12T03:53:24.101">
    <pc:sldMkLst xmlns:pc="http://schemas.microsoft.com/office/powerpoint/2013/main/command">
      <pc:docMk/>
      <pc:sldMk cId="2254403482" sldId="494"/>
    </pc:sldMkLst>
    <p188:txBody>
      <a:bodyPr/>
      <a:lstStyle/>
      <a:p>
        <a:r>
          <a:rPr lang="en-US"/>
          <a:t>Aiming to use new electronic gates via Gallagher app rather than NOKE padlock. Permits are currently maintained in SharePoint spreadsheet. Is design to use MySQL instead?</a:t>
        </a:r>
      </a:p>
    </p188:txBody>
  </p188:cm>
</p188:cmLst>
</file>

<file path=ppt/comments/modernComment_1F0_10F5A084.xml><?xml version="1.0" encoding="utf-8"?>
<p188:cmLst xmlns:a="http://schemas.openxmlformats.org/drawingml/2006/main" xmlns:r="http://schemas.openxmlformats.org/officeDocument/2006/relationships" xmlns:p188="http://schemas.microsoft.com/office/powerpoint/2018/8/main">
  <p188:cm id="{50BAC13A-ABD0-43CC-8084-8E2606B05DB0}" authorId="{FD161CE6-2ABC-6612-9958-1B15773C053D}" created="2025-11-12T03:46:44.503">
    <pc:sldMkLst xmlns:pc="http://schemas.microsoft.com/office/powerpoint/2013/main/command">
      <pc:docMk/>
      <pc:sldMk cId="284532868" sldId="496"/>
    </pc:sldMkLst>
    <p188:txBody>
      <a:bodyPr/>
      <a:lstStyle/>
      <a:p>
        <a:r>
          <a:rPr lang="en-US"/>
          <a:t>WTP operator can push messages/alerts to mobile app as well. Aiming to utilise new electronic gates, to be opened via mobile app connecting by Bluetooth</a:t>
        </a:r>
      </a:p>
    </p188:txBody>
    <p188:extLst>
      <p:ext xmlns:p="http://schemas.openxmlformats.org/presentationml/2006/main" uri="{57CB4572-C831-44C2-8A1C-0ADB6CCDFE69}">
        <p223:reactions xmlns:p223="http://schemas.microsoft.com/office/powerpoint/2022/03/main">
          <p223:rxn type="👍">
            <p223:instance time="2025-11-12T22:09:04.850" authorId="{239F7EE0-740B-0440-F1EE-EE19D8F8B28E}"/>
          </p223:rxn>
        </p223:reactions>
      </p:ext>
    </p188:extLst>
  </p188:cm>
</p188:cmLst>
</file>

<file path=ppt/comments/modernComment_103_2740AF57.xml><?xml version="1.0" encoding="utf-8"?>
<p188:cmLst xmlns:a="http://schemas.openxmlformats.org/drawingml/2006/main" xmlns:r="http://schemas.openxmlformats.org/officeDocument/2006/relationships" xmlns:p188="http://schemas.microsoft.com/office/powerpoint/2018/8/main">
  <p188:cm id="{66B144F3-087F-4F38-A4F7-BE956A3598E5}" authorId="{FD161CE6-2ABC-6612-9958-1B15773C053D}" created="2025-11-12T02:57:24.668">
    <ac:txMkLst xmlns:ac="http://schemas.microsoft.com/office/drawing/2013/main/command">
      <pc:docMk xmlns:pc="http://schemas.microsoft.com/office/powerpoint/2013/main/command"/>
      <pc:sldMk xmlns:pc="http://schemas.microsoft.com/office/powerpoint/2013/main/command" cId="658550615" sldId="259"/>
      <ac:spMk id="21" creationId="{00000000-0000-0000-0000-000000000000}"/>
      <ac:txMk cp="19" len="82">
        <ac:context len="527" hash="3115126668"/>
      </ac:txMk>
    </ac:txMkLst>
    <p188:pos x="2734849" y="772438"/>
    <p188:txBody>
      <a:bodyPr/>
      <a:lstStyle/>
      <a:p>
        <a:r>
          <a:rPr lang="en-US"/>
          <a:t>The PoC was not completed by the Innovation team. This is in scope for the IT project. Plan is to publish the iOS app and host a web app for end users and WTP to test.</a:t>
        </a:r>
      </a:p>
    </p188:txBody>
    <p188:extLst>
      <p:ext xmlns:p="http://schemas.openxmlformats.org/presentationml/2006/main" uri="{57CB4572-C831-44C2-8A1C-0ADB6CCDFE69}">
        <p223:reactions xmlns:p223="http://schemas.microsoft.com/office/powerpoint/2022/03/main">
          <p223:rxn type="👍">
            <p223:instance time="2025-11-12T22:10:53.712" authorId="{239F7EE0-740B-0440-F1EE-EE19D8F8B28E}"/>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D36F0A-2F6F-4FB1-BC76-F86F51C699CC}" type="datetimeFigureOut">
              <a:rPr lang="en-AU" smtClean="0"/>
              <a:t>24/03/2026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C9B8BC-E4FD-4508-A5F5-FF7A9576369F}" type="slidenum">
              <a:rPr lang="en-AU" smtClean="0"/>
              <a:t>‹#›</a:t>
            </a:fld>
            <a:endParaRPr lang="en-AU"/>
          </a:p>
        </p:txBody>
      </p:sp>
    </p:spTree>
    <p:extLst>
      <p:ext uri="{BB962C8B-B14F-4D97-AF65-F5344CB8AC3E}">
        <p14:creationId xmlns:p14="http://schemas.microsoft.com/office/powerpoint/2010/main" val="124344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A">
    <p:bg bwMode="ltGray">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22" name="Rectangle 21" descr="&lt;mode=4x3&gt;&#10;&lt;size&gt;h=82.5;w=720&lt;size/&gt;&#10;&lt;pos&gt;top=457.5;left=0.24&lt;pos/&gt;&#10;&lt;mode/&gt;&#10;&lt;mode=16x9&gt;&#10;&lt;size&gt;h=61.87504;w=720&lt;size/&gt;&#10;&lt;pos&gt;top=343.128;left=0.24&lt;pos/&gt;&#10;&lt;mode/&gt;"/>
          <p:cNvSpPr/>
          <p:nvPr userDrawn="1"/>
        </p:nvSpPr>
        <p:spPr bwMode="white">
          <a:xfrm>
            <a:off x="4064" y="5810301"/>
            <a:ext cx="12192000" cy="1047751"/>
          </a:xfrm>
          <a:prstGeom prst="rect">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grpSp>
        <p:nvGrpSpPr>
          <p:cNvPr id="5" name="logo_ripples_bar_mid-16x9" descr="&lt;mode=16x9&gt;&#10;&lt;size&gt;h=161.6007;w=720&lt;size/&gt;&#10;&lt;pos&gt;top=181.481;left=0&lt;pos/&gt;&#10;&lt;mode/&gt;" hidden="1"/>
          <p:cNvGrpSpPr/>
          <p:nvPr userDrawn="1"/>
        </p:nvGrpSpPr>
        <p:grpSpPr>
          <a:xfrm>
            <a:off x="0" y="3073079"/>
            <a:ext cx="12192000" cy="2736439"/>
            <a:chOff x="0" y="2304809"/>
            <a:chExt cx="9144000" cy="2052329"/>
          </a:xfrm>
        </p:grpSpPr>
        <p:sp>
          <p:nvSpPr>
            <p:cNvPr id="28" name="base_bar" hidden="1"/>
            <p:cNvSpPr>
              <a:spLocks/>
            </p:cNvSpPr>
            <p:nvPr userDrawn="1"/>
          </p:nvSpPr>
          <p:spPr bwMode="ltGray">
            <a:xfrm>
              <a:off x="0" y="2640806"/>
              <a:ext cx="9144000" cy="1716332"/>
            </a:xfrm>
            <a:custGeom>
              <a:avLst/>
              <a:gdLst>
                <a:gd name="T0" fmla="*/ 0 w 2880"/>
                <a:gd name="T1" fmla="*/ 791 h 791"/>
                <a:gd name="T2" fmla="*/ 0 w 2880"/>
                <a:gd name="T3" fmla="*/ 0 h 791"/>
                <a:gd name="T4" fmla="*/ 1990 w 2880"/>
                <a:gd name="T5" fmla="*/ 0 h 791"/>
                <a:gd name="T6" fmla="*/ 1989 w 2880"/>
                <a:gd name="T7" fmla="*/ 2 h 791"/>
                <a:gd name="T8" fmla="*/ 1959 w 2880"/>
                <a:gd name="T9" fmla="*/ 175 h 791"/>
                <a:gd name="T10" fmla="*/ 2214 w 2880"/>
                <a:gd name="T11" fmla="*/ 390 h 791"/>
                <a:gd name="T12" fmla="*/ 2258 w 2880"/>
                <a:gd name="T13" fmla="*/ 386 h 791"/>
                <a:gd name="T14" fmla="*/ 2336 w 2880"/>
                <a:gd name="T15" fmla="*/ 359 h 791"/>
                <a:gd name="T16" fmla="*/ 2333 w 2880"/>
                <a:gd name="T17" fmla="*/ 441 h 791"/>
                <a:gd name="T18" fmla="*/ 2525 w 2880"/>
                <a:gd name="T19" fmla="*/ 603 h 791"/>
                <a:gd name="T20" fmla="*/ 2559 w 2880"/>
                <a:gd name="T21" fmla="*/ 600 h 791"/>
                <a:gd name="T22" fmla="*/ 2718 w 2880"/>
                <a:gd name="T23" fmla="*/ 374 h 791"/>
                <a:gd name="T24" fmla="*/ 2618 w 2880"/>
                <a:gd name="T25" fmla="*/ 236 h 791"/>
                <a:gd name="T26" fmla="*/ 2710 w 2880"/>
                <a:gd name="T27" fmla="*/ 81 h 791"/>
                <a:gd name="T28" fmla="*/ 2667 w 2880"/>
                <a:gd name="T29" fmla="*/ 2 h 791"/>
                <a:gd name="T30" fmla="*/ 2665 w 2880"/>
                <a:gd name="T31" fmla="*/ 0 h 791"/>
                <a:gd name="T32" fmla="*/ 2880 w 2880"/>
                <a:gd name="T33" fmla="*/ 0 h 791"/>
                <a:gd name="T34" fmla="*/ 2880 w 2880"/>
                <a:gd name="T35" fmla="*/ 791 h 791"/>
                <a:gd name="T36" fmla="*/ 0 w 2880"/>
                <a:gd name="T37" fmla="*/ 791 h 791"/>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8111 w 10000"/>
                <a:gd name="connsiteY7" fmla="*/ 4539 h 10000"/>
                <a:gd name="connsiteX8" fmla="*/ 8101 w 10000"/>
                <a:gd name="connsiteY8" fmla="*/ 5575 h 10000"/>
                <a:gd name="connsiteX9" fmla="*/ 8767 w 10000"/>
                <a:gd name="connsiteY9" fmla="*/ 7623 h 10000"/>
                <a:gd name="connsiteX10" fmla="*/ 8885 w 10000"/>
                <a:gd name="connsiteY10" fmla="*/ 7585 h 10000"/>
                <a:gd name="connsiteX11" fmla="*/ 9438 w 10000"/>
                <a:gd name="connsiteY11" fmla="*/ 4728 h 10000"/>
                <a:gd name="connsiteX12" fmla="*/ 9410 w 10000"/>
                <a:gd name="connsiteY12" fmla="*/ 1024 h 10000"/>
                <a:gd name="connsiteX13" fmla="*/ 9260 w 10000"/>
                <a:gd name="connsiteY13" fmla="*/ 25 h 10000"/>
                <a:gd name="connsiteX14" fmla="*/ 9253 w 10000"/>
                <a:gd name="connsiteY14" fmla="*/ 0 h 10000"/>
                <a:gd name="connsiteX15" fmla="*/ 10000 w 10000"/>
                <a:gd name="connsiteY15" fmla="*/ 0 h 10000"/>
                <a:gd name="connsiteX16" fmla="*/ 10000 w 10000"/>
                <a:gd name="connsiteY16" fmla="*/ 10000 h 10000"/>
                <a:gd name="connsiteX17" fmla="*/ 0 w 10000"/>
                <a:gd name="connsiteY17"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8111 w 10000"/>
                <a:gd name="connsiteY7" fmla="*/ 4539 h 10000"/>
                <a:gd name="connsiteX8" fmla="*/ 8101 w 10000"/>
                <a:gd name="connsiteY8" fmla="*/ 5575 h 10000"/>
                <a:gd name="connsiteX9" fmla="*/ 8767 w 10000"/>
                <a:gd name="connsiteY9" fmla="*/ 7623 h 10000"/>
                <a:gd name="connsiteX10" fmla="*/ 8885 w 10000"/>
                <a:gd name="connsiteY10" fmla="*/ 7585 h 10000"/>
                <a:gd name="connsiteX11" fmla="*/ 9410 w 10000"/>
                <a:gd name="connsiteY11" fmla="*/ 1024 h 10000"/>
                <a:gd name="connsiteX12" fmla="*/ 9260 w 10000"/>
                <a:gd name="connsiteY12" fmla="*/ 25 h 10000"/>
                <a:gd name="connsiteX13" fmla="*/ 9253 w 10000"/>
                <a:gd name="connsiteY13" fmla="*/ 0 h 10000"/>
                <a:gd name="connsiteX14" fmla="*/ 10000 w 10000"/>
                <a:gd name="connsiteY14" fmla="*/ 0 h 10000"/>
                <a:gd name="connsiteX15" fmla="*/ 10000 w 10000"/>
                <a:gd name="connsiteY15" fmla="*/ 10000 h 10000"/>
                <a:gd name="connsiteX16" fmla="*/ 0 w 10000"/>
                <a:gd name="connsiteY16"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8111 w 10000"/>
                <a:gd name="connsiteY7" fmla="*/ 4539 h 10000"/>
                <a:gd name="connsiteX8" fmla="*/ 8101 w 10000"/>
                <a:gd name="connsiteY8" fmla="*/ 5575 h 10000"/>
                <a:gd name="connsiteX9" fmla="*/ 8767 w 10000"/>
                <a:gd name="connsiteY9" fmla="*/ 7623 h 10000"/>
                <a:gd name="connsiteX10" fmla="*/ 9410 w 10000"/>
                <a:gd name="connsiteY10" fmla="*/ 1024 h 10000"/>
                <a:gd name="connsiteX11" fmla="*/ 9260 w 10000"/>
                <a:gd name="connsiteY11" fmla="*/ 25 h 10000"/>
                <a:gd name="connsiteX12" fmla="*/ 9253 w 10000"/>
                <a:gd name="connsiteY12" fmla="*/ 0 h 10000"/>
                <a:gd name="connsiteX13" fmla="*/ 10000 w 10000"/>
                <a:gd name="connsiteY13" fmla="*/ 0 h 10000"/>
                <a:gd name="connsiteX14" fmla="*/ 10000 w 10000"/>
                <a:gd name="connsiteY14" fmla="*/ 10000 h 10000"/>
                <a:gd name="connsiteX15" fmla="*/ 0 w 10000"/>
                <a:gd name="connsiteY15"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8111 w 10000"/>
                <a:gd name="connsiteY7" fmla="*/ 4539 h 10000"/>
                <a:gd name="connsiteX8" fmla="*/ 8101 w 10000"/>
                <a:gd name="connsiteY8" fmla="*/ 5575 h 10000"/>
                <a:gd name="connsiteX9" fmla="*/ 9410 w 10000"/>
                <a:gd name="connsiteY9" fmla="*/ 1024 h 10000"/>
                <a:gd name="connsiteX10" fmla="*/ 9260 w 10000"/>
                <a:gd name="connsiteY10" fmla="*/ 25 h 10000"/>
                <a:gd name="connsiteX11" fmla="*/ 9253 w 10000"/>
                <a:gd name="connsiteY11" fmla="*/ 0 h 10000"/>
                <a:gd name="connsiteX12" fmla="*/ 10000 w 10000"/>
                <a:gd name="connsiteY12" fmla="*/ 0 h 10000"/>
                <a:gd name="connsiteX13" fmla="*/ 10000 w 10000"/>
                <a:gd name="connsiteY13" fmla="*/ 10000 h 10000"/>
                <a:gd name="connsiteX14" fmla="*/ 0 w 10000"/>
                <a:gd name="connsiteY14"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8111 w 10000"/>
                <a:gd name="connsiteY7" fmla="*/ 4539 h 10000"/>
                <a:gd name="connsiteX8" fmla="*/ 8101 w 10000"/>
                <a:gd name="connsiteY8" fmla="*/ 5575 h 10000"/>
                <a:gd name="connsiteX9" fmla="*/ 9260 w 10000"/>
                <a:gd name="connsiteY9" fmla="*/ 25 h 10000"/>
                <a:gd name="connsiteX10" fmla="*/ 9253 w 10000"/>
                <a:gd name="connsiteY10" fmla="*/ 0 h 10000"/>
                <a:gd name="connsiteX11" fmla="*/ 10000 w 10000"/>
                <a:gd name="connsiteY11" fmla="*/ 0 h 10000"/>
                <a:gd name="connsiteX12" fmla="*/ 10000 w 10000"/>
                <a:gd name="connsiteY12" fmla="*/ 10000 h 10000"/>
                <a:gd name="connsiteX13" fmla="*/ 0 w 10000"/>
                <a:gd name="connsiteY13"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8111 w 10000"/>
                <a:gd name="connsiteY7" fmla="*/ 4539 h 10000"/>
                <a:gd name="connsiteX8" fmla="*/ 9260 w 10000"/>
                <a:gd name="connsiteY8" fmla="*/ 25 h 10000"/>
                <a:gd name="connsiteX9" fmla="*/ 9253 w 10000"/>
                <a:gd name="connsiteY9" fmla="*/ 0 h 10000"/>
                <a:gd name="connsiteX10" fmla="*/ 10000 w 10000"/>
                <a:gd name="connsiteY10" fmla="*/ 0 h 10000"/>
                <a:gd name="connsiteX11" fmla="*/ 10000 w 10000"/>
                <a:gd name="connsiteY11" fmla="*/ 10000 h 10000"/>
                <a:gd name="connsiteX12" fmla="*/ 0 w 10000"/>
                <a:gd name="connsiteY12"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9260 w 10000"/>
                <a:gd name="connsiteY7" fmla="*/ 25 h 10000"/>
                <a:gd name="connsiteX8" fmla="*/ 9253 w 10000"/>
                <a:gd name="connsiteY8" fmla="*/ 0 h 10000"/>
                <a:gd name="connsiteX9" fmla="*/ 10000 w 10000"/>
                <a:gd name="connsiteY9" fmla="*/ 0 h 10000"/>
                <a:gd name="connsiteX10" fmla="*/ 10000 w 10000"/>
                <a:gd name="connsiteY10" fmla="*/ 10000 h 10000"/>
                <a:gd name="connsiteX11" fmla="*/ 0 w 10000"/>
                <a:gd name="connsiteY11"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7833 w 10000"/>
                <a:gd name="connsiteY7" fmla="*/ 4875 h 10000"/>
                <a:gd name="connsiteX8" fmla="*/ 9260 w 10000"/>
                <a:gd name="connsiteY8" fmla="*/ 25 h 10000"/>
                <a:gd name="connsiteX9" fmla="*/ 9253 w 10000"/>
                <a:gd name="connsiteY9" fmla="*/ 0 h 10000"/>
                <a:gd name="connsiteX10" fmla="*/ 10000 w 10000"/>
                <a:gd name="connsiteY10" fmla="*/ 0 h 10000"/>
                <a:gd name="connsiteX11" fmla="*/ 10000 w 10000"/>
                <a:gd name="connsiteY11" fmla="*/ 10000 h 10000"/>
                <a:gd name="connsiteX12" fmla="*/ 0 w 10000"/>
                <a:gd name="connsiteY12"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9260 w 10000"/>
                <a:gd name="connsiteY7" fmla="*/ 25 h 10000"/>
                <a:gd name="connsiteX8" fmla="*/ 9253 w 10000"/>
                <a:gd name="connsiteY8" fmla="*/ 0 h 10000"/>
                <a:gd name="connsiteX9" fmla="*/ 10000 w 10000"/>
                <a:gd name="connsiteY9" fmla="*/ 0 h 10000"/>
                <a:gd name="connsiteX10" fmla="*/ 10000 w 10000"/>
                <a:gd name="connsiteY10" fmla="*/ 10000 h 10000"/>
                <a:gd name="connsiteX11" fmla="*/ 0 w 10000"/>
                <a:gd name="connsiteY11"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9260 w 10000"/>
                <a:gd name="connsiteY6" fmla="*/ 25 h 10000"/>
                <a:gd name="connsiteX7" fmla="*/ 9253 w 10000"/>
                <a:gd name="connsiteY7" fmla="*/ 0 h 10000"/>
                <a:gd name="connsiteX8" fmla="*/ 10000 w 10000"/>
                <a:gd name="connsiteY8" fmla="*/ 0 h 10000"/>
                <a:gd name="connsiteX9" fmla="*/ 10000 w 10000"/>
                <a:gd name="connsiteY9" fmla="*/ 10000 h 10000"/>
                <a:gd name="connsiteX10" fmla="*/ 0 w 10000"/>
                <a:gd name="connsiteY10"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9260 w 10000"/>
                <a:gd name="connsiteY5" fmla="*/ 25 h 10000"/>
                <a:gd name="connsiteX6" fmla="*/ 9253 w 10000"/>
                <a:gd name="connsiteY6" fmla="*/ 0 h 10000"/>
                <a:gd name="connsiteX7" fmla="*/ 10000 w 10000"/>
                <a:gd name="connsiteY7" fmla="*/ 0 h 10000"/>
                <a:gd name="connsiteX8" fmla="*/ 10000 w 10000"/>
                <a:gd name="connsiteY8" fmla="*/ 10000 h 10000"/>
                <a:gd name="connsiteX9" fmla="*/ 0 w 10000"/>
                <a:gd name="connsiteY9"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9260 w 10000"/>
                <a:gd name="connsiteY4" fmla="*/ 25 h 10000"/>
                <a:gd name="connsiteX5" fmla="*/ 9253 w 10000"/>
                <a:gd name="connsiteY5" fmla="*/ 0 h 10000"/>
                <a:gd name="connsiteX6" fmla="*/ 10000 w 10000"/>
                <a:gd name="connsiteY6" fmla="*/ 0 h 10000"/>
                <a:gd name="connsiteX7" fmla="*/ 10000 w 10000"/>
                <a:gd name="connsiteY7" fmla="*/ 10000 h 10000"/>
                <a:gd name="connsiteX8" fmla="*/ 0 w 10000"/>
                <a:gd name="connsiteY8" fmla="*/ 10000 h 10000"/>
                <a:gd name="connsiteX0" fmla="*/ 0 w 10000"/>
                <a:gd name="connsiteY0" fmla="*/ 10000 h 10000"/>
                <a:gd name="connsiteX1" fmla="*/ 0 w 10000"/>
                <a:gd name="connsiteY1" fmla="*/ 0 h 10000"/>
                <a:gd name="connsiteX2" fmla="*/ 6910 w 10000"/>
                <a:gd name="connsiteY2" fmla="*/ 0 h 10000"/>
                <a:gd name="connsiteX3" fmla="*/ 9260 w 10000"/>
                <a:gd name="connsiteY3" fmla="*/ 25 h 10000"/>
                <a:gd name="connsiteX4" fmla="*/ 9253 w 10000"/>
                <a:gd name="connsiteY4" fmla="*/ 0 h 10000"/>
                <a:gd name="connsiteX5" fmla="*/ 10000 w 10000"/>
                <a:gd name="connsiteY5" fmla="*/ 0 h 10000"/>
                <a:gd name="connsiteX6" fmla="*/ 10000 w 10000"/>
                <a:gd name="connsiteY6" fmla="*/ 10000 h 10000"/>
                <a:gd name="connsiteX7" fmla="*/ 0 w 10000"/>
                <a:gd name="connsiteY7" fmla="*/ 10000 h 10000"/>
                <a:gd name="connsiteX0" fmla="*/ 0 w 10000"/>
                <a:gd name="connsiteY0" fmla="*/ 10000 h 10000"/>
                <a:gd name="connsiteX1" fmla="*/ 0 w 10000"/>
                <a:gd name="connsiteY1" fmla="*/ 0 h 10000"/>
                <a:gd name="connsiteX2" fmla="*/ 6910 w 10000"/>
                <a:gd name="connsiteY2" fmla="*/ 0 h 10000"/>
                <a:gd name="connsiteX3" fmla="*/ 9253 w 10000"/>
                <a:gd name="connsiteY3" fmla="*/ 0 h 10000"/>
                <a:gd name="connsiteX4" fmla="*/ 10000 w 10000"/>
                <a:gd name="connsiteY4" fmla="*/ 0 h 10000"/>
                <a:gd name="connsiteX5" fmla="*/ 10000 w 10000"/>
                <a:gd name="connsiteY5" fmla="*/ 10000 h 10000"/>
                <a:gd name="connsiteX6" fmla="*/ 0 w 10000"/>
                <a:gd name="connsiteY6" fmla="*/ 10000 h 10000"/>
                <a:gd name="connsiteX0" fmla="*/ 0 w 10000"/>
                <a:gd name="connsiteY0" fmla="*/ 10000 h 10000"/>
                <a:gd name="connsiteX1" fmla="*/ 0 w 10000"/>
                <a:gd name="connsiteY1" fmla="*/ 0 h 10000"/>
                <a:gd name="connsiteX2" fmla="*/ 9253 w 10000"/>
                <a:gd name="connsiteY2" fmla="*/ 0 h 10000"/>
                <a:gd name="connsiteX3" fmla="*/ 10000 w 10000"/>
                <a:gd name="connsiteY3" fmla="*/ 0 h 10000"/>
                <a:gd name="connsiteX4" fmla="*/ 10000 w 10000"/>
                <a:gd name="connsiteY4" fmla="*/ 10000 h 10000"/>
                <a:gd name="connsiteX5" fmla="*/ 0 w 10000"/>
                <a:gd name="connsiteY5" fmla="*/ 10000 h 10000"/>
                <a:gd name="connsiteX0" fmla="*/ 0 w 10000"/>
                <a:gd name="connsiteY0" fmla="*/ 10000 h 10000"/>
                <a:gd name="connsiteX1" fmla="*/ 0 w 10000"/>
                <a:gd name="connsiteY1" fmla="*/ 0 h 10000"/>
                <a:gd name="connsiteX2" fmla="*/ 10000 w 10000"/>
                <a:gd name="connsiteY2" fmla="*/ 0 h 10000"/>
                <a:gd name="connsiteX3" fmla="*/ 10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0"/>
                  </a:lnTo>
                  <a:lnTo>
                    <a:pt x="10000" y="10000"/>
                  </a:lnTo>
                  <a:lnTo>
                    <a:pt x="0" y="10000"/>
                  </a:lnTo>
                  <a:close/>
                </a:path>
              </a:pathLst>
            </a:custGeom>
            <a:solidFill>
              <a:srgbClr val="0092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25" name="circle_dark2" hidden="1"/>
            <p:cNvSpPr>
              <a:spLocks noEditPoints="1"/>
            </p:cNvSpPr>
            <p:nvPr/>
          </p:nvSpPr>
          <p:spPr bwMode="ltGray">
            <a:xfrm>
              <a:off x="6905095" y="2304809"/>
              <a:ext cx="1296753" cy="1291784"/>
            </a:xfrm>
            <a:custGeom>
              <a:avLst/>
              <a:gdLst>
                <a:gd name="T0" fmla="*/ 232 w 550"/>
                <a:gd name="T1" fmla="*/ 24 h 549"/>
                <a:gd name="T2" fmla="*/ 24 w 550"/>
                <a:gd name="T3" fmla="*/ 318 h 549"/>
                <a:gd name="T4" fmla="*/ 318 w 550"/>
                <a:gd name="T5" fmla="*/ 525 h 549"/>
                <a:gd name="T6" fmla="*/ 526 w 550"/>
                <a:gd name="T7" fmla="*/ 231 h 549"/>
                <a:gd name="T8" fmla="*/ 232 w 550"/>
                <a:gd name="T9" fmla="*/ 24 h 549"/>
                <a:gd name="T10" fmla="*/ 318 w 550"/>
                <a:gd name="T11" fmla="*/ 522 h 549"/>
                <a:gd name="T12" fmla="*/ 28 w 550"/>
                <a:gd name="T13" fmla="*/ 317 h 549"/>
                <a:gd name="T14" fmla="*/ 232 w 550"/>
                <a:gd name="T15" fmla="*/ 27 h 549"/>
                <a:gd name="T16" fmla="*/ 522 w 550"/>
                <a:gd name="T17" fmla="*/ 232 h 549"/>
                <a:gd name="T18" fmla="*/ 318 w 550"/>
                <a:gd name="T19" fmla="*/ 522 h 549"/>
                <a:gd name="T20" fmla="*/ 234 w 550"/>
                <a:gd name="T21" fmla="*/ 38 h 549"/>
                <a:gd name="T22" fmla="*/ 39 w 550"/>
                <a:gd name="T23" fmla="*/ 315 h 549"/>
                <a:gd name="T24" fmla="*/ 316 w 550"/>
                <a:gd name="T25" fmla="*/ 511 h 549"/>
                <a:gd name="T26" fmla="*/ 511 w 550"/>
                <a:gd name="T27" fmla="*/ 234 h 549"/>
                <a:gd name="T28" fmla="*/ 234 w 550"/>
                <a:gd name="T29" fmla="*/ 38 h 549"/>
                <a:gd name="T30" fmla="*/ 315 w 550"/>
                <a:gd name="T31" fmla="*/ 505 h 549"/>
                <a:gd name="T32" fmla="*/ 45 w 550"/>
                <a:gd name="T33" fmla="*/ 314 h 549"/>
                <a:gd name="T34" fmla="*/ 235 w 550"/>
                <a:gd name="T35" fmla="*/ 44 h 549"/>
                <a:gd name="T36" fmla="*/ 505 w 550"/>
                <a:gd name="T37" fmla="*/ 235 h 549"/>
                <a:gd name="T38" fmla="*/ 315 w 550"/>
                <a:gd name="T39" fmla="*/ 505 h 549"/>
                <a:gd name="T40" fmla="*/ 237 w 550"/>
                <a:gd name="T41" fmla="*/ 53 h 549"/>
                <a:gd name="T42" fmla="*/ 53 w 550"/>
                <a:gd name="T43" fmla="*/ 313 h 549"/>
                <a:gd name="T44" fmla="*/ 313 w 550"/>
                <a:gd name="T45" fmla="*/ 496 h 549"/>
                <a:gd name="T46" fmla="*/ 497 w 550"/>
                <a:gd name="T47" fmla="*/ 236 h 549"/>
                <a:gd name="T48" fmla="*/ 237 w 550"/>
                <a:gd name="T49" fmla="*/ 53 h 549"/>
                <a:gd name="T50" fmla="*/ 312 w 550"/>
                <a:gd name="T51" fmla="*/ 488 h 549"/>
                <a:gd name="T52" fmla="*/ 62 w 550"/>
                <a:gd name="T53" fmla="*/ 311 h 549"/>
                <a:gd name="T54" fmla="*/ 238 w 550"/>
                <a:gd name="T55" fmla="*/ 62 h 549"/>
                <a:gd name="T56" fmla="*/ 488 w 550"/>
                <a:gd name="T57" fmla="*/ 238 h 549"/>
                <a:gd name="T58" fmla="*/ 312 w 550"/>
                <a:gd name="T59" fmla="*/ 488 h 549"/>
                <a:gd name="T60" fmla="*/ 239 w 550"/>
                <a:gd name="T61" fmla="*/ 68 h 549"/>
                <a:gd name="T62" fmla="*/ 68 w 550"/>
                <a:gd name="T63" fmla="*/ 310 h 549"/>
                <a:gd name="T64" fmla="*/ 311 w 550"/>
                <a:gd name="T65" fmla="*/ 482 h 549"/>
                <a:gd name="T66" fmla="*/ 482 w 550"/>
                <a:gd name="T67" fmla="*/ 239 h 549"/>
                <a:gd name="T68" fmla="*/ 239 w 550"/>
                <a:gd name="T69" fmla="*/ 68 h 549"/>
                <a:gd name="T70" fmla="*/ 309 w 550"/>
                <a:gd name="T71" fmla="*/ 470 h 549"/>
                <a:gd name="T72" fmla="*/ 79 w 550"/>
                <a:gd name="T73" fmla="*/ 308 h 549"/>
                <a:gd name="T74" fmla="*/ 241 w 550"/>
                <a:gd name="T75" fmla="*/ 79 h 549"/>
                <a:gd name="T76" fmla="*/ 471 w 550"/>
                <a:gd name="T77" fmla="*/ 241 h 549"/>
                <a:gd name="T78" fmla="*/ 309 w 550"/>
                <a:gd name="T79" fmla="*/ 470 h 549"/>
                <a:gd name="T80" fmla="*/ 308 w 550"/>
                <a:gd name="T81" fmla="*/ 467 h 549"/>
                <a:gd name="T82" fmla="*/ 83 w 550"/>
                <a:gd name="T83" fmla="*/ 308 h 549"/>
                <a:gd name="T84" fmla="*/ 242 w 550"/>
                <a:gd name="T85" fmla="*/ 82 h 549"/>
                <a:gd name="T86" fmla="*/ 467 w 550"/>
                <a:gd name="T87" fmla="*/ 242 h 549"/>
                <a:gd name="T88" fmla="*/ 308 w 550"/>
                <a:gd name="T89" fmla="*/ 467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49">
                  <a:moveTo>
                    <a:pt x="232" y="24"/>
                  </a:moveTo>
                  <a:cubicBezTo>
                    <a:pt x="93" y="48"/>
                    <a:pt x="0" y="180"/>
                    <a:pt x="24" y="318"/>
                  </a:cubicBezTo>
                  <a:cubicBezTo>
                    <a:pt x="48" y="456"/>
                    <a:pt x="180" y="549"/>
                    <a:pt x="318" y="525"/>
                  </a:cubicBezTo>
                  <a:cubicBezTo>
                    <a:pt x="457" y="502"/>
                    <a:pt x="550" y="370"/>
                    <a:pt x="526" y="231"/>
                  </a:cubicBezTo>
                  <a:cubicBezTo>
                    <a:pt x="502" y="93"/>
                    <a:pt x="370" y="0"/>
                    <a:pt x="232" y="24"/>
                  </a:cubicBezTo>
                  <a:close/>
                  <a:moveTo>
                    <a:pt x="318" y="522"/>
                  </a:moveTo>
                  <a:cubicBezTo>
                    <a:pt x="181" y="546"/>
                    <a:pt x="51" y="454"/>
                    <a:pt x="28" y="317"/>
                  </a:cubicBezTo>
                  <a:cubicBezTo>
                    <a:pt x="4" y="181"/>
                    <a:pt x="96" y="51"/>
                    <a:pt x="232" y="27"/>
                  </a:cubicBezTo>
                  <a:cubicBezTo>
                    <a:pt x="369" y="4"/>
                    <a:pt x="499" y="96"/>
                    <a:pt x="522" y="232"/>
                  </a:cubicBezTo>
                  <a:cubicBezTo>
                    <a:pt x="546" y="368"/>
                    <a:pt x="454" y="499"/>
                    <a:pt x="318" y="522"/>
                  </a:cubicBezTo>
                  <a:close/>
                  <a:moveTo>
                    <a:pt x="234" y="38"/>
                  </a:moveTo>
                  <a:cubicBezTo>
                    <a:pt x="104" y="61"/>
                    <a:pt x="16" y="185"/>
                    <a:pt x="39" y="315"/>
                  </a:cubicBezTo>
                  <a:cubicBezTo>
                    <a:pt x="61" y="446"/>
                    <a:pt x="186" y="533"/>
                    <a:pt x="316" y="511"/>
                  </a:cubicBezTo>
                  <a:cubicBezTo>
                    <a:pt x="446" y="488"/>
                    <a:pt x="534" y="364"/>
                    <a:pt x="511" y="234"/>
                  </a:cubicBezTo>
                  <a:cubicBezTo>
                    <a:pt x="489" y="104"/>
                    <a:pt x="364" y="16"/>
                    <a:pt x="234" y="38"/>
                  </a:cubicBezTo>
                  <a:close/>
                  <a:moveTo>
                    <a:pt x="315" y="505"/>
                  </a:moveTo>
                  <a:cubicBezTo>
                    <a:pt x="188" y="527"/>
                    <a:pt x="67" y="441"/>
                    <a:pt x="45" y="314"/>
                  </a:cubicBezTo>
                  <a:cubicBezTo>
                    <a:pt x="23" y="187"/>
                    <a:pt x="108" y="66"/>
                    <a:pt x="235" y="44"/>
                  </a:cubicBezTo>
                  <a:cubicBezTo>
                    <a:pt x="362" y="23"/>
                    <a:pt x="483" y="108"/>
                    <a:pt x="505" y="235"/>
                  </a:cubicBezTo>
                  <a:cubicBezTo>
                    <a:pt x="527" y="362"/>
                    <a:pt x="442" y="483"/>
                    <a:pt x="315" y="505"/>
                  </a:cubicBezTo>
                  <a:close/>
                  <a:moveTo>
                    <a:pt x="237" y="53"/>
                  </a:moveTo>
                  <a:cubicBezTo>
                    <a:pt x="115" y="74"/>
                    <a:pt x="32" y="191"/>
                    <a:pt x="53" y="313"/>
                  </a:cubicBezTo>
                  <a:cubicBezTo>
                    <a:pt x="75" y="435"/>
                    <a:pt x="191" y="517"/>
                    <a:pt x="313" y="496"/>
                  </a:cubicBezTo>
                  <a:cubicBezTo>
                    <a:pt x="435" y="475"/>
                    <a:pt x="518" y="359"/>
                    <a:pt x="497" y="236"/>
                  </a:cubicBezTo>
                  <a:cubicBezTo>
                    <a:pt x="475" y="114"/>
                    <a:pt x="359" y="32"/>
                    <a:pt x="237" y="53"/>
                  </a:cubicBezTo>
                  <a:close/>
                  <a:moveTo>
                    <a:pt x="312" y="488"/>
                  </a:moveTo>
                  <a:cubicBezTo>
                    <a:pt x="194" y="508"/>
                    <a:pt x="82" y="429"/>
                    <a:pt x="62" y="311"/>
                  </a:cubicBezTo>
                  <a:cubicBezTo>
                    <a:pt x="42" y="194"/>
                    <a:pt x="121" y="82"/>
                    <a:pt x="238" y="62"/>
                  </a:cubicBezTo>
                  <a:cubicBezTo>
                    <a:pt x="356" y="42"/>
                    <a:pt x="468" y="121"/>
                    <a:pt x="488" y="238"/>
                  </a:cubicBezTo>
                  <a:cubicBezTo>
                    <a:pt x="508" y="355"/>
                    <a:pt x="429" y="467"/>
                    <a:pt x="312" y="488"/>
                  </a:cubicBezTo>
                  <a:close/>
                  <a:moveTo>
                    <a:pt x="239" y="68"/>
                  </a:moveTo>
                  <a:cubicBezTo>
                    <a:pt x="125" y="87"/>
                    <a:pt x="48" y="196"/>
                    <a:pt x="68" y="310"/>
                  </a:cubicBezTo>
                  <a:cubicBezTo>
                    <a:pt x="88" y="424"/>
                    <a:pt x="197" y="501"/>
                    <a:pt x="311" y="482"/>
                  </a:cubicBezTo>
                  <a:cubicBezTo>
                    <a:pt x="425" y="462"/>
                    <a:pt x="502" y="353"/>
                    <a:pt x="482" y="239"/>
                  </a:cubicBezTo>
                  <a:cubicBezTo>
                    <a:pt x="462" y="125"/>
                    <a:pt x="353" y="48"/>
                    <a:pt x="239" y="68"/>
                  </a:cubicBezTo>
                  <a:close/>
                  <a:moveTo>
                    <a:pt x="309" y="470"/>
                  </a:moveTo>
                  <a:cubicBezTo>
                    <a:pt x="201" y="489"/>
                    <a:pt x="98" y="416"/>
                    <a:pt x="79" y="308"/>
                  </a:cubicBezTo>
                  <a:cubicBezTo>
                    <a:pt x="61" y="201"/>
                    <a:pt x="133" y="98"/>
                    <a:pt x="241" y="79"/>
                  </a:cubicBezTo>
                  <a:cubicBezTo>
                    <a:pt x="349" y="60"/>
                    <a:pt x="452" y="133"/>
                    <a:pt x="471" y="241"/>
                  </a:cubicBezTo>
                  <a:cubicBezTo>
                    <a:pt x="489" y="349"/>
                    <a:pt x="417" y="452"/>
                    <a:pt x="309" y="470"/>
                  </a:cubicBezTo>
                  <a:close/>
                  <a:moveTo>
                    <a:pt x="308" y="467"/>
                  </a:moveTo>
                  <a:cubicBezTo>
                    <a:pt x="202" y="485"/>
                    <a:pt x="101" y="414"/>
                    <a:pt x="83" y="308"/>
                  </a:cubicBezTo>
                  <a:cubicBezTo>
                    <a:pt x="64" y="202"/>
                    <a:pt x="136" y="101"/>
                    <a:pt x="242" y="82"/>
                  </a:cubicBezTo>
                  <a:cubicBezTo>
                    <a:pt x="348" y="64"/>
                    <a:pt x="449" y="135"/>
                    <a:pt x="467" y="242"/>
                  </a:cubicBezTo>
                  <a:cubicBezTo>
                    <a:pt x="486" y="348"/>
                    <a:pt x="414" y="449"/>
                    <a:pt x="308" y="467"/>
                  </a:cubicBezTo>
                  <a:close/>
                </a:path>
              </a:pathLst>
            </a:custGeom>
            <a:solidFill>
              <a:srgbClr val="40AD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26" name="circle_mid2" hidden="1"/>
            <p:cNvSpPr>
              <a:spLocks noEditPoints="1"/>
            </p:cNvSpPr>
            <p:nvPr/>
          </p:nvSpPr>
          <p:spPr bwMode="ltGray">
            <a:xfrm>
              <a:off x="7800852" y="3119519"/>
              <a:ext cx="970569" cy="969087"/>
            </a:xfrm>
            <a:custGeom>
              <a:avLst/>
              <a:gdLst>
                <a:gd name="T0" fmla="*/ 174 w 412"/>
                <a:gd name="T1" fmla="*/ 17 h 412"/>
                <a:gd name="T2" fmla="*/ 18 w 412"/>
                <a:gd name="T3" fmla="*/ 238 h 412"/>
                <a:gd name="T4" fmla="*/ 239 w 412"/>
                <a:gd name="T5" fmla="*/ 394 h 412"/>
                <a:gd name="T6" fmla="*/ 395 w 412"/>
                <a:gd name="T7" fmla="*/ 173 h 412"/>
                <a:gd name="T8" fmla="*/ 174 w 412"/>
                <a:gd name="T9" fmla="*/ 17 h 412"/>
                <a:gd name="T10" fmla="*/ 237 w 412"/>
                <a:gd name="T11" fmla="*/ 382 h 412"/>
                <a:gd name="T12" fmla="*/ 29 w 412"/>
                <a:gd name="T13" fmla="*/ 236 h 412"/>
                <a:gd name="T14" fmla="*/ 176 w 412"/>
                <a:gd name="T15" fmla="*/ 29 h 412"/>
                <a:gd name="T16" fmla="*/ 383 w 412"/>
                <a:gd name="T17" fmla="*/ 175 h 412"/>
                <a:gd name="T18" fmla="*/ 237 w 412"/>
                <a:gd name="T19" fmla="*/ 382 h 412"/>
                <a:gd name="T20" fmla="*/ 177 w 412"/>
                <a:gd name="T21" fmla="*/ 35 h 412"/>
                <a:gd name="T22" fmla="*/ 36 w 412"/>
                <a:gd name="T23" fmla="*/ 235 h 412"/>
                <a:gd name="T24" fmla="*/ 236 w 412"/>
                <a:gd name="T25" fmla="*/ 376 h 412"/>
                <a:gd name="T26" fmla="*/ 377 w 412"/>
                <a:gd name="T27" fmla="*/ 176 h 412"/>
                <a:gd name="T28" fmla="*/ 177 w 412"/>
                <a:gd name="T29" fmla="*/ 35 h 412"/>
                <a:gd name="T30" fmla="*/ 234 w 412"/>
                <a:gd name="T31" fmla="*/ 368 h 412"/>
                <a:gd name="T32" fmla="*/ 44 w 412"/>
                <a:gd name="T33" fmla="*/ 234 h 412"/>
                <a:gd name="T34" fmla="*/ 178 w 412"/>
                <a:gd name="T35" fmla="*/ 43 h 412"/>
                <a:gd name="T36" fmla="*/ 369 w 412"/>
                <a:gd name="T37" fmla="*/ 178 h 412"/>
                <a:gd name="T38" fmla="*/ 234 w 412"/>
                <a:gd name="T39" fmla="*/ 368 h 412"/>
                <a:gd name="T40" fmla="*/ 180 w 412"/>
                <a:gd name="T41" fmla="*/ 52 h 412"/>
                <a:gd name="T42" fmla="*/ 53 w 412"/>
                <a:gd name="T43" fmla="*/ 232 h 412"/>
                <a:gd name="T44" fmla="*/ 233 w 412"/>
                <a:gd name="T45" fmla="*/ 359 h 412"/>
                <a:gd name="T46" fmla="*/ 360 w 412"/>
                <a:gd name="T47" fmla="*/ 179 h 412"/>
                <a:gd name="T48" fmla="*/ 180 w 412"/>
                <a:gd name="T49" fmla="*/ 52 h 412"/>
                <a:gd name="T50" fmla="*/ 232 w 412"/>
                <a:gd name="T51" fmla="*/ 353 h 412"/>
                <a:gd name="T52" fmla="*/ 59 w 412"/>
                <a:gd name="T53" fmla="*/ 231 h 412"/>
                <a:gd name="T54" fmla="*/ 181 w 412"/>
                <a:gd name="T55" fmla="*/ 58 h 412"/>
                <a:gd name="T56" fmla="*/ 354 w 412"/>
                <a:gd name="T57" fmla="*/ 180 h 412"/>
                <a:gd name="T58" fmla="*/ 232 w 412"/>
                <a:gd name="T59" fmla="*/ 353 h 412"/>
                <a:gd name="T60" fmla="*/ 183 w 412"/>
                <a:gd name="T61" fmla="*/ 69 h 412"/>
                <a:gd name="T62" fmla="*/ 70 w 412"/>
                <a:gd name="T63" fmla="*/ 229 h 412"/>
                <a:gd name="T64" fmla="*/ 230 w 412"/>
                <a:gd name="T65" fmla="*/ 342 h 412"/>
                <a:gd name="T66" fmla="*/ 343 w 412"/>
                <a:gd name="T67" fmla="*/ 182 h 412"/>
                <a:gd name="T68" fmla="*/ 183 w 412"/>
                <a:gd name="T69" fmla="*/ 69 h 412"/>
                <a:gd name="T70" fmla="*/ 229 w 412"/>
                <a:gd name="T71" fmla="*/ 339 h 412"/>
                <a:gd name="T72" fmla="*/ 73 w 412"/>
                <a:gd name="T73" fmla="*/ 229 h 412"/>
                <a:gd name="T74" fmla="*/ 183 w 412"/>
                <a:gd name="T75" fmla="*/ 73 h 412"/>
                <a:gd name="T76" fmla="*/ 339 w 412"/>
                <a:gd name="T77" fmla="*/ 183 h 412"/>
                <a:gd name="T78" fmla="*/ 229 w 412"/>
                <a:gd name="T79" fmla="*/ 339 h 412"/>
                <a:gd name="T80" fmla="*/ 227 w 412"/>
                <a:gd name="T81" fmla="*/ 324 h 412"/>
                <a:gd name="T82" fmla="*/ 88 w 412"/>
                <a:gd name="T83" fmla="*/ 226 h 412"/>
                <a:gd name="T84" fmla="*/ 186 w 412"/>
                <a:gd name="T85" fmla="*/ 87 h 412"/>
                <a:gd name="T86" fmla="*/ 325 w 412"/>
                <a:gd name="T87" fmla="*/ 185 h 412"/>
                <a:gd name="T88" fmla="*/ 227 w 412"/>
                <a:gd name="T89" fmla="*/ 324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12" h="412">
                  <a:moveTo>
                    <a:pt x="174" y="17"/>
                  </a:moveTo>
                  <a:cubicBezTo>
                    <a:pt x="70" y="35"/>
                    <a:pt x="0" y="134"/>
                    <a:pt x="18" y="238"/>
                  </a:cubicBezTo>
                  <a:cubicBezTo>
                    <a:pt x="36" y="342"/>
                    <a:pt x="135" y="412"/>
                    <a:pt x="239" y="394"/>
                  </a:cubicBezTo>
                  <a:cubicBezTo>
                    <a:pt x="343" y="376"/>
                    <a:pt x="412" y="277"/>
                    <a:pt x="395" y="173"/>
                  </a:cubicBezTo>
                  <a:cubicBezTo>
                    <a:pt x="377" y="69"/>
                    <a:pt x="278" y="0"/>
                    <a:pt x="174" y="17"/>
                  </a:cubicBezTo>
                  <a:close/>
                  <a:moveTo>
                    <a:pt x="237" y="382"/>
                  </a:moveTo>
                  <a:cubicBezTo>
                    <a:pt x="139" y="399"/>
                    <a:pt x="46" y="334"/>
                    <a:pt x="29" y="236"/>
                  </a:cubicBezTo>
                  <a:cubicBezTo>
                    <a:pt x="13" y="139"/>
                    <a:pt x="78" y="45"/>
                    <a:pt x="176" y="29"/>
                  </a:cubicBezTo>
                  <a:cubicBezTo>
                    <a:pt x="273" y="12"/>
                    <a:pt x="366" y="78"/>
                    <a:pt x="383" y="175"/>
                  </a:cubicBezTo>
                  <a:cubicBezTo>
                    <a:pt x="400" y="273"/>
                    <a:pt x="334" y="366"/>
                    <a:pt x="237" y="382"/>
                  </a:cubicBezTo>
                  <a:close/>
                  <a:moveTo>
                    <a:pt x="177" y="35"/>
                  </a:moveTo>
                  <a:cubicBezTo>
                    <a:pt x="83" y="51"/>
                    <a:pt x="19" y="141"/>
                    <a:pt x="36" y="235"/>
                  </a:cubicBezTo>
                  <a:cubicBezTo>
                    <a:pt x="52" y="329"/>
                    <a:pt x="142" y="393"/>
                    <a:pt x="236" y="376"/>
                  </a:cubicBezTo>
                  <a:cubicBezTo>
                    <a:pt x="330" y="360"/>
                    <a:pt x="394" y="270"/>
                    <a:pt x="377" y="176"/>
                  </a:cubicBezTo>
                  <a:cubicBezTo>
                    <a:pt x="361" y="82"/>
                    <a:pt x="271" y="18"/>
                    <a:pt x="177" y="35"/>
                  </a:cubicBezTo>
                  <a:close/>
                  <a:moveTo>
                    <a:pt x="234" y="368"/>
                  </a:moveTo>
                  <a:cubicBezTo>
                    <a:pt x="145" y="383"/>
                    <a:pt x="60" y="323"/>
                    <a:pt x="44" y="234"/>
                  </a:cubicBezTo>
                  <a:cubicBezTo>
                    <a:pt x="29" y="144"/>
                    <a:pt x="89" y="59"/>
                    <a:pt x="178" y="43"/>
                  </a:cubicBezTo>
                  <a:cubicBezTo>
                    <a:pt x="268" y="28"/>
                    <a:pt x="353" y="88"/>
                    <a:pt x="369" y="178"/>
                  </a:cubicBezTo>
                  <a:cubicBezTo>
                    <a:pt x="384" y="267"/>
                    <a:pt x="324" y="352"/>
                    <a:pt x="234" y="368"/>
                  </a:cubicBezTo>
                  <a:close/>
                  <a:moveTo>
                    <a:pt x="180" y="52"/>
                  </a:moveTo>
                  <a:cubicBezTo>
                    <a:pt x="95" y="67"/>
                    <a:pt x="38" y="147"/>
                    <a:pt x="53" y="232"/>
                  </a:cubicBezTo>
                  <a:cubicBezTo>
                    <a:pt x="67" y="317"/>
                    <a:pt x="148" y="374"/>
                    <a:pt x="233" y="359"/>
                  </a:cubicBezTo>
                  <a:cubicBezTo>
                    <a:pt x="318" y="345"/>
                    <a:pt x="375" y="264"/>
                    <a:pt x="360" y="179"/>
                  </a:cubicBezTo>
                  <a:cubicBezTo>
                    <a:pt x="345" y="94"/>
                    <a:pt x="265" y="37"/>
                    <a:pt x="180" y="52"/>
                  </a:cubicBezTo>
                  <a:close/>
                  <a:moveTo>
                    <a:pt x="232" y="353"/>
                  </a:moveTo>
                  <a:cubicBezTo>
                    <a:pt x="150" y="367"/>
                    <a:pt x="73" y="312"/>
                    <a:pt x="59" y="231"/>
                  </a:cubicBezTo>
                  <a:cubicBezTo>
                    <a:pt x="45" y="150"/>
                    <a:pt x="100" y="72"/>
                    <a:pt x="181" y="58"/>
                  </a:cubicBezTo>
                  <a:cubicBezTo>
                    <a:pt x="262" y="44"/>
                    <a:pt x="340" y="99"/>
                    <a:pt x="354" y="180"/>
                  </a:cubicBezTo>
                  <a:cubicBezTo>
                    <a:pt x="368" y="262"/>
                    <a:pt x="313" y="339"/>
                    <a:pt x="232" y="353"/>
                  </a:cubicBezTo>
                  <a:close/>
                  <a:moveTo>
                    <a:pt x="183" y="69"/>
                  </a:moveTo>
                  <a:cubicBezTo>
                    <a:pt x="108" y="82"/>
                    <a:pt x="57" y="154"/>
                    <a:pt x="70" y="229"/>
                  </a:cubicBezTo>
                  <a:cubicBezTo>
                    <a:pt x="83" y="304"/>
                    <a:pt x="155" y="355"/>
                    <a:pt x="230" y="342"/>
                  </a:cubicBezTo>
                  <a:cubicBezTo>
                    <a:pt x="305" y="329"/>
                    <a:pt x="356" y="257"/>
                    <a:pt x="343" y="182"/>
                  </a:cubicBezTo>
                  <a:cubicBezTo>
                    <a:pt x="330" y="107"/>
                    <a:pt x="258" y="56"/>
                    <a:pt x="183" y="69"/>
                  </a:cubicBezTo>
                  <a:close/>
                  <a:moveTo>
                    <a:pt x="229" y="339"/>
                  </a:moveTo>
                  <a:cubicBezTo>
                    <a:pt x="156" y="351"/>
                    <a:pt x="86" y="302"/>
                    <a:pt x="73" y="229"/>
                  </a:cubicBezTo>
                  <a:cubicBezTo>
                    <a:pt x="61" y="155"/>
                    <a:pt x="110" y="85"/>
                    <a:pt x="183" y="73"/>
                  </a:cubicBezTo>
                  <a:cubicBezTo>
                    <a:pt x="257" y="60"/>
                    <a:pt x="327" y="109"/>
                    <a:pt x="339" y="183"/>
                  </a:cubicBezTo>
                  <a:cubicBezTo>
                    <a:pt x="352" y="256"/>
                    <a:pt x="303" y="326"/>
                    <a:pt x="229" y="339"/>
                  </a:cubicBezTo>
                  <a:close/>
                  <a:moveTo>
                    <a:pt x="227" y="324"/>
                  </a:moveTo>
                  <a:cubicBezTo>
                    <a:pt x="161" y="336"/>
                    <a:pt x="99" y="292"/>
                    <a:pt x="88" y="226"/>
                  </a:cubicBezTo>
                  <a:cubicBezTo>
                    <a:pt x="76" y="161"/>
                    <a:pt x="120" y="98"/>
                    <a:pt x="186" y="87"/>
                  </a:cubicBezTo>
                  <a:cubicBezTo>
                    <a:pt x="251" y="75"/>
                    <a:pt x="314" y="120"/>
                    <a:pt x="325" y="185"/>
                  </a:cubicBezTo>
                  <a:cubicBezTo>
                    <a:pt x="337" y="251"/>
                    <a:pt x="292" y="313"/>
                    <a:pt x="227" y="324"/>
                  </a:cubicBezTo>
                  <a:close/>
                </a:path>
              </a:pathLst>
            </a:custGeom>
            <a:solidFill>
              <a:srgbClr val="80C8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27" name="circle_light" hidden="1"/>
            <p:cNvSpPr>
              <a:spLocks noEditPoints="1"/>
            </p:cNvSpPr>
            <p:nvPr/>
          </p:nvSpPr>
          <p:spPr bwMode="ltGray">
            <a:xfrm>
              <a:off x="8060202" y="2546832"/>
              <a:ext cx="683289" cy="683241"/>
            </a:xfrm>
            <a:custGeom>
              <a:avLst/>
              <a:gdLst>
                <a:gd name="T0" fmla="*/ 122 w 290"/>
                <a:gd name="T1" fmla="*/ 13 h 290"/>
                <a:gd name="T2" fmla="*/ 12 w 290"/>
                <a:gd name="T3" fmla="*/ 168 h 290"/>
                <a:gd name="T4" fmla="*/ 168 w 290"/>
                <a:gd name="T5" fmla="*/ 278 h 290"/>
                <a:gd name="T6" fmla="*/ 277 w 290"/>
                <a:gd name="T7" fmla="*/ 123 h 290"/>
                <a:gd name="T8" fmla="*/ 122 w 290"/>
                <a:gd name="T9" fmla="*/ 13 h 290"/>
                <a:gd name="T10" fmla="*/ 167 w 290"/>
                <a:gd name="T11" fmla="*/ 274 h 290"/>
                <a:gd name="T12" fmla="*/ 16 w 290"/>
                <a:gd name="T13" fmla="*/ 168 h 290"/>
                <a:gd name="T14" fmla="*/ 123 w 290"/>
                <a:gd name="T15" fmla="*/ 16 h 290"/>
                <a:gd name="T16" fmla="*/ 274 w 290"/>
                <a:gd name="T17" fmla="*/ 123 h 290"/>
                <a:gd name="T18" fmla="*/ 167 w 290"/>
                <a:gd name="T19" fmla="*/ 274 h 290"/>
                <a:gd name="T20" fmla="*/ 124 w 290"/>
                <a:gd name="T21" fmla="*/ 28 h 290"/>
                <a:gd name="T22" fmla="*/ 27 w 290"/>
                <a:gd name="T23" fmla="*/ 166 h 290"/>
                <a:gd name="T24" fmla="*/ 165 w 290"/>
                <a:gd name="T25" fmla="*/ 263 h 290"/>
                <a:gd name="T26" fmla="*/ 262 w 290"/>
                <a:gd name="T27" fmla="*/ 125 h 290"/>
                <a:gd name="T28" fmla="*/ 124 w 290"/>
                <a:gd name="T29" fmla="*/ 28 h 290"/>
                <a:gd name="T30" fmla="*/ 164 w 290"/>
                <a:gd name="T31" fmla="*/ 257 h 290"/>
                <a:gd name="T32" fmla="*/ 33 w 290"/>
                <a:gd name="T33" fmla="*/ 165 h 290"/>
                <a:gd name="T34" fmla="*/ 126 w 290"/>
                <a:gd name="T35" fmla="*/ 34 h 290"/>
                <a:gd name="T36" fmla="*/ 256 w 290"/>
                <a:gd name="T37" fmla="*/ 126 h 290"/>
                <a:gd name="T38" fmla="*/ 164 w 290"/>
                <a:gd name="T39" fmla="*/ 257 h 290"/>
                <a:gd name="T40" fmla="*/ 127 w 290"/>
                <a:gd name="T41" fmla="*/ 42 h 290"/>
                <a:gd name="T42" fmla="*/ 42 w 290"/>
                <a:gd name="T43" fmla="*/ 163 h 290"/>
                <a:gd name="T44" fmla="*/ 163 w 290"/>
                <a:gd name="T45" fmla="*/ 248 h 290"/>
                <a:gd name="T46" fmla="*/ 248 w 290"/>
                <a:gd name="T47" fmla="*/ 128 h 290"/>
                <a:gd name="T48" fmla="*/ 127 w 290"/>
                <a:gd name="T49" fmla="*/ 42 h 290"/>
                <a:gd name="T50" fmla="*/ 161 w 290"/>
                <a:gd name="T51" fmla="*/ 240 h 290"/>
                <a:gd name="T52" fmla="*/ 50 w 290"/>
                <a:gd name="T53" fmla="*/ 162 h 290"/>
                <a:gd name="T54" fmla="*/ 129 w 290"/>
                <a:gd name="T55" fmla="*/ 51 h 290"/>
                <a:gd name="T56" fmla="*/ 239 w 290"/>
                <a:gd name="T57" fmla="*/ 129 h 290"/>
                <a:gd name="T58" fmla="*/ 161 w 290"/>
                <a:gd name="T59" fmla="*/ 240 h 290"/>
                <a:gd name="T60" fmla="*/ 130 w 290"/>
                <a:gd name="T61" fmla="*/ 57 h 290"/>
                <a:gd name="T62" fmla="*/ 56 w 290"/>
                <a:gd name="T63" fmla="*/ 161 h 290"/>
                <a:gd name="T64" fmla="*/ 160 w 290"/>
                <a:gd name="T65" fmla="*/ 234 h 290"/>
                <a:gd name="T66" fmla="*/ 233 w 290"/>
                <a:gd name="T67" fmla="*/ 130 h 290"/>
                <a:gd name="T68" fmla="*/ 130 w 290"/>
                <a:gd name="T69" fmla="*/ 57 h 290"/>
                <a:gd name="T70" fmla="*/ 158 w 290"/>
                <a:gd name="T71" fmla="*/ 222 h 290"/>
                <a:gd name="T72" fmla="*/ 68 w 290"/>
                <a:gd name="T73" fmla="*/ 159 h 290"/>
                <a:gd name="T74" fmla="*/ 131 w 290"/>
                <a:gd name="T75" fmla="*/ 68 h 290"/>
                <a:gd name="T76" fmla="*/ 222 w 290"/>
                <a:gd name="T77" fmla="*/ 132 h 290"/>
                <a:gd name="T78" fmla="*/ 158 w 290"/>
                <a:gd name="T79" fmla="*/ 222 h 290"/>
                <a:gd name="T80" fmla="*/ 157 w 290"/>
                <a:gd name="T81" fmla="*/ 219 h 290"/>
                <a:gd name="T82" fmla="*/ 71 w 290"/>
                <a:gd name="T83" fmla="*/ 158 h 290"/>
                <a:gd name="T84" fmla="*/ 132 w 290"/>
                <a:gd name="T85" fmla="*/ 72 h 290"/>
                <a:gd name="T86" fmla="*/ 219 w 290"/>
                <a:gd name="T87" fmla="*/ 133 h 290"/>
                <a:gd name="T88" fmla="*/ 157 w 290"/>
                <a:gd name="T89" fmla="*/ 219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0" h="290">
                  <a:moveTo>
                    <a:pt x="122" y="13"/>
                  </a:moveTo>
                  <a:cubicBezTo>
                    <a:pt x="49" y="26"/>
                    <a:pt x="0" y="95"/>
                    <a:pt x="12" y="168"/>
                  </a:cubicBezTo>
                  <a:cubicBezTo>
                    <a:pt x="25" y="241"/>
                    <a:pt x="95" y="290"/>
                    <a:pt x="168" y="278"/>
                  </a:cubicBezTo>
                  <a:cubicBezTo>
                    <a:pt x="241" y="265"/>
                    <a:pt x="290" y="196"/>
                    <a:pt x="277" y="123"/>
                  </a:cubicBezTo>
                  <a:cubicBezTo>
                    <a:pt x="264" y="50"/>
                    <a:pt x="195" y="0"/>
                    <a:pt x="122" y="13"/>
                  </a:cubicBezTo>
                  <a:close/>
                  <a:moveTo>
                    <a:pt x="167" y="274"/>
                  </a:moveTo>
                  <a:cubicBezTo>
                    <a:pt x="96" y="287"/>
                    <a:pt x="28" y="239"/>
                    <a:pt x="16" y="168"/>
                  </a:cubicBezTo>
                  <a:cubicBezTo>
                    <a:pt x="4" y="97"/>
                    <a:pt x="51" y="29"/>
                    <a:pt x="123" y="16"/>
                  </a:cubicBezTo>
                  <a:cubicBezTo>
                    <a:pt x="194" y="4"/>
                    <a:pt x="261" y="52"/>
                    <a:pt x="274" y="123"/>
                  </a:cubicBezTo>
                  <a:cubicBezTo>
                    <a:pt x="286" y="194"/>
                    <a:pt x="238" y="262"/>
                    <a:pt x="167" y="274"/>
                  </a:cubicBezTo>
                  <a:close/>
                  <a:moveTo>
                    <a:pt x="124" y="28"/>
                  </a:moveTo>
                  <a:cubicBezTo>
                    <a:pt x="60" y="39"/>
                    <a:pt x="16" y="101"/>
                    <a:pt x="27" y="166"/>
                  </a:cubicBezTo>
                  <a:cubicBezTo>
                    <a:pt x="38" y="231"/>
                    <a:pt x="100" y="274"/>
                    <a:pt x="165" y="263"/>
                  </a:cubicBezTo>
                  <a:cubicBezTo>
                    <a:pt x="230" y="252"/>
                    <a:pt x="274" y="190"/>
                    <a:pt x="262" y="125"/>
                  </a:cubicBezTo>
                  <a:cubicBezTo>
                    <a:pt x="251" y="60"/>
                    <a:pt x="189" y="17"/>
                    <a:pt x="124" y="28"/>
                  </a:cubicBezTo>
                  <a:close/>
                  <a:moveTo>
                    <a:pt x="164" y="257"/>
                  </a:moveTo>
                  <a:cubicBezTo>
                    <a:pt x="102" y="268"/>
                    <a:pt x="44" y="226"/>
                    <a:pt x="33" y="165"/>
                  </a:cubicBezTo>
                  <a:cubicBezTo>
                    <a:pt x="23" y="103"/>
                    <a:pt x="64" y="44"/>
                    <a:pt x="126" y="34"/>
                  </a:cubicBezTo>
                  <a:cubicBezTo>
                    <a:pt x="187" y="23"/>
                    <a:pt x="246" y="65"/>
                    <a:pt x="256" y="126"/>
                  </a:cubicBezTo>
                  <a:cubicBezTo>
                    <a:pt x="267" y="188"/>
                    <a:pt x="226" y="246"/>
                    <a:pt x="164" y="257"/>
                  </a:cubicBezTo>
                  <a:close/>
                  <a:moveTo>
                    <a:pt x="127" y="42"/>
                  </a:moveTo>
                  <a:cubicBezTo>
                    <a:pt x="70" y="52"/>
                    <a:pt x="32" y="106"/>
                    <a:pt x="42" y="163"/>
                  </a:cubicBezTo>
                  <a:cubicBezTo>
                    <a:pt x="52" y="220"/>
                    <a:pt x="106" y="258"/>
                    <a:pt x="163" y="248"/>
                  </a:cubicBezTo>
                  <a:cubicBezTo>
                    <a:pt x="219" y="239"/>
                    <a:pt x="258" y="184"/>
                    <a:pt x="248" y="128"/>
                  </a:cubicBezTo>
                  <a:cubicBezTo>
                    <a:pt x="238" y="71"/>
                    <a:pt x="184" y="33"/>
                    <a:pt x="127" y="42"/>
                  </a:cubicBezTo>
                  <a:close/>
                  <a:moveTo>
                    <a:pt x="161" y="240"/>
                  </a:moveTo>
                  <a:cubicBezTo>
                    <a:pt x="109" y="249"/>
                    <a:pt x="59" y="214"/>
                    <a:pt x="50" y="162"/>
                  </a:cubicBezTo>
                  <a:cubicBezTo>
                    <a:pt x="41" y="110"/>
                    <a:pt x="76" y="60"/>
                    <a:pt x="129" y="51"/>
                  </a:cubicBezTo>
                  <a:cubicBezTo>
                    <a:pt x="181" y="42"/>
                    <a:pt x="230" y="77"/>
                    <a:pt x="239" y="129"/>
                  </a:cubicBezTo>
                  <a:cubicBezTo>
                    <a:pt x="248" y="181"/>
                    <a:pt x="213" y="231"/>
                    <a:pt x="161" y="240"/>
                  </a:cubicBezTo>
                  <a:close/>
                  <a:moveTo>
                    <a:pt x="130" y="57"/>
                  </a:moveTo>
                  <a:cubicBezTo>
                    <a:pt x="81" y="65"/>
                    <a:pt x="48" y="112"/>
                    <a:pt x="56" y="161"/>
                  </a:cubicBezTo>
                  <a:cubicBezTo>
                    <a:pt x="65" y="209"/>
                    <a:pt x="111" y="242"/>
                    <a:pt x="160" y="234"/>
                  </a:cubicBezTo>
                  <a:cubicBezTo>
                    <a:pt x="209" y="225"/>
                    <a:pt x="242" y="179"/>
                    <a:pt x="233" y="130"/>
                  </a:cubicBezTo>
                  <a:cubicBezTo>
                    <a:pt x="225" y="81"/>
                    <a:pt x="178" y="49"/>
                    <a:pt x="130" y="57"/>
                  </a:cubicBezTo>
                  <a:close/>
                  <a:moveTo>
                    <a:pt x="158" y="222"/>
                  </a:moveTo>
                  <a:cubicBezTo>
                    <a:pt x="116" y="230"/>
                    <a:pt x="75" y="201"/>
                    <a:pt x="68" y="159"/>
                  </a:cubicBezTo>
                  <a:cubicBezTo>
                    <a:pt x="60" y="116"/>
                    <a:pt x="89" y="76"/>
                    <a:pt x="131" y="68"/>
                  </a:cubicBezTo>
                  <a:cubicBezTo>
                    <a:pt x="174" y="61"/>
                    <a:pt x="215" y="90"/>
                    <a:pt x="222" y="132"/>
                  </a:cubicBezTo>
                  <a:cubicBezTo>
                    <a:pt x="229" y="175"/>
                    <a:pt x="201" y="215"/>
                    <a:pt x="158" y="222"/>
                  </a:cubicBezTo>
                  <a:close/>
                  <a:moveTo>
                    <a:pt x="157" y="219"/>
                  </a:moveTo>
                  <a:cubicBezTo>
                    <a:pt x="117" y="226"/>
                    <a:pt x="78" y="199"/>
                    <a:pt x="71" y="158"/>
                  </a:cubicBezTo>
                  <a:cubicBezTo>
                    <a:pt x="64" y="117"/>
                    <a:pt x="91" y="79"/>
                    <a:pt x="132" y="72"/>
                  </a:cubicBezTo>
                  <a:cubicBezTo>
                    <a:pt x="173" y="65"/>
                    <a:pt x="211" y="92"/>
                    <a:pt x="219" y="133"/>
                  </a:cubicBezTo>
                  <a:cubicBezTo>
                    <a:pt x="225" y="173"/>
                    <a:pt x="198" y="212"/>
                    <a:pt x="157" y="21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grpSp>
      <p:sp>
        <p:nvSpPr>
          <p:cNvPr id="52" name="logo_reflections_bar_mid" descr="&lt;mode=4x3&gt;&#10;&lt;size&gt;h=197.75;w=720&lt;size/&gt;&#10;&lt;pos&gt;top=280.0625;left=0&lt;pos/&gt;&#10;&lt;mode/&gt;&#10;&lt;mode=16x9&gt;&#10;&lt;size&gt;h=146.0626;w=720.24&lt;size/&gt;&#10;&lt;pos&gt;top=208.3125;left=0&lt;pos/&gt;&#10;&lt;mode/&gt;"/>
          <p:cNvSpPr>
            <a:spLocks noChangeAspect="1" noEditPoints="1"/>
          </p:cNvSpPr>
          <p:nvPr userDrawn="1"/>
        </p:nvSpPr>
        <p:spPr bwMode="ltGray">
          <a:xfrm>
            <a:off x="4064" y="3889980"/>
            <a:ext cx="12196064" cy="2086067"/>
          </a:xfrm>
          <a:custGeom>
            <a:avLst/>
            <a:gdLst>
              <a:gd name="T0" fmla="*/ 0 w 40177"/>
              <a:gd name="T1" fmla="*/ 728 h 11034"/>
              <a:gd name="T2" fmla="*/ 40177 w 40177"/>
              <a:gd name="T3" fmla="*/ 728 h 11034"/>
              <a:gd name="T4" fmla="*/ 40177 w 40177"/>
              <a:gd name="T5" fmla="*/ 640 h 11034"/>
              <a:gd name="T6" fmla="*/ 0 w 40177"/>
              <a:gd name="T7" fmla="*/ 640 h 11034"/>
              <a:gd name="T8" fmla="*/ 0 w 40177"/>
              <a:gd name="T9" fmla="*/ 728 h 11034"/>
              <a:gd name="T10" fmla="*/ 0 w 40177"/>
              <a:gd name="T11" fmla="*/ 553 h 11034"/>
              <a:gd name="T12" fmla="*/ 40177 w 40177"/>
              <a:gd name="T13" fmla="*/ 553 h 11034"/>
              <a:gd name="T14" fmla="*/ 40177 w 40177"/>
              <a:gd name="T15" fmla="*/ 480 h 11034"/>
              <a:gd name="T16" fmla="*/ 0 w 40177"/>
              <a:gd name="T17" fmla="*/ 480 h 11034"/>
              <a:gd name="T18" fmla="*/ 0 w 40177"/>
              <a:gd name="T19" fmla="*/ 553 h 11034"/>
              <a:gd name="T20" fmla="*/ 0 w 40177"/>
              <a:gd name="T21" fmla="*/ 201 h 11034"/>
              <a:gd name="T22" fmla="*/ 40177 w 40177"/>
              <a:gd name="T23" fmla="*/ 201 h 11034"/>
              <a:gd name="T24" fmla="*/ 40177 w 40177"/>
              <a:gd name="T25" fmla="*/ 161 h 11034"/>
              <a:gd name="T26" fmla="*/ 0 w 40177"/>
              <a:gd name="T27" fmla="*/ 161 h 11034"/>
              <a:gd name="T28" fmla="*/ 0 w 40177"/>
              <a:gd name="T29" fmla="*/ 201 h 11034"/>
              <a:gd name="T30" fmla="*/ 0 w 40177"/>
              <a:gd name="T31" fmla="*/ 378 h 11034"/>
              <a:gd name="T32" fmla="*/ 40177 w 40177"/>
              <a:gd name="T33" fmla="*/ 378 h 11034"/>
              <a:gd name="T34" fmla="*/ 40177 w 40177"/>
              <a:gd name="T35" fmla="*/ 321 h 11034"/>
              <a:gd name="T36" fmla="*/ 0 w 40177"/>
              <a:gd name="T37" fmla="*/ 321 h 11034"/>
              <a:gd name="T38" fmla="*/ 0 w 40177"/>
              <a:gd name="T39" fmla="*/ 378 h 11034"/>
              <a:gd name="T40" fmla="*/ 0 w 40177"/>
              <a:gd name="T41" fmla="*/ 902 h 11034"/>
              <a:gd name="T42" fmla="*/ 40177 w 40177"/>
              <a:gd name="T43" fmla="*/ 902 h 11034"/>
              <a:gd name="T44" fmla="*/ 40177 w 40177"/>
              <a:gd name="T45" fmla="*/ 801 h 11034"/>
              <a:gd name="T46" fmla="*/ 0 w 40177"/>
              <a:gd name="T47" fmla="*/ 801 h 11034"/>
              <a:gd name="T48" fmla="*/ 0 w 40177"/>
              <a:gd name="T49" fmla="*/ 902 h 11034"/>
              <a:gd name="T50" fmla="*/ 40177 w 40177"/>
              <a:gd name="T51" fmla="*/ 26 h 11034"/>
              <a:gd name="T52" fmla="*/ 40177 w 40177"/>
              <a:gd name="T53" fmla="*/ 0 h 11034"/>
              <a:gd name="T54" fmla="*/ 0 w 40177"/>
              <a:gd name="T55" fmla="*/ 0 h 11034"/>
              <a:gd name="T56" fmla="*/ 0 w 40177"/>
              <a:gd name="T57" fmla="*/ 26 h 11034"/>
              <a:gd name="T58" fmla="*/ 40177 w 40177"/>
              <a:gd name="T59" fmla="*/ 26 h 11034"/>
              <a:gd name="T60" fmla="*/ 0 w 40177"/>
              <a:gd name="T61" fmla="*/ 1280 h 11034"/>
              <a:gd name="T62" fmla="*/ 0 w 40177"/>
              <a:gd name="T63" fmla="*/ 11034 h 11034"/>
              <a:gd name="T64" fmla="*/ 40177 w 40177"/>
              <a:gd name="T65" fmla="*/ 11034 h 11034"/>
              <a:gd name="T66" fmla="*/ 40177 w 40177"/>
              <a:gd name="T67" fmla="*/ 1280 h 11034"/>
              <a:gd name="T68" fmla="*/ 0 w 40177"/>
              <a:gd name="T69" fmla="*/ 1280 h 11034"/>
              <a:gd name="T70" fmla="*/ 0 w 40177"/>
              <a:gd name="T71" fmla="*/ 1254 h 11034"/>
              <a:gd name="T72" fmla="*/ 40177 w 40177"/>
              <a:gd name="T73" fmla="*/ 1254 h 11034"/>
              <a:gd name="T74" fmla="*/ 40177 w 40177"/>
              <a:gd name="T75" fmla="*/ 1120 h 11034"/>
              <a:gd name="T76" fmla="*/ 0 w 40177"/>
              <a:gd name="T77" fmla="*/ 1120 h 11034"/>
              <a:gd name="T78" fmla="*/ 0 w 40177"/>
              <a:gd name="T79" fmla="*/ 1254 h 11034"/>
              <a:gd name="T80" fmla="*/ 0 w 40177"/>
              <a:gd name="T81" fmla="*/ 1080 h 11034"/>
              <a:gd name="T82" fmla="*/ 40177 w 40177"/>
              <a:gd name="T83" fmla="*/ 1080 h 11034"/>
              <a:gd name="T84" fmla="*/ 40177 w 40177"/>
              <a:gd name="T85" fmla="*/ 959 h 11034"/>
              <a:gd name="T86" fmla="*/ 0 w 40177"/>
              <a:gd name="T87" fmla="*/ 959 h 11034"/>
              <a:gd name="T88" fmla="*/ 0 w 40177"/>
              <a:gd name="T89" fmla="*/ 1080 h 1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0177" h="11034">
                <a:moveTo>
                  <a:pt x="0" y="728"/>
                </a:moveTo>
                <a:lnTo>
                  <a:pt x="40177" y="728"/>
                </a:lnTo>
                <a:lnTo>
                  <a:pt x="40177" y="640"/>
                </a:lnTo>
                <a:lnTo>
                  <a:pt x="0" y="640"/>
                </a:lnTo>
                <a:lnTo>
                  <a:pt x="0" y="728"/>
                </a:lnTo>
                <a:close/>
                <a:moveTo>
                  <a:pt x="0" y="553"/>
                </a:moveTo>
                <a:lnTo>
                  <a:pt x="40177" y="553"/>
                </a:lnTo>
                <a:lnTo>
                  <a:pt x="40177" y="480"/>
                </a:lnTo>
                <a:lnTo>
                  <a:pt x="0" y="480"/>
                </a:lnTo>
                <a:lnTo>
                  <a:pt x="0" y="553"/>
                </a:lnTo>
                <a:close/>
                <a:moveTo>
                  <a:pt x="0" y="201"/>
                </a:moveTo>
                <a:lnTo>
                  <a:pt x="40177" y="201"/>
                </a:lnTo>
                <a:lnTo>
                  <a:pt x="40177" y="161"/>
                </a:lnTo>
                <a:lnTo>
                  <a:pt x="0" y="161"/>
                </a:lnTo>
                <a:lnTo>
                  <a:pt x="0" y="201"/>
                </a:lnTo>
                <a:close/>
                <a:moveTo>
                  <a:pt x="0" y="378"/>
                </a:moveTo>
                <a:lnTo>
                  <a:pt x="40177" y="378"/>
                </a:lnTo>
                <a:lnTo>
                  <a:pt x="40177" y="321"/>
                </a:lnTo>
                <a:lnTo>
                  <a:pt x="0" y="321"/>
                </a:lnTo>
                <a:lnTo>
                  <a:pt x="0" y="378"/>
                </a:lnTo>
                <a:close/>
                <a:moveTo>
                  <a:pt x="0" y="902"/>
                </a:moveTo>
                <a:lnTo>
                  <a:pt x="40177" y="902"/>
                </a:lnTo>
                <a:lnTo>
                  <a:pt x="40177" y="801"/>
                </a:lnTo>
                <a:lnTo>
                  <a:pt x="0" y="801"/>
                </a:lnTo>
                <a:lnTo>
                  <a:pt x="0" y="902"/>
                </a:lnTo>
                <a:close/>
                <a:moveTo>
                  <a:pt x="40177" y="26"/>
                </a:moveTo>
                <a:lnTo>
                  <a:pt x="40177" y="0"/>
                </a:lnTo>
                <a:lnTo>
                  <a:pt x="0" y="0"/>
                </a:lnTo>
                <a:lnTo>
                  <a:pt x="0" y="26"/>
                </a:lnTo>
                <a:lnTo>
                  <a:pt x="40177" y="26"/>
                </a:lnTo>
                <a:close/>
                <a:moveTo>
                  <a:pt x="0" y="1280"/>
                </a:moveTo>
                <a:lnTo>
                  <a:pt x="0" y="11034"/>
                </a:lnTo>
                <a:lnTo>
                  <a:pt x="40177" y="11034"/>
                </a:lnTo>
                <a:lnTo>
                  <a:pt x="40177" y="1280"/>
                </a:lnTo>
                <a:lnTo>
                  <a:pt x="0" y="1280"/>
                </a:lnTo>
                <a:close/>
                <a:moveTo>
                  <a:pt x="0" y="1254"/>
                </a:moveTo>
                <a:lnTo>
                  <a:pt x="40177" y="1254"/>
                </a:lnTo>
                <a:lnTo>
                  <a:pt x="40177" y="1120"/>
                </a:lnTo>
                <a:lnTo>
                  <a:pt x="0" y="1120"/>
                </a:lnTo>
                <a:lnTo>
                  <a:pt x="0" y="1254"/>
                </a:lnTo>
                <a:close/>
                <a:moveTo>
                  <a:pt x="0" y="1080"/>
                </a:moveTo>
                <a:lnTo>
                  <a:pt x="40177" y="1080"/>
                </a:lnTo>
                <a:lnTo>
                  <a:pt x="40177" y="959"/>
                </a:lnTo>
                <a:lnTo>
                  <a:pt x="0" y="959"/>
                </a:lnTo>
                <a:lnTo>
                  <a:pt x="0" y="1080"/>
                </a:lnTo>
                <a:close/>
              </a:path>
            </a:pathLst>
          </a:custGeom>
          <a:solidFill>
            <a:srgbClr val="009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AU" sz="2400"/>
          </a:p>
        </p:txBody>
      </p:sp>
      <p:grpSp>
        <p:nvGrpSpPr>
          <p:cNvPr id="47" name="logo_ripples_bar_mid-4x3" descr="&lt;mode=4x3&gt;&#10;&lt;size&gt;h=233.625;w=720&lt;size/&gt;&#10;&lt;pos&gt;top=244.1513;left=-0.24&lt;pos/&gt;&#10;&lt;mode/&gt;&#10;&lt;mode=16x9&gt;&#10;&lt;size&gt;h=175.2187;w=720&lt;size/&gt;&#10;&lt;pos&gt;top=183.1135;left=-0.24&lt;pos/&gt;&#10;&lt;mode/&gt;" hidden="1"/>
          <p:cNvGrpSpPr/>
          <p:nvPr userDrawn="1"/>
        </p:nvGrpSpPr>
        <p:grpSpPr>
          <a:xfrm>
            <a:off x="0" y="3100722"/>
            <a:ext cx="12192000" cy="2967037"/>
            <a:chOff x="-3048" y="371059"/>
            <a:chExt cx="9144000" cy="2967037"/>
          </a:xfrm>
        </p:grpSpPr>
        <p:sp>
          <p:nvSpPr>
            <p:cNvPr id="48" name="base_bar" hidden="1"/>
            <p:cNvSpPr>
              <a:spLocks/>
            </p:cNvSpPr>
            <p:nvPr/>
          </p:nvSpPr>
          <p:spPr bwMode="ltGray">
            <a:xfrm>
              <a:off x="-3048" y="828259"/>
              <a:ext cx="9144000" cy="2509837"/>
            </a:xfrm>
            <a:custGeom>
              <a:avLst/>
              <a:gdLst>
                <a:gd name="T0" fmla="*/ 0 w 2880"/>
                <a:gd name="T1" fmla="*/ 791 h 791"/>
                <a:gd name="T2" fmla="*/ 0 w 2880"/>
                <a:gd name="T3" fmla="*/ 0 h 791"/>
                <a:gd name="T4" fmla="*/ 1990 w 2880"/>
                <a:gd name="T5" fmla="*/ 0 h 791"/>
                <a:gd name="T6" fmla="*/ 1989 w 2880"/>
                <a:gd name="T7" fmla="*/ 2 h 791"/>
                <a:gd name="T8" fmla="*/ 1959 w 2880"/>
                <a:gd name="T9" fmla="*/ 175 h 791"/>
                <a:gd name="T10" fmla="*/ 2214 w 2880"/>
                <a:gd name="T11" fmla="*/ 390 h 791"/>
                <a:gd name="T12" fmla="*/ 2258 w 2880"/>
                <a:gd name="T13" fmla="*/ 386 h 791"/>
                <a:gd name="T14" fmla="*/ 2336 w 2880"/>
                <a:gd name="T15" fmla="*/ 359 h 791"/>
                <a:gd name="T16" fmla="*/ 2333 w 2880"/>
                <a:gd name="T17" fmla="*/ 441 h 791"/>
                <a:gd name="T18" fmla="*/ 2525 w 2880"/>
                <a:gd name="T19" fmla="*/ 603 h 791"/>
                <a:gd name="T20" fmla="*/ 2559 w 2880"/>
                <a:gd name="T21" fmla="*/ 600 h 791"/>
                <a:gd name="T22" fmla="*/ 2718 w 2880"/>
                <a:gd name="T23" fmla="*/ 374 h 791"/>
                <a:gd name="T24" fmla="*/ 2618 w 2880"/>
                <a:gd name="T25" fmla="*/ 236 h 791"/>
                <a:gd name="T26" fmla="*/ 2710 w 2880"/>
                <a:gd name="T27" fmla="*/ 81 h 791"/>
                <a:gd name="T28" fmla="*/ 2667 w 2880"/>
                <a:gd name="T29" fmla="*/ 2 h 791"/>
                <a:gd name="T30" fmla="*/ 2665 w 2880"/>
                <a:gd name="T31" fmla="*/ 0 h 791"/>
                <a:gd name="T32" fmla="*/ 2880 w 2880"/>
                <a:gd name="T33" fmla="*/ 0 h 791"/>
                <a:gd name="T34" fmla="*/ 2880 w 2880"/>
                <a:gd name="T35" fmla="*/ 791 h 791"/>
                <a:gd name="T36" fmla="*/ 0 w 2880"/>
                <a:gd name="T37" fmla="*/ 791 h 791"/>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8111 w 10000"/>
                <a:gd name="connsiteY7" fmla="*/ 4539 h 10000"/>
                <a:gd name="connsiteX8" fmla="*/ 8101 w 10000"/>
                <a:gd name="connsiteY8" fmla="*/ 5575 h 10000"/>
                <a:gd name="connsiteX9" fmla="*/ 8767 w 10000"/>
                <a:gd name="connsiteY9" fmla="*/ 7623 h 10000"/>
                <a:gd name="connsiteX10" fmla="*/ 8885 w 10000"/>
                <a:gd name="connsiteY10" fmla="*/ 7585 h 10000"/>
                <a:gd name="connsiteX11" fmla="*/ 9438 w 10000"/>
                <a:gd name="connsiteY11" fmla="*/ 4728 h 10000"/>
                <a:gd name="connsiteX12" fmla="*/ 9410 w 10000"/>
                <a:gd name="connsiteY12" fmla="*/ 1024 h 10000"/>
                <a:gd name="connsiteX13" fmla="*/ 9260 w 10000"/>
                <a:gd name="connsiteY13" fmla="*/ 25 h 10000"/>
                <a:gd name="connsiteX14" fmla="*/ 9253 w 10000"/>
                <a:gd name="connsiteY14" fmla="*/ 0 h 10000"/>
                <a:gd name="connsiteX15" fmla="*/ 10000 w 10000"/>
                <a:gd name="connsiteY15" fmla="*/ 0 h 10000"/>
                <a:gd name="connsiteX16" fmla="*/ 10000 w 10000"/>
                <a:gd name="connsiteY16" fmla="*/ 10000 h 10000"/>
                <a:gd name="connsiteX17" fmla="*/ 0 w 10000"/>
                <a:gd name="connsiteY17"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8111 w 10000"/>
                <a:gd name="connsiteY7" fmla="*/ 4539 h 10000"/>
                <a:gd name="connsiteX8" fmla="*/ 8101 w 10000"/>
                <a:gd name="connsiteY8" fmla="*/ 5575 h 10000"/>
                <a:gd name="connsiteX9" fmla="*/ 8767 w 10000"/>
                <a:gd name="connsiteY9" fmla="*/ 7623 h 10000"/>
                <a:gd name="connsiteX10" fmla="*/ 8885 w 10000"/>
                <a:gd name="connsiteY10" fmla="*/ 7585 h 10000"/>
                <a:gd name="connsiteX11" fmla="*/ 9410 w 10000"/>
                <a:gd name="connsiteY11" fmla="*/ 1024 h 10000"/>
                <a:gd name="connsiteX12" fmla="*/ 9260 w 10000"/>
                <a:gd name="connsiteY12" fmla="*/ 25 h 10000"/>
                <a:gd name="connsiteX13" fmla="*/ 9253 w 10000"/>
                <a:gd name="connsiteY13" fmla="*/ 0 h 10000"/>
                <a:gd name="connsiteX14" fmla="*/ 10000 w 10000"/>
                <a:gd name="connsiteY14" fmla="*/ 0 h 10000"/>
                <a:gd name="connsiteX15" fmla="*/ 10000 w 10000"/>
                <a:gd name="connsiteY15" fmla="*/ 10000 h 10000"/>
                <a:gd name="connsiteX16" fmla="*/ 0 w 10000"/>
                <a:gd name="connsiteY16"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8111 w 10000"/>
                <a:gd name="connsiteY7" fmla="*/ 4539 h 10000"/>
                <a:gd name="connsiteX8" fmla="*/ 8101 w 10000"/>
                <a:gd name="connsiteY8" fmla="*/ 5575 h 10000"/>
                <a:gd name="connsiteX9" fmla="*/ 8767 w 10000"/>
                <a:gd name="connsiteY9" fmla="*/ 7623 h 10000"/>
                <a:gd name="connsiteX10" fmla="*/ 9410 w 10000"/>
                <a:gd name="connsiteY10" fmla="*/ 1024 h 10000"/>
                <a:gd name="connsiteX11" fmla="*/ 9260 w 10000"/>
                <a:gd name="connsiteY11" fmla="*/ 25 h 10000"/>
                <a:gd name="connsiteX12" fmla="*/ 9253 w 10000"/>
                <a:gd name="connsiteY12" fmla="*/ 0 h 10000"/>
                <a:gd name="connsiteX13" fmla="*/ 10000 w 10000"/>
                <a:gd name="connsiteY13" fmla="*/ 0 h 10000"/>
                <a:gd name="connsiteX14" fmla="*/ 10000 w 10000"/>
                <a:gd name="connsiteY14" fmla="*/ 10000 h 10000"/>
                <a:gd name="connsiteX15" fmla="*/ 0 w 10000"/>
                <a:gd name="connsiteY15"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8111 w 10000"/>
                <a:gd name="connsiteY7" fmla="*/ 4539 h 10000"/>
                <a:gd name="connsiteX8" fmla="*/ 8101 w 10000"/>
                <a:gd name="connsiteY8" fmla="*/ 5575 h 10000"/>
                <a:gd name="connsiteX9" fmla="*/ 9410 w 10000"/>
                <a:gd name="connsiteY9" fmla="*/ 1024 h 10000"/>
                <a:gd name="connsiteX10" fmla="*/ 9260 w 10000"/>
                <a:gd name="connsiteY10" fmla="*/ 25 h 10000"/>
                <a:gd name="connsiteX11" fmla="*/ 9253 w 10000"/>
                <a:gd name="connsiteY11" fmla="*/ 0 h 10000"/>
                <a:gd name="connsiteX12" fmla="*/ 10000 w 10000"/>
                <a:gd name="connsiteY12" fmla="*/ 0 h 10000"/>
                <a:gd name="connsiteX13" fmla="*/ 10000 w 10000"/>
                <a:gd name="connsiteY13" fmla="*/ 10000 h 10000"/>
                <a:gd name="connsiteX14" fmla="*/ 0 w 10000"/>
                <a:gd name="connsiteY14"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8111 w 10000"/>
                <a:gd name="connsiteY7" fmla="*/ 4539 h 10000"/>
                <a:gd name="connsiteX8" fmla="*/ 8101 w 10000"/>
                <a:gd name="connsiteY8" fmla="*/ 5575 h 10000"/>
                <a:gd name="connsiteX9" fmla="*/ 9260 w 10000"/>
                <a:gd name="connsiteY9" fmla="*/ 25 h 10000"/>
                <a:gd name="connsiteX10" fmla="*/ 9253 w 10000"/>
                <a:gd name="connsiteY10" fmla="*/ 0 h 10000"/>
                <a:gd name="connsiteX11" fmla="*/ 10000 w 10000"/>
                <a:gd name="connsiteY11" fmla="*/ 0 h 10000"/>
                <a:gd name="connsiteX12" fmla="*/ 10000 w 10000"/>
                <a:gd name="connsiteY12" fmla="*/ 10000 h 10000"/>
                <a:gd name="connsiteX13" fmla="*/ 0 w 10000"/>
                <a:gd name="connsiteY13"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8111 w 10000"/>
                <a:gd name="connsiteY7" fmla="*/ 4539 h 10000"/>
                <a:gd name="connsiteX8" fmla="*/ 9260 w 10000"/>
                <a:gd name="connsiteY8" fmla="*/ 25 h 10000"/>
                <a:gd name="connsiteX9" fmla="*/ 9253 w 10000"/>
                <a:gd name="connsiteY9" fmla="*/ 0 h 10000"/>
                <a:gd name="connsiteX10" fmla="*/ 10000 w 10000"/>
                <a:gd name="connsiteY10" fmla="*/ 0 h 10000"/>
                <a:gd name="connsiteX11" fmla="*/ 10000 w 10000"/>
                <a:gd name="connsiteY11" fmla="*/ 10000 h 10000"/>
                <a:gd name="connsiteX12" fmla="*/ 0 w 10000"/>
                <a:gd name="connsiteY12"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9260 w 10000"/>
                <a:gd name="connsiteY7" fmla="*/ 25 h 10000"/>
                <a:gd name="connsiteX8" fmla="*/ 9253 w 10000"/>
                <a:gd name="connsiteY8" fmla="*/ 0 h 10000"/>
                <a:gd name="connsiteX9" fmla="*/ 10000 w 10000"/>
                <a:gd name="connsiteY9" fmla="*/ 0 h 10000"/>
                <a:gd name="connsiteX10" fmla="*/ 10000 w 10000"/>
                <a:gd name="connsiteY10" fmla="*/ 10000 h 10000"/>
                <a:gd name="connsiteX11" fmla="*/ 0 w 10000"/>
                <a:gd name="connsiteY11"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7833 w 10000"/>
                <a:gd name="connsiteY7" fmla="*/ 4875 h 10000"/>
                <a:gd name="connsiteX8" fmla="*/ 9260 w 10000"/>
                <a:gd name="connsiteY8" fmla="*/ 25 h 10000"/>
                <a:gd name="connsiteX9" fmla="*/ 9253 w 10000"/>
                <a:gd name="connsiteY9" fmla="*/ 0 h 10000"/>
                <a:gd name="connsiteX10" fmla="*/ 10000 w 10000"/>
                <a:gd name="connsiteY10" fmla="*/ 0 h 10000"/>
                <a:gd name="connsiteX11" fmla="*/ 10000 w 10000"/>
                <a:gd name="connsiteY11" fmla="*/ 10000 h 10000"/>
                <a:gd name="connsiteX12" fmla="*/ 0 w 10000"/>
                <a:gd name="connsiteY12"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7840 w 10000"/>
                <a:gd name="connsiteY6" fmla="*/ 4880 h 10000"/>
                <a:gd name="connsiteX7" fmla="*/ 9260 w 10000"/>
                <a:gd name="connsiteY7" fmla="*/ 25 h 10000"/>
                <a:gd name="connsiteX8" fmla="*/ 9253 w 10000"/>
                <a:gd name="connsiteY8" fmla="*/ 0 h 10000"/>
                <a:gd name="connsiteX9" fmla="*/ 10000 w 10000"/>
                <a:gd name="connsiteY9" fmla="*/ 0 h 10000"/>
                <a:gd name="connsiteX10" fmla="*/ 10000 w 10000"/>
                <a:gd name="connsiteY10" fmla="*/ 10000 h 10000"/>
                <a:gd name="connsiteX11" fmla="*/ 0 w 10000"/>
                <a:gd name="connsiteY11"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7688 w 10000"/>
                <a:gd name="connsiteY5" fmla="*/ 4930 h 10000"/>
                <a:gd name="connsiteX6" fmla="*/ 9260 w 10000"/>
                <a:gd name="connsiteY6" fmla="*/ 25 h 10000"/>
                <a:gd name="connsiteX7" fmla="*/ 9253 w 10000"/>
                <a:gd name="connsiteY7" fmla="*/ 0 h 10000"/>
                <a:gd name="connsiteX8" fmla="*/ 10000 w 10000"/>
                <a:gd name="connsiteY8" fmla="*/ 0 h 10000"/>
                <a:gd name="connsiteX9" fmla="*/ 10000 w 10000"/>
                <a:gd name="connsiteY9" fmla="*/ 10000 h 10000"/>
                <a:gd name="connsiteX10" fmla="*/ 0 w 10000"/>
                <a:gd name="connsiteY10"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6802 w 10000"/>
                <a:gd name="connsiteY4" fmla="*/ 2212 h 10000"/>
                <a:gd name="connsiteX5" fmla="*/ 9260 w 10000"/>
                <a:gd name="connsiteY5" fmla="*/ 25 h 10000"/>
                <a:gd name="connsiteX6" fmla="*/ 9253 w 10000"/>
                <a:gd name="connsiteY6" fmla="*/ 0 h 10000"/>
                <a:gd name="connsiteX7" fmla="*/ 10000 w 10000"/>
                <a:gd name="connsiteY7" fmla="*/ 0 h 10000"/>
                <a:gd name="connsiteX8" fmla="*/ 10000 w 10000"/>
                <a:gd name="connsiteY8" fmla="*/ 10000 h 10000"/>
                <a:gd name="connsiteX9" fmla="*/ 0 w 10000"/>
                <a:gd name="connsiteY9" fmla="*/ 10000 h 10000"/>
                <a:gd name="connsiteX0" fmla="*/ 0 w 10000"/>
                <a:gd name="connsiteY0" fmla="*/ 10000 h 10000"/>
                <a:gd name="connsiteX1" fmla="*/ 0 w 10000"/>
                <a:gd name="connsiteY1" fmla="*/ 0 h 10000"/>
                <a:gd name="connsiteX2" fmla="*/ 6910 w 10000"/>
                <a:gd name="connsiteY2" fmla="*/ 0 h 10000"/>
                <a:gd name="connsiteX3" fmla="*/ 6906 w 10000"/>
                <a:gd name="connsiteY3" fmla="*/ 25 h 10000"/>
                <a:gd name="connsiteX4" fmla="*/ 9260 w 10000"/>
                <a:gd name="connsiteY4" fmla="*/ 25 h 10000"/>
                <a:gd name="connsiteX5" fmla="*/ 9253 w 10000"/>
                <a:gd name="connsiteY5" fmla="*/ 0 h 10000"/>
                <a:gd name="connsiteX6" fmla="*/ 10000 w 10000"/>
                <a:gd name="connsiteY6" fmla="*/ 0 h 10000"/>
                <a:gd name="connsiteX7" fmla="*/ 10000 w 10000"/>
                <a:gd name="connsiteY7" fmla="*/ 10000 h 10000"/>
                <a:gd name="connsiteX8" fmla="*/ 0 w 10000"/>
                <a:gd name="connsiteY8" fmla="*/ 10000 h 10000"/>
                <a:gd name="connsiteX0" fmla="*/ 0 w 10000"/>
                <a:gd name="connsiteY0" fmla="*/ 10000 h 10000"/>
                <a:gd name="connsiteX1" fmla="*/ 0 w 10000"/>
                <a:gd name="connsiteY1" fmla="*/ 0 h 10000"/>
                <a:gd name="connsiteX2" fmla="*/ 6910 w 10000"/>
                <a:gd name="connsiteY2" fmla="*/ 0 h 10000"/>
                <a:gd name="connsiteX3" fmla="*/ 9260 w 10000"/>
                <a:gd name="connsiteY3" fmla="*/ 25 h 10000"/>
                <a:gd name="connsiteX4" fmla="*/ 9253 w 10000"/>
                <a:gd name="connsiteY4" fmla="*/ 0 h 10000"/>
                <a:gd name="connsiteX5" fmla="*/ 10000 w 10000"/>
                <a:gd name="connsiteY5" fmla="*/ 0 h 10000"/>
                <a:gd name="connsiteX6" fmla="*/ 10000 w 10000"/>
                <a:gd name="connsiteY6" fmla="*/ 10000 h 10000"/>
                <a:gd name="connsiteX7" fmla="*/ 0 w 10000"/>
                <a:gd name="connsiteY7" fmla="*/ 10000 h 10000"/>
                <a:gd name="connsiteX0" fmla="*/ 0 w 10000"/>
                <a:gd name="connsiteY0" fmla="*/ 10000 h 10000"/>
                <a:gd name="connsiteX1" fmla="*/ 0 w 10000"/>
                <a:gd name="connsiteY1" fmla="*/ 0 h 10000"/>
                <a:gd name="connsiteX2" fmla="*/ 6910 w 10000"/>
                <a:gd name="connsiteY2" fmla="*/ 0 h 10000"/>
                <a:gd name="connsiteX3" fmla="*/ 9253 w 10000"/>
                <a:gd name="connsiteY3" fmla="*/ 0 h 10000"/>
                <a:gd name="connsiteX4" fmla="*/ 10000 w 10000"/>
                <a:gd name="connsiteY4" fmla="*/ 0 h 10000"/>
                <a:gd name="connsiteX5" fmla="*/ 10000 w 10000"/>
                <a:gd name="connsiteY5" fmla="*/ 10000 h 10000"/>
                <a:gd name="connsiteX6" fmla="*/ 0 w 10000"/>
                <a:gd name="connsiteY6" fmla="*/ 10000 h 10000"/>
                <a:gd name="connsiteX0" fmla="*/ 0 w 10000"/>
                <a:gd name="connsiteY0" fmla="*/ 10000 h 10000"/>
                <a:gd name="connsiteX1" fmla="*/ 0 w 10000"/>
                <a:gd name="connsiteY1" fmla="*/ 0 h 10000"/>
                <a:gd name="connsiteX2" fmla="*/ 9253 w 10000"/>
                <a:gd name="connsiteY2" fmla="*/ 0 h 10000"/>
                <a:gd name="connsiteX3" fmla="*/ 10000 w 10000"/>
                <a:gd name="connsiteY3" fmla="*/ 0 h 10000"/>
                <a:gd name="connsiteX4" fmla="*/ 10000 w 10000"/>
                <a:gd name="connsiteY4" fmla="*/ 10000 h 10000"/>
                <a:gd name="connsiteX5" fmla="*/ 0 w 10000"/>
                <a:gd name="connsiteY5" fmla="*/ 10000 h 10000"/>
                <a:gd name="connsiteX0" fmla="*/ 0 w 10000"/>
                <a:gd name="connsiteY0" fmla="*/ 10000 h 10000"/>
                <a:gd name="connsiteX1" fmla="*/ 0 w 10000"/>
                <a:gd name="connsiteY1" fmla="*/ 0 h 10000"/>
                <a:gd name="connsiteX2" fmla="*/ 10000 w 10000"/>
                <a:gd name="connsiteY2" fmla="*/ 0 h 10000"/>
                <a:gd name="connsiteX3" fmla="*/ 10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0"/>
                  </a:lnTo>
                  <a:lnTo>
                    <a:pt x="10000" y="10000"/>
                  </a:lnTo>
                  <a:lnTo>
                    <a:pt x="0" y="10000"/>
                  </a:lnTo>
                  <a:close/>
                </a:path>
              </a:pathLst>
            </a:custGeom>
            <a:solidFill>
              <a:srgbClr val="0092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49" name="circle_dark2" hidden="1"/>
            <p:cNvSpPr>
              <a:spLocks noEditPoints="1"/>
            </p:cNvSpPr>
            <p:nvPr/>
          </p:nvSpPr>
          <p:spPr bwMode="ltGray">
            <a:xfrm>
              <a:off x="6150102" y="371059"/>
              <a:ext cx="1746081" cy="1739390"/>
            </a:xfrm>
            <a:custGeom>
              <a:avLst/>
              <a:gdLst>
                <a:gd name="T0" fmla="*/ 232 w 550"/>
                <a:gd name="T1" fmla="*/ 24 h 549"/>
                <a:gd name="T2" fmla="*/ 24 w 550"/>
                <a:gd name="T3" fmla="*/ 318 h 549"/>
                <a:gd name="T4" fmla="*/ 318 w 550"/>
                <a:gd name="T5" fmla="*/ 525 h 549"/>
                <a:gd name="T6" fmla="*/ 526 w 550"/>
                <a:gd name="T7" fmla="*/ 231 h 549"/>
                <a:gd name="T8" fmla="*/ 232 w 550"/>
                <a:gd name="T9" fmla="*/ 24 h 549"/>
                <a:gd name="T10" fmla="*/ 318 w 550"/>
                <a:gd name="T11" fmla="*/ 522 h 549"/>
                <a:gd name="T12" fmla="*/ 28 w 550"/>
                <a:gd name="T13" fmla="*/ 317 h 549"/>
                <a:gd name="T14" fmla="*/ 232 w 550"/>
                <a:gd name="T15" fmla="*/ 27 h 549"/>
                <a:gd name="T16" fmla="*/ 522 w 550"/>
                <a:gd name="T17" fmla="*/ 232 h 549"/>
                <a:gd name="T18" fmla="*/ 318 w 550"/>
                <a:gd name="T19" fmla="*/ 522 h 549"/>
                <a:gd name="T20" fmla="*/ 234 w 550"/>
                <a:gd name="T21" fmla="*/ 38 h 549"/>
                <a:gd name="T22" fmla="*/ 39 w 550"/>
                <a:gd name="T23" fmla="*/ 315 h 549"/>
                <a:gd name="T24" fmla="*/ 316 w 550"/>
                <a:gd name="T25" fmla="*/ 511 h 549"/>
                <a:gd name="T26" fmla="*/ 511 w 550"/>
                <a:gd name="T27" fmla="*/ 234 h 549"/>
                <a:gd name="T28" fmla="*/ 234 w 550"/>
                <a:gd name="T29" fmla="*/ 38 h 549"/>
                <a:gd name="T30" fmla="*/ 315 w 550"/>
                <a:gd name="T31" fmla="*/ 505 h 549"/>
                <a:gd name="T32" fmla="*/ 45 w 550"/>
                <a:gd name="T33" fmla="*/ 314 h 549"/>
                <a:gd name="T34" fmla="*/ 235 w 550"/>
                <a:gd name="T35" fmla="*/ 44 h 549"/>
                <a:gd name="T36" fmla="*/ 505 w 550"/>
                <a:gd name="T37" fmla="*/ 235 h 549"/>
                <a:gd name="T38" fmla="*/ 315 w 550"/>
                <a:gd name="T39" fmla="*/ 505 h 549"/>
                <a:gd name="T40" fmla="*/ 237 w 550"/>
                <a:gd name="T41" fmla="*/ 53 h 549"/>
                <a:gd name="T42" fmla="*/ 53 w 550"/>
                <a:gd name="T43" fmla="*/ 313 h 549"/>
                <a:gd name="T44" fmla="*/ 313 w 550"/>
                <a:gd name="T45" fmla="*/ 496 h 549"/>
                <a:gd name="T46" fmla="*/ 497 w 550"/>
                <a:gd name="T47" fmla="*/ 236 h 549"/>
                <a:gd name="T48" fmla="*/ 237 w 550"/>
                <a:gd name="T49" fmla="*/ 53 h 549"/>
                <a:gd name="T50" fmla="*/ 312 w 550"/>
                <a:gd name="T51" fmla="*/ 488 h 549"/>
                <a:gd name="T52" fmla="*/ 62 w 550"/>
                <a:gd name="T53" fmla="*/ 311 h 549"/>
                <a:gd name="T54" fmla="*/ 238 w 550"/>
                <a:gd name="T55" fmla="*/ 62 h 549"/>
                <a:gd name="T56" fmla="*/ 488 w 550"/>
                <a:gd name="T57" fmla="*/ 238 h 549"/>
                <a:gd name="T58" fmla="*/ 312 w 550"/>
                <a:gd name="T59" fmla="*/ 488 h 549"/>
                <a:gd name="T60" fmla="*/ 239 w 550"/>
                <a:gd name="T61" fmla="*/ 68 h 549"/>
                <a:gd name="T62" fmla="*/ 68 w 550"/>
                <a:gd name="T63" fmla="*/ 310 h 549"/>
                <a:gd name="T64" fmla="*/ 311 w 550"/>
                <a:gd name="T65" fmla="*/ 482 h 549"/>
                <a:gd name="T66" fmla="*/ 482 w 550"/>
                <a:gd name="T67" fmla="*/ 239 h 549"/>
                <a:gd name="T68" fmla="*/ 239 w 550"/>
                <a:gd name="T69" fmla="*/ 68 h 549"/>
                <a:gd name="T70" fmla="*/ 309 w 550"/>
                <a:gd name="T71" fmla="*/ 470 h 549"/>
                <a:gd name="T72" fmla="*/ 79 w 550"/>
                <a:gd name="T73" fmla="*/ 308 h 549"/>
                <a:gd name="T74" fmla="*/ 241 w 550"/>
                <a:gd name="T75" fmla="*/ 79 h 549"/>
                <a:gd name="T76" fmla="*/ 471 w 550"/>
                <a:gd name="T77" fmla="*/ 241 h 549"/>
                <a:gd name="T78" fmla="*/ 309 w 550"/>
                <a:gd name="T79" fmla="*/ 470 h 549"/>
                <a:gd name="T80" fmla="*/ 308 w 550"/>
                <a:gd name="T81" fmla="*/ 467 h 549"/>
                <a:gd name="T82" fmla="*/ 83 w 550"/>
                <a:gd name="T83" fmla="*/ 308 h 549"/>
                <a:gd name="T84" fmla="*/ 242 w 550"/>
                <a:gd name="T85" fmla="*/ 82 h 549"/>
                <a:gd name="T86" fmla="*/ 467 w 550"/>
                <a:gd name="T87" fmla="*/ 242 h 549"/>
                <a:gd name="T88" fmla="*/ 308 w 550"/>
                <a:gd name="T89" fmla="*/ 467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49">
                  <a:moveTo>
                    <a:pt x="232" y="24"/>
                  </a:moveTo>
                  <a:cubicBezTo>
                    <a:pt x="93" y="48"/>
                    <a:pt x="0" y="180"/>
                    <a:pt x="24" y="318"/>
                  </a:cubicBezTo>
                  <a:cubicBezTo>
                    <a:pt x="48" y="456"/>
                    <a:pt x="180" y="549"/>
                    <a:pt x="318" y="525"/>
                  </a:cubicBezTo>
                  <a:cubicBezTo>
                    <a:pt x="457" y="502"/>
                    <a:pt x="550" y="370"/>
                    <a:pt x="526" y="231"/>
                  </a:cubicBezTo>
                  <a:cubicBezTo>
                    <a:pt x="502" y="93"/>
                    <a:pt x="370" y="0"/>
                    <a:pt x="232" y="24"/>
                  </a:cubicBezTo>
                  <a:close/>
                  <a:moveTo>
                    <a:pt x="318" y="522"/>
                  </a:moveTo>
                  <a:cubicBezTo>
                    <a:pt x="181" y="546"/>
                    <a:pt x="51" y="454"/>
                    <a:pt x="28" y="317"/>
                  </a:cubicBezTo>
                  <a:cubicBezTo>
                    <a:pt x="4" y="181"/>
                    <a:pt x="96" y="51"/>
                    <a:pt x="232" y="27"/>
                  </a:cubicBezTo>
                  <a:cubicBezTo>
                    <a:pt x="369" y="4"/>
                    <a:pt x="499" y="96"/>
                    <a:pt x="522" y="232"/>
                  </a:cubicBezTo>
                  <a:cubicBezTo>
                    <a:pt x="546" y="368"/>
                    <a:pt x="454" y="499"/>
                    <a:pt x="318" y="522"/>
                  </a:cubicBezTo>
                  <a:close/>
                  <a:moveTo>
                    <a:pt x="234" y="38"/>
                  </a:moveTo>
                  <a:cubicBezTo>
                    <a:pt x="104" y="61"/>
                    <a:pt x="16" y="185"/>
                    <a:pt x="39" y="315"/>
                  </a:cubicBezTo>
                  <a:cubicBezTo>
                    <a:pt x="61" y="446"/>
                    <a:pt x="186" y="533"/>
                    <a:pt x="316" y="511"/>
                  </a:cubicBezTo>
                  <a:cubicBezTo>
                    <a:pt x="446" y="488"/>
                    <a:pt x="534" y="364"/>
                    <a:pt x="511" y="234"/>
                  </a:cubicBezTo>
                  <a:cubicBezTo>
                    <a:pt x="489" y="104"/>
                    <a:pt x="364" y="16"/>
                    <a:pt x="234" y="38"/>
                  </a:cubicBezTo>
                  <a:close/>
                  <a:moveTo>
                    <a:pt x="315" y="505"/>
                  </a:moveTo>
                  <a:cubicBezTo>
                    <a:pt x="188" y="527"/>
                    <a:pt x="67" y="441"/>
                    <a:pt x="45" y="314"/>
                  </a:cubicBezTo>
                  <a:cubicBezTo>
                    <a:pt x="23" y="187"/>
                    <a:pt x="108" y="66"/>
                    <a:pt x="235" y="44"/>
                  </a:cubicBezTo>
                  <a:cubicBezTo>
                    <a:pt x="362" y="23"/>
                    <a:pt x="483" y="108"/>
                    <a:pt x="505" y="235"/>
                  </a:cubicBezTo>
                  <a:cubicBezTo>
                    <a:pt x="527" y="362"/>
                    <a:pt x="442" y="483"/>
                    <a:pt x="315" y="505"/>
                  </a:cubicBezTo>
                  <a:close/>
                  <a:moveTo>
                    <a:pt x="237" y="53"/>
                  </a:moveTo>
                  <a:cubicBezTo>
                    <a:pt x="115" y="74"/>
                    <a:pt x="32" y="191"/>
                    <a:pt x="53" y="313"/>
                  </a:cubicBezTo>
                  <a:cubicBezTo>
                    <a:pt x="75" y="435"/>
                    <a:pt x="191" y="517"/>
                    <a:pt x="313" y="496"/>
                  </a:cubicBezTo>
                  <a:cubicBezTo>
                    <a:pt x="435" y="475"/>
                    <a:pt x="518" y="359"/>
                    <a:pt x="497" y="236"/>
                  </a:cubicBezTo>
                  <a:cubicBezTo>
                    <a:pt x="475" y="114"/>
                    <a:pt x="359" y="32"/>
                    <a:pt x="237" y="53"/>
                  </a:cubicBezTo>
                  <a:close/>
                  <a:moveTo>
                    <a:pt x="312" y="488"/>
                  </a:moveTo>
                  <a:cubicBezTo>
                    <a:pt x="194" y="508"/>
                    <a:pt x="82" y="429"/>
                    <a:pt x="62" y="311"/>
                  </a:cubicBezTo>
                  <a:cubicBezTo>
                    <a:pt x="42" y="194"/>
                    <a:pt x="121" y="82"/>
                    <a:pt x="238" y="62"/>
                  </a:cubicBezTo>
                  <a:cubicBezTo>
                    <a:pt x="356" y="42"/>
                    <a:pt x="468" y="121"/>
                    <a:pt x="488" y="238"/>
                  </a:cubicBezTo>
                  <a:cubicBezTo>
                    <a:pt x="508" y="355"/>
                    <a:pt x="429" y="467"/>
                    <a:pt x="312" y="488"/>
                  </a:cubicBezTo>
                  <a:close/>
                  <a:moveTo>
                    <a:pt x="239" y="68"/>
                  </a:moveTo>
                  <a:cubicBezTo>
                    <a:pt x="125" y="87"/>
                    <a:pt x="48" y="196"/>
                    <a:pt x="68" y="310"/>
                  </a:cubicBezTo>
                  <a:cubicBezTo>
                    <a:pt x="88" y="424"/>
                    <a:pt x="197" y="501"/>
                    <a:pt x="311" y="482"/>
                  </a:cubicBezTo>
                  <a:cubicBezTo>
                    <a:pt x="425" y="462"/>
                    <a:pt x="502" y="353"/>
                    <a:pt x="482" y="239"/>
                  </a:cubicBezTo>
                  <a:cubicBezTo>
                    <a:pt x="462" y="125"/>
                    <a:pt x="353" y="48"/>
                    <a:pt x="239" y="68"/>
                  </a:cubicBezTo>
                  <a:close/>
                  <a:moveTo>
                    <a:pt x="309" y="470"/>
                  </a:moveTo>
                  <a:cubicBezTo>
                    <a:pt x="201" y="489"/>
                    <a:pt x="98" y="416"/>
                    <a:pt x="79" y="308"/>
                  </a:cubicBezTo>
                  <a:cubicBezTo>
                    <a:pt x="61" y="201"/>
                    <a:pt x="133" y="98"/>
                    <a:pt x="241" y="79"/>
                  </a:cubicBezTo>
                  <a:cubicBezTo>
                    <a:pt x="349" y="60"/>
                    <a:pt x="452" y="133"/>
                    <a:pt x="471" y="241"/>
                  </a:cubicBezTo>
                  <a:cubicBezTo>
                    <a:pt x="489" y="349"/>
                    <a:pt x="417" y="452"/>
                    <a:pt x="309" y="470"/>
                  </a:cubicBezTo>
                  <a:close/>
                  <a:moveTo>
                    <a:pt x="308" y="467"/>
                  </a:moveTo>
                  <a:cubicBezTo>
                    <a:pt x="202" y="485"/>
                    <a:pt x="101" y="414"/>
                    <a:pt x="83" y="308"/>
                  </a:cubicBezTo>
                  <a:cubicBezTo>
                    <a:pt x="64" y="202"/>
                    <a:pt x="136" y="101"/>
                    <a:pt x="242" y="82"/>
                  </a:cubicBezTo>
                  <a:cubicBezTo>
                    <a:pt x="348" y="64"/>
                    <a:pt x="449" y="135"/>
                    <a:pt x="467" y="242"/>
                  </a:cubicBezTo>
                  <a:cubicBezTo>
                    <a:pt x="486" y="348"/>
                    <a:pt x="414" y="449"/>
                    <a:pt x="308" y="467"/>
                  </a:cubicBezTo>
                  <a:close/>
                </a:path>
              </a:pathLst>
            </a:custGeom>
            <a:solidFill>
              <a:srgbClr val="40AD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50" name="circle_mid2" hidden="1"/>
            <p:cNvSpPr>
              <a:spLocks noEditPoints="1"/>
            </p:cNvSpPr>
            <p:nvPr/>
          </p:nvSpPr>
          <p:spPr bwMode="ltGray">
            <a:xfrm>
              <a:off x="7356241" y="1468068"/>
              <a:ext cx="1306874" cy="1304878"/>
            </a:xfrm>
            <a:custGeom>
              <a:avLst/>
              <a:gdLst>
                <a:gd name="T0" fmla="*/ 174 w 412"/>
                <a:gd name="T1" fmla="*/ 17 h 412"/>
                <a:gd name="T2" fmla="*/ 18 w 412"/>
                <a:gd name="T3" fmla="*/ 238 h 412"/>
                <a:gd name="T4" fmla="*/ 239 w 412"/>
                <a:gd name="T5" fmla="*/ 394 h 412"/>
                <a:gd name="T6" fmla="*/ 395 w 412"/>
                <a:gd name="T7" fmla="*/ 173 h 412"/>
                <a:gd name="T8" fmla="*/ 174 w 412"/>
                <a:gd name="T9" fmla="*/ 17 h 412"/>
                <a:gd name="T10" fmla="*/ 237 w 412"/>
                <a:gd name="T11" fmla="*/ 382 h 412"/>
                <a:gd name="T12" fmla="*/ 29 w 412"/>
                <a:gd name="T13" fmla="*/ 236 h 412"/>
                <a:gd name="T14" fmla="*/ 176 w 412"/>
                <a:gd name="T15" fmla="*/ 29 h 412"/>
                <a:gd name="T16" fmla="*/ 383 w 412"/>
                <a:gd name="T17" fmla="*/ 175 h 412"/>
                <a:gd name="T18" fmla="*/ 237 w 412"/>
                <a:gd name="T19" fmla="*/ 382 h 412"/>
                <a:gd name="T20" fmla="*/ 177 w 412"/>
                <a:gd name="T21" fmla="*/ 35 h 412"/>
                <a:gd name="T22" fmla="*/ 36 w 412"/>
                <a:gd name="T23" fmla="*/ 235 h 412"/>
                <a:gd name="T24" fmla="*/ 236 w 412"/>
                <a:gd name="T25" fmla="*/ 376 h 412"/>
                <a:gd name="T26" fmla="*/ 377 w 412"/>
                <a:gd name="T27" fmla="*/ 176 h 412"/>
                <a:gd name="T28" fmla="*/ 177 w 412"/>
                <a:gd name="T29" fmla="*/ 35 h 412"/>
                <a:gd name="T30" fmla="*/ 234 w 412"/>
                <a:gd name="T31" fmla="*/ 368 h 412"/>
                <a:gd name="T32" fmla="*/ 44 w 412"/>
                <a:gd name="T33" fmla="*/ 234 h 412"/>
                <a:gd name="T34" fmla="*/ 178 w 412"/>
                <a:gd name="T35" fmla="*/ 43 h 412"/>
                <a:gd name="T36" fmla="*/ 369 w 412"/>
                <a:gd name="T37" fmla="*/ 178 h 412"/>
                <a:gd name="T38" fmla="*/ 234 w 412"/>
                <a:gd name="T39" fmla="*/ 368 h 412"/>
                <a:gd name="T40" fmla="*/ 180 w 412"/>
                <a:gd name="T41" fmla="*/ 52 h 412"/>
                <a:gd name="T42" fmla="*/ 53 w 412"/>
                <a:gd name="T43" fmla="*/ 232 h 412"/>
                <a:gd name="T44" fmla="*/ 233 w 412"/>
                <a:gd name="T45" fmla="*/ 359 h 412"/>
                <a:gd name="T46" fmla="*/ 360 w 412"/>
                <a:gd name="T47" fmla="*/ 179 h 412"/>
                <a:gd name="T48" fmla="*/ 180 w 412"/>
                <a:gd name="T49" fmla="*/ 52 h 412"/>
                <a:gd name="T50" fmla="*/ 232 w 412"/>
                <a:gd name="T51" fmla="*/ 353 h 412"/>
                <a:gd name="T52" fmla="*/ 59 w 412"/>
                <a:gd name="T53" fmla="*/ 231 h 412"/>
                <a:gd name="T54" fmla="*/ 181 w 412"/>
                <a:gd name="T55" fmla="*/ 58 h 412"/>
                <a:gd name="T56" fmla="*/ 354 w 412"/>
                <a:gd name="T57" fmla="*/ 180 h 412"/>
                <a:gd name="T58" fmla="*/ 232 w 412"/>
                <a:gd name="T59" fmla="*/ 353 h 412"/>
                <a:gd name="T60" fmla="*/ 183 w 412"/>
                <a:gd name="T61" fmla="*/ 69 h 412"/>
                <a:gd name="T62" fmla="*/ 70 w 412"/>
                <a:gd name="T63" fmla="*/ 229 h 412"/>
                <a:gd name="T64" fmla="*/ 230 w 412"/>
                <a:gd name="T65" fmla="*/ 342 h 412"/>
                <a:gd name="T66" fmla="*/ 343 w 412"/>
                <a:gd name="T67" fmla="*/ 182 h 412"/>
                <a:gd name="T68" fmla="*/ 183 w 412"/>
                <a:gd name="T69" fmla="*/ 69 h 412"/>
                <a:gd name="T70" fmla="*/ 229 w 412"/>
                <a:gd name="T71" fmla="*/ 339 h 412"/>
                <a:gd name="T72" fmla="*/ 73 w 412"/>
                <a:gd name="T73" fmla="*/ 229 h 412"/>
                <a:gd name="T74" fmla="*/ 183 w 412"/>
                <a:gd name="T75" fmla="*/ 73 h 412"/>
                <a:gd name="T76" fmla="*/ 339 w 412"/>
                <a:gd name="T77" fmla="*/ 183 h 412"/>
                <a:gd name="T78" fmla="*/ 229 w 412"/>
                <a:gd name="T79" fmla="*/ 339 h 412"/>
                <a:gd name="T80" fmla="*/ 227 w 412"/>
                <a:gd name="T81" fmla="*/ 324 h 412"/>
                <a:gd name="T82" fmla="*/ 88 w 412"/>
                <a:gd name="T83" fmla="*/ 226 h 412"/>
                <a:gd name="T84" fmla="*/ 186 w 412"/>
                <a:gd name="T85" fmla="*/ 87 h 412"/>
                <a:gd name="T86" fmla="*/ 325 w 412"/>
                <a:gd name="T87" fmla="*/ 185 h 412"/>
                <a:gd name="T88" fmla="*/ 227 w 412"/>
                <a:gd name="T89" fmla="*/ 324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12" h="412">
                  <a:moveTo>
                    <a:pt x="174" y="17"/>
                  </a:moveTo>
                  <a:cubicBezTo>
                    <a:pt x="70" y="35"/>
                    <a:pt x="0" y="134"/>
                    <a:pt x="18" y="238"/>
                  </a:cubicBezTo>
                  <a:cubicBezTo>
                    <a:pt x="36" y="342"/>
                    <a:pt x="135" y="412"/>
                    <a:pt x="239" y="394"/>
                  </a:cubicBezTo>
                  <a:cubicBezTo>
                    <a:pt x="343" y="376"/>
                    <a:pt x="412" y="277"/>
                    <a:pt x="395" y="173"/>
                  </a:cubicBezTo>
                  <a:cubicBezTo>
                    <a:pt x="377" y="69"/>
                    <a:pt x="278" y="0"/>
                    <a:pt x="174" y="17"/>
                  </a:cubicBezTo>
                  <a:close/>
                  <a:moveTo>
                    <a:pt x="237" y="382"/>
                  </a:moveTo>
                  <a:cubicBezTo>
                    <a:pt x="139" y="399"/>
                    <a:pt x="46" y="334"/>
                    <a:pt x="29" y="236"/>
                  </a:cubicBezTo>
                  <a:cubicBezTo>
                    <a:pt x="13" y="139"/>
                    <a:pt x="78" y="45"/>
                    <a:pt x="176" y="29"/>
                  </a:cubicBezTo>
                  <a:cubicBezTo>
                    <a:pt x="273" y="12"/>
                    <a:pt x="366" y="78"/>
                    <a:pt x="383" y="175"/>
                  </a:cubicBezTo>
                  <a:cubicBezTo>
                    <a:pt x="400" y="273"/>
                    <a:pt x="334" y="366"/>
                    <a:pt x="237" y="382"/>
                  </a:cubicBezTo>
                  <a:close/>
                  <a:moveTo>
                    <a:pt x="177" y="35"/>
                  </a:moveTo>
                  <a:cubicBezTo>
                    <a:pt x="83" y="51"/>
                    <a:pt x="19" y="141"/>
                    <a:pt x="36" y="235"/>
                  </a:cubicBezTo>
                  <a:cubicBezTo>
                    <a:pt x="52" y="329"/>
                    <a:pt x="142" y="393"/>
                    <a:pt x="236" y="376"/>
                  </a:cubicBezTo>
                  <a:cubicBezTo>
                    <a:pt x="330" y="360"/>
                    <a:pt x="394" y="270"/>
                    <a:pt x="377" y="176"/>
                  </a:cubicBezTo>
                  <a:cubicBezTo>
                    <a:pt x="361" y="82"/>
                    <a:pt x="271" y="18"/>
                    <a:pt x="177" y="35"/>
                  </a:cubicBezTo>
                  <a:close/>
                  <a:moveTo>
                    <a:pt x="234" y="368"/>
                  </a:moveTo>
                  <a:cubicBezTo>
                    <a:pt x="145" y="383"/>
                    <a:pt x="60" y="323"/>
                    <a:pt x="44" y="234"/>
                  </a:cubicBezTo>
                  <a:cubicBezTo>
                    <a:pt x="29" y="144"/>
                    <a:pt x="89" y="59"/>
                    <a:pt x="178" y="43"/>
                  </a:cubicBezTo>
                  <a:cubicBezTo>
                    <a:pt x="268" y="28"/>
                    <a:pt x="353" y="88"/>
                    <a:pt x="369" y="178"/>
                  </a:cubicBezTo>
                  <a:cubicBezTo>
                    <a:pt x="384" y="267"/>
                    <a:pt x="324" y="352"/>
                    <a:pt x="234" y="368"/>
                  </a:cubicBezTo>
                  <a:close/>
                  <a:moveTo>
                    <a:pt x="180" y="52"/>
                  </a:moveTo>
                  <a:cubicBezTo>
                    <a:pt x="95" y="67"/>
                    <a:pt x="38" y="147"/>
                    <a:pt x="53" y="232"/>
                  </a:cubicBezTo>
                  <a:cubicBezTo>
                    <a:pt x="67" y="317"/>
                    <a:pt x="148" y="374"/>
                    <a:pt x="233" y="359"/>
                  </a:cubicBezTo>
                  <a:cubicBezTo>
                    <a:pt x="318" y="345"/>
                    <a:pt x="375" y="264"/>
                    <a:pt x="360" y="179"/>
                  </a:cubicBezTo>
                  <a:cubicBezTo>
                    <a:pt x="345" y="94"/>
                    <a:pt x="265" y="37"/>
                    <a:pt x="180" y="52"/>
                  </a:cubicBezTo>
                  <a:close/>
                  <a:moveTo>
                    <a:pt x="232" y="353"/>
                  </a:moveTo>
                  <a:cubicBezTo>
                    <a:pt x="150" y="367"/>
                    <a:pt x="73" y="312"/>
                    <a:pt x="59" y="231"/>
                  </a:cubicBezTo>
                  <a:cubicBezTo>
                    <a:pt x="45" y="150"/>
                    <a:pt x="100" y="72"/>
                    <a:pt x="181" y="58"/>
                  </a:cubicBezTo>
                  <a:cubicBezTo>
                    <a:pt x="262" y="44"/>
                    <a:pt x="340" y="99"/>
                    <a:pt x="354" y="180"/>
                  </a:cubicBezTo>
                  <a:cubicBezTo>
                    <a:pt x="368" y="262"/>
                    <a:pt x="313" y="339"/>
                    <a:pt x="232" y="353"/>
                  </a:cubicBezTo>
                  <a:close/>
                  <a:moveTo>
                    <a:pt x="183" y="69"/>
                  </a:moveTo>
                  <a:cubicBezTo>
                    <a:pt x="108" y="82"/>
                    <a:pt x="57" y="154"/>
                    <a:pt x="70" y="229"/>
                  </a:cubicBezTo>
                  <a:cubicBezTo>
                    <a:pt x="83" y="304"/>
                    <a:pt x="155" y="355"/>
                    <a:pt x="230" y="342"/>
                  </a:cubicBezTo>
                  <a:cubicBezTo>
                    <a:pt x="305" y="329"/>
                    <a:pt x="356" y="257"/>
                    <a:pt x="343" y="182"/>
                  </a:cubicBezTo>
                  <a:cubicBezTo>
                    <a:pt x="330" y="107"/>
                    <a:pt x="258" y="56"/>
                    <a:pt x="183" y="69"/>
                  </a:cubicBezTo>
                  <a:close/>
                  <a:moveTo>
                    <a:pt x="229" y="339"/>
                  </a:moveTo>
                  <a:cubicBezTo>
                    <a:pt x="156" y="351"/>
                    <a:pt x="86" y="302"/>
                    <a:pt x="73" y="229"/>
                  </a:cubicBezTo>
                  <a:cubicBezTo>
                    <a:pt x="61" y="155"/>
                    <a:pt x="110" y="85"/>
                    <a:pt x="183" y="73"/>
                  </a:cubicBezTo>
                  <a:cubicBezTo>
                    <a:pt x="257" y="60"/>
                    <a:pt x="327" y="109"/>
                    <a:pt x="339" y="183"/>
                  </a:cubicBezTo>
                  <a:cubicBezTo>
                    <a:pt x="352" y="256"/>
                    <a:pt x="303" y="326"/>
                    <a:pt x="229" y="339"/>
                  </a:cubicBezTo>
                  <a:close/>
                  <a:moveTo>
                    <a:pt x="227" y="324"/>
                  </a:moveTo>
                  <a:cubicBezTo>
                    <a:pt x="161" y="336"/>
                    <a:pt x="99" y="292"/>
                    <a:pt x="88" y="226"/>
                  </a:cubicBezTo>
                  <a:cubicBezTo>
                    <a:pt x="76" y="161"/>
                    <a:pt x="120" y="98"/>
                    <a:pt x="186" y="87"/>
                  </a:cubicBezTo>
                  <a:cubicBezTo>
                    <a:pt x="251" y="75"/>
                    <a:pt x="314" y="120"/>
                    <a:pt x="325" y="185"/>
                  </a:cubicBezTo>
                  <a:cubicBezTo>
                    <a:pt x="337" y="251"/>
                    <a:pt x="292" y="313"/>
                    <a:pt x="227" y="324"/>
                  </a:cubicBezTo>
                  <a:close/>
                </a:path>
              </a:pathLst>
            </a:custGeom>
            <a:solidFill>
              <a:srgbClr val="80C8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51" name="circle_light" hidden="1"/>
            <p:cNvSpPr>
              <a:spLocks noEditPoints="1"/>
            </p:cNvSpPr>
            <p:nvPr/>
          </p:nvSpPr>
          <p:spPr bwMode="ltGray">
            <a:xfrm>
              <a:off x="7705457" y="696943"/>
              <a:ext cx="920050" cy="919986"/>
            </a:xfrm>
            <a:custGeom>
              <a:avLst/>
              <a:gdLst>
                <a:gd name="T0" fmla="*/ 122 w 290"/>
                <a:gd name="T1" fmla="*/ 13 h 290"/>
                <a:gd name="T2" fmla="*/ 12 w 290"/>
                <a:gd name="T3" fmla="*/ 168 h 290"/>
                <a:gd name="T4" fmla="*/ 168 w 290"/>
                <a:gd name="T5" fmla="*/ 278 h 290"/>
                <a:gd name="T6" fmla="*/ 277 w 290"/>
                <a:gd name="T7" fmla="*/ 123 h 290"/>
                <a:gd name="T8" fmla="*/ 122 w 290"/>
                <a:gd name="T9" fmla="*/ 13 h 290"/>
                <a:gd name="T10" fmla="*/ 167 w 290"/>
                <a:gd name="T11" fmla="*/ 274 h 290"/>
                <a:gd name="T12" fmla="*/ 16 w 290"/>
                <a:gd name="T13" fmla="*/ 168 h 290"/>
                <a:gd name="T14" fmla="*/ 123 w 290"/>
                <a:gd name="T15" fmla="*/ 16 h 290"/>
                <a:gd name="T16" fmla="*/ 274 w 290"/>
                <a:gd name="T17" fmla="*/ 123 h 290"/>
                <a:gd name="T18" fmla="*/ 167 w 290"/>
                <a:gd name="T19" fmla="*/ 274 h 290"/>
                <a:gd name="T20" fmla="*/ 124 w 290"/>
                <a:gd name="T21" fmla="*/ 28 h 290"/>
                <a:gd name="T22" fmla="*/ 27 w 290"/>
                <a:gd name="T23" fmla="*/ 166 h 290"/>
                <a:gd name="T24" fmla="*/ 165 w 290"/>
                <a:gd name="T25" fmla="*/ 263 h 290"/>
                <a:gd name="T26" fmla="*/ 262 w 290"/>
                <a:gd name="T27" fmla="*/ 125 h 290"/>
                <a:gd name="T28" fmla="*/ 124 w 290"/>
                <a:gd name="T29" fmla="*/ 28 h 290"/>
                <a:gd name="T30" fmla="*/ 164 w 290"/>
                <a:gd name="T31" fmla="*/ 257 h 290"/>
                <a:gd name="T32" fmla="*/ 33 w 290"/>
                <a:gd name="T33" fmla="*/ 165 h 290"/>
                <a:gd name="T34" fmla="*/ 126 w 290"/>
                <a:gd name="T35" fmla="*/ 34 h 290"/>
                <a:gd name="T36" fmla="*/ 256 w 290"/>
                <a:gd name="T37" fmla="*/ 126 h 290"/>
                <a:gd name="T38" fmla="*/ 164 w 290"/>
                <a:gd name="T39" fmla="*/ 257 h 290"/>
                <a:gd name="T40" fmla="*/ 127 w 290"/>
                <a:gd name="T41" fmla="*/ 42 h 290"/>
                <a:gd name="T42" fmla="*/ 42 w 290"/>
                <a:gd name="T43" fmla="*/ 163 h 290"/>
                <a:gd name="T44" fmla="*/ 163 w 290"/>
                <a:gd name="T45" fmla="*/ 248 h 290"/>
                <a:gd name="T46" fmla="*/ 248 w 290"/>
                <a:gd name="T47" fmla="*/ 128 h 290"/>
                <a:gd name="T48" fmla="*/ 127 w 290"/>
                <a:gd name="T49" fmla="*/ 42 h 290"/>
                <a:gd name="T50" fmla="*/ 161 w 290"/>
                <a:gd name="T51" fmla="*/ 240 h 290"/>
                <a:gd name="T52" fmla="*/ 50 w 290"/>
                <a:gd name="T53" fmla="*/ 162 h 290"/>
                <a:gd name="T54" fmla="*/ 129 w 290"/>
                <a:gd name="T55" fmla="*/ 51 h 290"/>
                <a:gd name="T56" fmla="*/ 239 w 290"/>
                <a:gd name="T57" fmla="*/ 129 h 290"/>
                <a:gd name="T58" fmla="*/ 161 w 290"/>
                <a:gd name="T59" fmla="*/ 240 h 290"/>
                <a:gd name="T60" fmla="*/ 130 w 290"/>
                <a:gd name="T61" fmla="*/ 57 h 290"/>
                <a:gd name="T62" fmla="*/ 56 w 290"/>
                <a:gd name="T63" fmla="*/ 161 h 290"/>
                <a:gd name="T64" fmla="*/ 160 w 290"/>
                <a:gd name="T65" fmla="*/ 234 h 290"/>
                <a:gd name="T66" fmla="*/ 233 w 290"/>
                <a:gd name="T67" fmla="*/ 130 h 290"/>
                <a:gd name="T68" fmla="*/ 130 w 290"/>
                <a:gd name="T69" fmla="*/ 57 h 290"/>
                <a:gd name="T70" fmla="*/ 158 w 290"/>
                <a:gd name="T71" fmla="*/ 222 h 290"/>
                <a:gd name="T72" fmla="*/ 68 w 290"/>
                <a:gd name="T73" fmla="*/ 159 h 290"/>
                <a:gd name="T74" fmla="*/ 131 w 290"/>
                <a:gd name="T75" fmla="*/ 68 h 290"/>
                <a:gd name="T76" fmla="*/ 222 w 290"/>
                <a:gd name="T77" fmla="*/ 132 h 290"/>
                <a:gd name="T78" fmla="*/ 158 w 290"/>
                <a:gd name="T79" fmla="*/ 222 h 290"/>
                <a:gd name="T80" fmla="*/ 157 w 290"/>
                <a:gd name="T81" fmla="*/ 219 h 290"/>
                <a:gd name="T82" fmla="*/ 71 w 290"/>
                <a:gd name="T83" fmla="*/ 158 h 290"/>
                <a:gd name="T84" fmla="*/ 132 w 290"/>
                <a:gd name="T85" fmla="*/ 72 h 290"/>
                <a:gd name="T86" fmla="*/ 219 w 290"/>
                <a:gd name="T87" fmla="*/ 133 h 290"/>
                <a:gd name="T88" fmla="*/ 157 w 290"/>
                <a:gd name="T89" fmla="*/ 219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0" h="290">
                  <a:moveTo>
                    <a:pt x="122" y="13"/>
                  </a:moveTo>
                  <a:cubicBezTo>
                    <a:pt x="49" y="26"/>
                    <a:pt x="0" y="95"/>
                    <a:pt x="12" y="168"/>
                  </a:cubicBezTo>
                  <a:cubicBezTo>
                    <a:pt x="25" y="241"/>
                    <a:pt x="95" y="290"/>
                    <a:pt x="168" y="278"/>
                  </a:cubicBezTo>
                  <a:cubicBezTo>
                    <a:pt x="241" y="265"/>
                    <a:pt x="290" y="196"/>
                    <a:pt x="277" y="123"/>
                  </a:cubicBezTo>
                  <a:cubicBezTo>
                    <a:pt x="264" y="50"/>
                    <a:pt x="195" y="0"/>
                    <a:pt x="122" y="13"/>
                  </a:cubicBezTo>
                  <a:close/>
                  <a:moveTo>
                    <a:pt x="167" y="274"/>
                  </a:moveTo>
                  <a:cubicBezTo>
                    <a:pt x="96" y="287"/>
                    <a:pt x="28" y="239"/>
                    <a:pt x="16" y="168"/>
                  </a:cubicBezTo>
                  <a:cubicBezTo>
                    <a:pt x="4" y="97"/>
                    <a:pt x="51" y="29"/>
                    <a:pt x="123" y="16"/>
                  </a:cubicBezTo>
                  <a:cubicBezTo>
                    <a:pt x="194" y="4"/>
                    <a:pt x="261" y="52"/>
                    <a:pt x="274" y="123"/>
                  </a:cubicBezTo>
                  <a:cubicBezTo>
                    <a:pt x="286" y="194"/>
                    <a:pt x="238" y="262"/>
                    <a:pt x="167" y="274"/>
                  </a:cubicBezTo>
                  <a:close/>
                  <a:moveTo>
                    <a:pt x="124" y="28"/>
                  </a:moveTo>
                  <a:cubicBezTo>
                    <a:pt x="60" y="39"/>
                    <a:pt x="16" y="101"/>
                    <a:pt x="27" y="166"/>
                  </a:cubicBezTo>
                  <a:cubicBezTo>
                    <a:pt x="38" y="231"/>
                    <a:pt x="100" y="274"/>
                    <a:pt x="165" y="263"/>
                  </a:cubicBezTo>
                  <a:cubicBezTo>
                    <a:pt x="230" y="252"/>
                    <a:pt x="274" y="190"/>
                    <a:pt x="262" y="125"/>
                  </a:cubicBezTo>
                  <a:cubicBezTo>
                    <a:pt x="251" y="60"/>
                    <a:pt x="189" y="17"/>
                    <a:pt x="124" y="28"/>
                  </a:cubicBezTo>
                  <a:close/>
                  <a:moveTo>
                    <a:pt x="164" y="257"/>
                  </a:moveTo>
                  <a:cubicBezTo>
                    <a:pt x="102" y="268"/>
                    <a:pt x="44" y="226"/>
                    <a:pt x="33" y="165"/>
                  </a:cubicBezTo>
                  <a:cubicBezTo>
                    <a:pt x="23" y="103"/>
                    <a:pt x="64" y="44"/>
                    <a:pt x="126" y="34"/>
                  </a:cubicBezTo>
                  <a:cubicBezTo>
                    <a:pt x="187" y="23"/>
                    <a:pt x="246" y="65"/>
                    <a:pt x="256" y="126"/>
                  </a:cubicBezTo>
                  <a:cubicBezTo>
                    <a:pt x="267" y="188"/>
                    <a:pt x="226" y="246"/>
                    <a:pt x="164" y="257"/>
                  </a:cubicBezTo>
                  <a:close/>
                  <a:moveTo>
                    <a:pt x="127" y="42"/>
                  </a:moveTo>
                  <a:cubicBezTo>
                    <a:pt x="70" y="52"/>
                    <a:pt x="32" y="106"/>
                    <a:pt x="42" y="163"/>
                  </a:cubicBezTo>
                  <a:cubicBezTo>
                    <a:pt x="52" y="220"/>
                    <a:pt x="106" y="258"/>
                    <a:pt x="163" y="248"/>
                  </a:cubicBezTo>
                  <a:cubicBezTo>
                    <a:pt x="219" y="239"/>
                    <a:pt x="258" y="184"/>
                    <a:pt x="248" y="128"/>
                  </a:cubicBezTo>
                  <a:cubicBezTo>
                    <a:pt x="238" y="71"/>
                    <a:pt x="184" y="33"/>
                    <a:pt x="127" y="42"/>
                  </a:cubicBezTo>
                  <a:close/>
                  <a:moveTo>
                    <a:pt x="161" y="240"/>
                  </a:moveTo>
                  <a:cubicBezTo>
                    <a:pt x="109" y="249"/>
                    <a:pt x="59" y="214"/>
                    <a:pt x="50" y="162"/>
                  </a:cubicBezTo>
                  <a:cubicBezTo>
                    <a:pt x="41" y="110"/>
                    <a:pt x="76" y="60"/>
                    <a:pt x="129" y="51"/>
                  </a:cubicBezTo>
                  <a:cubicBezTo>
                    <a:pt x="181" y="42"/>
                    <a:pt x="230" y="77"/>
                    <a:pt x="239" y="129"/>
                  </a:cubicBezTo>
                  <a:cubicBezTo>
                    <a:pt x="248" y="181"/>
                    <a:pt x="213" y="231"/>
                    <a:pt x="161" y="240"/>
                  </a:cubicBezTo>
                  <a:close/>
                  <a:moveTo>
                    <a:pt x="130" y="57"/>
                  </a:moveTo>
                  <a:cubicBezTo>
                    <a:pt x="81" y="65"/>
                    <a:pt x="48" y="112"/>
                    <a:pt x="56" y="161"/>
                  </a:cubicBezTo>
                  <a:cubicBezTo>
                    <a:pt x="65" y="209"/>
                    <a:pt x="111" y="242"/>
                    <a:pt x="160" y="234"/>
                  </a:cubicBezTo>
                  <a:cubicBezTo>
                    <a:pt x="209" y="225"/>
                    <a:pt x="242" y="179"/>
                    <a:pt x="233" y="130"/>
                  </a:cubicBezTo>
                  <a:cubicBezTo>
                    <a:pt x="225" y="81"/>
                    <a:pt x="178" y="49"/>
                    <a:pt x="130" y="57"/>
                  </a:cubicBezTo>
                  <a:close/>
                  <a:moveTo>
                    <a:pt x="158" y="222"/>
                  </a:moveTo>
                  <a:cubicBezTo>
                    <a:pt x="116" y="230"/>
                    <a:pt x="75" y="201"/>
                    <a:pt x="68" y="159"/>
                  </a:cubicBezTo>
                  <a:cubicBezTo>
                    <a:pt x="60" y="116"/>
                    <a:pt x="89" y="76"/>
                    <a:pt x="131" y="68"/>
                  </a:cubicBezTo>
                  <a:cubicBezTo>
                    <a:pt x="174" y="61"/>
                    <a:pt x="215" y="90"/>
                    <a:pt x="222" y="132"/>
                  </a:cubicBezTo>
                  <a:cubicBezTo>
                    <a:pt x="229" y="175"/>
                    <a:pt x="201" y="215"/>
                    <a:pt x="158" y="222"/>
                  </a:cubicBezTo>
                  <a:close/>
                  <a:moveTo>
                    <a:pt x="157" y="219"/>
                  </a:moveTo>
                  <a:cubicBezTo>
                    <a:pt x="117" y="226"/>
                    <a:pt x="78" y="199"/>
                    <a:pt x="71" y="158"/>
                  </a:cubicBezTo>
                  <a:cubicBezTo>
                    <a:pt x="64" y="117"/>
                    <a:pt x="91" y="79"/>
                    <a:pt x="132" y="72"/>
                  </a:cubicBezTo>
                  <a:cubicBezTo>
                    <a:pt x="173" y="65"/>
                    <a:pt x="211" y="92"/>
                    <a:pt x="219" y="133"/>
                  </a:cubicBezTo>
                  <a:cubicBezTo>
                    <a:pt x="225" y="173"/>
                    <a:pt x="198" y="212"/>
                    <a:pt x="157" y="21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grpSp>
      <p:sp>
        <p:nvSpPr>
          <p:cNvPr id="2" name="Title 1" descr="&lt;mode=4x3&gt;&#10;&lt;size&gt;h=93.02276;w=444.0164&lt;size/&gt;&#10;&lt;pos&gt;top=288.7272;left=40.24362&lt;pos/&gt;&#10;&lt;mode/&gt;&#10;&lt;mode=16x9&gt;&#10;&lt;size&gt;h=69.76709;w=444.0164&lt;size/&gt;&#10;&lt;pos&gt;top=213.8969;left=29.07095&lt;pos/&gt;&#10;&lt;mode/&gt;"/>
          <p:cNvSpPr>
            <a:spLocks noGrp="1"/>
          </p:cNvSpPr>
          <p:nvPr userDrawn="1">
            <p:ph type="ctrTitle" hasCustomPrompt="1"/>
          </p:nvPr>
        </p:nvSpPr>
        <p:spPr>
          <a:xfrm>
            <a:off x="492268" y="3621988"/>
            <a:ext cx="7518677" cy="1181389"/>
          </a:xfrm>
        </p:spPr>
        <p:txBody>
          <a:bodyPr anchor="b" anchorCtr="0"/>
          <a:lstStyle>
            <a:lvl1pPr algn="l">
              <a:lnSpc>
                <a:spcPct val="92000"/>
              </a:lnSpc>
              <a:defRPr sz="2667" spc="0" baseline="0">
                <a:solidFill>
                  <a:schemeClr val="bg1"/>
                </a:solidFill>
              </a:defRPr>
            </a:lvl1pPr>
          </a:lstStyle>
          <a:p>
            <a:br>
              <a:rPr lang="en-US" dirty="0"/>
            </a:br>
            <a:r>
              <a:rPr lang="en-US" dirty="0"/>
              <a:t>Click to enter heading</a:t>
            </a:r>
            <a:endParaRPr lang="en-AU" dirty="0"/>
          </a:p>
        </p:txBody>
      </p:sp>
      <p:sp>
        <p:nvSpPr>
          <p:cNvPr id="3" name="Subtitle 2" descr="&lt;mode=4x3&gt;&#10;&lt;size&gt;h=74.45457;w=443.8835&lt;size/&gt;&#10;&lt;pos&gt;top=399;left=41.14291&lt;pos/&gt;&#10;&lt;mode/&gt;&#10;&lt;mode=16x9&gt;&#10;&lt;size&gt;h=55.84095;w=443.8835&lt;size/&gt;&#10;&lt;pos&gt;top=297.3513;left=30.15772&lt;pos/&gt;&#10;&lt;mode/&gt;"/>
          <p:cNvSpPr>
            <a:spLocks noGrp="1"/>
          </p:cNvSpPr>
          <p:nvPr userDrawn="1">
            <p:ph type="subTitle" idx="1" hasCustomPrompt="1"/>
          </p:nvPr>
        </p:nvSpPr>
        <p:spPr>
          <a:xfrm>
            <a:off x="510671" y="5035148"/>
            <a:ext cx="7516428" cy="945573"/>
          </a:xfrm>
        </p:spPr>
        <p:txBody>
          <a:bodyPr anchor="t" anchorCtr="0"/>
          <a:lstStyle>
            <a:lvl1pPr marL="0" indent="0" algn="l">
              <a:spcBef>
                <a:spcPts val="0"/>
              </a:spcBef>
              <a:spcAft>
                <a:spcPts val="0"/>
              </a:spcAft>
              <a:buNone/>
              <a:defRPr sz="1800" b="0" spc="-53" baseline="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a:t>
            </a:r>
            <a:r>
              <a:rPr lang="en-US" dirty="0"/>
              <a:t>to enter subheading</a:t>
            </a:r>
            <a:endParaRPr lang="en-AU" dirty="0"/>
          </a:p>
        </p:txBody>
      </p:sp>
      <p:grpSp>
        <p:nvGrpSpPr>
          <p:cNvPr id="36" name="logo_brand_melbWater" descr="&lt;mode=4x3&gt;&#10;&lt;size&gt;h=30.95331;w=130.4006&lt;size/&gt;&#10;&lt;pos&gt;top=493.2755;left=547.9744&lt;pos/&gt;&#10;&lt;mode/&gt;&#10;&lt;mode=16x9&gt;&#10;&lt;size&gt;h=23.21496;w=96.56252&lt;size/&gt;&#10;&lt;pos&gt;top=365.8674;left=591.9376&lt;pos/&gt;&#10;&lt;mode/&gt;"/>
          <p:cNvGrpSpPr/>
          <p:nvPr userDrawn="1"/>
        </p:nvGrpSpPr>
        <p:grpSpPr>
          <a:xfrm>
            <a:off x="10023478" y="6195355"/>
            <a:ext cx="1635125" cy="393107"/>
            <a:chOff x="6959275" y="6264599"/>
            <a:chExt cx="1656087" cy="393107"/>
          </a:xfrm>
        </p:grpSpPr>
        <p:sp>
          <p:nvSpPr>
            <p:cNvPr id="37" name="Freeform 2"/>
            <p:cNvSpPr>
              <a:spLocks noEditPoints="1"/>
            </p:cNvSpPr>
            <p:nvPr userDrawn="1"/>
          </p:nvSpPr>
          <p:spPr bwMode="black">
            <a:xfrm>
              <a:off x="7418917" y="6270760"/>
              <a:ext cx="1196445" cy="386945"/>
            </a:xfrm>
            <a:custGeom>
              <a:avLst/>
              <a:gdLst>
                <a:gd name="T0" fmla="*/ 25 w 965"/>
                <a:gd name="T1" fmla="*/ 28 h 311"/>
                <a:gd name="T2" fmla="*/ 115 w 965"/>
                <a:gd name="T3" fmla="*/ 28 h 311"/>
                <a:gd name="T4" fmla="*/ 145 w 965"/>
                <a:gd name="T5" fmla="*/ 0 h 311"/>
                <a:gd name="T6" fmla="*/ 43 w 965"/>
                <a:gd name="T7" fmla="*/ 0 h 311"/>
                <a:gd name="T8" fmla="*/ 267 w 965"/>
                <a:gd name="T9" fmla="*/ 88 h 311"/>
                <a:gd name="T10" fmla="*/ 215 w 965"/>
                <a:gd name="T11" fmla="*/ 142 h 311"/>
                <a:gd name="T12" fmla="*/ 216 w 965"/>
                <a:gd name="T13" fmla="*/ 120 h 311"/>
                <a:gd name="T14" fmla="*/ 267 w 965"/>
                <a:gd name="T15" fmla="*/ 88 h 311"/>
                <a:gd name="T16" fmla="*/ 236 w 965"/>
                <a:gd name="T17" fmla="*/ 76 h 311"/>
                <a:gd name="T18" fmla="*/ 314 w 965"/>
                <a:gd name="T19" fmla="*/ 139 h 311"/>
                <a:gd name="T20" fmla="*/ 283 w 965"/>
                <a:gd name="T21" fmla="*/ 139 h 311"/>
                <a:gd name="T22" fmla="*/ 364 w 965"/>
                <a:gd name="T23" fmla="*/ 0 h 311"/>
                <a:gd name="T24" fmla="*/ 350 w 965"/>
                <a:gd name="T25" fmla="*/ 139 h 311"/>
                <a:gd name="T26" fmla="*/ 432 w 965"/>
                <a:gd name="T27" fmla="*/ 86 h 311"/>
                <a:gd name="T28" fmla="*/ 364 w 965"/>
                <a:gd name="T29" fmla="*/ 100 h 311"/>
                <a:gd name="T30" fmla="*/ 400 w 965"/>
                <a:gd name="T31" fmla="*/ 88 h 311"/>
                <a:gd name="T32" fmla="*/ 444 w 965"/>
                <a:gd name="T33" fmla="*/ 87 h 311"/>
                <a:gd name="T34" fmla="*/ 496 w 965"/>
                <a:gd name="T35" fmla="*/ 33 h 311"/>
                <a:gd name="T36" fmla="*/ 496 w 965"/>
                <a:gd name="T37" fmla="*/ 54 h 311"/>
                <a:gd name="T38" fmla="*/ 658 w 965"/>
                <a:gd name="T39" fmla="*/ 36 h 311"/>
                <a:gd name="T40" fmla="*/ 609 w 965"/>
                <a:gd name="T41" fmla="*/ 120 h 311"/>
                <a:gd name="T42" fmla="*/ 565 w 965"/>
                <a:gd name="T43" fmla="*/ 36 h 311"/>
                <a:gd name="T44" fmla="*/ 630 w 965"/>
                <a:gd name="T45" fmla="*/ 122 h 311"/>
                <a:gd name="T46" fmla="*/ 658 w 965"/>
                <a:gd name="T47" fmla="*/ 36 h 311"/>
                <a:gd name="T48" fmla="*/ 708 w 965"/>
                <a:gd name="T49" fmla="*/ 88 h 311"/>
                <a:gd name="T50" fmla="*/ 738 w 965"/>
                <a:gd name="T51" fmla="*/ 34 h 311"/>
                <a:gd name="T52" fmla="*/ 704 w 965"/>
                <a:gd name="T53" fmla="*/ 36 h 311"/>
                <a:gd name="T54" fmla="*/ 753 w 965"/>
                <a:gd name="T55" fmla="*/ 139 h 311"/>
                <a:gd name="T56" fmla="*/ 801 w 965"/>
                <a:gd name="T57" fmla="*/ 55 h 311"/>
                <a:gd name="T58" fmla="*/ 845 w 965"/>
                <a:gd name="T59" fmla="*/ 139 h 311"/>
                <a:gd name="T60" fmla="*/ 780 w 965"/>
                <a:gd name="T61" fmla="*/ 52 h 311"/>
                <a:gd name="T62" fmla="*/ 753 w 965"/>
                <a:gd name="T63" fmla="*/ 139 h 311"/>
                <a:gd name="T64" fmla="*/ 859 w 965"/>
                <a:gd name="T65" fmla="*/ 88 h 311"/>
                <a:gd name="T66" fmla="*/ 935 w 965"/>
                <a:gd name="T67" fmla="*/ 105 h 311"/>
                <a:gd name="T68" fmla="*/ 965 w 965"/>
                <a:gd name="T69" fmla="*/ 92 h 311"/>
                <a:gd name="T70" fmla="*/ 913 w 965"/>
                <a:gd name="T71" fmla="*/ 53 h 311"/>
                <a:gd name="T72" fmla="*/ 37 w 965"/>
                <a:gd name="T73" fmla="*/ 308 h 311"/>
                <a:gd name="T74" fmla="*/ 113 w 965"/>
                <a:gd name="T75" fmla="*/ 308 h 311"/>
                <a:gd name="T76" fmla="*/ 153 w 965"/>
                <a:gd name="T77" fmla="*/ 169 h 311"/>
                <a:gd name="T78" fmla="*/ 79 w 965"/>
                <a:gd name="T79" fmla="*/ 169 h 311"/>
                <a:gd name="T80" fmla="*/ 1 w 965"/>
                <a:gd name="T81" fmla="*/ 169 h 311"/>
                <a:gd name="T82" fmla="*/ 275 w 965"/>
                <a:gd name="T83" fmla="*/ 243 h 311"/>
                <a:gd name="T84" fmla="*/ 206 w 965"/>
                <a:gd name="T85" fmla="*/ 236 h 311"/>
                <a:gd name="T86" fmla="*/ 246 w 965"/>
                <a:gd name="T87" fmla="*/ 242 h 311"/>
                <a:gd name="T88" fmla="*/ 246 w 965"/>
                <a:gd name="T89" fmla="*/ 292 h 311"/>
                <a:gd name="T90" fmla="*/ 275 w 965"/>
                <a:gd name="T91" fmla="*/ 289 h 311"/>
                <a:gd name="T92" fmla="*/ 208 w 965"/>
                <a:gd name="T93" fmla="*/ 278 h 311"/>
                <a:gd name="T94" fmla="*/ 302 w 965"/>
                <a:gd name="T95" fmla="*/ 275 h 311"/>
                <a:gd name="T96" fmla="*/ 356 w 965"/>
                <a:gd name="T97" fmla="*/ 287 h 311"/>
                <a:gd name="T98" fmla="*/ 333 w 965"/>
                <a:gd name="T99" fmla="*/ 225 h 311"/>
                <a:gd name="T100" fmla="*/ 333 w 965"/>
                <a:gd name="T101" fmla="*/ 205 h 311"/>
                <a:gd name="T102" fmla="*/ 303 w 965"/>
                <a:gd name="T103" fmla="*/ 205 h 311"/>
                <a:gd name="T104" fmla="*/ 302 w 965"/>
                <a:gd name="T105" fmla="*/ 225 h 311"/>
                <a:gd name="T106" fmla="*/ 421 w 965"/>
                <a:gd name="T107" fmla="*/ 202 h 311"/>
                <a:gd name="T108" fmla="*/ 470 w 965"/>
                <a:gd name="T109" fmla="*/ 277 h 311"/>
                <a:gd name="T110" fmla="*/ 398 w 965"/>
                <a:gd name="T111" fmla="*/ 262 h 311"/>
                <a:gd name="T112" fmla="*/ 398 w 965"/>
                <a:gd name="T113" fmla="*/ 245 h 311"/>
                <a:gd name="T114" fmla="*/ 398 w 965"/>
                <a:gd name="T115" fmla="*/ 245 h 311"/>
                <a:gd name="T116" fmla="*/ 519 w 965"/>
                <a:gd name="T117" fmla="*/ 258 h 311"/>
                <a:gd name="T118" fmla="*/ 549 w 965"/>
                <a:gd name="T119" fmla="*/ 203 h 311"/>
                <a:gd name="T120" fmla="*/ 515 w 965"/>
                <a:gd name="T121" fmla="*/ 205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65" h="311">
                  <a:moveTo>
                    <a:pt x="0" y="139"/>
                  </a:moveTo>
                  <a:cubicBezTo>
                    <a:pt x="26" y="139"/>
                    <a:pt x="26" y="139"/>
                    <a:pt x="26" y="139"/>
                  </a:cubicBezTo>
                  <a:cubicBezTo>
                    <a:pt x="25" y="28"/>
                    <a:pt x="25" y="28"/>
                    <a:pt x="25" y="28"/>
                  </a:cubicBezTo>
                  <a:cubicBezTo>
                    <a:pt x="59" y="139"/>
                    <a:pt x="59" y="139"/>
                    <a:pt x="59" y="139"/>
                  </a:cubicBezTo>
                  <a:cubicBezTo>
                    <a:pt x="80" y="139"/>
                    <a:pt x="80" y="139"/>
                    <a:pt x="80" y="139"/>
                  </a:cubicBezTo>
                  <a:cubicBezTo>
                    <a:pt x="115" y="28"/>
                    <a:pt x="115" y="28"/>
                    <a:pt x="115" y="28"/>
                  </a:cubicBezTo>
                  <a:cubicBezTo>
                    <a:pt x="114" y="139"/>
                    <a:pt x="114" y="139"/>
                    <a:pt x="114" y="139"/>
                  </a:cubicBezTo>
                  <a:cubicBezTo>
                    <a:pt x="145" y="139"/>
                    <a:pt x="145" y="139"/>
                    <a:pt x="145" y="139"/>
                  </a:cubicBezTo>
                  <a:cubicBezTo>
                    <a:pt x="145" y="0"/>
                    <a:pt x="145" y="0"/>
                    <a:pt x="145" y="0"/>
                  </a:cubicBezTo>
                  <a:cubicBezTo>
                    <a:pt x="101" y="0"/>
                    <a:pt x="101" y="0"/>
                    <a:pt x="101" y="0"/>
                  </a:cubicBezTo>
                  <a:cubicBezTo>
                    <a:pt x="73" y="92"/>
                    <a:pt x="73" y="92"/>
                    <a:pt x="73" y="92"/>
                  </a:cubicBezTo>
                  <a:cubicBezTo>
                    <a:pt x="43" y="0"/>
                    <a:pt x="43" y="0"/>
                    <a:pt x="43" y="0"/>
                  </a:cubicBezTo>
                  <a:cubicBezTo>
                    <a:pt x="0" y="0"/>
                    <a:pt x="0" y="0"/>
                    <a:pt x="0" y="0"/>
                  </a:cubicBezTo>
                  <a:cubicBezTo>
                    <a:pt x="0" y="139"/>
                    <a:pt x="0" y="139"/>
                    <a:pt x="0" y="139"/>
                  </a:cubicBezTo>
                  <a:close/>
                  <a:moveTo>
                    <a:pt x="267" y="88"/>
                  </a:moveTo>
                  <a:cubicBezTo>
                    <a:pt x="267" y="54"/>
                    <a:pt x="248" y="33"/>
                    <a:pt x="217" y="33"/>
                  </a:cubicBezTo>
                  <a:cubicBezTo>
                    <a:pt x="184" y="33"/>
                    <a:pt x="161" y="56"/>
                    <a:pt x="161" y="88"/>
                  </a:cubicBezTo>
                  <a:cubicBezTo>
                    <a:pt x="161" y="120"/>
                    <a:pt x="183" y="142"/>
                    <a:pt x="215" y="142"/>
                  </a:cubicBezTo>
                  <a:cubicBezTo>
                    <a:pt x="241" y="142"/>
                    <a:pt x="260" y="129"/>
                    <a:pt x="267" y="107"/>
                  </a:cubicBezTo>
                  <a:cubicBezTo>
                    <a:pt x="267" y="107"/>
                    <a:pt x="267" y="107"/>
                    <a:pt x="237" y="105"/>
                  </a:cubicBezTo>
                  <a:cubicBezTo>
                    <a:pt x="234" y="115"/>
                    <a:pt x="227" y="120"/>
                    <a:pt x="216" y="120"/>
                  </a:cubicBezTo>
                  <a:cubicBezTo>
                    <a:pt x="202" y="120"/>
                    <a:pt x="194" y="110"/>
                    <a:pt x="194" y="92"/>
                  </a:cubicBezTo>
                  <a:cubicBezTo>
                    <a:pt x="194" y="92"/>
                    <a:pt x="194" y="92"/>
                    <a:pt x="267" y="92"/>
                  </a:cubicBezTo>
                  <a:cubicBezTo>
                    <a:pt x="267" y="92"/>
                    <a:pt x="267" y="92"/>
                    <a:pt x="267" y="88"/>
                  </a:cubicBezTo>
                  <a:close/>
                  <a:moveTo>
                    <a:pt x="194" y="76"/>
                  </a:moveTo>
                  <a:cubicBezTo>
                    <a:pt x="195" y="61"/>
                    <a:pt x="203" y="53"/>
                    <a:pt x="215" y="53"/>
                  </a:cubicBezTo>
                  <a:cubicBezTo>
                    <a:pt x="228" y="53"/>
                    <a:pt x="235" y="61"/>
                    <a:pt x="236" y="76"/>
                  </a:cubicBezTo>
                  <a:lnTo>
                    <a:pt x="194" y="76"/>
                  </a:lnTo>
                  <a:close/>
                  <a:moveTo>
                    <a:pt x="283" y="139"/>
                  </a:moveTo>
                  <a:cubicBezTo>
                    <a:pt x="314" y="139"/>
                    <a:pt x="314" y="139"/>
                    <a:pt x="314" y="139"/>
                  </a:cubicBezTo>
                  <a:cubicBezTo>
                    <a:pt x="314" y="0"/>
                    <a:pt x="314" y="0"/>
                    <a:pt x="314" y="0"/>
                  </a:cubicBezTo>
                  <a:cubicBezTo>
                    <a:pt x="283" y="0"/>
                    <a:pt x="283" y="0"/>
                    <a:pt x="283" y="0"/>
                  </a:cubicBezTo>
                  <a:cubicBezTo>
                    <a:pt x="283" y="139"/>
                    <a:pt x="283" y="139"/>
                    <a:pt x="283" y="139"/>
                  </a:cubicBezTo>
                  <a:close/>
                  <a:moveTo>
                    <a:pt x="392" y="33"/>
                  </a:moveTo>
                  <a:cubicBezTo>
                    <a:pt x="379" y="33"/>
                    <a:pt x="368" y="40"/>
                    <a:pt x="364" y="50"/>
                  </a:cubicBezTo>
                  <a:cubicBezTo>
                    <a:pt x="364" y="50"/>
                    <a:pt x="364" y="50"/>
                    <a:pt x="364" y="0"/>
                  </a:cubicBezTo>
                  <a:cubicBezTo>
                    <a:pt x="364" y="0"/>
                    <a:pt x="364" y="0"/>
                    <a:pt x="333" y="0"/>
                  </a:cubicBezTo>
                  <a:cubicBezTo>
                    <a:pt x="333" y="139"/>
                    <a:pt x="333" y="139"/>
                    <a:pt x="333" y="139"/>
                  </a:cubicBezTo>
                  <a:cubicBezTo>
                    <a:pt x="333" y="139"/>
                    <a:pt x="333" y="139"/>
                    <a:pt x="350" y="139"/>
                  </a:cubicBezTo>
                  <a:cubicBezTo>
                    <a:pt x="350" y="139"/>
                    <a:pt x="350" y="139"/>
                    <a:pt x="356" y="123"/>
                  </a:cubicBezTo>
                  <a:cubicBezTo>
                    <a:pt x="364" y="135"/>
                    <a:pt x="375" y="142"/>
                    <a:pt x="389" y="142"/>
                  </a:cubicBezTo>
                  <a:cubicBezTo>
                    <a:pt x="414" y="142"/>
                    <a:pt x="432" y="120"/>
                    <a:pt x="432" y="86"/>
                  </a:cubicBezTo>
                  <a:cubicBezTo>
                    <a:pt x="432" y="54"/>
                    <a:pt x="415" y="33"/>
                    <a:pt x="392" y="33"/>
                  </a:cubicBezTo>
                  <a:close/>
                  <a:moveTo>
                    <a:pt x="381" y="121"/>
                  </a:moveTo>
                  <a:cubicBezTo>
                    <a:pt x="370" y="121"/>
                    <a:pt x="364" y="113"/>
                    <a:pt x="364" y="100"/>
                  </a:cubicBezTo>
                  <a:cubicBezTo>
                    <a:pt x="364" y="100"/>
                    <a:pt x="364" y="100"/>
                    <a:pt x="364" y="74"/>
                  </a:cubicBezTo>
                  <a:cubicBezTo>
                    <a:pt x="364" y="62"/>
                    <a:pt x="371" y="54"/>
                    <a:pt x="381" y="54"/>
                  </a:cubicBezTo>
                  <a:cubicBezTo>
                    <a:pt x="394" y="54"/>
                    <a:pt x="400" y="65"/>
                    <a:pt x="400" y="88"/>
                  </a:cubicBezTo>
                  <a:cubicBezTo>
                    <a:pt x="400" y="109"/>
                    <a:pt x="393" y="121"/>
                    <a:pt x="381" y="121"/>
                  </a:cubicBezTo>
                  <a:close/>
                  <a:moveTo>
                    <a:pt x="496" y="33"/>
                  </a:moveTo>
                  <a:cubicBezTo>
                    <a:pt x="465" y="33"/>
                    <a:pt x="444" y="55"/>
                    <a:pt x="444" y="87"/>
                  </a:cubicBezTo>
                  <a:cubicBezTo>
                    <a:pt x="444" y="120"/>
                    <a:pt x="465" y="142"/>
                    <a:pt x="496" y="142"/>
                  </a:cubicBezTo>
                  <a:cubicBezTo>
                    <a:pt x="528" y="142"/>
                    <a:pt x="549" y="120"/>
                    <a:pt x="549" y="87"/>
                  </a:cubicBezTo>
                  <a:cubicBezTo>
                    <a:pt x="549" y="55"/>
                    <a:pt x="528" y="33"/>
                    <a:pt x="496" y="33"/>
                  </a:cubicBezTo>
                  <a:close/>
                  <a:moveTo>
                    <a:pt x="496" y="121"/>
                  </a:moveTo>
                  <a:cubicBezTo>
                    <a:pt x="483" y="121"/>
                    <a:pt x="476" y="109"/>
                    <a:pt x="476" y="87"/>
                  </a:cubicBezTo>
                  <a:cubicBezTo>
                    <a:pt x="476" y="65"/>
                    <a:pt x="483" y="54"/>
                    <a:pt x="496" y="54"/>
                  </a:cubicBezTo>
                  <a:cubicBezTo>
                    <a:pt x="509" y="54"/>
                    <a:pt x="517" y="66"/>
                    <a:pt x="517" y="87"/>
                  </a:cubicBezTo>
                  <a:cubicBezTo>
                    <a:pt x="517" y="109"/>
                    <a:pt x="509" y="121"/>
                    <a:pt x="496" y="121"/>
                  </a:cubicBezTo>
                  <a:close/>
                  <a:moveTo>
                    <a:pt x="658" y="36"/>
                  </a:moveTo>
                  <a:cubicBezTo>
                    <a:pt x="628" y="36"/>
                    <a:pt x="628" y="36"/>
                    <a:pt x="628" y="36"/>
                  </a:cubicBezTo>
                  <a:cubicBezTo>
                    <a:pt x="628" y="97"/>
                    <a:pt x="628" y="97"/>
                    <a:pt x="628" y="97"/>
                  </a:cubicBezTo>
                  <a:cubicBezTo>
                    <a:pt x="628" y="111"/>
                    <a:pt x="620" y="120"/>
                    <a:pt x="609" y="120"/>
                  </a:cubicBezTo>
                  <a:cubicBezTo>
                    <a:pt x="600" y="120"/>
                    <a:pt x="595" y="113"/>
                    <a:pt x="595" y="101"/>
                  </a:cubicBezTo>
                  <a:cubicBezTo>
                    <a:pt x="595" y="36"/>
                    <a:pt x="595" y="36"/>
                    <a:pt x="595" y="36"/>
                  </a:cubicBezTo>
                  <a:cubicBezTo>
                    <a:pt x="565" y="36"/>
                    <a:pt x="565" y="36"/>
                    <a:pt x="565" y="36"/>
                  </a:cubicBezTo>
                  <a:cubicBezTo>
                    <a:pt x="565" y="103"/>
                    <a:pt x="565" y="103"/>
                    <a:pt x="565" y="103"/>
                  </a:cubicBezTo>
                  <a:cubicBezTo>
                    <a:pt x="565" y="129"/>
                    <a:pt x="576" y="142"/>
                    <a:pt x="599" y="142"/>
                  </a:cubicBezTo>
                  <a:cubicBezTo>
                    <a:pt x="613" y="142"/>
                    <a:pt x="623" y="135"/>
                    <a:pt x="630" y="122"/>
                  </a:cubicBezTo>
                  <a:cubicBezTo>
                    <a:pt x="630" y="139"/>
                    <a:pt x="630" y="139"/>
                    <a:pt x="630" y="139"/>
                  </a:cubicBezTo>
                  <a:cubicBezTo>
                    <a:pt x="658" y="139"/>
                    <a:pt x="658" y="139"/>
                    <a:pt x="658" y="139"/>
                  </a:cubicBezTo>
                  <a:cubicBezTo>
                    <a:pt x="658" y="36"/>
                    <a:pt x="658" y="36"/>
                    <a:pt x="658" y="36"/>
                  </a:cubicBezTo>
                  <a:close/>
                  <a:moveTo>
                    <a:pt x="677" y="139"/>
                  </a:moveTo>
                  <a:cubicBezTo>
                    <a:pt x="708" y="139"/>
                    <a:pt x="708" y="139"/>
                    <a:pt x="708" y="139"/>
                  </a:cubicBezTo>
                  <a:cubicBezTo>
                    <a:pt x="708" y="88"/>
                    <a:pt x="708" y="88"/>
                    <a:pt x="708" y="88"/>
                  </a:cubicBezTo>
                  <a:cubicBezTo>
                    <a:pt x="708" y="71"/>
                    <a:pt x="717" y="61"/>
                    <a:pt x="732" y="61"/>
                  </a:cubicBezTo>
                  <a:cubicBezTo>
                    <a:pt x="734" y="61"/>
                    <a:pt x="736" y="61"/>
                    <a:pt x="738" y="61"/>
                  </a:cubicBezTo>
                  <a:cubicBezTo>
                    <a:pt x="738" y="34"/>
                    <a:pt x="738" y="34"/>
                    <a:pt x="738" y="34"/>
                  </a:cubicBezTo>
                  <a:cubicBezTo>
                    <a:pt x="736" y="33"/>
                    <a:pt x="734" y="33"/>
                    <a:pt x="733" y="33"/>
                  </a:cubicBezTo>
                  <a:cubicBezTo>
                    <a:pt x="718" y="33"/>
                    <a:pt x="709" y="41"/>
                    <a:pt x="704" y="57"/>
                  </a:cubicBezTo>
                  <a:cubicBezTo>
                    <a:pt x="704" y="36"/>
                    <a:pt x="704" y="36"/>
                    <a:pt x="704" y="36"/>
                  </a:cubicBezTo>
                  <a:cubicBezTo>
                    <a:pt x="677" y="36"/>
                    <a:pt x="677" y="36"/>
                    <a:pt x="677" y="36"/>
                  </a:cubicBezTo>
                  <a:cubicBezTo>
                    <a:pt x="677" y="139"/>
                    <a:pt x="677" y="139"/>
                    <a:pt x="677" y="139"/>
                  </a:cubicBezTo>
                  <a:close/>
                  <a:moveTo>
                    <a:pt x="753" y="139"/>
                  </a:moveTo>
                  <a:cubicBezTo>
                    <a:pt x="782" y="139"/>
                    <a:pt x="782" y="139"/>
                    <a:pt x="782" y="139"/>
                  </a:cubicBezTo>
                  <a:cubicBezTo>
                    <a:pt x="782" y="78"/>
                    <a:pt x="782" y="78"/>
                    <a:pt x="782" y="78"/>
                  </a:cubicBezTo>
                  <a:cubicBezTo>
                    <a:pt x="782" y="64"/>
                    <a:pt x="790" y="55"/>
                    <a:pt x="801" y="55"/>
                  </a:cubicBezTo>
                  <a:cubicBezTo>
                    <a:pt x="811" y="55"/>
                    <a:pt x="815" y="61"/>
                    <a:pt x="815" y="74"/>
                  </a:cubicBezTo>
                  <a:cubicBezTo>
                    <a:pt x="815" y="139"/>
                    <a:pt x="815" y="139"/>
                    <a:pt x="815" y="139"/>
                  </a:cubicBezTo>
                  <a:cubicBezTo>
                    <a:pt x="845" y="139"/>
                    <a:pt x="845" y="139"/>
                    <a:pt x="845" y="139"/>
                  </a:cubicBezTo>
                  <a:cubicBezTo>
                    <a:pt x="845" y="72"/>
                    <a:pt x="845" y="72"/>
                    <a:pt x="845" y="72"/>
                  </a:cubicBezTo>
                  <a:cubicBezTo>
                    <a:pt x="845" y="46"/>
                    <a:pt x="835" y="33"/>
                    <a:pt x="811" y="33"/>
                  </a:cubicBezTo>
                  <a:cubicBezTo>
                    <a:pt x="798" y="33"/>
                    <a:pt x="787" y="40"/>
                    <a:pt x="780" y="52"/>
                  </a:cubicBezTo>
                  <a:cubicBezTo>
                    <a:pt x="780" y="36"/>
                    <a:pt x="780" y="36"/>
                    <a:pt x="780" y="36"/>
                  </a:cubicBezTo>
                  <a:cubicBezTo>
                    <a:pt x="753" y="36"/>
                    <a:pt x="753" y="36"/>
                    <a:pt x="753" y="36"/>
                  </a:cubicBezTo>
                  <a:cubicBezTo>
                    <a:pt x="753" y="139"/>
                    <a:pt x="753" y="139"/>
                    <a:pt x="753" y="139"/>
                  </a:cubicBezTo>
                  <a:close/>
                  <a:moveTo>
                    <a:pt x="965" y="88"/>
                  </a:moveTo>
                  <a:cubicBezTo>
                    <a:pt x="965" y="54"/>
                    <a:pt x="946" y="33"/>
                    <a:pt x="915" y="33"/>
                  </a:cubicBezTo>
                  <a:cubicBezTo>
                    <a:pt x="882" y="33"/>
                    <a:pt x="859" y="56"/>
                    <a:pt x="859" y="88"/>
                  </a:cubicBezTo>
                  <a:cubicBezTo>
                    <a:pt x="859" y="120"/>
                    <a:pt x="881" y="142"/>
                    <a:pt x="913" y="142"/>
                  </a:cubicBezTo>
                  <a:cubicBezTo>
                    <a:pt x="939" y="142"/>
                    <a:pt x="958" y="129"/>
                    <a:pt x="965" y="107"/>
                  </a:cubicBezTo>
                  <a:cubicBezTo>
                    <a:pt x="965" y="107"/>
                    <a:pt x="965" y="107"/>
                    <a:pt x="935" y="105"/>
                  </a:cubicBezTo>
                  <a:cubicBezTo>
                    <a:pt x="932" y="115"/>
                    <a:pt x="925" y="120"/>
                    <a:pt x="915" y="120"/>
                  </a:cubicBezTo>
                  <a:cubicBezTo>
                    <a:pt x="900" y="120"/>
                    <a:pt x="892" y="110"/>
                    <a:pt x="892" y="92"/>
                  </a:cubicBezTo>
                  <a:cubicBezTo>
                    <a:pt x="892" y="92"/>
                    <a:pt x="892" y="92"/>
                    <a:pt x="965" y="92"/>
                  </a:cubicBezTo>
                  <a:cubicBezTo>
                    <a:pt x="965" y="92"/>
                    <a:pt x="965" y="92"/>
                    <a:pt x="965" y="88"/>
                  </a:cubicBezTo>
                  <a:close/>
                  <a:moveTo>
                    <a:pt x="892" y="76"/>
                  </a:moveTo>
                  <a:cubicBezTo>
                    <a:pt x="893" y="61"/>
                    <a:pt x="901" y="53"/>
                    <a:pt x="913" y="53"/>
                  </a:cubicBezTo>
                  <a:cubicBezTo>
                    <a:pt x="926" y="53"/>
                    <a:pt x="933" y="61"/>
                    <a:pt x="934" y="76"/>
                  </a:cubicBezTo>
                  <a:lnTo>
                    <a:pt x="892" y="76"/>
                  </a:lnTo>
                  <a:close/>
                  <a:moveTo>
                    <a:pt x="37" y="308"/>
                  </a:moveTo>
                  <a:cubicBezTo>
                    <a:pt x="67" y="308"/>
                    <a:pt x="67" y="308"/>
                    <a:pt x="67" y="308"/>
                  </a:cubicBezTo>
                  <a:cubicBezTo>
                    <a:pt x="90" y="217"/>
                    <a:pt x="90" y="217"/>
                    <a:pt x="90" y="217"/>
                  </a:cubicBezTo>
                  <a:cubicBezTo>
                    <a:pt x="113" y="308"/>
                    <a:pt x="113" y="308"/>
                    <a:pt x="113" y="308"/>
                  </a:cubicBezTo>
                  <a:cubicBezTo>
                    <a:pt x="142" y="308"/>
                    <a:pt x="142" y="308"/>
                    <a:pt x="142" y="308"/>
                  </a:cubicBezTo>
                  <a:cubicBezTo>
                    <a:pt x="179" y="169"/>
                    <a:pt x="179" y="169"/>
                    <a:pt x="179" y="169"/>
                  </a:cubicBezTo>
                  <a:cubicBezTo>
                    <a:pt x="153" y="169"/>
                    <a:pt x="153" y="169"/>
                    <a:pt x="153" y="169"/>
                  </a:cubicBezTo>
                  <a:cubicBezTo>
                    <a:pt x="130" y="264"/>
                    <a:pt x="130" y="264"/>
                    <a:pt x="130" y="264"/>
                  </a:cubicBezTo>
                  <a:cubicBezTo>
                    <a:pt x="105" y="169"/>
                    <a:pt x="105" y="169"/>
                    <a:pt x="105" y="169"/>
                  </a:cubicBezTo>
                  <a:cubicBezTo>
                    <a:pt x="79" y="169"/>
                    <a:pt x="79" y="169"/>
                    <a:pt x="79" y="169"/>
                  </a:cubicBezTo>
                  <a:cubicBezTo>
                    <a:pt x="55" y="265"/>
                    <a:pt x="55" y="265"/>
                    <a:pt x="55" y="265"/>
                  </a:cubicBezTo>
                  <a:cubicBezTo>
                    <a:pt x="32" y="169"/>
                    <a:pt x="32" y="169"/>
                    <a:pt x="32" y="169"/>
                  </a:cubicBezTo>
                  <a:cubicBezTo>
                    <a:pt x="1" y="169"/>
                    <a:pt x="1" y="169"/>
                    <a:pt x="1" y="169"/>
                  </a:cubicBezTo>
                  <a:cubicBezTo>
                    <a:pt x="37" y="308"/>
                    <a:pt x="37" y="308"/>
                    <a:pt x="37" y="308"/>
                  </a:cubicBezTo>
                  <a:close/>
                  <a:moveTo>
                    <a:pt x="275" y="289"/>
                  </a:moveTo>
                  <a:cubicBezTo>
                    <a:pt x="275" y="289"/>
                    <a:pt x="275" y="289"/>
                    <a:pt x="275" y="243"/>
                  </a:cubicBezTo>
                  <a:cubicBezTo>
                    <a:pt x="275" y="215"/>
                    <a:pt x="263" y="202"/>
                    <a:pt x="230" y="202"/>
                  </a:cubicBezTo>
                  <a:cubicBezTo>
                    <a:pt x="200" y="202"/>
                    <a:pt x="183" y="213"/>
                    <a:pt x="178" y="233"/>
                  </a:cubicBezTo>
                  <a:cubicBezTo>
                    <a:pt x="178" y="233"/>
                    <a:pt x="178" y="233"/>
                    <a:pt x="206" y="236"/>
                  </a:cubicBezTo>
                  <a:cubicBezTo>
                    <a:pt x="208" y="227"/>
                    <a:pt x="215" y="222"/>
                    <a:pt x="228" y="222"/>
                  </a:cubicBezTo>
                  <a:cubicBezTo>
                    <a:pt x="240" y="222"/>
                    <a:pt x="246" y="227"/>
                    <a:pt x="246" y="238"/>
                  </a:cubicBezTo>
                  <a:cubicBezTo>
                    <a:pt x="246" y="238"/>
                    <a:pt x="246" y="238"/>
                    <a:pt x="246" y="242"/>
                  </a:cubicBezTo>
                  <a:cubicBezTo>
                    <a:pt x="199" y="242"/>
                    <a:pt x="175" y="255"/>
                    <a:pt x="175" y="280"/>
                  </a:cubicBezTo>
                  <a:cubicBezTo>
                    <a:pt x="175" y="298"/>
                    <a:pt x="189" y="311"/>
                    <a:pt x="212" y="311"/>
                  </a:cubicBezTo>
                  <a:cubicBezTo>
                    <a:pt x="227" y="311"/>
                    <a:pt x="239" y="304"/>
                    <a:pt x="246" y="292"/>
                  </a:cubicBezTo>
                  <a:cubicBezTo>
                    <a:pt x="246" y="298"/>
                    <a:pt x="247" y="304"/>
                    <a:pt x="248" y="308"/>
                  </a:cubicBezTo>
                  <a:cubicBezTo>
                    <a:pt x="248" y="308"/>
                    <a:pt x="248" y="308"/>
                    <a:pt x="278" y="308"/>
                  </a:cubicBezTo>
                  <a:cubicBezTo>
                    <a:pt x="276" y="304"/>
                    <a:pt x="275" y="297"/>
                    <a:pt x="275" y="289"/>
                  </a:cubicBezTo>
                  <a:close/>
                  <a:moveTo>
                    <a:pt x="246" y="267"/>
                  </a:moveTo>
                  <a:cubicBezTo>
                    <a:pt x="246" y="281"/>
                    <a:pt x="236" y="291"/>
                    <a:pt x="223" y="291"/>
                  </a:cubicBezTo>
                  <a:cubicBezTo>
                    <a:pt x="213" y="291"/>
                    <a:pt x="208" y="286"/>
                    <a:pt x="208" y="278"/>
                  </a:cubicBezTo>
                  <a:cubicBezTo>
                    <a:pt x="208" y="265"/>
                    <a:pt x="220" y="258"/>
                    <a:pt x="246" y="258"/>
                  </a:cubicBezTo>
                  <a:cubicBezTo>
                    <a:pt x="246" y="258"/>
                    <a:pt x="246" y="258"/>
                    <a:pt x="246" y="267"/>
                  </a:cubicBezTo>
                  <a:close/>
                  <a:moveTo>
                    <a:pt x="302" y="275"/>
                  </a:moveTo>
                  <a:cubicBezTo>
                    <a:pt x="302" y="300"/>
                    <a:pt x="312" y="311"/>
                    <a:pt x="337" y="311"/>
                  </a:cubicBezTo>
                  <a:cubicBezTo>
                    <a:pt x="343" y="311"/>
                    <a:pt x="350" y="310"/>
                    <a:pt x="356" y="309"/>
                  </a:cubicBezTo>
                  <a:cubicBezTo>
                    <a:pt x="356" y="287"/>
                    <a:pt x="356" y="287"/>
                    <a:pt x="356" y="287"/>
                  </a:cubicBezTo>
                  <a:cubicBezTo>
                    <a:pt x="352" y="288"/>
                    <a:pt x="348" y="288"/>
                    <a:pt x="345" y="288"/>
                  </a:cubicBezTo>
                  <a:cubicBezTo>
                    <a:pt x="335" y="288"/>
                    <a:pt x="333" y="283"/>
                    <a:pt x="333" y="272"/>
                  </a:cubicBezTo>
                  <a:cubicBezTo>
                    <a:pt x="333" y="225"/>
                    <a:pt x="333" y="225"/>
                    <a:pt x="333" y="225"/>
                  </a:cubicBezTo>
                  <a:cubicBezTo>
                    <a:pt x="354" y="225"/>
                    <a:pt x="354" y="225"/>
                    <a:pt x="354" y="225"/>
                  </a:cubicBezTo>
                  <a:cubicBezTo>
                    <a:pt x="354" y="205"/>
                    <a:pt x="354" y="205"/>
                    <a:pt x="354" y="205"/>
                  </a:cubicBezTo>
                  <a:cubicBezTo>
                    <a:pt x="333" y="205"/>
                    <a:pt x="333" y="205"/>
                    <a:pt x="333" y="205"/>
                  </a:cubicBezTo>
                  <a:cubicBezTo>
                    <a:pt x="333" y="175"/>
                    <a:pt x="333" y="175"/>
                    <a:pt x="333" y="175"/>
                  </a:cubicBezTo>
                  <a:cubicBezTo>
                    <a:pt x="305" y="177"/>
                    <a:pt x="305" y="177"/>
                    <a:pt x="305" y="177"/>
                  </a:cubicBezTo>
                  <a:cubicBezTo>
                    <a:pt x="303" y="205"/>
                    <a:pt x="303" y="205"/>
                    <a:pt x="303" y="205"/>
                  </a:cubicBezTo>
                  <a:cubicBezTo>
                    <a:pt x="286" y="205"/>
                    <a:pt x="286" y="205"/>
                    <a:pt x="286" y="205"/>
                  </a:cubicBezTo>
                  <a:cubicBezTo>
                    <a:pt x="286" y="225"/>
                    <a:pt x="286" y="225"/>
                    <a:pt x="286" y="225"/>
                  </a:cubicBezTo>
                  <a:cubicBezTo>
                    <a:pt x="302" y="225"/>
                    <a:pt x="302" y="225"/>
                    <a:pt x="302" y="225"/>
                  </a:cubicBezTo>
                  <a:cubicBezTo>
                    <a:pt x="302" y="275"/>
                    <a:pt x="302" y="275"/>
                    <a:pt x="302" y="275"/>
                  </a:cubicBezTo>
                  <a:close/>
                  <a:moveTo>
                    <a:pt x="471" y="258"/>
                  </a:moveTo>
                  <a:cubicBezTo>
                    <a:pt x="471" y="223"/>
                    <a:pt x="452" y="202"/>
                    <a:pt x="421" y="202"/>
                  </a:cubicBezTo>
                  <a:cubicBezTo>
                    <a:pt x="388" y="202"/>
                    <a:pt x="366" y="225"/>
                    <a:pt x="366" y="257"/>
                  </a:cubicBezTo>
                  <a:cubicBezTo>
                    <a:pt x="366" y="289"/>
                    <a:pt x="387" y="311"/>
                    <a:pt x="420" y="311"/>
                  </a:cubicBezTo>
                  <a:cubicBezTo>
                    <a:pt x="445" y="311"/>
                    <a:pt x="464" y="299"/>
                    <a:pt x="470" y="277"/>
                  </a:cubicBezTo>
                  <a:cubicBezTo>
                    <a:pt x="470" y="277"/>
                    <a:pt x="470" y="277"/>
                    <a:pt x="441" y="275"/>
                  </a:cubicBezTo>
                  <a:cubicBezTo>
                    <a:pt x="438" y="284"/>
                    <a:pt x="431" y="290"/>
                    <a:pt x="421" y="290"/>
                  </a:cubicBezTo>
                  <a:cubicBezTo>
                    <a:pt x="406" y="290"/>
                    <a:pt x="398" y="280"/>
                    <a:pt x="398" y="262"/>
                  </a:cubicBezTo>
                  <a:cubicBezTo>
                    <a:pt x="398" y="262"/>
                    <a:pt x="398" y="262"/>
                    <a:pt x="471" y="262"/>
                  </a:cubicBezTo>
                  <a:cubicBezTo>
                    <a:pt x="471" y="262"/>
                    <a:pt x="471" y="262"/>
                    <a:pt x="471" y="258"/>
                  </a:cubicBezTo>
                  <a:close/>
                  <a:moveTo>
                    <a:pt x="398" y="245"/>
                  </a:moveTo>
                  <a:cubicBezTo>
                    <a:pt x="399" y="230"/>
                    <a:pt x="407" y="222"/>
                    <a:pt x="419" y="222"/>
                  </a:cubicBezTo>
                  <a:cubicBezTo>
                    <a:pt x="432" y="222"/>
                    <a:pt x="440" y="230"/>
                    <a:pt x="440" y="245"/>
                  </a:cubicBezTo>
                  <a:lnTo>
                    <a:pt x="398" y="245"/>
                  </a:lnTo>
                  <a:close/>
                  <a:moveTo>
                    <a:pt x="489" y="308"/>
                  </a:moveTo>
                  <a:cubicBezTo>
                    <a:pt x="519" y="308"/>
                    <a:pt x="519" y="308"/>
                    <a:pt x="519" y="308"/>
                  </a:cubicBezTo>
                  <a:cubicBezTo>
                    <a:pt x="519" y="258"/>
                    <a:pt x="519" y="258"/>
                    <a:pt x="519" y="258"/>
                  </a:cubicBezTo>
                  <a:cubicBezTo>
                    <a:pt x="519" y="241"/>
                    <a:pt x="528" y="230"/>
                    <a:pt x="543" y="230"/>
                  </a:cubicBezTo>
                  <a:cubicBezTo>
                    <a:pt x="545" y="230"/>
                    <a:pt x="547" y="231"/>
                    <a:pt x="549" y="231"/>
                  </a:cubicBezTo>
                  <a:cubicBezTo>
                    <a:pt x="549" y="203"/>
                    <a:pt x="549" y="203"/>
                    <a:pt x="549" y="203"/>
                  </a:cubicBezTo>
                  <a:cubicBezTo>
                    <a:pt x="547" y="203"/>
                    <a:pt x="545" y="202"/>
                    <a:pt x="544" y="202"/>
                  </a:cubicBezTo>
                  <a:cubicBezTo>
                    <a:pt x="529" y="202"/>
                    <a:pt x="520" y="211"/>
                    <a:pt x="515" y="227"/>
                  </a:cubicBezTo>
                  <a:cubicBezTo>
                    <a:pt x="515" y="205"/>
                    <a:pt x="515" y="205"/>
                    <a:pt x="515" y="205"/>
                  </a:cubicBezTo>
                  <a:cubicBezTo>
                    <a:pt x="489" y="205"/>
                    <a:pt x="489" y="205"/>
                    <a:pt x="489" y="205"/>
                  </a:cubicBezTo>
                  <a:cubicBezTo>
                    <a:pt x="489" y="308"/>
                    <a:pt x="489" y="308"/>
                    <a:pt x="489" y="308"/>
                  </a:cubicBezTo>
                  <a:close/>
                </a:path>
              </a:pathLst>
            </a:custGeom>
            <a:solidFill>
              <a:srgbClr val="00428B"/>
            </a:solidFill>
            <a:ln>
              <a:noFill/>
            </a:ln>
          </p:spPr>
          <p:txBody>
            <a:bodyPr vert="horz" wrap="square" lIns="91440" tIns="45720" rIns="91440" bIns="45720" numCol="1" anchor="t" anchorCtr="0" compatLnSpc="1">
              <a:prstTxWarp prst="textNoShape">
                <a:avLst/>
              </a:prstTxWarp>
            </a:bodyPr>
            <a:lstStyle/>
            <a:p>
              <a:endParaRPr lang="en-AU" sz="2400"/>
            </a:p>
          </p:txBody>
        </p:sp>
        <p:grpSp>
          <p:nvGrpSpPr>
            <p:cNvPr id="38" name="Group 3"/>
            <p:cNvGrpSpPr>
              <a:grpSpLocks/>
            </p:cNvGrpSpPr>
            <p:nvPr userDrawn="1"/>
          </p:nvGrpSpPr>
          <p:grpSpPr bwMode="gray">
            <a:xfrm>
              <a:off x="6959275" y="6264599"/>
              <a:ext cx="393107" cy="393107"/>
              <a:chOff x="1202" y="1207"/>
              <a:chExt cx="638" cy="638"/>
            </a:xfrm>
          </p:grpSpPr>
          <p:sp>
            <p:nvSpPr>
              <p:cNvPr id="39" name="Rectangle 4"/>
              <p:cNvSpPr>
                <a:spLocks noChangeArrowheads="1"/>
              </p:cNvSpPr>
              <p:nvPr/>
            </p:nvSpPr>
            <p:spPr bwMode="gray">
              <a:xfrm>
                <a:off x="1202" y="1207"/>
                <a:ext cx="638" cy="638"/>
              </a:xfrm>
              <a:prstGeom prst="rect">
                <a:avLst/>
              </a:prstGeom>
              <a:solidFill>
                <a:srgbClr val="FE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endParaRPr lang="en-AU" sz="2400"/>
              </a:p>
            </p:txBody>
          </p:sp>
          <p:grpSp>
            <p:nvGrpSpPr>
              <p:cNvPr id="40" name="Group 5"/>
              <p:cNvGrpSpPr>
                <a:grpSpLocks/>
              </p:cNvGrpSpPr>
              <p:nvPr/>
            </p:nvGrpSpPr>
            <p:grpSpPr bwMode="gray">
              <a:xfrm>
                <a:off x="1212" y="1217"/>
                <a:ext cx="619" cy="617"/>
                <a:chOff x="-1693" y="1089"/>
                <a:chExt cx="2147" cy="2141"/>
              </a:xfrm>
            </p:grpSpPr>
            <p:sp>
              <p:nvSpPr>
                <p:cNvPr id="41" name="Freeform 6"/>
                <p:cNvSpPr>
                  <a:spLocks/>
                </p:cNvSpPr>
                <p:nvPr/>
              </p:nvSpPr>
              <p:spPr bwMode="gray">
                <a:xfrm>
                  <a:off x="-1693" y="1451"/>
                  <a:ext cx="2145" cy="1779"/>
                </a:xfrm>
                <a:custGeom>
                  <a:avLst/>
                  <a:gdLst>
                    <a:gd name="T0" fmla="*/ 908 w 908"/>
                    <a:gd name="T1" fmla="*/ 753 h 753"/>
                    <a:gd name="T2" fmla="*/ 0 w 908"/>
                    <a:gd name="T3" fmla="*/ 753 h 753"/>
                    <a:gd name="T4" fmla="*/ 0 w 908"/>
                    <a:gd name="T5" fmla="*/ 17 h 753"/>
                    <a:gd name="T6" fmla="*/ 95 w 908"/>
                    <a:gd name="T7" fmla="*/ 0 h 753"/>
                    <a:gd name="T8" fmla="*/ 712 w 908"/>
                    <a:gd name="T9" fmla="*/ 269 h 753"/>
                    <a:gd name="T10" fmla="*/ 908 w 908"/>
                    <a:gd name="T11" fmla="*/ 227 h 753"/>
                    <a:gd name="T12" fmla="*/ 908 w 908"/>
                    <a:gd name="T13" fmla="*/ 753 h 753"/>
                  </a:gdLst>
                  <a:ahLst/>
                  <a:cxnLst>
                    <a:cxn ang="0">
                      <a:pos x="T0" y="T1"/>
                    </a:cxn>
                    <a:cxn ang="0">
                      <a:pos x="T2" y="T3"/>
                    </a:cxn>
                    <a:cxn ang="0">
                      <a:pos x="T4" y="T5"/>
                    </a:cxn>
                    <a:cxn ang="0">
                      <a:pos x="T6" y="T7"/>
                    </a:cxn>
                    <a:cxn ang="0">
                      <a:pos x="T8" y="T9"/>
                    </a:cxn>
                    <a:cxn ang="0">
                      <a:pos x="T10" y="T11"/>
                    </a:cxn>
                    <a:cxn ang="0">
                      <a:pos x="T12" y="T13"/>
                    </a:cxn>
                  </a:cxnLst>
                  <a:rect l="0" t="0" r="r" b="b"/>
                  <a:pathLst>
                    <a:path w="908" h="753">
                      <a:moveTo>
                        <a:pt x="908" y="753"/>
                      </a:moveTo>
                      <a:cubicBezTo>
                        <a:pt x="0" y="753"/>
                        <a:pt x="0" y="753"/>
                        <a:pt x="0" y="753"/>
                      </a:cubicBezTo>
                      <a:cubicBezTo>
                        <a:pt x="0" y="17"/>
                        <a:pt x="0" y="17"/>
                        <a:pt x="0" y="17"/>
                      </a:cubicBezTo>
                      <a:cubicBezTo>
                        <a:pt x="24" y="7"/>
                        <a:pt x="62" y="0"/>
                        <a:pt x="95" y="0"/>
                      </a:cubicBezTo>
                      <a:cubicBezTo>
                        <a:pt x="376" y="0"/>
                        <a:pt x="408" y="269"/>
                        <a:pt x="712" y="269"/>
                      </a:cubicBezTo>
                      <a:cubicBezTo>
                        <a:pt x="817" y="269"/>
                        <a:pt x="882" y="239"/>
                        <a:pt x="908" y="227"/>
                      </a:cubicBezTo>
                      <a:lnTo>
                        <a:pt x="908" y="753"/>
                      </a:lnTo>
                      <a:close/>
                    </a:path>
                  </a:pathLst>
                </a:custGeom>
                <a:solidFill>
                  <a:srgbClr val="009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p>
              </p:txBody>
            </p:sp>
            <p:sp>
              <p:nvSpPr>
                <p:cNvPr id="42" name="Freeform 7"/>
                <p:cNvSpPr>
                  <a:spLocks/>
                </p:cNvSpPr>
                <p:nvPr/>
              </p:nvSpPr>
              <p:spPr bwMode="gray">
                <a:xfrm>
                  <a:off x="-1693" y="1089"/>
                  <a:ext cx="2147" cy="912"/>
                </a:xfrm>
                <a:custGeom>
                  <a:avLst/>
                  <a:gdLst>
                    <a:gd name="T0" fmla="*/ 0 w 909"/>
                    <a:gd name="T1" fmla="*/ 159 h 386"/>
                    <a:gd name="T2" fmla="*/ 204 w 909"/>
                    <a:gd name="T3" fmla="*/ 113 h 386"/>
                    <a:gd name="T4" fmla="*/ 813 w 909"/>
                    <a:gd name="T5" fmla="*/ 386 h 386"/>
                    <a:gd name="T6" fmla="*/ 909 w 909"/>
                    <a:gd name="T7" fmla="*/ 370 h 386"/>
                    <a:gd name="T8" fmla="*/ 909 w 909"/>
                    <a:gd name="T9" fmla="*/ 0 h 386"/>
                    <a:gd name="T10" fmla="*/ 0 w 909"/>
                    <a:gd name="T11" fmla="*/ 0 h 386"/>
                    <a:gd name="T12" fmla="*/ 0 w 909"/>
                    <a:gd name="T13" fmla="*/ 159 h 386"/>
                  </a:gdLst>
                  <a:ahLst/>
                  <a:cxnLst>
                    <a:cxn ang="0">
                      <a:pos x="T0" y="T1"/>
                    </a:cxn>
                    <a:cxn ang="0">
                      <a:pos x="T2" y="T3"/>
                    </a:cxn>
                    <a:cxn ang="0">
                      <a:pos x="T4" y="T5"/>
                    </a:cxn>
                    <a:cxn ang="0">
                      <a:pos x="T6" y="T7"/>
                    </a:cxn>
                    <a:cxn ang="0">
                      <a:pos x="T8" y="T9"/>
                    </a:cxn>
                    <a:cxn ang="0">
                      <a:pos x="T10" y="T11"/>
                    </a:cxn>
                    <a:cxn ang="0">
                      <a:pos x="T12" y="T13"/>
                    </a:cxn>
                  </a:cxnLst>
                  <a:rect l="0" t="0" r="r" b="b"/>
                  <a:pathLst>
                    <a:path w="909" h="386">
                      <a:moveTo>
                        <a:pt x="0" y="159"/>
                      </a:moveTo>
                      <a:cubicBezTo>
                        <a:pt x="27" y="148"/>
                        <a:pt x="99" y="113"/>
                        <a:pt x="204" y="113"/>
                      </a:cubicBezTo>
                      <a:cubicBezTo>
                        <a:pt x="513" y="113"/>
                        <a:pt x="529" y="386"/>
                        <a:pt x="813" y="386"/>
                      </a:cubicBezTo>
                      <a:cubicBezTo>
                        <a:pt x="847" y="386"/>
                        <a:pt x="881" y="378"/>
                        <a:pt x="909" y="370"/>
                      </a:cubicBezTo>
                      <a:cubicBezTo>
                        <a:pt x="909" y="0"/>
                        <a:pt x="909" y="0"/>
                        <a:pt x="909" y="0"/>
                      </a:cubicBezTo>
                      <a:cubicBezTo>
                        <a:pt x="0" y="0"/>
                        <a:pt x="0" y="0"/>
                        <a:pt x="0" y="0"/>
                      </a:cubicBezTo>
                      <a:lnTo>
                        <a:pt x="0" y="159"/>
                      </a:lnTo>
                      <a:close/>
                    </a:path>
                  </a:pathLst>
                </a:custGeom>
                <a:solidFill>
                  <a:srgbClr val="0053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p>
              </p:txBody>
            </p:sp>
            <p:sp>
              <p:nvSpPr>
                <p:cNvPr id="43" name="Freeform 8"/>
                <p:cNvSpPr>
                  <a:spLocks/>
                </p:cNvSpPr>
                <p:nvPr/>
              </p:nvSpPr>
              <p:spPr bwMode="gray">
                <a:xfrm>
                  <a:off x="-1693" y="1739"/>
                  <a:ext cx="2145" cy="730"/>
                </a:xfrm>
                <a:custGeom>
                  <a:avLst/>
                  <a:gdLst>
                    <a:gd name="T0" fmla="*/ 908 w 908"/>
                    <a:gd name="T1" fmla="*/ 266 h 309"/>
                    <a:gd name="T2" fmla="*/ 712 w 908"/>
                    <a:gd name="T3" fmla="*/ 309 h 309"/>
                    <a:gd name="T4" fmla="*/ 95 w 908"/>
                    <a:gd name="T5" fmla="*/ 40 h 309"/>
                    <a:gd name="T6" fmla="*/ 0 w 908"/>
                    <a:gd name="T7" fmla="*/ 56 h 309"/>
                    <a:gd name="T8" fmla="*/ 0 w 908"/>
                    <a:gd name="T9" fmla="*/ 46 h 309"/>
                    <a:gd name="T10" fmla="*/ 204 w 908"/>
                    <a:gd name="T11" fmla="*/ 0 h 309"/>
                    <a:gd name="T12" fmla="*/ 813 w 908"/>
                    <a:gd name="T13" fmla="*/ 273 h 309"/>
                    <a:gd name="T14" fmla="*/ 908 w 908"/>
                    <a:gd name="T15" fmla="*/ 257 h 309"/>
                    <a:gd name="T16" fmla="*/ 908 w 908"/>
                    <a:gd name="T17" fmla="*/ 266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8" h="309">
                      <a:moveTo>
                        <a:pt x="908" y="266"/>
                      </a:moveTo>
                      <a:cubicBezTo>
                        <a:pt x="882" y="278"/>
                        <a:pt x="817" y="309"/>
                        <a:pt x="712" y="309"/>
                      </a:cubicBezTo>
                      <a:cubicBezTo>
                        <a:pt x="408" y="309"/>
                        <a:pt x="376" y="40"/>
                        <a:pt x="95" y="40"/>
                      </a:cubicBezTo>
                      <a:cubicBezTo>
                        <a:pt x="62" y="40"/>
                        <a:pt x="24" y="47"/>
                        <a:pt x="0" y="56"/>
                      </a:cubicBezTo>
                      <a:cubicBezTo>
                        <a:pt x="0" y="46"/>
                        <a:pt x="0" y="46"/>
                        <a:pt x="0" y="46"/>
                      </a:cubicBezTo>
                      <a:cubicBezTo>
                        <a:pt x="27" y="34"/>
                        <a:pt x="99" y="0"/>
                        <a:pt x="204" y="0"/>
                      </a:cubicBezTo>
                      <a:cubicBezTo>
                        <a:pt x="513" y="0"/>
                        <a:pt x="529" y="273"/>
                        <a:pt x="813" y="273"/>
                      </a:cubicBezTo>
                      <a:cubicBezTo>
                        <a:pt x="847" y="273"/>
                        <a:pt x="881" y="265"/>
                        <a:pt x="908" y="257"/>
                      </a:cubicBezTo>
                      <a:lnTo>
                        <a:pt x="908" y="26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p>
              </p:txBody>
            </p:sp>
          </p:grpSp>
        </p:grpSp>
      </p:grpSp>
      <p:sp>
        <p:nvSpPr>
          <p:cNvPr id="44" name="logo_brand_healthy" descr="&lt;mode=4x3&gt;&#10;&lt;size&gt;h=21.65756;w=134.1505&lt;size/&gt;&#10;&lt;pos&gt;top=507.952;left=39.84945&lt;pos/&gt;&#10;&lt;mode/&gt;&#10;&lt;mode=16x9&gt;&#10;&lt;size&gt;h=12.18898;w=100.6299&lt;size/&gt;&#10;&lt;pos&gt;top=379.8393;left=30.47551&lt;pos/&gt;&#10;&lt;mode/&gt;" hidden="1"/>
          <p:cNvSpPr>
            <a:spLocks noEditPoints="1"/>
          </p:cNvSpPr>
          <p:nvPr userDrawn="1"/>
        </p:nvSpPr>
        <p:spPr bwMode="gray">
          <a:xfrm>
            <a:off x="516052" y="6431945"/>
            <a:ext cx="1704000" cy="206400"/>
          </a:xfrm>
          <a:custGeom>
            <a:avLst/>
            <a:gdLst>
              <a:gd name="T0" fmla="*/ 15 w 2151"/>
              <a:gd name="T1" fmla="*/ 192 h 348"/>
              <a:gd name="T2" fmla="*/ 159 w 2151"/>
              <a:gd name="T3" fmla="*/ 251 h 348"/>
              <a:gd name="T4" fmla="*/ 155 w 2151"/>
              <a:gd name="T5" fmla="*/ 209 h 348"/>
              <a:gd name="T6" fmla="*/ 116 w 2151"/>
              <a:gd name="T7" fmla="*/ 188 h 348"/>
              <a:gd name="T8" fmla="*/ 211 w 2151"/>
              <a:gd name="T9" fmla="*/ 178 h 348"/>
              <a:gd name="T10" fmla="*/ 241 w 2151"/>
              <a:gd name="T11" fmla="*/ 132 h 348"/>
              <a:gd name="T12" fmla="*/ 273 w 2151"/>
              <a:gd name="T13" fmla="*/ 236 h 348"/>
              <a:gd name="T14" fmla="*/ 391 w 2151"/>
              <a:gd name="T15" fmla="*/ 209 h 348"/>
              <a:gd name="T16" fmla="*/ 359 w 2151"/>
              <a:gd name="T17" fmla="*/ 229 h 348"/>
              <a:gd name="T18" fmla="*/ 273 w 2151"/>
              <a:gd name="T19" fmla="*/ 229 h 348"/>
              <a:gd name="T20" fmla="*/ 303 w 2151"/>
              <a:gd name="T21" fmla="*/ 209 h 348"/>
              <a:gd name="T22" fmla="*/ 454 w 2151"/>
              <a:gd name="T23" fmla="*/ 185 h 348"/>
              <a:gd name="T24" fmla="*/ 484 w 2151"/>
              <a:gd name="T25" fmla="*/ 236 h 348"/>
              <a:gd name="T26" fmla="*/ 550 w 2151"/>
              <a:gd name="T27" fmla="*/ 226 h 348"/>
              <a:gd name="T28" fmla="*/ 511 w 2151"/>
              <a:gd name="T29" fmla="*/ 214 h 348"/>
              <a:gd name="T30" fmla="*/ 629 w 2151"/>
              <a:gd name="T31" fmla="*/ 250 h 348"/>
              <a:gd name="T32" fmla="*/ 650 w 2151"/>
              <a:gd name="T33" fmla="*/ 156 h 348"/>
              <a:gd name="T34" fmla="*/ 588 w 2151"/>
              <a:gd name="T35" fmla="*/ 270 h 348"/>
              <a:gd name="T36" fmla="*/ 615 w 2151"/>
              <a:gd name="T37" fmla="*/ 281 h 348"/>
              <a:gd name="T38" fmla="*/ 610 w 2151"/>
              <a:gd name="T39" fmla="*/ 192 h 348"/>
              <a:gd name="T40" fmla="*/ 672 w 2151"/>
              <a:gd name="T41" fmla="*/ 250 h 348"/>
              <a:gd name="T42" fmla="*/ 790 w 2151"/>
              <a:gd name="T43" fmla="*/ 236 h 348"/>
              <a:gd name="T44" fmla="*/ 796 w 2151"/>
              <a:gd name="T45" fmla="*/ 281 h 348"/>
              <a:gd name="T46" fmla="*/ 718 w 2151"/>
              <a:gd name="T47" fmla="*/ 188 h 348"/>
              <a:gd name="T48" fmla="*/ 793 w 2151"/>
              <a:gd name="T49" fmla="*/ 229 h 348"/>
              <a:gd name="T50" fmla="*/ 1122 w 2151"/>
              <a:gd name="T51" fmla="*/ 230 h 348"/>
              <a:gd name="T52" fmla="*/ 1094 w 2151"/>
              <a:gd name="T53" fmla="*/ 192 h 348"/>
              <a:gd name="T54" fmla="*/ 1133 w 2151"/>
              <a:gd name="T55" fmla="*/ 189 h 348"/>
              <a:gd name="T56" fmla="*/ 941 w 2151"/>
              <a:gd name="T57" fmla="*/ 192 h 348"/>
              <a:gd name="T58" fmla="*/ 940 w 2151"/>
              <a:gd name="T59" fmla="*/ 189 h 348"/>
              <a:gd name="T60" fmla="*/ 1219 w 2151"/>
              <a:gd name="T61" fmla="*/ 221 h 348"/>
              <a:gd name="T62" fmla="*/ 1174 w 2151"/>
              <a:gd name="T63" fmla="*/ 192 h 348"/>
              <a:gd name="T64" fmla="*/ 1175 w 2151"/>
              <a:gd name="T65" fmla="*/ 189 h 348"/>
              <a:gd name="T66" fmla="*/ 1140 w 2151"/>
              <a:gd name="T67" fmla="*/ 250 h 348"/>
              <a:gd name="T68" fmla="*/ 1336 w 2151"/>
              <a:gd name="T69" fmla="*/ 228 h 348"/>
              <a:gd name="T70" fmla="*/ 1349 w 2151"/>
              <a:gd name="T71" fmla="*/ 237 h 348"/>
              <a:gd name="T72" fmla="*/ 1330 w 2151"/>
              <a:gd name="T73" fmla="*/ 268 h 348"/>
              <a:gd name="T74" fmla="*/ 1452 w 2151"/>
              <a:gd name="T75" fmla="*/ 200 h 348"/>
              <a:gd name="T76" fmla="*/ 1487 w 2151"/>
              <a:gd name="T77" fmla="*/ 178 h 348"/>
              <a:gd name="T78" fmla="*/ 1450 w 2151"/>
              <a:gd name="T79" fmla="*/ 272 h 348"/>
              <a:gd name="T80" fmla="*/ 1416 w 2151"/>
              <a:gd name="T81" fmla="*/ 237 h 348"/>
              <a:gd name="T82" fmla="*/ 1613 w 2151"/>
              <a:gd name="T83" fmla="*/ 109 h 348"/>
              <a:gd name="T84" fmla="*/ 1558 w 2151"/>
              <a:gd name="T85" fmla="*/ 209 h 348"/>
              <a:gd name="T86" fmla="*/ 1594 w 2151"/>
              <a:gd name="T87" fmla="*/ 215 h 348"/>
              <a:gd name="T88" fmla="*/ 1801 w 2151"/>
              <a:gd name="T89" fmla="*/ 135 h 348"/>
              <a:gd name="T90" fmla="*/ 1743 w 2151"/>
              <a:gd name="T91" fmla="*/ 253 h 348"/>
              <a:gd name="T92" fmla="*/ 1591 w 2151"/>
              <a:gd name="T93" fmla="*/ 138 h 348"/>
              <a:gd name="T94" fmla="*/ 1913 w 2151"/>
              <a:gd name="T95" fmla="*/ 237 h 348"/>
              <a:gd name="T96" fmla="*/ 1845 w 2151"/>
              <a:gd name="T97" fmla="*/ 230 h 348"/>
              <a:gd name="T98" fmla="*/ 1795 w 2151"/>
              <a:gd name="T99" fmla="*/ 209 h 348"/>
              <a:gd name="T100" fmla="*/ 1789 w 2151"/>
              <a:gd name="T101" fmla="*/ 230 h 348"/>
              <a:gd name="T102" fmla="*/ 1787 w 2151"/>
              <a:gd name="T103" fmla="*/ 250 h 348"/>
              <a:gd name="T104" fmla="*/ 2013 w 2151"/>
              <a:gd name="T105" fmla="*/ 291 h 348"/>
              <a:gd name="T106" fmla="*/ 2013 w 2151"/>
              <a:gd name="T107" fmla="*/ 162 h 348"/>
              <a:gd name="T108" fmla="*/ 1988 w 2151"/>
              <a:gd name="T109" fmla="*/ 259 h 348"/>
              <a:gd name="T110" fmla="*/ 1997 w 2151"/>
              <a:gd name="T111" fmla="*/ 250 h 348"/>
              <a:gd name="T112" fmla="*/ 1925 w 2151"/>
              <a:gd name="T113" fmla="*/ 176 h 348"/>
              <a:gd name="T114" fmla="*/ 1986 w 2151"/>
              <a:gd name="T115" fmla="*/ 209 h 348"/>
              <a:gd name="T116" fmla="*/ 2090 w 2151"/>
              <a:gd name="T117" fmla="*/ 215 h 348"/>
              <a:gd name="T118" fmla="*/ 2131 w 2151"/>
              <a:gd name="T119" fmla="*/ 237 h 348"/>
              <a:gd name="T120" fmla="*/ 2074 w 2151"/>
              <a:gd name="T121" fmla="*/ 189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51" h="348">
                <a:moveTo>
                  <a:pt x="19" y="220"/>
                </a:moveTo>
                <a:cubicBezTo>
                  <a:pt x="20" y="224"/>
                  <a:pt x="20" y="227"/>
                  <a:pt x="21" y="229"/>
                </a:cubicBezTo>
                <a:cubicBezTo>
                  <a:pt x="64" y="229"/>
                  <a:pt x="64" y="229"/>
                  <a:pt x="64" y="229"/>
                </a:cubicBezTo>
                <a:cubicBezTo>
                  <a:pt x="66" y="225"/>
                  <a:pt x="69" y="219"/>
                  <a:pt x="71" y="214"/>
                </a:cubicBezTo>
                <a:cubicBezTo>
                  <a:pt x="18" y="214"/>
                  <a:pt x="18" y="214"/>
                  <a:pt x="18" y="214"/>
                </a:cubicBezTo>
                <a:cubicBezTo>
                  <a:pt x="18" y="216"/>
                  <a:pt x="19" y="218"/>
                  <a:pt x="19" y="220"/>
                </a:cubicBezTo>
                <a:moveTo>
                  <a:pt x="17" y="209"/>
                </a:moveTo>
                <a:cubicBezTo>
                  <a:pt x="73" y="209"/>
                  <a:pt x="73" y="209"/>
                  <a:pt x="73" y="209"/>
                </a:cubicBezTo>
                <a:cubicBezTo>
                  <a:pt x="76" y="203"/>
                  <a:pt x="78" y="197"/>
                  <a:pt x="81" y="192"/>
                </a:cubicBezTo>
                <a:cubicBezTo>
                  <a:pt x="15" y="192"/>
                  <a:pt x="15" y="192"/>
                  <a:pt x="15" y="192"/>
                </a:cubicBezTo>
                <a:cubicBezTo>
                  <a:pt x="16" y="198"/>
                  <a:pt x="17" y="204"/>
                  <a:pt x="17" y="209"/>
                </a:cubicBezTo>
                <a:moveTo>
                  <a:pt x="166" y="226"/>
                </a:moveTo>
                <a:cubicBezTo>
                  <a:pt x="164" y="222"/>
                  <a:pt x="161" y="218"/>
                  <a:pt x="158" y="214"/>
                </a:cubicBezTo>
                <a:cubicBezTo>
                  <a:pt x="120" y="214"/>
                  <a:pt x="120" y="214"/>
                  <a:pt x="120" y="214"/>
                </a:cubicBezTo>
                <a:cubicBezTo>
                  <a:pt x="120" y="214"/>
                  <a:pt x="120" y="214"/>
                  <a:pt x="120" y="214"/>
                </a:cubicBezTo>
                <a:cubicBezTo>
                  <a:pt x="120" y="220"/>
                  <a:pt x="122" y="225"/>
                  <a:pt x="125" y="229"/>
                </a:cubicBezTo>
                <a:cubicBezTo>
                  <a:pt x="167" y="229"/>
                  <a:pt x="167" y="229"/>
                  <a:pt x="167" y="229"/>
                </a:cubicBezTo>
                <a:cubicBezTo>
                  <a:pt x="167" y="228"/>
                  <a:pt x="167" y="227"/>
                  <a:pt x="166" y="226"/>
                </a:cubicBezTo>
                <a:moveTo>
                  <a:pt x="129" y="236"/>
                </a:moveTo>
                <a:cubicBezTo>
                  <a:pt x="138" y="248"/>
                  <a:pt x="151" y="254"/>
                  <a:pt x="159" y="251"/>
                </a:cubicBezTo>
                <a:cubicBezTo>
                  <a:pt x="164" y="249"/>
                  <a:pt x="168" y="243"/>
                  <a:pt x="168" y="236"/>
                </a:cubicBezTo>
                <a:lnTo>
                  <a:pt x="129" y="236"/>
                </a:lnTo>
                <a:close/>
                <a:moveTo>
                  <a:pt x="50" y="249"/>
                </a:moveTo>
                <a:cubicBezTo>
                  <a:pt x="54" y="246"/>
                  <a:pt x="58" y="241"/>
                  <a:pt x="60" y="236"/>
                </a:cubicBezTo>
                <a:cubicBezTo>
                  <a:pt x="23" y="236"/>
                  <a:pt x="23" y="236"/>
                  <a:pt x="23" y="236"/>
                </a:cubicBezTo>
                <a:cubicBezTo>
                  <a:pt x="31" y="258"/>
                  <a:pt x="45" y="253"/>
                  <a:pt x="50" y="249"/>
                </a:cubicBezTo>
                <a:moveTo>
                  <a:pt x="150" y="192"/>
                </a:moveTo>
                <a:cubicBezTo>
                  <a:pt x="117" y="192"/>
                  <a:pt x="117" y="192"/>
                  <a:pt x="117" y="192"/>
                </a:cubicBezTo>
                <a:cubicBezTo>
                  <a:pt x="118" y="197"/>
                  <a:pt x="118" y="202"/>
                  <a:pt x="119" y="209"/>
                </a:cubicBezTo>
                <a:cubicBezTo>
                  <a:pt x="155" y="209"/>
                  <a:pt x="155" y="209"/>
                  <a:pt x="155" y="209"/>
                </a:cubicBezTo>
                <a:cubicBezTo>
                  <a:pt x="153" y="204"/>
                  <a:pt x="151" y="199"/>
                  <a:pt x="150" y="192"/>
                </a:cubicBezTo>
                <a:moveTo>
                  <a:pt x="149" y="178"/>
                </a:moveTo>
                <a:cubicBezTo>
                  <a:pt x="149" y="154"/>
                  <a:pt x="151" y="128"/>
                  <a:pt x="124" y="122"/>
                </a:cubicBezTo>
                <a:cubicBezTo>
                  <a:pt x="83" y="113"/>
                  <a:pt x="66" y="183"/>
                  <a:pt x="53" y="175"/>
                </a:cubicBezTo>
                <a:cubicBezTo>
                  <a:pt x="47" y="171"/>
                  <a:pt x="41" y="131"/>
                  <a:pt x="54" y="91"/>
                </a:cubicBezTo>
                <a:cubicBezTo>
                  <a:pt x="63" y="59"/>
                  <a:pt x="66" y="31"/>
                  <a:pt x="52" y="24"/>
                </a:cubicBezTo>
                <a:cubicBezTo>
                  <a:pt x="0" y="0"/>
                  <a:pt x="6" y="122"/>
                  <a:pt x="15" y="188"/>
                </a:cubicBezTo>
                <a:cubicBezTo>
                  <a:pt x="83" y="188"/>
                  <a:pt x="83" y="188"/>
                  <a:pt x="83" y="188"/>
                </a:cubicBezTo>
                <a:cubicBezTo>
                  <a:pt x="85" y="186"/>
                  <a:pt x="86" y="183"/>
                  <a:pt x="88" y="181"/>
                </a:cubicBezTo>
                <a:cubicBezTo>
                  <a:pt x="91" y="175"/>
                  <a:pt x="106" y="145"/>
                  <a:pt x="116" y="188"/>
                </a:cubicBezTo>
                <a:cubicBezTo>
                  <a:pt x="150" y="188"/>
                  <a:pt x="150" y="188"/>
                  <a:pt x="150" y="188"/>
                </a:cubicBezTo>
                <a:cubicBezTo>
                  <a:pt x="149" y="185"/>
                  <a:pt x="149" y="182"/>
                  <a:pt x="149" y="178"/>
                </a:cubicBezTo>
                <a:moveTo>
                  <a:pt x="245" y="193"/>
                </a:moveTo>
                <a:cubicBezTo>
                  <a:pt x="228" y="206"/>
                  <a:pt x="207" y="203"/>
                  <a:pt x="205" y="192"/>
                </a:cubicBezTo>
                <a:cubicBezTo>
                  <a:pt x="170" y="192"/>
                  <a:pt x="170" y="192"/>
                  <a:pt x="170" y="192"/>
                </a:cubicBezTo>
                <a:cubicBezTo>
                  <a:pt x="171" y="198"/>
                  <a:pt x="172" y="204"/>
                  <a:pt x="175" y="209"/>
                </a:cubicBezTo>
                <a:cubicBezTo>
                  <a:pt x="262" y="209"/>
                  <a:pt x="262" y="209"/>
                  <a:pt x="262" y="209"/>
                </a:cubicBezTo>
                <a:cubicBezTo>
                  <a:pt x="262" y="208"/>
                  <a:pt x="263" y="208"/>
                  <a:pt x="263" y="207"/>
                </a:cubicBezTo>
                <a:cubicBezTo>
                  <a:pt x="270" y="196"/>
                  <a:pt x="256" y="185"/>
                  <a:pt x="245" y="193"/>
                </a:cubicBezTo>
                <a:moveTo>
                  <a:pt x="211" y="178"/>
                </a:moveTo>
                <a:cubicBezTo>
                  <a:pt x="218" y="170"/>
                  <a:pt x="237" y="163"/>
                  <a:pt x="254" y="150"/>
                </a:cubicBezTo>
                <a:cubicBezTo>
                  <a:pt x="271" y="137"/>
                  <a:pt x="287" y="112"/>
                  <a:pt x="269" y="89"/>
                </a:cubicBezTo>
                <a:cubicBezTo>
                  <a:pt x="244" y="61"/>
                  <a:pt x="208" y="87"/>
                  <a:pt x="190" y="114"/>
                </a:cubicBezTo>
                <a:cubicBezTo>
                  <a:pt x="180" y="129"/>
                  <a:pt x="167" y="160"/>
                  <a:pt x="169" y="188"/>
                </a:cubicBezTo>
                <a:cubicBezTo>
                  <a:pt x="169" y="188"/>
                  <a:pt x="169" y="188"/>
                  <a:pt x="169" y="188"/>
                </a:cubicBezTo>
                <a:cubicBezTo>
                  <a:pt x="206" y="188"/>
                  <a:pt x="206" y="188"/>
                  <a:pt x="206" y="188"/>
                </a:cubicBezTo>
                <a:cubicBezTo>
                  <a:pt x="206" y="185"/>
                  <a:pt x="208" y="182"/>
                  <a:pt x="211" y="178"/>
                </a:cubicBezTo>
                <a:moveTo>
                  <a:pt x="220" y="115"/>
                </a:moveTo>
                <a:cubicBezTo>
                  <a:pt x="229" y="107"/>
                  <a:pt x="243" y="100"/>
                  <a:pt x="249" y="106"/>
                </a:cubicBezTo>
                <a:cubicBezTo>
                  <a:pt x="255" y="112"/>
                  <a:pt x="246" y="126"/>
                  <a:pt x="241" y="132"/>
                </a:cubicBezTo>
                <a:cubicBezTo>
                  <a:pt x="236" y="138"/>
                  <a:pt x="218" y="150"/>
                  <a:pt x="210" y="143"/>
                </a:cubicBezTo>
                <a:cubicBezTo>
                  <a:pt x="204" y="137"/>
                  <a:pt x="212" y="123"/>
                  <a:pt x="220" y="115"/>
                </a:cubicBezTo>
                <a:moveTo>
                  <a:pt x="203" y="231"/>
                </a:moveTo>
                <a:cubicBezTo>
                  <a:pt x="228" y="234"/>
                  <a:pt x="247" y="224"/>
                  <a:pt x="257" y="214"/>
                </a:cubicBezTo>
                <a:cubicBezTo>
                  <a:pt x="177" y="214"/>
                  <a:pt x="177" y="214"/>
                  <a:pt x="177" y="214"/>
                </a:cubicBezTo>
                <a:cubicBezTo>
                  <a:pt x="184" y="224"/>
                  <a:pt x="193" y="229"/>
                  <a:pt x="203" y="231"/>
                </a:cubicBezTo>
                <a:moveTo>
                  <a:pt x="275" y="250"/>
                </a:moveTo>
                <a:cubicBezTo>
                  <a:pt x="334" y="250"/>
                  <a:pt x="334" y="250"/>
                  <a:pt x="334" y="250"/>
                </a:cubicBezTo>
                <a:cubicBezTo>
                  <a:pt x="338" y="245"/>
                  <a:pt x="341" y="241"/>
                  <a:pt x="344" y="236"/>
                </a:cubicBezTo>
                <a:cubicBezTo>
                  <a:pt x="273" y="236"/>
                  <a:pt x="273" y="236"/>
                  <a:pt x="273" y="236"/>
                </a:cubicBezTo>
                <a:cubicBezTo>
                  <a:pt x="273" y="241"/>
                  <a:pt x="274" y="246"/>
                  <a:pt x="275" y="250"/>
                </a:cubicBezTo>
                <a:moveTo>
                  <a:pt x="348" y="164"/>
                </a:moveTo>
                <a:cubicBezTo>
                  <a:pt x="349" y="169"/>
                  <a:pt x="347" y="179"/>
                  <a:pt x="343" y="188"/>
                </a:cubicBezTo>
                <a:cubicBezTo>
                  <a:pt x="385" y="188"/>
                  <a:pt x="385" y="188"/>
                  <a:pt x="385" y="188"/>
                </a:cubicBezTo>
                <a:cubicBezTo>
                  <a:pt x="382" y="166"/>
                  <a:pt x="390" y="143"/>
                  <a:pt x="376" y="135"/>
                </a:cubicBezTo>
                <a:cubicBezTo>
                  <a:pt x="331" y="110"/>
                  <a:pt x="296" y="147"/>
                  <a:pt x="281" y="188"/>
                </a:cubicBezTo>
                <a:cubicBezTo>
                  <a:pt x="308" y="188"/>
                  <a:pt x="308" y="188"/>
                  <a:pt x="308" y="188"/>
                </a:cubicBezTo>
                <a:cubicBezTo>
                  <a:pt x="316" y="167"/>
                  <a:pt x="331" y="148"/>
                  <a:pt x="348" y="164"/>
                </a:cubicBezTo>
                <a:moveTo>
                  <a:pt x="332" y="209"/>
                </a:moveTo>
                <a:cubicBezTo>
                  <a:pt x="391" y="209"/>
                  <a:pt x="391" y="209"/>
                  <a:pt x="391" y="209"/>
                </a:cubicBezTo>
                <a:cubicBezTo>
                  <a:pt x="390" y="208"/>
                  <a:pt x="390" y="206"/>
                  <a:pt x="389" y="205"/>
                </a:cubicBezTo>
                <a:cubicBezTo>
                  <a:pt x="387" y="201"/>
                  <a:pt x="386" y="196"/>
                  <a:pt x="385" y="192"/>
                </a:cubicBezTo>
                <a:cubicBezTo>
                  <a:pt x="341" y="192"/>
                  <a:pt x="341" y="192"/>
                  <a:pt x="341" y="192"/>
                </a:cubicBezTo>
                <a:cubicBezTo>
                  <a:pt x="339" y="197"/>
                  <a:pt x="335" y="203"/>
                  <a:pt x="332" y="209"/>
                </a:cubicBezTo>
                <a:moveTo>
                  <a:pt x="394" y="214"/>
                </a:moveTo>
                <a:cubicBezTo>
                  <a:pt x="329" y="214"/>
                  <a:pt x="329" y="214"/>
                  <a:pt x="329" y="214"/>
                </a:cubicBezTo>
                <a:cubicBezTo>
                  <a:pt x="324" y="221"/>
                  <a:pt x="319" y="226"/>
                  <a:pt x="315" y="229"/>
                </a:cubicBezTo>
                <a:cubicBezTo>
                  <a:pt x="348" y="229"/>
                  <a:pt x="348" y="229"/>
                  <a:pt x="348" y="229"/>
                </a:cubicBezTo>
                <a:cubicBezTo>
                  <a:pt x="350" y="224"/>
                  <a:pt x="352" y="220"/>
                  <a:pt x="353" y="216"/>
                </a:cubicBezTo>
                <a:cubicBezTo>
                  <a:pt x="355" y="221"/>
                  <a:pt x="357" y="226"/>
                  <a:pt x="359" y="229"/>
                </a:cubicBezTo>
                <a:cubicBezTo>
                  <a:pt x="404" y="229"/>
                  <a:pt x="404" y="229"/>
                  <a:pt x="404" y="229"/>
                </a:cubicBezTo>
                <a:cubicBezTo>
                  <a:pt x="400" y="223"/>
                  <a:pt x="397" y="218"/>
                  <a:pt x="394" y="214"/>
                </a:cubicBezTo>
                <a:moveTo>
                  <a:pt x="298" y="270"/>
                </a:moveTo>
                <a:cubicBezTo>
                  <a:pt x="308" y="270"/>
                  <a:pt x="317" y="266"/>
                  <a:pt x="325" y="259"/>
                </a:cubicBezTo>
                <a:cubicBezTo>
                  <a:pt x="278" y="259"/>
                  <a:pt x="278" y="259"/>
                  <a:pt x="278" y="259"/>
                </a:cubicBezTo>
                <a:cubicBezTo>
                  <a:pt x="283" y="266"/>
                  <a:pt x="289" y="270"/>
                  <a:pt x="298" y="270"/>
                </a:cubicBezTo>
                <a:moveTo>
                  <a:pt x="302" y="222"/>
                </a:moveTo>
                <a:cubicBezTo>
                  <a:pt x="302" y="220"/>
                  <a:pt x="302" y="217"/>
                  <a:pt x="302" y="214"/>
                </a:cubicBezTo>
                <a:cubicBezTo>
                  <a:pt x="274" y="214"/>
                  <a:pt x="274" y="214"/>
                  <a:pt x="274" y="214"/>
                </a:cubicBezTo>
                <a:cubicBezTo>
                  <a:pt x="273" y="219"/>
                  <a:pt x="273" y="224"/>
                  <a:pt x="273" y="229"/>
                </a:cubicBezTo>
                <a:cubicBezTo>
                  <a:pt x="305" y="229"/>
                  <a:pt x="305" y="229"/>
                  <a:pt x="305" y="229"/>
                </a:cubicBezTo>
                <a:cubicBezTo>
                  <a:pt x="304" y="228"/>
                  <a:pt x="303" y="225"/>
                  <a:pt x="302" y="222"/>
                </a:cubicBezTo>
                <a:moveTo>
                  <a:pt x="408" y="236"/>
                </a:moveTo>
                <a:cubicBezTo>
                  <a:pt x="363" y="236"/>
                  <a:pt x="363" y="236"/>
                  <a:pt x="363" y="236"/>
                </a:cubicBezTo>
                <a:cubicBezTo>
                  <a:pt x="370" y="248"/>
                  <a:pt x="378" y="251"/>
                  <a:pt x="392" y="251"/>
                </a:cubicBezTo>
                <a:cubicBezTo>
                  <a:pt x="401" y="251"/>
                  <a:pt x="409" y="245"/>
                  <a:pt x="408" y="236"/>
                </a:cubicBezTo>
                <a:moveTo>
                  <a:pt x="307" y="192"/>
                </a:moveTo>
                <a:cubicBezTo>
                  <a:pt x="280" y="192"/>
                  <a:pt x="280" y="192"/>
                  <a:pt x="280" y="192"/>
                </a:cubicBezTo>
                <a:cubicBezTo>
                  <a:pt x="278" y="197"/>
                  <a:pt x="276" y="203"/>
                  <a:pt x="275" y="209"/>
                </a:cubicBezTo>
                <a:cubicBezTo>
                  <a:pt x="303" y="209"/>
                  <a:pt x="303" y="209"/>
                  <a:pt x="303" y="209"/>
                </a:cubicBezTo>
                <a:cubicBezTo>
                  <a:pt x="304" y="204"/>
                  <a:pt x="305" y="198"/>
                  <a:pt x="307" y="192"/>
                </a:cubicBezTo>
                <a:moveTo>
                  <a:pt x="418" y="209"/>
                </a:moveTo>
                <a:cubicBezTo>
                  <a:pt x="452" y="209"/>
                  <a:pt x="452" y="209"/>
                  <a:pt x="452" y="209"/>
                </a:cubicBezTo>
                <a:cubicBezTo>
                  <a:pt x="453" y="203"/>
                  <a:pt x="454" y="197"/>
                  <a:pt x="454" y="192"/>
                </a:cubicBezTo>
                <a:cubicBezTo>
                  <a:pt x="413" y="192"/>
                  <a:pt x="413" y="192"/>
                  <a:pt x="413" y="192"/>
                </a:cubicBezTo>
                <a:cubicBezTo>
                  <a:pt x="415" y="198"/>
                  <a:pt x="416" y="204"/>
                  <a:pt x="418" y="209"/>
                </a:cubicBezTo>
                <a:moveTo>
                  <a:pt x="432" y="26"/>
                </a:moveTo>
                <a:cubicBezTo>
                  <a:pt x="404" y="26"/>
                  <a:pt x="400" y="128"/>
                  <a:pt x="413" y="188"/>
                </a:cubicBezTo>
                <a:cubicBezTo>
                  <a:pt x="454" y="188"/>
                  <a:pt x="454" y="188"/>
                  <a:pt x="454" y="188"/>
                </a:cubicBezTo>
                <a:cubicBezTo>
                  <a:pt x="454" y="187"/>
                  <a:pt x="454" y="186"/>
                  <a:pt x="454" y="185"/>
                </a:cubicBezTo>
                <a:cubicBezTo>
                  <a:pt x="456" y="151"/>
                  <a:pt x="457" y="28"/>
                  <a:pt x="432" y="26"/>
                </a:cubicBezTo>
                <a:moveTo>
                  <a:pt x="435" y="231"/>
                </a:moveTo>
                <a:cubicBezTo>
                  <a:pt x="443" y="232"/>
                  <a:pt x="448" y="224"/>
                  <a:pt x="450" y="214"/>
                </a:cubicBezTo>
                <a:cubicBezTo>
                  <a:pt x="420" y="214"/>
                  <a:pt x="420" y="214"/>
                  <a:pt x="420" y="214"/>
                </a:cubicBezTo>
                <a:cubicBezTo>
                  <a:pt x="424" y="225"/>
                  <a:pt x="429" y="231"/>
                  <a:pt x="435" y="231"/>
                </a:cubicBezTo>
                <a:moveTo>
                  <a:pt x="484" y="236"/>
                </a:moveTo>
                <a:cubicBezTo>
                  <a:pt x="486" y="241"/>
                  <a:pt x="489" y="246"/>
                  <a:pt x="491" y="250"/>
                </a:cubicBezTo>
                <a:cubicBezTo>
                  <a:pt x="559" y="250"/>
                  <a:pt x="559" y="250"/>
                  <a:pt x="559" y="250"/>
                </a:cubicBezTo>
                <a:cubicBezTo>
                  <a:pt x="563" y="245"/>
                  <a:pt x="565" y="241"/>
                  <a:pt x="566" y="236"/>
                </a:cubicBezTo>
                <a:lnTo>
                  <a:pt x="484" y="236"/>
                </a:lnTo>
                <a:close/>
                <a:moveTo>
                  <a:pt x="511" y="157"/>
                </a:moveTo>
                <a:cubicBezTo>
                  <a:pt x="516" y="152"/>
                  <a:pt x="533" y="159"/>
                  <a:pt x="549" y="158"/>
                </a:cubicBezTo>
                <a:cubicBezTo>
                  <a:pt x="565" y="158"/>
                  <a:pt x="570" y="135"/>
                  <a:pt x="552" y="130"/>
                </a:cubicBezTo>
                <a:cubicBezTo>
                  <a:pt x="537" y="127"/>
                  <a:pt x="519" y="134"/>
                  <a:pt x="514" y="127"/>
                </a:cubicBezTo>
                <a:cubicBezTo>
                  <a:pt x="510" y="120"/>
                  <a:pt x="525" y="82"/>
                  <a:pt x="513" y="78"/>
                </a:cubicBezTo>
                <a:cubicBezTo>
                  <a:pt x="488" y="71"/>
                  <a:pt x="471" y="116"/>
                  <a:pt x="472" y="181"/>
                </a:cubicBezTo>
                <a:cubicBezTo>
                  <a:pt x="472" y="183"/>
                  <a:pt x="472" y="186"/>
                  <a:pt x="472" y="188"/>
                </a:cubicBezTo>
                <a:cubicBezTo>
                  <a:pt x="506" y="188"/>
                  <a:pt x="506" y="188"/>
                  <a:pt x="506" y="188"/>
                </a:cubicBezTo>
                <a:cubicBezTo>
                  <a:pt x="505" y="175"/>
                  <a:pt x="507" y="161"/>
                  <a:pt x="511" y="157"/>
                </a:cubicBezTo>
                <a:moveTo>
                  <a:pt x="550" y="226"/>
                </a:moveTo>
                <a:cubicBezTo>
                  <a:pt x="547" y="226"/>
                  <a:pt x="544" y="228"/>
                  <a:pt x="541" y="229"/>
                </a:cubicBezTo>
                <a:cubicBezTo>
                  <a:pt x="564" y="229"/>
                  <a:pt x="564" y="229"/>
                  <a:pt x="564" y="229"/>
                </a:cubicBezTo>
                <a:cubicBezTo>
                  <a:pt x="561" y="226"/>
                  <a:pt x="555" y="225"/>
                  <a:pt x="550" y="226"/>
                </a:cubicBezTo>
                <a:moveTo>
                  <a:pt x="506" y="192"/>
                </a:moveTo>
                <a:cubicBezTo>
                  <a:pt x="472" y="192"/>
                  <a:pt x="472" y="192"/>
                  <a:pt x="472" y="192"/>
                </a:cubicBezTo>
                <a:cubicBezTo>
                  <a:pt x="473" y="198"/>
                  <a:pt x="474" y="203"/>
                  <a:pt x="475" y="209"/>
                </a:cubicBezTo>
                <a:cubicBezTo>
                  <a:pt x="509" y="209"/>
                  <a:pt x="509" y="209"/>
                  <a:pt x="509" y="209"/>
                </a:cubicBezTo>
                <a:cubicBezTo>
                  <a:pt x="507" y="203"/>
                  <a:pt x="506" y="198"/>
                  <a:pt x="506" y="192"/>
                </a:cubicBezTo>
                <a:moveTo>
                  <a:pt x="518" y="226"/>
                </a:moveTo>
                <a:cubicBezTo>
                  <a:pt x="515" y="224"/>
                  <a:pt x="513" y="219"/>
                  <a:pt x="511" y="214"/>
                </a:cubicBezTo>
                <a:cubicBezTo>
                  <a:pt x="476" y="214"/>
                  <a:pt x="476" y="214"/>
                  <a:pt x="476" y="214"/>
                </a:cubicBezTo>
                <a:cubicBezTo>
                  <a:pt x="477" y="219"/>
                  <a:pt x="479" y="224"/>
                  <a:pt x="481" y="229"/>
                </a:cubicBezTo>
                <a:cubicBezTo>
                  <a:pt x="523" y="229"/>
                  <a:pt x="523" y="229"/>
                  <a:pt x="523" y="229"/>
                </a:cubicBezTo>
                <a:cubicBezTo>
                  <a:pt x="522" y="228"/>
                  <a:pt x="520" y="227"/>
                  <a:pt x="518" y="226"/>
                </a:cubicBezTo>
                <a:moveTo>
                  <a:pt x="520" y="268"/>
                </a:moveTo>
                <a:cubicBezTo>
                  <a:pt x="529" y="269"/>
                  <a:pt x="540" y="265"/>
                  <a:pt x="549" y="259"/>
                </a:cubicBezTo>
                <a:cubicBezTo>
                  <a:pt x="499" y="259"/>
                  <a:pt x="499" y="259"/>
                  <a:pt x="499" y="259"/>
                </a:cubicBezTo>
                <a:cubicBezTo>
                  <a:pt x="505" y="264"/>
                  <a:pt x="512" y="268"/>
                  <a:pt x="520" y="268"/>
                </a:cubicBezTo>
                <a:moveTo>
                  <a:pt x="582" y="250"/>
                </a:moveTo>
                <a:cubicBezTo>
                  <a:pt x="629" y="250"/>
                  <a:pt x="629" y="250"/>
                  <a:pt x="629" y="250"/>
                </a:cubicBezTo>
                <a:cubicBezTo>
                  <a:pt x="631" y="245"/>
                  <a:pt x="632" y="241"/>
                  <a:pt x="633" y="236"/>
                </a:cubicBezTo>
                <a:cubicBezTo>
                  <a:pt x="580" y="236"/>
                  <a:pt x="580" y="236"/>
                  <a:pt x="580" y="236"/>
                </a:cubicBezTo>
                <a:cubicBezTo>
                  <a:pt x="580" y="241"/>
                  <a:pt x="581" y="246"/>
                  <a:pt x="582" y="250"/>
                </a:cubicBezTo>
                <a:moveTo>
                  <a:pt x="578" y="229"/>
                </a:moveTo>
                <a:cubicBezTo>
                  <a:pt x="635" y="229"/>
                  <a:pt x="635" y="229"/>
                  <a:pt x="635" y="229"/>
                </a:cubicBezTo>
                <a:cubicBezTo>
                  <a:pt x="637" y="224"/>
                  <a:pt x="638" y="219"/>
                  <a:pt x="640" y="214"/>
                </a:cubicBezTo>
                <a:cubicBezTo>
                  <a:pt x="576" y="214"/>
                  <a:pt x="576" y="214"/>
                  <a:pt x="576" y="214"/>
                </a:cubicBezTo>
                <a:cubicBezTo>
                  <a:pt x="577" y="220"/>
                  <a:pt x="577" y="225"/>
                  <a:pt x="578" y="229"/>
                </a:cubicBezTo>
                <a:moveTo>
                  <a:pt x="693" y="159"/>
                </a:moveTo>
                <a:cubicBezTo>
                  <a:pt x="685" y="143"/>
                  <a:pt x="663" y="145"/>
                  <a:pt x="650" y="156"/>
                </a:cubicBezTo>
                <a:cubicBezTo>
                  <a:pt x="640" y="165"/>
                  <a:pt x="632" y="178"/>
                  <a:pt x="626" y="188"/>
                </a:cubicBezTo>
                <a:cubicBezTo>
                  <a:pt x="700" y="188"/>
                  <a:pt x="700" y="188"/>
                  <a:pt x="700" y="188"/>
                </a:cubicBezTo>
                <a:cubicBezTo>
                  <a:pt x="699" y="178"/>
                  <a:pt x="698" y="167"/>
                  <a:pt x="693" y="159"/>
                </a:cubicBezTo>
                <a:moveTo>
                  <a:pt x="702" y="217"/>
                </a:moveTo>
                <a:cubicBezTo>
                  <a:pt x="702" y="216"/>
                  <a:pt x="702" y="215"/>
                  <a:pt x="702" y="214"/>
                </a:cubicBezTo>
                <a:cubicBezTo>
                  <a:pt x="663" y="214"/>
                  <a:pt x="663" y="214"/>
                  <a:pt x="663" y="214"/>
                </a:cubicBezTo>
                <a:cubicBezTo>
                  <a:pt x="664" y="219"/>
                  <a:pt x="665" y="224"/>
                  <a:pt x="666" y="229"/>
                </a:cubicBezTo>
                <a:cubicBezTo>
                  <a:pt x="704" y="229"/>
                  <a:pt x="704" y="229"/>
                  <a:pt x="704" y="229"/>
                </a:cubicBezTo>
                <a:cubicBezTo>
                  <a:pt x="703" y="225"/>
                  <a:pt x="702" y="221"/>
                  <a:pt x="702" y="217"/>
                </a:cubicBezTo>
                <a:moveTo>
                  <a:pt x="588" y="270"/>
                </a:moveTo>
                <a:cubicBezTo>
                  <a:pt x="621" y="270"/>
                  <a:pt x="621" y="270"/>
                  <a:pt x="621" y="270"/>
                </a:cubicBezTo>
                <a:cubicBezTo>
                  <a:pt x="623" y="266"/>
                  <a:pt x="625" y="263"/>
                  <a:pt x="626" y="259"/>
                </a:cubicBezTo>
                <a:cubicBezTo>
                  <a:pt x="585" y="259"/>
                  <a:pt x="585" y="259"/>
                  <a:pt x="585" y="259"/>
                </a:cubicBezTo>
                <a:cubicBezTo>
                  <a:pt x="586" y="263"/>
                  <a:pt x="587" y="267"/>
                  <a:pt x="588" y="270"/>
                </a:cubicBezTo>
                <a:moveTo>
                  <a:pt x="615" y="64"/>
                </a:moveTo>
                <a:cubicBezTo>
                  <a:pt x="574" y="48"/>
                  <a:pt x="569" y="129"/>
                  <a:pt x="573" y="188"/>
                </a:cubicBezTo>
                <a:cubicBezTo>
                  <a:pt x="611" y="188"/>
                  <a:pt x="611" y="188"/>
                  <a:pt x="611" y="188"/>
                </a:cubicBezTo>
                <a:cubicBezTo>
                  <a:pt x="613" y="156"/>
                  <a:pt x="637" y="73"/>
                  <a:pt x="615" y="64"/>
                </a:cubicBezTo>
                <a:moveTo>
                  <a:pt x="609" y="286"/>
                </a:moveTo>
                <a:cubicBezTo>
                  <a:pt x="611" y="285"/>
                  <a:pt x="613" y="283"/>
                  <a:pt x="615" y="281"/>
                </a:cubicBezTo>
                <a:cubicBezTo>
                  <a:pt x="593" y="281"/>
                  <a:pt x="593" y="281"/>
                  <a:pt x="593" y="281"/>
                </a:cubicBezTo>
                <a:cubicBezTo>
                  <a:pt x="598" y="289"/>
                  <a:pt x="604" y="291"/>
                  <a:pt x="609" y="286"/>
                </a:cubicBezTo>
                <a:moveTo>
                  <a:pt x="702" y="264"/>
                </a:moveTo>
                <a:cubicBezTo>
                  <a:pt x="704" y="262"/>
                  <a:pt x="705" y="261"/>
                  <a:pt x="706" y="259"/>
                </a:cubicBezTo>
                <a:cubicBezTo>
                  <a:pt x="678" y="259"/>
                  <a:pt x="678" y="259"/>
                  <a:pt x="678" y="259"/>
                </a:cubicBezTo>
                <a:cubicBezTo>
                  <a:pt x="683" y="266"/>
                  <a:pt x="691" y="269"/>
                  <a:pt x="702" y="264"/>
                </a:cubicBezTo>
                <a:moveTo>
                  <a:pt x="700" y="192"/>
                </a:moveTo>
                <a:cubicBezTo>
                  <a:pt x="624" y="192"/>
                  <a:pt x="624" y="192"/>
                  <a:pt x="624" y="192"/>
                </a:cubicBezTo>
                <a:cubicBezTo>
                  <a:pt x="619" y="199"/>
                  <a:pt x="616" y="203"/>
                  <a:pt x="613" y="202"/>
                </a:cubicBezTo>
                <a:cubicBezTo>
                  <a:pt x="611" y="200"/>
                  <a:pt x="610" y="197"/>
                  <a:pt x="610" y="192"/>
                </a:cubicBezTo>
                <a:cubicBezTo>
                  <a:pt x="574" y="192"/>
                  <a:pt x="574" y="192"/>
                  <a:pt x="574" y="192"/>
                </a:cubicBezTo>
                <a:cubicBezTo>
                  <a:pt x="574" y="198"/>
                  <a:pt x="575" y="203"/>
                  <a:pt x="575" y="209"/>
                </a:cubicBezTo>
                <a:cubicBezTo>
                  <a:pt x="642" y="209"/>
                  <a:pt x="642" y="209"/>
                  <a:pt x="642" y="209"/>
                </a:cubicBezTo>
                <a:cubicBezTo>
                  <a:pt x="645" y="200"/>
                  <a:pt x="648" y="194"/>
                  <a:pt x="653" y="194"/>
                </a:cubicBezTo>
                <a:cubicBezTo>
                  <a:pt x="657" y="195"/>
                  <a:pt x="659" y="200"/>
                  <a:pt x="661" y="209"/>
                </a:cubicBezTo>
                <a:cubicBezTo>
                  <a:pt x="701" y="209"/>
                  <a:pt x="701" y="209"/>
                  <a:pt x="701" y="209"/>
                </a:cubicBezTo>
                <a:cubicBezTo>
                  <a:pt x="701" y="203"/>
                  <a:pt x="701" y="198"/>
                  <a:pt x="700" y="192"/>
                </a:cubicBezTo>
                <a:moveTo>
                  <a:pt x="705" y="236"/>
                </a:moveTo>
                <a:cubicBezTo>
                  <a:pt x="668" y="236"/>
                  <a:pt x="668" y="236"/>
                  <a:pt x="668" y="236"/>
                </a:cubicBezTo>
                <a:cubicBezTo>
                  <a:pt x="669" y="241"/>
                  <a:pt x="671" y="246"/>
                  <a:pt x="672" y="250"/>
                </a:cubicBezTo>
                <a:cubicBezTo>
                  <a:pt x="707" y="250"/>
                  <a:pt x="707" y="250"/>
                  <a:pt x="707" y="250"/>
                </a:cubicBezTo>
                <a:cubicBezTo>
                  <a:pt x="707" y="246"/>
                  <a:pt x="706" y="241"/>
                  <a:pt x="705" y="236"/>
                </a:cubicBezTo>
                <a:moveTo>
                  <a:pt x="793" y="214"/>
                </a:moveTo>
                <a:cubicBezTo>
                  <a:pt x="734" y="214"/>
                  <a:pt x="734" y="214"/>
                  <a:pt x="734" y="214"/>
                </a:cubicBezTo>
                <a:cubicBezTo>
                  <a:pt x="735" y="215"/>
                  <a:pt x="735" y="216"/>
                  <a:pt x="736" y="217"/>
                </a:cubicBezTo>
                <a:cubicBezTo>
                  <a:pt x="748" y="231"/>
                  <a:pt x="778" y="235"/>
                  <a:pt x="793" y="214"/>
                </a:cubicBezTo>
                <a:moveTo>
                  <a:pt x="783" y="250"/>
                </a:moveTo>
                <a:cubicBezTo>
                  <a:pt x="816" y="250"/>
                  <a:pt x="816" y="250"/>
                  <a:pt x="816" y="250"/>
                </a:cubicBezTo>
                <a:cubicBezTo>
                  <a:pt x="818" y="245"/>
                  <a:pt x="820" y="241"/>
                  <a:pt x="821" y="236"/>
                </a:cubicBezTo>
                <a:cubicBezTo>
                  <a:pt x="790" y="236"/>
                  <a:pt x="790" y="236"/>
                  <a:pt x="790" y="236"/>
                </a:cubicBezTo>
                <a:cubicBezTo>
                  <a:pt x="788" y="241"/>
                  <a:pt x="786" y="245"/>
                  <a:pt x="783" y="250"/>
                </a:cubicBezTo>
                <a:moveTo>
                  <a:pt x="828" y="96"/>
                </a:moveTo>
                <a:cubicBezTo>
                  <a:pt x="825" y="65"/>
                  <a:pt x="795" y="73"/>
                  <a:pt x="794" y="97"/>
                </a:cubicBezTo>
                <a:cubicBezTo>
                  <a:pt x="793" y="113"/>
                  <a:pt x="789" y="175"/>
                  <a:pt x="770" y="188"/>
                </a:cubicBezTo>
                <a:cubicBezTo>
                  <a:pt x="831" y="188"/>
                  <a:pt x="831" y="188"/>
                  <a:pt x="831" y="188"/>
                </a:cubicBezTo>
                <a:cubicBezTo>
                  <a:pt x="834" y="157"/>
                  <a:pt x="832" y="123"/>
                  <a:pt x="828" y="96"/>
                </a:cubicBezTo>
                <a:moveTo>
                  <a:pt x="690" y="282"/>
                </a:moveTo>
                <a:cubicBezTo>
                  <a:pt x="685" y="284"/>
                  <a:pt x="682" y="287"/>
                  <a:pt x="680" y="290"/>
                </a:cubicBezTo>
                <a:cubicBezTo>
                  <a:pt x="786" y="290"/>
                  <a:pt x="786" y="290"/>
                  <a:pt x="786" y="290"/>
                </a:cubicBezTo>
                <a:cubicBezTo>
                  <a:pt x="789" y="287"/>
                  <a:pt x="793" y="284"/>
                  <a:pt x="796" y="281"/>
                </a:cubicBezTo>
                <a:cubicBezTo>
                  <a:pt x="747" y="281"/>
                  <a:pt x="747" y="281"/>
                  <a:pt x="747" y="281"/>
                </a:cubicBezTo>
                <a:cubicBezTo>
                  <a:pt x="724" y="289"/>
                  <a:pt x="705" y="278"/>
                  <a:pt x="690" y="282"/>
                </a:cubicBezTo>
                <a:moveTo>
                  <a:pt x="767" y="270"/>
                </a:moveTo>
                <a:cubicBezTo>
                  <a:pt x="805" y="270"/>
                  <a:pt x="805" y="270"/>
                  <a:pt x="805" y="270"/>
                </a:cubicBezTo>
                <a:cubicBezTo>
                  <a:pt x="807" y="266"/>
                  <a:pt x="809" y="263"/>
                  <a:pt x="811" y="259"/>
                </a:cubicBezTo>
                <a:cubicBezTo>
                  <a:pt x="777" y="259"/>
                  <a:pt x="777" y="259"/>
                  <a:pt x="777" y="259"/>
                </a:cubicBezTo>
                <a:cubicBezTo>
                  <a:pt x="774" y="263"/>
                  <a:pt x="770" y="267"/>
                  <a:pt x="767" y="270"/>
                </a:cubicBezTo>
                <a:moveTo>
                  <a:pt x="757" y="188"/>
                </a:moveTo>
                <a:cubicBezTo>
                  <a:pt x="743" y="174"/>
                  <a:pt x="742" y="105"/>
                  <a:pt x="715" y="110"/>
                </a:cubicBezTo>
                <a:cubicBezTo>
                  <a:pt x="699" y="114"/>
                  <a:pt x="701" y="153"/>
                  <a:pt x="718" y="188"/>
                </a:cubicBezTo>
                <a:lnTo>
                  <a:pt x="757" y="188"/>
                </a:lnTo>
                <a:close/>
                <a:moveTo>
                  <a:pt x="697" y="314"/>
                </a:moveTo>
                <a:cubicBezTo>
                  <a:pt x="724" y="315"/>
                  <a:pt x="747" y="312"/>
                  <a:pt x="764" y="304"/>
                </a:cubicBezTo>
                <a:cubicBezTo>
                  <a:pt x="680" y="304"/>
                  <a:pt x="680" y="304"/>
                  <a:pt x="680" y="304"/>
                </a:cubicBezTo>
                <a:cubicBezTo>
                  <a:pt x="683" y="309"/>
                  <a:pt x="688" y="313"/>
                  <a:pt x="697" y="314"/>
                </a:cubicBezTo>
                <a:moveTo>
                  <a:pt x="793" y="229"/>
                </a:moveTo>
                <a:cubicBezTo>
                  <a:pt x="823" y="229"/>
                  <a:pt x="823" y="229"/>
                  <a:pt x="823" y="229"/>
                </a:cubicBezTo>
                <a:cubicBezTo>
                  <a:pt x="825" y="224"/>
                  <a:pt x="826" y="219"/>
                  <a:pt x="827" y="214"/>
                </a:cubicBezTo>
                <a:cubicBezTo>
                  <a:pt x="798" y="214"/>
                  <a:pt x="798" y="214"/>
                  <a:pt x="798" y="214"/>
                </a:cubicBezTo>
                <a:cubicBezTo>
                  <a:pt x="797" y="219"/>
                  <a:pt x="795" y="224"/>
                  <a:pt x="793" y="229"/>
                </a:cubicBezTo>
                <a:moveTo>
                  <a:pt x="730" y="209"/>
                </a:moveTo>
                <a:cubicBezTo>
                  <a:pt x="796" y="209"/>
                  <a:pt x="796" y="209"/>
                  <a:pt x="796" y="209"/>
                </a:cubicBezTo>
                <a:cubicBezTo>
                  <a:pt x="798" y="206"/>
                  <a:pt x="799" y="203"/>
                  <a:pt x="800" y="200"/>
                </a:cubicBezTo>
                <a:cubicBezTo>
                  <a:pt x="800" y="203"/>
                  <a:pt x="799" y="206"/>
                  <a:pt x="799" y="209"/>
                </a:cubicBezTo>
                <a:cubicBezTo>
                  <a:pt x="828" y="209"/>
                  <a:pt x="828" y="209"/>
                  <a:pt x="828" y="209"/>
                </a:cubicBezTo>
                <a:cubicBezTo>
                  <a:pt x="829" y="203"/>
                  <a:pt x="830" y="197"/>
                  <a:pt x="831" y="192"/>
                </a:cubicBezTo>
                <a:cubicBezTo>
                  <a:pt x="720" y="192"/>
                  <a:pt x="720" y="192"/>
                  <a:pt x="720" y="192"/>
                </a:cubicBezTo>
                <a:cubicBezTo>
                  <a:pt x="723" y="198"/>
                  <a:pt x="726" y="203"/>
                  <a:pt x="730" y="209"/>
                </a:cubicBezTo>
                <a:moveTo>
                  <a:pt x="1057" y="230"/>
                </a:moveTo>
                <a:cubicBezTo>
                  <a:pt x="1122" y="230"/>
                  <a:pt x="1122" y="230"/>
                  <a:pt x="1122" y="230"/>
                </a:cubicBezTo>
                <a:cubicBezTo>
                  <a:pt x="1124" y="225"/>
                  <a:pt x="1125" y="220"/>
                  <a:pt x="1127" y="215"/>
                </a:cubicBezTo>
                <a:cubicBezTo>
                  <a:pt x="1054" y="215"/>
                  <a:pt x="1054" y="215"/>
                  <a:pt x="1054" y="215"/>
                </a:cubicBezTo>
                <a:cubicBezTo>
                  <a:pt x="1055" y="220"/>
                  <a:pt x="1056" y="225"/>
                  <a:pt x="1057" y="230"/>
                </a:cubicBezTo>
                <a:moveTo>
                  <a:pt x="1082" y="201"/>
                </a:moveTo>
                <a:cubicBezTo>
                  <a:pt x="1078" y="201"/>
                  <a:pt x="1076" y="198"/>
                  <a:pt x="1074" y="192"/>
                </a:cubicBezTo>
                <a:cubicBezTo>
                  <a:pt x="1050" y="192"/>
                  <a:pt x="1050" y="192"/>
                  <a:pt x="1050" y="192"/>
                </a:cubicBezTo>
                <a:cubicBezTo>
                  <a:pt x="1051" y="197"/>
                  <a:pt x="1052" y="203"/>
                  <a:pt x="1053" y="209"/>
                </a:cubicBezTo>
                <a:cubicBezTo>
                  <a:pt x="1128" y="209"/>
                  <a:pt x="1128" y="209"/>
                  <a:pt x="1128" y="209"/>
                </a:cubicBezTo>
                <a:cubicBezTo>
                  <a:pt x="1129" y="204"/>
                  <a:pt x="1131" y="198"/>
                  <a:pt x="1132" y="192"/>
                </a:cubicBezTo>
                <a:cubicBezTo>
                  <a:pt x="1094" y="192"/>
                  <a:pt x="1094" y="192"/>
                  <a:pt x="1094" y="192"/>
                </a:cubicBezTo>
                <a:cubicBezTo>
                  <a:pt x="1091" y="198"/>
                  <a:pt x="1087" y="201"/>
                  <a:pt x="1082" y="201"/>
                </a:cubicBezTo>
                <a:moveTo>
                  <a:pt x="1063" y="250"/>
                </a:moveTo>
                <a:cubicBezTo>
                  <a:pt x="1114" y="250"/>
                  <a:pt x="1114" y="250"/>
                  <a:pt x="1114" y="250"/>
                </a:cubicBezTo>
                <a:cubicBezTo>
                  <a:pt x="1116" y="246"/>
                  <a:pt x="1118" y="242"/>
                  <a:pt x="1120" y="237"/>
                </a:cubicBezTo>
                <a:cubicBezTo>
                  <a:pt x="1059" y="237"/>
                  <a:pt x="1059" y="237"/>
                  <a:pt x="1059" y="237"/>
                </a:cubicBezTo>
                <a:cubicBezTo>
                  <a:pt x="1060" y="242"/>
                  <a:pt x="1061" y="246"/>
                  <a:pt x="1063" y="250"/>
                </a:cubicBezTo>
                <a:moveTo>
                  <a:pt x="1156" y="81"/>
                </a:moveTo>
                <a:cubicBezTo>
                  <a:pt x="1141" y="75"/>
                  <a:pt x="1131" y="83"/>
                  <a:pt x="1120" y="99"/>
                </a:cubicBezTo>
                <a:cubicBezTo>
                  <a:pt x="1104" y="124"/>
                  <a:pt x="1104" y="168"/>
                  <a:pt x="1096" y="189"/>
                </a:cubicBezTo>
                <a:cubicBezTo>
                  <a:pt x="1133" y="189"/>
                  <a:pt x="1133" y="189"/>
                  <a:pt x="1133" y="189"/>
                </a:cubicBezTo>
                <a:cubicBezTo>
                  <a:pt x="1136" y="175"/>
                  <a:pt x="1140" y="161"/>
                  <a:pt x="1145" y="149"/>
                </a:cubicBezTo>
                <a:cubicBezTo>
                  <a:pt x="1159" y="112"/>
                  <a:pt x="1173" y="88"/>
                  <a:pt x="1156" y="81"/>
                </a:cubicBezTo>
                <a:moveTo>
                  <a:pt x="975" y="229"/>
                </a:moveTo>
                <a:cubicBezTo>
                  <a:pt x="994" y="231"/>
                  <a:pt x="1006" y="224"/>
                  <a:pt x="1015" y="215"/>
                </a:cubicBezTo>
                <a:cubicBezTo>
                  <a:pt x="952" y="215"/>
                  <a:pt x="952" y="215"/>
                  <a:pt x="952" y="215"/>
                </a:cubicBezTo>
                <a:cubicBezTo>
                  <a:pt x="957" y="222"/>
                  <a:pt x="965" y="228"/>
                  <a:pt x="975" y="229"/>
                </a:cubicBezTo>
                <a:moveTo>
                  <a:pt x="948" y="209"/>
                </a:moveTo>
                <a:cubicBezTo>
                  <a:pt x="1019" y="209"/>
                  <a:pt x="1019" y="209"/>
                  <a:pt x="1019" y="209"/>
                </a:cubicBezTo>
                <a:cubicBezTo>
                  <a:pt x="1024" y="204"/>
                  <a:pt x="1027" y="197"/>
                  <a:pt x="1031" y="192"/>
                </a:cubicBezTo>
                <a:cubicBezTo>
                  <a:pt x="941" y="192"/>
                  <a:pt x="941" y="192"/>
                  <a:pt x="941" y="192"/>
                </a:cubicBezTo>
                <a:cubicBezTo>
                  <a:pt x="943" y="199"/>
                  <a:pt x="945" y="204"/>
                  <a:pt x="948" y="209"/>
                </a:cubicBezTo>
                <a:moveTo>
                  <a:pt x="1092" y="271"/>
                </a:moveTo>
                <a:cubicBezTo>
                  <a:pt x="1099" y="270"/>
                  <a:pt x="1104" y="265"/>
                  <a:pt x="1109" y="259"/>
                </a:cubicBezTo>
                <a:cubicBezTo>
                  <a:pt x="1067" y="259"/>
                  <a:pt x="1067" y="259"/>
                  <a:pt x="1067" y="259"/>
                </a:cubicBezTo>
                <a:cubicBezTo>
                  <a:pt x="1073" y="268"/>
                  <a:pt x="1081" y="273"/>
                  <a:pt x="1092" y="271"/>
                </a:cubicBezTo>
                <a:moveTo>
                  <a:pt x="1044" y="122"/>
                </a:moveTo>
                <a:cubicBezTo>
                  <a:pt x="1020" y="124"/>
                  <a:pt x="1004" y="181"/>
                  <a:pt x="984" y="178"/>
                </a:cubicBezTo>
                <a:cubicBezTo>
                  <a:pt x="954" y="174"/>
                  <a:pt x="989" y="97"/>
                  <a:pt x="963" y="70"/>
                </a:cubicBezTo>
                <a:cubicBezTo>
                  <a:pt x="941" y="48"/>
                  <a:pt x="913" y="63"/>
                  <a:pt x="924" y="106"/>
                </a:cubicBezTo>
                <a:cubicBezTo>
                  <a:pt x="931" y="133"/>
                  <a:pt x="933" y="165"/>
                  <a:pt x="940" y="189"/>
                </a:cubicBezTo>
                <a:cubicBezTo>
                  <a:pt x="1033" y="189"/>
                  <a:pt x="1033" y="189"/>
                  <a:pt x="1033" y="189"/>
                </a:cubicBezTo>
                <a:cubicBezTo>
                  <a:pt x="1036" y="183"/>
                  <a:pt x="1040" y="180"/>
                  <a:pt x="1044" y="181"/>
                </a:cubicBezTo>
                <a:cubicBezTo>
                  <a:pt x="1046" y="181"/>
                  <a:pt x="1048" y="184"/>
                  <a:pt x="1049" y="189"/>
                </a:cubicBezTo>
                <a:cubicBezTo>
                  <a:pt x="1074" y="189"/>
                  <a:pt x="1074" y="189"/>
                  <a:pt x="1074" y="189"/>
                </a:cubicBezTo>
                <a:cubicBezTo>
                  <a:pt x="1069" y="166"/>
                  <a:pt x="1071" y="120"/>
                  <a:pt x="1044" y="122"/>
                </a:cubicBezTo>
                <a:moveTo>
                  <a:pt x="1257" y="215"/>
                </a:moveTo>
                <a:cubicBezTo>
                  <a:pt x="1197" y="215"/>
                  <a:pt x="1197" y="215"/>
                  <a:pt x="1197" y="215"/>
                </a:cubicBezTo>
                <a:cubicBezTo>
                  <a:pt x="1193" y="221"/>
                  <a:pt x="1189" y="226"/>
                  <a:pt x="1185" y="230"/>
                </a:cubicBezTo>
                <a:cubicBezTo>
                  <a:pt x="1215" y="230"/>
                  <a:pt x="1215" y="230"/>
                  <a:pt x="1215" y="230"/>
                </a:cubicBezTo>
                <a:cubicBezTo>
                  <a:pt x="1217" y="226"/>
                  <a:pt x="1218" y="223"/>
                  <a:pt x="1219" y="221"/>
                </a:cubicBezTo>
                <a:cubicBezTo>
                  <a:pt x="1220" y="224"/>
                  <a:pt x="1222" y="227"/>
                  <a:pt x="1223" y="230"/>
                </a:cubicBezTo>
                <a:cubicBezTo>
                  <a:pt x="1267" y="230"/>
                  <a:pt x="1267" y="230"/>
                  <a:pt x="1267" y="230"/>
                </a:cubicBezTo>
                <a:cubicBezTo>
                  <a:pt x="1263" y="223"/>
                  <a:pt x="1260" y="219"/>
                  <a:pt x="1257" y="215"/>
                </a:cubicBezTo>
                <a:moveTo>
                  <a:pt x="1168" y="226"/>
                </a:moveTo>
                <a:cubicBezTo>
                  <a:pt x="1168" y="223"/>
                  <a:pt x="1168" y="219"/>
                  <a:pt x="1168" y="215"/>
                </a:cubicBezTo>
                <a:cubicBezTo>
                  <a:pt x="1142" y="215"/>
                  <a:pt x="1142" y="215"/>
                  <a:pt x="1142" y="215"/>
                </a:cubicBezTo>
                <a:cubicBezTo>
                  <a:pt x="1141" y="220"/>
                  <a:pt x="1140" y="225"/>
                  <a:pt x="1139" y="230"/>
                </a:cubicBezTo>
                <a:cubicBezTo>
                  <a:pt x="1169" y="230"/>
                  <a:pt x="1169" y="230"/>
                  <a:pt x="1169" y="230"/>
                </a:cubicBezTo>
                <a:cubicBezTo>
                  <a:pt x="1169" y="229"/>
                  <a:pt x="1168" y="227"/>
                  <a:pt x="1168" y="226"/>
                </a:cubicBezTo>
                <a:moveTo>
                  <a:pt x="1174" y="192"/>
                </a:moveTo>
                <a:cubicBezTo>
                  <a:pt x="1148" y="192"/>
                  <a:pt x="1148" y="192"/>
                  <a:pt x="1148" y="192"/>
                </a:cubicBezTo>
                <a:cubicBezTo>
                  <a:pt x="1146" y="198"/>
                  <a:pt x="1144" y="204"/>
                  <a:pt x="1143" y="209"/>
                </a:cubicBezTo>
                <a:cubicBezTo>
                  <a:pt x="1169" y="209"/>
                  <a:pt x="1169" y="209"/>
                  <a:pt x="1169" y="209"/>
                </a:cubicBezTo>
                <a:cubicBezTo>
                  <a:pt x="1170" y="204"/>
                  <a:pt x="1172" y="198"/>
                  <a:pt x="1174" y="192"/>
                </a:cubicBezTo>
                <a:moveTo>
                  <a:pt x="1213" y="169"/>
                </a:moveTo>
                <a:cubicBezTo>
                  <a:pt x="1214" y="173"/>
                  <a:pt x="1213" y="181"/>
                  <a:pt x="1210" y="189"/>
                </a:cubicBezTo>
                <a:cubicBezTo>
                  <a:pt x="1250" y="189"/>
                  <a:pt x="1250" y="189"/>
                  <a:pt x="1250" y="189"/>
                </a:cubicBezTo>
                <a:cubicBezTo>
                  <a:pt x="1248" y="168"/>
                  <a:pt x="1255" y="147"/>
                  <a:pt x="1241" y="139"/>
                </a:cubicBezTo>
                <a:cubicBezTo>
                  <a:pt x="1200" y="113"/>
                  <a:pt x="1165" y="148"/>
                  <a:pt x="1149" y="189"/>
                </a:cubicBezTo>
                <a:cubicBezTo>
                  <a:pt x="1175" y="189"/>
                  <a:pt x="1175" y="189"/>
                  <a:pt x="1175" y="189"/>
                </a:cubicBezTo>
                <a:cubicBezTo>
                  <a:pt x="1183" y="169"/>
                  <a:pt x="1197" y="153"/>
                  <a:pt x="1213" y="169"/>
                </a:cubicBezTo>
                <a:moveTo>
                  <a:pt x="1164" y="275"/>
                </a:moveTo>
                <a:cubicBezTo>
                  <a:pt x="1175" y="275"/>
                  <a:pt x="1186" y="268"/>
                  <a:pt x="1195" y="259"/>
                </a:cubicBezTo>
                <a:cubicBezTo>
                  <a:pt x="1143" y="259"/>
                  <a:pt x="1143" y="259"/>
                  <a:pt x="1143" y="259"/>
                </a:cubicBezTo>
                <a:cubicBezTo>
                  <a:pt x="1146" y="269"/>
                  <a:pt x="1153" y="275"/>
                  <a:pt x="1164" y="275"/>
                </a:cubicBezTo>
                <a:moveTo>
                  <a:pt x="1272" y="237"/>
                </a:moveTo>
                <a:cubicBezTo>
                  <a:pt x="1226" y="237"/>
                  <a:pt x="1226" y="237"/>
                  <a:pt x="1226" y="237"/>
                </a:cubicBezTo>
                <a:cubicBezTo>
                  <a:pt x="1234" y="252"/>
                  <a:pt x="1243" y="255"/>
                  <a:pt x="1258" y="255"/>
                </a:cubicBezTo>
                <a:cubicBezTo>
                  <a:pt x="1268" y="255"/>
                  <a:pt x="1277" y="247"/>
                  <a:pt x="1272" y="237"/>
                </a:cubicBezTo>
                <a:moveTo>
                  <a:pt x="1140" y="250"/>
                </a:moveTo>
                <a:cubicBezTo>
                  <a:pt x="1203" y="250"/>
                  <a:pt x="1203" y="250"/>
                  <a:pt x="1203" y="250"/>
                </a:cubicBezTo>
                <a:cubicBezTo>
                  <a:pt x="1206" y="246"/>
                  <a:pt x="1209" y="241"/>
                  <a:pt x="1211" y="237"/>
                </a:cubicBezTo>
                <a:cubicBezTo>
                  <a:pt x="1139" y="237"/>
                  <a:pt x="1139" y="237"/>
                  <a:pt x="1139" y="237"/>
                </a:cubicBezTo>
                <a:cubicBezTo>
                  <a:pt x="1139" y="242"/>
                  <a:pt x="1139" y="246"/>
                  <a:pt x="1140" y="250"/>
                </a:cubicBezTo>
                <a:moveTo>
                  <a:pt x="1200" y="209"/>
                </a:moveTo>
                <a:cubicBezTo>
                  <a:pt x="1255" y="209"/>
                  <a:pt x="1255" y="209"/>
                  <a:pt x="1255" y="209"/>
                </a:cubicBezTo>
                <a:cubicBezTo>
                  <a:pt x="1252" y="204"/>
                  <a:pt x="1251" y="198"/>
                  <a:pt x="1250" y="192"/>
                </a:cubicBezTo>
                <a:cubicBezTo>
                  <a:pt x="1208" y="192"/>
                  <a:pt x="1208" y="192"/>
                  <a:pt x="1208" y="192"/>
                </a:cubicBezTo>
                <a:cubicBezTo>
                  <a:pt x="1206" y="198"/>
                  <a:pt x="1203" y="204"/>
                  <a:pt x="1200" y="209"/>
                </a:cubicBezTo>
                <a:moveTo>
                  <a:pt x="1336" y="228"/>
                </a:moveTo>
                <a:cubicBezTo>
                  <a:pt x="1332" y="224"/>
                  <a:pt x="1329" y="220"/>
                  <a:pt x="1326" y="215"/>
                </a:cubicBezTo>
                <a:cubicBezTo>
                  <a:pt x="1288" y="215"/>
                  <a:pt x="1288" y="215"/>
                  <a:pt x="1288" y="215"/>
                </a:cubicBezTo>
                <a:cubicBezTo>
                  <a:pt x="1289" y="220"/>
                  <a:pt x="1291" y="225"/>
                  <a:pt x="1292" y="230"/>
                </a:cubicBezTo>
                <a:cubicBezTo>
                  <a:pt x="1338" y="230"/>
                  <a:pt x="1338" y="230"/>
                  <a:pt x="1338" y="230"/>
                </a:cubicBezTo>
                <a:cubicBezTo>
                  <a:pt x="1337" y="229"/>
                  <a:pt x="1336" y="228"/>
                  <a:pt x="1336" y="228"/>
                </a:cubicBezTo>
                <a:moveTo>
                  <a:pt x="1349" y="237"/>
                </a:moveTo>
                <a:cubicBezTo>
                  <a:pt x="1295" y="237"/>
                  <a:pt x="1295" y="237"/>
                  <a:pt x="1295" y="237"/>
                </a:cubicBezTo>
                <a:cubicBezTo>
                  <a:pt x="1297" y="242"/>
                  <a:pt x="1300" y="246"/>
                  <a:pt x="1303" y="250"/>
                </a:cubicBezTo>
                <a:cubicBezTo>
                  <a:pt x="1367" y="250"/>
                  <a:pt x="1367" y="250"/>
                  <a:pt x="1367" y="250"/>
                </a:cubicBezTo>
                <a:cubicBezTo>
                  <a:pt x="1363" y="242"/>
                  <a:pt x="1357" y="241"/>
                  <a:pt x="1349" y="237"/>
                </a:cubicBezTo>
                <a:moveTo>
                  <a:pt x="1380" y="110"/>
                </a:moveTo>
                <a:cubicBezTo>
                  <a:pt x="1368" y="108"/>
                  <a:pt x="1340" y="112"/>
                  <a:pt x="1338" y="101"/>
                </a:cubicBezTo>
                <a:cubicBezTo>
                  <a:pt x="1336" y="92"/>
                  <a:pt x="1355" y="58"/>
                  <a:pt x="1329" y="58"/>
                </a:cubicBezTo>
                <a:cubicBezTo>
                  <a:pt x="1311" y="58"/>
                  <a:pt x="1282" y="103"/>
                  <a:pt x="1284" y="173"/>
                </a:cubicBezTo>
                <a:cubicBezTo>
                  <a:pt x="1284" y="178"/>
                  <a:pt x="1284" y="184"/>
                  <a:pt x="1285" y="189"/>
                </a:cubicBezTo>
                <a:cubicBezTo>
                  <a:pt x="1319" y="189"/>
                  <a:pt x="1319" y="189"/>
                  <a:pt x="1319" y="189"/>
                </a:cubicBezTo>
                <a:cubicBezTo>
                  <a:pt x="1316" y="168"/>
                  <a:pt x="1320" y="146"/>
                  <a:pt x="1332" y="137"/>
                </a:cubicBezTo>
                <a:cubicBezTo>
                  <a:pt x="1342" y="130"/>
                  <a:pt x="1358" y="138"/>
                  <a:pt x="1376" y="138"/>
                </a:cubicBezTo>
                <a:cubicBezTo>
                  <a:pt x="1393" y="139"/>
                  <a:pt x="1399" y="113"/>
                  <a:pt x="1380" y="110"/>
                </a:cubicBezTo>
                <a:moveTo>
                  <a:pt x="1330" y="268"/>
                </a:moveTo>
                <a:cubicBezTo>
                  <a:pt x="1355" y="275"/>
                  <a:pt x="1366" y="268"/>
                  <a:pt x="1368" y="259"/>
                </a:cubicBezTo>
                <a:cubicBezTo>
                  <a:pt x="1312" y="259"/>
                  <a:pt x="1312" y="259"/>
                  <a:pt x="1312" y="259"/>
                </a:cubicBezTo>
                <a:cubicBezTo>
                  <a:pt x="1317" y="263"/>
                  <a:pt x="1323" y="266"/>
                  <a:pt x="1330" y="268"/>
                </a:cubicBezTo>
                <a:moveTo>
                  <a:pt x="1319" y="192"/>
                </a:moveTo>
                <a:cubicBezTo>
                  <a:pt x="1285" y="192"/>
                  <a:pt x="1285" y="192"/>
                  <a:pt x="1285" y="192"/>
                </a:cubicBezTo>
                <a:cubicBezTo>
                  <a:pt x="1286" y="198"/>
                  <a:pt x="1286" y="204"/>
                  <a:pt x="1287" y="209"/>
                </a:cubicBezTo>
                <a:cubicBezTo>
                  <a:pt x="1324" y="209"/>
                  <a:pt x="1324" y="209"/>
                  <a:pt x="1324" y="209"/>
                </a:cubicBezTo>
                <a:cubicBezTo>
                  <a:pt x="1322" y="204"/>
                  <a:pt x="1320" y="198"/>
                  <a:pt x="1319" y="192"/>
                </a:cubicBezTo>
                <a:moveTo>
                  <a:pt x="1411" y="204"/>
                </a:moveTo>
                <a:cubicBezTo>
                  <a:pt x="1420" y="197"/>
                  <a:pt x="1433" y="204"/>
                  <a:pt x="1452" y="200"/>
                </a:cubicBezTo>
                <a:cubicBezTo>
                  <a:pt x="1460" y="199"/>
                  <a:pt x="1466" y="196"/>
                  <a:pt x="1472" y="192"/>
                </a:cubicBezTo>
                <a:cubicBezTo>
                  <a:pt x="1375" y="192"/>
                  <a:pt x="1375" y="192"/>
                  <a:pt x="1375" y="192"/>
                </a:cubicBezTo>
                <a:cubicBezTo>
                  <a:pt x="1374" y="198"/>
                  <a:pt x="1374" y="204"/>
                  <a:pt x="1374" y="209"/>
                </a:cubicBezTo>
                <a:cubicBezTo>
                  <a:pt x="1406" y="209"/>
                  <a:pt x="1406" y="209"/>
                  <a:pt x="1406" y="209"/>
                </a:cubicBezTo>
                <a:cubicBezTo>
                  <a:pt x="1407" y="207"/>
                  <a:pt x="1409" y="205"/>
                  <a:pt x="1411" y="204"/>
                </a:cubicBezTo>
                <a:moveTo>
                  <a:pt x="1487" y="178"/>
                </a:moveTo>
                <a:cubicBezTo>
                  <a:pt x="1510" y="150"/>
                  <a:pt x="1482" y="112"/>
                  <a:pt x="1450" y="115"/>
                </a:cubicBezTo>
                <a:cubicBezTo>
                  <a:pt x="1410" y="119"/>
                  <a:pt x="1382" y="153"/>
                  <a:pt x="1375" y="189"/>
                </a:cubicBezTo>
                <a:cubicBezTo>
                  <a:pt x="1476" y="189"/>
                  <a:pt x="1476" y="189"/>
                  <a:pt x="1476" y="189"/>
                </a:cubicBezTo>
                <a:cubicBezTo>
                  <a:pt x="1480" y="186"/>
                  <a:pt x="1483" y="182"/>
                  <a:pt x="1487" y="178"/>
                </a:cubicBezTo>
                <a:moveTo>
                  <a:pt x="1447" y="177"/>
                </a:moveTo>
                <a:cubicBezTo>
                  <a:pt x="1434" y="183"/>
                  <a:pt x="1412" y="185"/>
                  <a:pt x="1410" y="173"/>
                </a:cubicBezTo>
                <a:cubicBezTo>
                  <a:pt x="1407" y="154"/>
                  <a:pt x="1463" y="136"/>
                  <a:pt x="1466" y="154"/>
                </a:cubicBezTo>
                <a:cubicBezTo>
                  <a:pt x="1468" y="162"/>
                  <a:pt x="1459" y="173"/>
                  <a:pt x="1447" y="177"/>
                </a:cubicBezTo>
                <a:moveTo>
                  <a:pt x="1404" y="215"/>
                </a:moveTo>
                <a:cubicBezTo>
                  <a:pt x="1374" y="215"/>
                  <a:pt x="1374" y="215"/>
                  <a:pt x="1374" y="215"/>
                </a:cubicBezTo>
                <a:cubicBezTo>
                  <a:pt x="1375" y="220"/>
                  <a:pt x="1376" y="225"/>
                  <a:pt x="1377" y="230"/>
                </a:cubicBezTo>
                <a:cubicBezTo>
                  <a:pt x="1407" y="230"/>
                  <a:pt x="1407" y="230"/>
                  <a:pt x="1407" y="230"/>
                </a:cubicBezTo>
                <a:cubicBezTo>
                  <a:pt x="1404" y="225"/>
                  <a:pt x="1403" y="220"/>
                  <a:pt x="1404" y="215"/>
                </a:cubicBezTo>
                <a:moveTo>
                  <a:pt x="1450" y="272"/>
                </a:moveTo>
                <a:cubicBezTo>
                  <a:pt x="1456" y="271"/>
                  <a:pt x="1469" y="266"/>
                  <a:pt x="1480" y="259"/>
                </a:cubicBezTo>
                <a:cubicBezTo>
                  <a:pt x="1397" y="259"/>
                  <a:pt x="1397" y="259"/>
                  <a:pt x="1397" y="259"/>
                </a:cubicBezTo>
                <a:cubicBezTo>
                  <a:pt x="1412" y="271"/>
                  <a:pt x="1433" y="276"/>
                  <a:pt x="1450" y="272"/>
                </a:cubicBezTo>
                <a:moveTo>
                  <a:pt x="1477" y="220"/>
                </a:moveTo>
                <a:cubicBezTo>
                  <a:pt x="1472" y="222"/>
                  <a:pt x="1468" y="226"/>
                  <a:pt x="1463" y="230"/>
                </a:cubicBezTo>
                <a:cubicBezTo>
                  <a:pt x="1498" y="230"/>
                  <a:pt x="1498" y="230"/>
                  <a:pt x="1498" y="230"/>
                </a:cubicBezTo>
                <a:cubicBezTo>
                  <a:pt x="1494" y="220"/>
                  <a:pt x="1486" y="217"/>
                  <a:pt x="1477" y="220"/>
                </a:cubicBezTo>
                <a:moveTo>
                  <a:pt x="1452" y="237"/>
                </a:moveTo>
                <a:cubicBezTo>
                  <a:pt x="1449" y="238"/>
                  <a:pt x="1446" y="239"/>
                  <a:pt x="1442" y="239"/>
                </a:cubicBezTo>
                <a:cubicBezTo>
                  <a:pt x="1434" y="240"/>
                  <a:pt x="1424" y="240"/>
                  <a:pt x="1416" y="237"/>
                </a:cubicBezTo>
                <a:cubicBezTo>
                  <a:pt x="1380" y="237"/>
                  <a:pt x="1380" y="237"/>
                  <a:pt x="1380" y="237"/>
                </a:cubicBezTo>
                <a:cubicBezTo>
                  <a:pt x="1382" y="242"/>
                  <a:pt x="1385" y="246"/>
                  <a:pt x="1388" y="250"/>
                </a:cubicBezTo>
                <a:cubicBezTo>
                  <a:pt x="1492" y="250"/>
                  <a:pt x="1492" y="250"/>
                  <a:pt x="1492" y="250"/>
                </a:cubicBezTo>
                <a:cubicBezTo>
                  <a:pt x="1496" y="246"/>
                  <a:pt x="1499" y="242"/>
                  <a:pt x="1499" y="237"/>
                </a:cubicBezTo>
                <a:lnTo>
                  <a:pt x="1452" y="237"/>
                </a:lnTo>
                <a:close/>
                <a:moveTo>
                  <a:pt x="1508" y="124"/>
                </a:moveTo>
                <a:cubicBezTo>
                  <a:pt x="1506" y="134"/>
                  <a:pt x="1507" y="163"/>
                  <a:pt x="1512" y="189"/>
                </a:cubicBezTo>
                <a:cubicBezTo>
                  <a:pt x="1555" y="189"/>
                  <a:pt x="1555" y="189"/>
                  <a:pt x="1555" y="189"/>
                </a:cubicBezTo>
                <a:cubicBezTo>
                  <a:pt x="1549" y="172"/>
                  <a:pt x="1538" y="160"/>
                  <a:pt x="1539" y="141"/>
                </a:cubicBezTo>
                <a:cubicBezTo>
                  <a:pt x="1542" y="73"/>
                  <a:pt x="1608" y="154"/>
                  <a:pt x="1613" y="109"/>
                </a:cubicBezTo>
                <a:cubicBezTo>
                  <a:pt x="1619" y="61"/>
                  <a:pt x="1518" y="71"/>
                  <a:pt x="1508" y="124"/>
                </a:cubicBezTo>
                <a:moveTo>
                  <a:pt x="1539" y="235"/>
                </a:moveTo>
                <a:cubicBezTo>
                  <a:pt x="1555" y="236"/>
                  <a:pt x="1558" y="227"/>
                  <a:pt x="1559" y="215"/>
                </a:cubicBezTo>
                <a:cubicBezTo>
                  <a:pt x="1519" y="215"/>
                  <a:pt x="1519" y="215"/>
                  <a:pt x="1519" y="215"/>
                </a:cubicBezTo>
                <a:cubicBezTo>
                  <a:pt x="1524" y="227"/>
                  <a:pt x="1530" y="235"/>
                  <a:pt x="1539" y="235"/>
                </a:cubicBezTo>
                <a:moveTo>
                  <a:pt x="1558" y="205"/>
                </a:moveTo>
                <a:cubicBezTo>
                  <a:pt x="1558" y="200"/>
                  <a:pt x="1557" y="196"/>
                  <a:pt x="1556" y="192"/>
                </a:cubicBezTo>
                <a:cubicBezTo>
                  <a:pt x="1512" y="192"/>
                  <a:pt x="1512" y="192"/>
                  <a:pt x="1512" y="192"/>
                </a:cubicBezTo>
                <a:cubicBezTo>
                  <a:pt x="1513" y="198"/>
                  <a:pt x="1515" y="204"/>
                  <a:pt x="1517" y="209"/>
                </a:cubicBezTo>
                <a:cubicBezTo>
                  <a:pt x="1558" y="209"/>
                  <a:pt x="1558" y="209"/>
                  <a:pt x="1558" y="209"/>
                </a:cubicBezTo>
                <a:cubicBezTo>
                  <a:pt x="1558" y="208"/>
                  <a:pt x="1558" y="206"/>
                  <a:pt x="1558" y="205"/>
                </a:cubicBezTo>
                <a:moveTo>
                  <a:pt x="1591" y="209"/>
                </a:moveTo>
                <a:cubicBezTo>
                  <a:pt x="1672" y="209"/>
                  <a:pt x="1672" y="209"/>
                  <a:pt x="1672" y="209"/>
                </a:cubicBezTo>
                <a:cubicBezTo>
                  <a:pt x="1675" y="203"/>
                  <a:pt x="1678" y="197"/>
                  <a:pt x="1681" y="192"/>
                </a:cubicBezTo>
                <a:cubicBezTo>
                  <a:pt x="1585" y="192"/>
                  <a:pt x="1585" y="192"/>
                  <a:pt x="1585" y="192"/>
                </a:cubicBezTo>
                <a:cubicBezTo>
                  <a:pt x="1586" y="198"/>
                  <a:pt x="1589" y="204"/>
                  <a:pt x="1591" y="209"/>
                </a:cubicBezTo>
                <a:moveTo>
                  <a:pt x="1603" y="230"/>
                </a:moveTo>
                <a:cubicBezTo>
                  <a:pt x="1659" y="230"/>
                  <a:pt x="1659" y="230"/>
                  <a:pt x="1659" y="230"/>
                </a:cubicBezTo>
                <a:cubicBezTo>
                  <a:pt x="1663" y="225"/>
                  <a:pt x="1666" y="220"/>
                  <a:pt x="1669" y="215"/>
                </a:cubicBezTo>
                <a:cubicBezTo>
                  <a:pt x="1594" y="215"/>
                  <a:pt x="1594" y="215"/>
                  <a:pt x="1594" y="215"/>
                </a:cubicBezTo>
                <a:cubicBezTo>
                  <a:pt x="1597" y="220"/>
                  <a:pt x="1600" y="225"/>
                  <a:pt x="1603" y="230"/>
                </a:cubicBezTo>
                <a:moveTo>
                  <a:pt x="1771" y="100"/>
                </a:moveTo>
                <a:cubicBezTo>
                  <a:pt x="1749" y="122"/>
                  <a:pt x="1773" y="183"/>
                  <a:pt x="1740" y="185"/>
                </a:cubicBezTo>
                <a:cubicBezTo>
                  <a:pt x="1720" y="187"/>
                  <a:pt x="1719" y="138"/>
                  <a:pt x="1698" y="133"/>
                </a:cubicBezTo>
                <a:cubicBezTo>
                  <a:pt x="1668" y="126"/>
                  <a:pt x="1661" y="182"/>
                  <a:pt x="1643" y="189"/>
                </a:cubicBezTo>
                <a:cubicBezTo>
                  <a:pt x="1683" y="189"/>
                  <a:pt x="1683" y="189"/>
                  <a:pt x="1683" y="189"/>
                </a:cubicBezTo>
                <a:cubicBezTo>
                  <a:pt x="1686" y="184"/>
                  <a:pt x="1689" y="181"/>
                  <a:pt x="1692" y="181"/>
                </a:cubicBezTo>
                <a:cubicBezTo>
                  <a:pt x="1696" y="180"/>
                  <a:pt x="1698" y="184"/>
                  <a:pt x="1699" y="189"/>
                </a:cubicBezTo>
                <a:cubicBezTo>
                  <a:pt x="1782" y="189"/>
                  <a:pt x="1782" y="189"/>
                  <a:pt x="1782" y="189"/>
                </a:cubicBezTo>
                <a:cubicBezTo>
                  <a:pt x="1788" y="170"/>
                  <a:pt x="1793" y="150"/>
                  <a:pt x="1801" y="135"/>
                </a:cubicBezTo>
                <a:cubicBezTo>
                  <a:pt x="1818" y="101"/>
                  <a:pt x="1793" y="78"/>
                  <a:pt x="1771" y="100"/>
                </a:cubicBezTo>
                <a:moveTo>
                  <a:pt x="1710" y="230"/>
                </a:moveTo>
                <a:cubicBezTo>
                  <a:pt x="1769" y="230"/>
                  <a:pt x="1769" y="230"/>
                  <a:pt x="1769" y="230"/>
                </a:cubicBezTo>
                <a:cubicBezTo>
                  <a:pt x="1771" y="225"/>
                  <a:pt x="1773" y="220"/>
                  <a:pt x="1775" y="215"/>
                </a:cubicBezTo>
                <a:cubicBezTo>
                  <a:pt x="1705" y="215"/>
                  <a:pt x="1705" y="215"/>
                  <a:pt x="1705" y="215"/>
                </a:cubicBezTo>
                <a:cubicBezTo>
                  <a:pt x="1706" y="220"/>
                  <a:pt x="1708" y="225"/>
                  <a:pt x="1710" y="230"/>
                </a:cubicBezTo>
                <a:moveTo>
                  <a:pt x="1743" y="253"/>
                </a:moveTo>
                <a:cubicBezTo>
                  <a:pt x="1752" y="253"/>
                  <a:pt x="1759" y="247"/>
                  <a:pt x="1765" y="237"/>
                </a:cubicBezTo>
                <a:cubicBezTo>
                  <a:pt x="1714" y="237"/>
                  <a:pt x="1714" y="237"/>
                  <a:pt x="1714" y="237"/>
                </a:cubicBezTo>
                <a:cubicBezTo>
                  <a:pt x="1720" y="246"/>
                  <a:pt x="1729" y="253"/>
                  <a:pt x="1743" y="253"/>
                </a:cubicBezTo>
                <a:moveTo>
                  <a:pt x="1625" y="246"/>
                </a:moveTo>
                <a:cubicBezTo>
                  <a:pt x="1636" y="248"/>
                  <a:pt x="1645" y="244"/>
                  <a:pt x="1652" y="237"/>
                </a:cubicBezTo>
                <a:cubicBezTo>
                  <a:pt x="1609" y="237"/>
                  <a:pt x="1609" y="237"/>
                  <a:pt x="1609" y="237"/>
                </a:cubicBezTo>
                <a:cubicBezTo>
                  <a:pt x="1614" y="242"/>
                  <a:pt x="1620" y="246"/>
                  <a:pt x="1625" y="246"/>
                </a:cubicBezTo>
                <a:moveTo>
                  <a:pt x="1704" y="209"/>
                </a:moveTo>
                <a:cubicBezTo>
                  <a:pt x="1776" y="209"/>
                  <a:pt x="1776" y="209"/>
                  <a:pt x="1776" y="209"/>
                </a:cubicBezTo>
                <a:cubicBezTo>
                  <a:pt x="1778" y="204"/>
                  <a:pt x="1780" y="198"/>
                  <a:pt x="1781" y="192"/>
                </a:cubicBezTo>
                <a:cubicBezTo>
                  <a:pt x="1700" y="192"/>
                  <a:pt x="1700" y="192"/>
                  <a:pt x="1700" y="192"/>
                </a:cubicBezTo>
                <a:cubicBezTo>
                  <a:pt x="1701" y="197"/>
                  <a:pt x="1703" y="203"/>
                  <a:pt x="1704" y="209"/>
                </a:cubicBezTo>
                <a:moveTo>
                  <a:pt x="1591" y="138"/>
                </a:moveTo>
                <a:cubicBezTo>
                  <a:pt x="1577" y="143"/>
                  <a:pt x="1577" y="165"/>
                  <a:pt x="1584" y="189"/>
                </a:cubicBezTo>
                <a:cubicBezTo>
                  <a:pt x="1634" y="189"/>
                  <a:pt x="1634" y="189"/>
                  <a:pt x="1634" y="189"/>
                </a:cubicBezTo>
                <a:cubicBezTo>
                  <a:pt x="1611" y="182"/>
                  <a:pt x="1630" y="127"/>
                  <a:pt x="1591" y="138"/>
                </a:cubicBezTo>
                <a:moveTo>
                  <a:pt x="1791" y="271"/>
                </a:moveTo>
                <a:cubicBezTo>
                  <a:pt x="1846" y="271"/>
                  <a:pt x="1846" y="271"/>
                  <a:pt x="1846" y="271"/>
                </a:cubicBezTo>
                <a:cubicBezTo>
                  <a:pt x="1849" y="267"/>
                  <a:pt x="1852" y="263"/>
                  <a:pt x="1855" y="259"/>
                </a:cubicBezTo>
                <a:cubicBezTo>
                  <a:pt x="1788" y="259"/>
                  <a:pt x="1788" y="259"/>
                  <a:pt x="1788" y="259"/>
                </a:cubicBezTo>
                <a:cubicBezTo>
                  <a:pt x="1789" y="263"/>
                  <a:pt x="1789" y="267"/>
                  <a:pt x="1791" y="271"/>
                </a:cubicBezTo>
                <a:moveTo>
                  <a:pt x="1921" y="250"/>
                </a:moveTo>
                <a:cubicBezTo>
                  <a:pt x="1918" y="245"/>
                  <a:pt x="1915" y="240"/>
                  <a:pt x="1913" y="237"/>
                </a:cubicBezTo>
                <a:cubicBezTo>
                  <a:pt x="1869" y="237"/>
                  <a:pt x="1869" y="237"/>
                  <a:pt x="1869" y="237"/>
                </a:cubicBezTo>
                <a:cubicBezTo>
                  <a:pt x="1872" y="242"/>
                  <a:pt x="1873" y="247"/>
                  <a:pt x="1875" y="250"/>
                </a:cubicBezTo>
                <a:cubicBezTo>
                  <a:pt x="1921" y="250"/>
                  <a:pt x="1921" y="250"/>
                  <a:pt x="1921" y="250"/>
                </a:cubicBezTo>
                <a:cubicBezTo>
                  <a:pt x="1921" y="250"/>
                  <a:pt x="1921" y="250"/>
                  <a:pt x="1921" y="250"/>
                </a:cubicBezTo>
                <a:moveTo>
                  <a:pt x="1845" y="230"/>
                </a:moveTo>
                <a:cubicBezTo>
                  <a:pt x="1908" y="230"/>
                  <a:pt x="1908" y="230"/>
                  <a:pt x="1908" y="230"/>
                </a:cubicBezTo>
                <a:cubicBezTo>
                  <a:pt x="1906" y="227"/>
                  <a:pt x="1905" y="225"/>
                  <a:pt x="1904" y="223"/>
                </a:cubicBezTo>
                <a:cubicBezTo>
                  <a:pt x="1903" y="220"/>
                  <a:pt x="1902" y="217"/>
                  <a:pt x="1901" y="215"/>
                </a:cubicBezTo>
                <a:cubicBezTo>
                  <a:pt x="1853" y="215"/>
                  <a:pt x="1853" y="215"/>
                  <a:pt x="1853" y="215"/>
                </a:cubicBezTo>
                <a:cubicBezTo>
                  <a:pt x="1851" y="220"/>
                  <a:pt x="1848" y="225"/>
                  <a:pt x="1845" y="230"/>
                </a:cubicBezTo>
                <a:moveTo>
                  <a:pt x="1863" y="182"/>
                </a:moveTo>
                <a:cubicBezTo>
                  <a:pt x="1863" y="184"/>
                  <a:pt x="1863" y="186"/>
                  <a:pt x="1863" y="189"/>
                </a:cubicBezTo>
                <a:cubicBezTo>
                  <a:pt x="1899" y="189"/>
                  <a:pt x="1899" y="189"/>
                  <a:pt x="1899" y="189"/>
                </a:cubicBezTo>
                <a:cubicBezTo>
                  <a:pt x="1899" y="173"/>
                  <a:pt x="1901" y="159"/>
                  <a:pt x="1890" y="153"/>
                </a:cubicBezTo>
                <a:cubicBezTo>
                  <a:pt x="1852" y="131"/>
                  <a:pt x="1821" y="155"/>
                  <a:pt x="1803" y="189"/>
                </a:cubicBezTo>
                <a:cubicBezTo>
                  <a:pt x="1831" y="189"/>
                  <a:pt x="1831" y="189"/>
                  <a:pt x="1831" y="189"/>
                </a:cubicBezTo>
                <a:cubicBezTo>
                  <a:pt x="1839" y="177"/>
                  <a:pt x="1850" y="170"/>
                  <a:pt x="1863" y="182"/>
                </a:cubicBezTo>
                <a:moveTo>
                  <a:pt x="1829" y="192"/>
                </a:moveTo>
                <a:cubicBezTo>
                  <a:pt x="1802" y="192"/>
                  <a:pt x="1802" y="192"/>
                  <a:pt x="1802" y="192"/>
                </a:cubicBezTo>
                <a:cubicBezTo>
                  <a:pt x="1799" y="198"/>
                  <a:pt x="1797" y="204"/>
                  <a:pt x="1795" y="209"/>
                </a:cubicBezTo>
                <a:cubicBezTo>
                  <a:pt x="1822" y="209"/>
                  <a:pt x="1822" y="209"/>
                  <a:pt x="1822" y="209"/>
                </a:cubicBezTo>
                <a:cubicBezTo>
                  <a:pt x="1824" y="203"/>
                  <a:pt x="1826" y="197"/>
                  <a:pt x="1829" y="192"/>
                </a:cubicBezTo>
                <a:moveTo>
                  <a:pt x="1862" y="192"/>
                </a:moveTo>
                <a:cubicBezTo>
                  <a:pt x="1861" y="197"/>
                  <a:pt x="1859" y="203"/>
                  <a:pt x="1856" y="209"/>
                </a:cubicBezTo>
                <a:cubicBezTo>
                  <a:pt x="1900" y="209"/>
                  <a:pt x="1900" y="209"/>
                  <a:pt x="1900" y="209"/>
                </a:cubicBezTo>
                <a:cubicBezTo>
                  <a:pt x="1899" y="204"/>
                  <a:pt x="1899" y="198"/>
                  <a:pt x="1899" y="192"/>
                </a:cubicBezTo>
                <a:lnTo>
                  <a:pt x="1862" y="192"/>
                </a:lnTo>
                <a:close/>
                <a:moveTo>
                  <a:pt x="1820" y="215"/>
                </a:moveTo>
                <a:cubicBezTo>
                  <a:pt x="1793" y="215"/>
                  <a:pt x="1793" y="215"/>
                  <a:pt x="1793" y="215"/>
                </a:cubicBezTo>
                <a:cubicBezTo>
                  <a:pt x="1791" y="220"/>
                  <a:pt x="1790" y="225"/>
                  <a:pt x="1789" y="230"/>
                </a:cubicBezTo>
                <a:cubicBezTo>
                  <a:pt x="1817" y="230"/>
                  <a:pt x="1817" y="230"/>
                  <a:pt x="1817" y="230"/>
                </a:cubicBezTo>
                <a:cubicBezTo>
                  <a:pt x="1818" y="225"/>
                  <a:pt x="1819" y="220"/>
                  <a:pt x="1820" y="215"/>
                </a:cubicBezTo>
                <a:moveTo>
                  <a:pt x="1813" y="288"/>
                </a:moveTo>
                <a:cubicBezTo>
                  <a:pt x="1820" y="288"/>
                  <a:pt x="1827" y="286"/>
                  <a:pt x="1833" y="282"/>
                </a:cubicBezTo>
                <a:cubicBezTo>
                  <a:pt x="1797" y="282"/>
                  <a:pt x="1797" y="282"/>
                  <a:pt x="1797" y="282"/>
                </a:cubicBezTo>
                <a:cubicBezTo>
                  <a:pt x="1801" y="286"/>
                  <a:pt x="1806" y="288"/>
                  <a:pt x="1813" y="288"/>
                </a:cubicBezTo>
                <a:moveTo>
                  <a:pt x="1817" y="239"/>
                </a:moveTo>
                <a:cubicBezTo>
                  <a:pt x="1817" y="239"/>
                  <a:pt x="1817" y="238"/>
                  <a:pt x="1817" y="237"/>
                </a:cubicBezTo>
                <a:cubicBezTo>
                  <a:pt x="1788" y="237"/>
                  <a:pt x="1788" y="237"/>
                  <a:pt x="1788" y="237"/>
                </a:cubicBezTo>
                <a:cubicBezTo>
                  <a:pt x="1788" y="242"/>
                  <a:pt x="1787" y="246"/>
                  <a:pt x="1787" y="250"/>
                </a:cubicBezTo>
                <a:cubicBezTo>
                  <a:pt x="1861" y="250"/>
                  <a:pt x="1861" y="250"/>
                  <a:pt x="1861" y="250"/>
                </a:cubicBezTo>
                <a:cubicBezTo>
                  <a:pt x="1863" y="245"/>
                  <a:pt x="1866" y="241"/>
                  <a:pt x="1867" y="237"/>
                </a:cubicBezTo>
                <a:cubicBezTo>
                  <a:pt x="1839" y="237"/>
                  <a:pt x="1839" y="237"/>
                  <a:pt x="1839" y="237"/>
                </a:cubicBezTo>
                <a:cubicBezTo>
                  <a:pt x="1830" y="250"/>
                  <a:pt x="1820" y="255"/>
                  <a:pt x="1817" y="239"/>
                </a:cubicBezTo>
                <a:moveTo>
                  <a:pt x="1882" y="259"/>
                </a:moveTo>
                <a:cubicBezTo>
                  <a:pt x="1888" y="267"/>
                  <a:pt x="1896" y="269"/>
                  <a:pt x="1907" y="269"/>
                </a:cubicBezTo>
                <a:cubicBezTo>
                  <a:pt x="1914" y="269"/>
                  <a:pt x="1920" y="265"/>
                  <a:pt x="1922" y="259"/>
                </a:cubicBezTo>
                <a:lnTo>
                  <a:pt x="1882" y="259"/>
                </a:lnTo>
                <a:close/>
                <a:moveTo>
                  <a:pt x="1976" y="291"/>
                </a:moveTo>
                <a:cubicBezTo>
                  <a:pt x="2013" y="291"/>
                  <a:pt x="2013" y="291"/>
                  <a:pt x="2013" y="291"/>
                </a:cubicBezTo>
                <a:cubicBezTo>
                  <a:pt x="2014" y="288"/>
                  <a:pt x="2016" y="285"/>
                  <a:pt x="2018" y="282"/>
                </a:cubicBezTo>
                <a:cubicBezTo>
                  <a:pt x="1985" y="282"/>
                  <a:pt x="1985" y="282"/>
                  <a:pt x="1985" y="282"/>
                </a:cubicBezTo>
                <a:cubicBezTo>
                  <a:pt x="1982" y="285"/>
                  <a:pt x="1979" y="288"/>
                  <a:pt x="1976" y="291"/>
                </a:cubicBezTo>
                <a:moveTo>
                  <a:pt x="1861" y="308"/>
                </a:moveTo>
                <a:cubicBezTo>
                  <a:pt x="1851" y="307"/>
                  <a:pt x="1845" y="311"/>
                  <a:pt x="1843" y="316"/>
                </a:cubicBezTo>
                <a:cubicBezTo>
                  <a:pt x="1991" y="316"/>
                  <a:pt x="1991" y="316"/>
                  <a:pt x="1991" y="316"/>
                </a:cubicBezTo>
                <a:cubicBezTo>
                  <a:pt x="1995" y="312"/>
                  <a:pt x="1999" y="308"/>
                  <a:pt x="2003" y="304"/>
                </a:cubicBezTo>
                <a:cubicBezTo>
                  <a:pt x="1954" y="304"/>
                  <a:pt x="1954" y="304"/>
                  <a:pt x="1954" y="304"/>
                </a:cubicBezTo>
                <a:cubicBezTo>
                  <a:pt x="1920" y="318"/>
                  <a:pt x="1878" y="311"/>
                  <a:pt x="1861" y="308"/>
                </a:cubicBezTo>
                <a:moveTo>
                  <a:pt x="2013" y="162"/>
                </a:moveTo>
                <a:cubicBezTo>
                  <a:pt x="2010" y="167"/>
                  <a:pt x="2006" y="178"/>
                  <a:pt x="2000" y="189"/>
                </a:cubicBezTo>
                <a:cubicBezTo>
                  <a:pt x="2045" y="189"/>
                  <a:pt x="2045" y="189"/>
                  <a:pt x="2045" y="189"/>
                </a:cubicBezTo>
                <a:cubicBezTo>
                  <a:pt x="2045" y="185"/>
                  <a:pt x="2046" y="180"/>
                  <a:pt x="2046" y="176"/>
                </a:cubicBezTo>
                <a:cubicBezTo>
                  <a:pt x="2050" y="145"/>
                  <a:pt x="2022" y="146"/>
                  <a:pt x="2013" y="162"/>
                </a:cubicBezTo>
                <a:moveTo>
                  <a:pt x="1993" y="271"/>
                </a:moveTo>
                <a:cubicBezTo>
                  <a:pt x="2024" y="271"/>
                  <a:pt x="2024" y="271"/>
                  <a:pt x="2024" y="271"/>
                </a:cubicBezTo>
                <a:cubicBezTo>
                  <a:pt x="2025" y="267"/>
                  <a:pt x="2027" y="263"/>
                  <a:pt x="2028" y="259"/>
                </a:cubicBezTo>
                <a:cubicBezTo>
                  <a:pt x="1998" y="259"/>
                  <a:pt x="1998" y="259"/>
                  <a:pt x="1998" y="259"/>
                </a:cubicBezTo>
                <a:cubicBezTo>
                  <a:pt x="1996" y="263"/>
                  <a:pt x="1995" y="267"/>
                  <a:pt x="1993" y="271"/>
                </a:cubicBezTo>
                <a:moveTo>
                  <a:pt x="1988" y="259"/>
                </a:moveTo>
                <a:cubicBezTo>
                  <a:pt x="1950" y="259"/>
                  <a:pt x="1950" y="259"/>
                  <a:pt x="1950" y="259"/>
                </a:cubicBezTo>
                <a:cubicBezTo>
                  <a:pt x="1964" y="271"/>
                  <a:pt x="1976" y="269"/>
                  <a:pt x="1988" y="259"/>
                </a:cubicBezTo>
                <a:moveTo>
                  <a:pt x="1926" y="192"/>
                </a:moveTo>
                <a:cubicBezTo>
                  <a:pt x="1926" y="198"/>
                  <a:pt x="1926" y="204"/>
                  <a:pt x="1927" y="209"/>
                </a:cubicBezTo>
                <a:cubicBezTo>
                  <a:pt x="1964" y="209"/>
                  <a:pt x="1964" y="209"/>
                  <a:pt x="1964" y="209"/>
                </a:cubicBezTo>
                <a:cubicBezTo>
                  <a:pt x="1962" y="205"/>
                  <a:pt x="1961" y="199"/>
                  <a:pt x="1961" y="192"/>
                </a:cubicBezTo>
                <a:lnTo>
                  <a:pt x="1926" y="192"/>
                </a:lnTo>
                <a:close/>
                <a:moveTo>
                  <a:pt x="1940" y="249"/>
                </a:moveTo>
                <a:cubicBezTo>
                  <a:pt x="1941" y="249"/>
                  <a:pt x="1941" y="250"/>
                  <a:pt x="1941" y="250"/>
                </a:cubicBezTo>
                <a:cubicBezTo>
                  <a:pt x="1997" y="250"/>
                  <a:pt x="1997" y="250"/>
                  <a:pt x="1997" y="250"/>
                </a:cubicBezTo>
                <a:cubicBezTo>
                  <a:pt x="1999" y="247"/>
                  <a:pt x="2002" y="244"/>
                  <a:pt x="2004" y="241"/>
                </a:cubicBezTo>
                <a:cubicBezTo>
                  <a:pt x="2003" y="244"/>
                  <a:pt x="2002" y="247"/>
                  <a:pt x="2001" y="250"/>
                </a:cubicBezTo>
                <a:cubicBezTo>
                  <a:pt x="2032" y="250"/>
                  <a:pt x="2032" y="250"/>
                  <a:pt x="2032" y="250"/>
                </a:cubicBezTo>
                <a:cubicBezTo>
                  <a:pt x="2033" y="246"/>
                  <a:pt x="2034" y="241"/>
                  <a:pt x="2036" y="237"/>
                </a:cubicBezTo>
                <a:cubicBezTo>
                  <a:pt x="1934" y="237"/>
                  <a:pt x="1934" y="237"/>
                  <a:pt x="1934" y="237"/>
                </a:cubicBezTo>
                <a:cubicBezTo>
                  <a:pt x="1936" y="241"/>
                  <a:pt x="1938" y="245"/>
                  <a:pt x="1940" y="249"/>
                </a:cubicBezTo>
                <a:moveTo>
                  <a:pt x="1925" y="189"/>
                </a:moveTo>
                <a:cubicBezTo>
                  <a:pt x="1961" y="189"/>
                  <a:pt x="1961" y="189"/>
                  <a:pt x="1961" y="189"/>
                </a:cubicBezTo>
                <a:cubicBezTo>
                  <a:pt x="1962" y="172"/>
                  <a:pt x="1963" y="152"/>
                  <a:pt x="1952" y="143"/>
                </a:cubicBezTo>
                <a:cubicBezTo>
                  <a:pt x="1931" y="128"/>
                  <a:pt x="1924" y="154"/>
                  <a:pt x="1925" y="176"/>
                </a:cubicBezTo>
                <a:cubicBezTo>
                  <a:pt x="1925" y="180"/>
                  <a:pt x="1925" y="184"/>
                  <a:pt x="1925" y="189"/>
                </a:cubicBezTo>
                <a:moveTo>
                  <a:pt x="1860" y="336"/>
                </a:moveTo>
                <a:cubicBezTo>
                  <a:pt x="1910" y="348"/>
                  <a:pt x="1946" y="344"/>
                  <a:pt x="1972" y="329"/>
                </a:cubicBezTo>
                <a:cubicBezTo>
                  <a:pt x="1847" y="329"/>
                  <a:pt x="1847" y="329"/>
                  <a:pt x="1847" y="329"/>
                </a:cubicBezTo>
                <a:cubicBezTo>
                  <a:pt x="1850" y="332"/>
                  <a:pt x="1854" y="334"/>
                  <a:pt x="1860" y="336"/>
                </a:cubicBezTo>
                <a:moveTo>
                  <a:pt x="1986" y="209"/>
                </a:moveTo>
                <a:cubicBezTo>
                  <a:pt x="2042" y="209"/>
                  <a:pt x="2042" y="209"/>
                  <a:pt x="2042" y="209"/>
                </a:cubicBezTo>
                <a:cubicBezTo>
                  <a:pt x="2043" y="204"/>
                  <a:pt x="2044" y="198"/>
                  <a:pt x="2044" y="192"/>
                </a:cubicBezTo>
                <a:cubicBezTo>
                  <a:pt x="1999" y="192"/>
                  <a:pt x="1999" y="192"/>
                  <a:pt x="1999" y="192"/>
                </a:cubicBezTo>
                <a:cubicBezTo>
                  <a:pt x="1995" y="199"/>
                  <a:pt x="1991" y="205"/>
                  <a:pt x="1986" y="209"/>
                </a:cubicBezTo>
                <a:moveTo>
                  <a:pt x="1971" y="215"/>
                </a:moveTo>
                <a:cubicBezTo>
                  <a:pt x="1928" y="215"/>
                  <a:pt x="1928" y="215"/>
                  <a:pt x="1928" y="215"/>
                </a:cubicBezTo>
                <a:cubicBezTo>
                  <a:pt x="1929" y="220"/>
                  <a:pt x="1930" y="225"/>
                  <a:pt x="1931" y="230"/>
                </a:cubicBezTo>
                <a:cubicBezTo>
                  <a:pt x="2037" y="230"/>
                  <a:pt x="2037" y="230"/>
                  <a:pt x="2037" y="230"/>
                </a:cubicBezTo>
                <a:cubicBezTo>
                  <a:pt x="2039" y="225"/>
                  <a:pt x="2040" y="220"/>
                  <a:pt x="2041" y="215"/>
                </a:cubicBezTo>
                <a:cubicBezTo>
                  <a:pt x="1977" y="215"/>
                  <a:pt x="1977" y="215"/>
                  <a:pt x="1977" y="215"/>
                </a:cubicBezTo>
                <a:cubicBezTo>
                  <a:pt x="1975" y="215"/>
                  <a:pt x="1973" y="215"/>
                  <a:pt x="1971" y="215"/>
                </a:cubicBezTo>
                <a:moveTo>
                  <a:pt x="2130" y="230"/>
                </a:moveTo>
                <a:cubicBezTo>
                  <a:pt x="2130" y="224"/>
                  <a:pt x="2128" y="219"/>
                  <a:pt x="2126" y="215"/>
                </a:cubicBezTo>
                <a:cubicBezTo>
                  <a:pt x="2090" y="215"/>
                  <a:pt x="2090" y="215"/>
                  <a:pt x="2090" y="215"/>
                </a:cubicBezTo>
                <a:cubicBezTo>
                  <a:pt x="2094" y="220"/>
                  <a:pt x="2097" y="225"/>
                  <a:pt x="2098" y="230"/>
                </a:cubicBezTo>
                <a:lnTo>
                  <a:pt x="2130" y="230"/>
                </a:lnTo>
                <a:close/>
                <a:moveTo>
                  <a:pt x="2061" y="294"/>
                </a:moveTo>
                <a:cubicBezTo>
                  <a:pt x="2080" y="300"/>
                  <a:pt x="2100" y="293"/>
                  <a:pt x="2113" y="282"/>
                </a:cubicBezTo>
                <a:cubicBezTo>
                  <a:pt x="2048" y="282"/>
                  <a:pt x="2048" y="282"/>
                  <a:pt x="2048" y="282"/>
                </a:cubicBezTo>
                <a:cubicBezTo>
                  <a:pt x="2049" y="287"/>
                  <a:pt x="2053" y="292"/>
                  <a:pt x="2061" y="294"/>
                </a:cubicBezTo>
                <a:moveTo>
                  <a:pt x="2101" y="237"/>
                </a:moveTo>
                <a:cubicBezTo>
                  <a:pt x="2101" y="241"/>
                  <a:pt x="2101" y="246"/>
                  <a:pt x="2098" y="250"/>
                </a:cubicBezTo>
                <a:cubicBezTo>
                  <a:pt x="2130" y="250"/>
                  <a:pt x="2130" y="250"/>
                  <a:pt x="2130" y="250"/>
                </a:cubicBezTo>
                <a:cubicBezTo>
                  <a:pt x="2131" y="245"/>
                  <a:pt x="2131" y="241"/>
                  <a:pt x="2131" y="237"/>
                </a:cubicBezTo>
                <a:lnTo>
                  <a:pt x="2101" y="237"/>
                </a:lnTo>
                <a:close/>
                <a:moveTo>
                  <a:pt x="2052" y="268"/>
                </a:moveTo>
                <a:cubicBezTo>
                  <a:pt x="2051" y="269"/>
                  <a:pt x="2051" y="270"/>
                  <a:pt x="2050" y="271"/>
                </a:cubicBezTo>
                <a:cubicBezTo>
                  <a:pt x="2123" y="271"/>
                  <a:pt x="2123" y="271"/>
                  <a:pt x="2123" y="271"/>
                </a:cubicBezTo>
                <a:cubicBezTo>
                  <a:pt x="2125" y="267"/>
                  <a:pt x="2127" y="263"/>
                  <a:pt x="2128" y="259"/>
                </a:cubicBezTo>
                <a:cubicBezTo>
                  <a:pt x="2089" y="259"/>
                  <a:pt x="2089" y="259"/>
                  <a:pt x="2089" y="259"/>
                </a:cubicBezTo>
                <a:cubicBezTo>
                  <a:pt x="2079" y="264"/>
                  <a:pt x="2064" y="259"/>
                  <a:pt x="2052" y="268"/>
                </a:cubicBezTo>
                <a:moveTo>
                  <a:pt x="2132" y="61"/>
                </a:moveTo>
                <a:cubicBezTo>
                  <a:pt x="2101" y="49"/>
                  <a:pt x="2030" y="102"/>
                  <a:pt x="2070" y="182"/>
                </a:cubicBezTo>
                <a:cubicBezTo>
                  <a:pt x="2071" y="185"/>
                  <a:pt x="2072" y="187"/>
                  <a:pt x="2074" y="189"/>
                </a:cubicBezTo>
                <a:cubicBezTo>
                  <a:pt x="2111" y="189"/>
                  <a:pt x="2111" y="189"/>
                  <a:pt x="2111" y="189"/>
                </a:cubicBezTo>
                <a:cubicBezTo>
                  <a:pt x="2101" y="169"/>
                  <a:pt x="2089" y="139"/>
                  <a:pt x="2100" y="119"/>
                </a:cubicBezTo>
                <a:cubicBezTo>
                  <a:pt x="2113" y="95"/>
                  <a:pt x="2125" y="100"/>
                  <a:pt x="2138" y="89"/>
                </a:cubicBezTo>
                <a:cubicBezTo>
                  <a:pt x="2151" y="77"/>
                  <a:pt x="2140" y="64"/>
                  <a:pt x="2132" y="61"/>
                </a:cubicBezTo>
                <a:moveTo>
                  <a:pt x="2076" y="192"/>
                </a:moveTo>
                <a:cubicBezTo>
                  <a:pt x="2079" y="198"/>
                  <a:pt x="2083" y="204"/>
                  <a:pt x="2087" y="209"/>
                </a:cubicBezTo>
                <a:cubicBezTo>
                  <a:pt x="2123" y="209"/>
                  <a:pt x="2123" y="209"/>
                  <a:pt x="2123" y="209"/>
                </a:cubicBezTo>
                <a:cubicBezTo>
                  <a:pt x="2120" y="204"/>
                  <a:pt x="2117" y="198"/>
                  <a:pt x="2113" y="192"/>
                </a:cubicBezTo>
                <a:lnTo>
                  <a:pt x="2076" y="192"/>
                </a:lnTo>
                <a:close/>
              </a:path>
            </a:pathLst>
          </a:custGeom>
          <a:solidFill>
            <a:srgbClr val="46C2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AU" sz="2400"/>
          </a:p>
        </p:txBody>
      </p:sp>
      <p:cxnSp>
        <p:nvCxnSpPr>
          <p:cNvPr id="45" name="logo_brand_line" descr="&lt;mode=4x3&gt;&#10;&lt;size&gt;h=43.11063;w=0&lt;size/&gt;&#10;&lt;pos&gt;top=487.4393;left=532.1249&lt;pos/&gt;&#10;&lt;mode/&gt;&#10;&lt;mode=16x9&gt;&#10;&lt;size&gt;h=34.01575;w=0&lt;size/&gt;&#10;&lt;pos&gt;top=360.1457;left=582.6992&lt;pos/&gt;&#10;&lt;mode/&gt;" hidden="1"/>
          <p:cNvCxnSpPr/>
          <p:nvPr userDrawn="1"/>
        </p:nvCxnSpPr>
        <p:spPr>
          <a:xfrm>
            <a:off x="9867040" y="6098467"/>
            <a:ext cx="0" cy="576000"/>
          </a:xfrm>
          <a:prstGeom prst="line">
            <a:avLst/>
          </a:prstGeom>
          <a:ln w="6350">
            <a:solidFill>
              <a:srgbClr val="003366"/>
            </a:solidFill>
          </a:ln>
        </p:spPr>
        <p:style>
          <a:lnRef idx="1">
            <a:schemeClr val="accent1"/>
          </a:lnRef>
          <a:fillRef idx="0">
            <a:schemeClr val="accent1"/>
          </a:fillRef>
          <a:effectRef idx="0">
            <a:schemeClr val="accent1"/>
          </a:effectRef>
          <a:fontRef idx="minor">
            <a:schemeClr val="tx1"/>
          </a:fontRef>
        </p:style>
      </p:cxnSp>
      <p:grpSp>
        <p:nvGrpSpPr>
          <p:cNvPr id="63" name="logo_brand_vic_left" descr="&lt;mode=4x3&gt;&#10;&lt;size&gt;h=30.15764;w=52.81488&lt;size/&gt;&#10;&lt;pos&gt;top=493.8837;left=40.3726&lt;pos/&gt;&#10;&lt;mode/&gt;&#10;&lt;mode=16x9&gt;&#10;&lt;size&gt;h=22.61827;w=39.12669&lt;size/&gt;&#10;&lt;pos&gt;top=366.2025;left=30.99835&lt;pos/&gt;&#10;&lt;mode/&gt;"/>
          <p:cNvGrpSpPr>
            <a:grpSpLocks/>
          </p:cNvGrpSpPr>
          <p:nvPr userDrawn="1"/>
        </p:nvGrpSpPr>
        <p:grpSpPr>
          <a:xfrm>
            <a:off x="524906" y="6201029"/>
            <a:ext cx="662545" cy="383003"/>
            <a:chOff x="1520825" y="6256338"/>
            <a:chExt cx="630238" cy="357188"/>
          </a:xfrm>
          <a:solidFill>
            <a:srgbClr val="004EA8"/>
          </a:solidFill>
        </p:grpSpPr>
        <p:sp>
          <p:nvSpPr>
            <p:cNvPr id="64" name="Freeform 63"/>
            <p:cNvSpPr>
              <a:spLocks noEditPoints="1"/>
            </p:cNvSpPr>
            <p:nvPr userDrawn="1"/>
          </p:nvSpPr>
          <p:spPr bwMode="auto">
            <a:xfrm>
              <a:off x="1858963" y="6367463"/>
              <a:ext cx="87313" cy="84138"/>
            </a:xfrm>
            <a:custGeom>
              <a:avLst/>
              <a:gdLst>
                <a:gd name="T0" fmla="*/ 83 w 166"/>
                <a:gd name="T1" fmla="*/ 118 h 160"/>
                <a:gd name="T2" fmla="*/ 44 w 166"/>
                <a:gd name="T3" fmla="*/ 80 h 160"/>
                <a:gd name="T4" fmla="*/ 83 w 166"/>
                <a:gd name="T5" fmla="*/ 41 h 160"/>
                <a:gd name="T6" fmla="*/ 122 w 166"/>
                <a:gd name="T7" fmla="*/ 80 h 160"/>
                <a:gd name="T8" fmla="*/ 83 w 166"/>
                <a:gd name="T9" fmla="*/ 118 h 160"/>
                <a:gd name="T10" fmla="*/ 83 w 166"/>
                <a:gd name="T11" fmla="*/ 0 h 160"/>
                <a:gd name="T12" fmla="*/ 0 w 166"/>
                <a:gd name="T13" fmla="*/ 80 h 160"/>
                <a:gd name="T14" fmla="*/ 83 w 166"/>
                <a:gd name="T15" fmla="*/ 160 h 160"/>
                <a:gd name="T16" fmla="*/ 166 w 166"/>
                <a:gd name="T17" fmla="*/ 80 h 160"/>
                <a:gd name="T18" fmla="*/ 83 w 166"/>
                <a:gd name="T1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160">
                  <a:moveTo>
                    <a:pt x="83" y="118"/>
                  </a:moveTo>
                  <a:cubicBezTo>
                    <a:pt x="62" y="118"/>
                    <a:pt x="44" y="101"/>
                    <a:pt x="44" y="80"/>
                  </a:cubicBezTo>
                  <a:cubicBezTo>
                    <a:pt x="44" y="59"/>
                    <a:pt x="62" y="41"/>
                    <a:pt x="83" y="41"/>
                  </a:cubicBezTo>
                  <a:cubicBezTo>
                    <a:pt x="104" y="41"/>
                    <a:pt x="122" y="59"/>
                    <a:pt x="122" y="80"/>
                  </a:cubicBezTo>
                  <a:cubicBezTo>
                    <a:pt x="122" y="101"/>
                    <a:pt x="104" y="118"/>
                    <a:pt x="83" y="118"/>
                  </a:cubicBezTo>
                  <a:close/>
                  <a:moveTo>
                    <a:pt x="83" y="0"/>
                  </a:moveTo>
                  <a:cubicBezTo>
                    <a:pt x="37" y="0"/>
                    <a:pt x="0" y="34"/>
                    <a:pt x="0" y="80"/>
                  </a:cubicBezTo>
                  <a:cubicBezTo>
                    <a:pt x="0" y="125"/>
                    <a:pt x="37" y="160"/>
                    <a:pt x="83" y="160"/>
                  </a:cubicBezTo>
                  <a:cubicBezTo>
                    <a:pt x="129" y="160"/>
                    <a:pt x="166" y="125"/>
                    <a:pt x="166" y="80"/>
                  </a:cubicBezTo>
                  <a:cubicBezTo>
                    <a:pt x="166" y="34"/>
                    <a:pt x="129" y="0"/>
                    <a:pt x="83" y="0"/>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65" name="Freeform 64"/>
            <p:cNvSpPr>
              <a:spLocks noEditPoints="1"/>
            </p:cNvSpPr>
            <p:nvPr userDrawn="1"/>
          </p:nvSpPr>
          <p:spPr bwMode="auto">
            <a:xfrm>
              <a:off x="1957388" y="6369050"/>
              <a:ext cx="66675" cy="80963"/>
            </a:xfrm>
            <a:custGeom>
              <a:avLst/>
              <a:gdLst>
                <a:gd name="T0" fmla="*/ 71 w 129"/>
                <a:gd name="T1" fmla="*/ 74 h 154"/>
                <a:gd name="T2" fmla="*/ 42 w 129"/>
                <a:gd name="T3" fmla="*/ 74 h 154"/>
                <a:gd name="T4" fmla="*/ 42 w 129"/>
                <a:gd name="T5" fmla="*/ 38 h 154"/>
                <a:gd name="T6" fmla="*/ 71 w 129"/>
                <a:gd name="T7" fmla="*/ 38 h 154"/>
                <a:gd name="T8" fmla="*/ 86 w 129"/>
                <a:gd name="T9" fmla="*/ 56 h 154"/>
                <a:gd name="T10" fmla="*/ 71 w 129"/>
                <a:gd name="T11" fmla="*/ 74 h 154"/>
                <a:gd name="T12" fmla="*/ 129 w 129"/>
                <a:gd name="T13" fmla="*/ 56 h 154"/>
                <a:gd name="T14" fmla="*/ 71 w 129"/>
                <a:gd name="T15" fmla="*/ 0 h 154"/>
                <a:gd name="T16" fmla="*/ 0 w 129"/>
                <a:gd name="T17" fmla="*/ 0 h 154"/>
                <a:gd name="T18" fmla="*/ 0 w 129"/>
                <a:gd name="T19" fmla="*/ 154 h 154"/>
                <a:gd name="T20" fmla="*/ 42 w 129"/>
                <a:gd name="T21" fmla="*/ 154 h 154"/>
                <a:gd name="T22" fmla="*/ 42 w 129"/>
                <a:gd name="T23" fmla="*/ 112 h 154"/>
                <a:gd name="T24" fmla="*/ 62 w 129"/>
                <a:gd name="T25" fmla="*/ 112 h 154"/>
                <a:gd name="T26" fmla="*/ 81 w 129"/>
                <a:gd name="T27" fmla="*/ 154 h 154"/>
                <a:gd name="T28" fmla="*/ 129 w 129"/>
                <a:gd name="T29" fmla="*/ 154 h 154"/>
                <a:gd name="T30" fmla="*/ 102 w 129"/>
                <a:gd name="T31" fmla="*/ 102 h 154"/>
                <a:gd name="T32" fmla="*/ 129 w 129"/>
                <a:gd name="T33" fmla="*/ 5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9" h="154">
                  <a:moveTo>
                    <a:pt x="71" y="74"/>
                  </a:moveTo>
                  <a:lnTo>
                    <a:pt x="42" y="74"/>
                  </a:lnTo>
                  <a:lnTo>
                    <a:pt x="42" y="38"/>
                  </a:lnTo>
                  <a:lnTo>
                    <a:pt x="71" y="38"/>
                  </a:lnTo>
                  <a:cubicBezTo>
                    <a:pt x="80" y="38"/>
                    <a:pt x="86" y="48"/>
                    <a:pt x="86" y="56"/>
                  </a:cubicBezTo>
                  <a:cubicBezTo>
                    <a:pt x="86" y="64"/>
                    <a:pt x="80" y="74"/>
                    <a:pt x="71" y="74"/>
                  </a:cubicBezTo>
                  <a:close/>
                  <a:moveTo>
                    <a:pt x="129" y="56"/>
                  </a:moveTo>
                  <a:cubicBezTo>
                    <a:pt x="129" y="24"/>
                    <a:pt x="103" y="0"/>
                    <a:pt x="71" y="0"/>
                  </a:cubicBezTo>
                  <a:lnTo>
                    <a:pt x="0" y="0"/>
                  </a:lnTo>
                  <a:lnTo>
                    <a:pt x="0" y="154"/>
                  </a:lnTo>
                  <a:lnTo>
                    <a:pt x="42" y="154"/>
                  </a:lnTo>
                  <a:lnTo>
                    <a:pt x="42" y="112"/>
                  </a:lnTo>
                  <a:lnTo>
                    <a:pt x="62" y="112"/>
                  </a:lnTo>
                  <a:lnTo>
                    <a:pt x="81" y="154"/>
                  </a:lnTo>
                  <a:lnTo>
                    <a:pt x="129" y="154"/>
                  </a:lnTo>
                  <a:lnTo>
                    <a:pt x="102" y="102"/>
                  </a:lnTo>
                  <a:cubicBezTo>
                    <a:pt x="117" y="92"/>
                    <a:pt x="129" y="77"/>
                    <a:pt x="129" y="56"/>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66" name="Rectangle 65"/>
            <p:cNvSpPr>
              <a:spLocks noChangeArrowheads="1"/>
            </p:cNvSpPr>
            <p:nvPr userDrawn="1"/>
          </p:nvSpPr>
          <p:spPr bwMode="auto">
            <a:xfrm>
              <a:off x="2038350" y="6369050"/>
              <a:ext cx="22225" cy="8096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sz="2400"/>
            </a:p>
          </p:txBody>
        </p:sp>
        <p:sp>
          <p:nvSpPr>
            <p:cNvPr id="67" name="Freeform 66"/>
            <p:cNvSpPr>
              <a:spLocks noEditPoints="1"/>
            </p:cNvSpPr>
            <p:nvPr userDrawn="1"/>
          </p:nvSpPr>
          <p:spPr bwMode="auto">
            <a:xfrm>
              <a:off x="2068513" y="6369050"/>
              <a:ext cx="82550" cy="80963"/>
            </a:xfrm>
            <a:custGeom>
              <a:avLst/>
              <a:gdLst>
                <a:gd name="T0" fmla="*/ 22 w 52"/>
                <a:gd name="T1" fmla="*/ 33 h 51"/>
                <a:gd name="T2" fmla="*/ 26 w 52"/>
                <a:gd name="T3" fmla="*/ 23 h 51"/>
                <a:gd name="T4" fmla="*/ 26 w 52"/>
                <a:gd name="T5" fmla="*/ 23 h 51"/>
                <a:gd name="T6" fmla="*/ 31 w 52"/>
                <a:gd name="T7" fmla="*/ 33 h 51"/>
                <a:gd name="T8" fmla="*/ 22 w 52"/>
                <a:gd name="T9" fmla="*/ 33 h 51"/>
                <a:gd name="T10" fmla="*/ 29 w 52"/>
                <a:gd name="T11" fmla="*/ 0 h 51"/>
                <a:gd name="T12" fmla="*/ 23 w 52"/>
                <a:gd name="T13" fmla="*/ 0 h 51"/>
                <a:gd name="T14" fmla="*/ 0 w 52"/>
                <a:gd name="T15" fmla="*/ 51 h 51"/>
                <a:gd name="T16" fmla="*/ 15 w 52"/>
                <a:gd name="T17" fmla="*/ 51 h 51"/>
                <a:gd name="T18" fmla="*/ 17 w 52"/>
                <a:gd name="T19" fmla="*/ 45 h 51"/>
                <a:gd name="T20" fmla="*/ 35 w 52"/>
                <a:gd name="T21" fmla="*/ 45 h 51"/>
                <a:gd name="T22" fmla="*/ 37 w 52"/>
                <a:gd name="T23" fmla="*/ 51 h 51"/>
                <a:gd name="T24" fmla="*/ 52 w 52"/>
                <a:gd name="T25" fmla="*/ 51 h 51"/>
                <a:gd name="T26" fmla="*/ 29 w 52"/>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51">
                  <a:moveTo>
                    <a:pt x="22" y="33"/>
                  </a:moveTo>
                  <a:lnTo>
                    <a:pt x="26" y="23"/>
                  </a:lnTo>
                  <a:lnTo>
                    <a:pt x="26" y="23"/>
                  </a:lnTo>
                  <a:lnTo>
                    <a:pt x="31" y="33"/>
                  </a:lnTo>
                  <a:lnTo>
                    <a:pt x="22" y="33"/>
                  </a:lnTo>
                  <a:close/>
                  <a:moveTo>
                    <a:pt x="29" y="0"/>
                  </a:moveTo>
                  <a:lnTo>
                    <a:pt x="23" y="0"/>
                  </a:lnTo>
                  <a:lnTo>
                    <a:pt x="0" y="51"/>
                  </a:lnTo>
                  <a:lnTo>
                    <a:pt x="15" y="51"/>
                  </a:lnTo>
                  <a:lnTo>
                    <a:pt x="17" y="45"/>
                  </a:lnTo>
                  <a:lnTo>
                    <a:pt x="35" y="45"/>
                  </a:lnTo>
                  <a:lnTo>
                    <a:pt x="37" y="51"/>
                  </a:lnTo>
                  <a:lnTo>
                    <a:pt x="52" y="51"/>
                  </a:lnTo>
                  <a:lnTo>
                    <a:pt x="29"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68" name="Freeform 67"/>
            <p:cNvSpPr>
              <a:spLocks noEditPoints="1"/>
            </p:cNvSpPr>
            <p:nvPr userDrawn="1"/>
          </p:nvSpPr>
          <p:spPr bwMode="auto">
            <a:xfrm>
              <a:off x="1520825" y="6256338"/>
              <a:ext cx="333375" cy="357188"/>
            </a:xfrm>
            <a:custGeom>
              <a:avLst/>
              <a:gdLst>
                <a:gd name="T0" fmla="*/ 325 w 634"/>
                <a:gd name="T1" fmla="*/ 215 h 680"/>
                <a:gd name="T2" fmla="*/ 282 w 634"/>
                <a:gd name="T3" fmla="*/ 215 h 680"/>
                <a:gd name="T4" fmla="*/ 282 w 634"/>
                <a:gd name="T5" fmla="*/ 366 h 680"/>
                <a:gd name="T6" fmla="*/ 325 w 634"/>
                <a:gd name="T7" fmla="*/ 366 h 680"/>
                <a:gd name="T8" fmla="*/ 325 w 634"/>
                <a:gd name="T9" fmla="*/ 215 h 680"/>
                <a:gd name="T10" fmla="*/ 532 w 634"/>
                <a:gd name="T11" fmla="*/ 214 h 680"/>
                <a:gd name="T12" fmla="*/ 631 w 634"/>
                <a:gd name="T13" fmla="*/ 0 h 680"/>
                <a:gd name="T14" fmla="*/ 0 w 634"/>
                <a:gd name="T15" fmla="*/ 0 h 680"/>
                <a:gd name="T16" fmla="*/ 100 w 634"/>
                <a:gd name="T17" fmla="*/ 215 h 680"/>
                <a:gd name="T18" fmla="*/ 147 w 634"/>
                <a:gd name="T19" fmla="*/ 215 h 680"/>
                <a:gd name="T20" fmla="*/ 185 w 634"/>
                <a:gd name="T21" fmla="*/ 298 h 680"/>
                <a:gd name="T22" fmla="*/ 223 w 634"/>
                <a:gd name="T23" fmla="*/ 215 h 680"/>
                <a:gd name="T24" fmla="*/ 270 w 634"/>
                <a:gd name="T25" fmla="*/ 215 h 680"/>
                <a:gd name="T26" fmla="*/ 200 w 634"/>
                <a:gd name="T27" fmla="*/ 366 h 680"/>
                <a:gd name="T28" fmla="*/ 170 w 634"/>
                <a:gd name="T29" fmla="*/ 366 h 680"/>
                <a:gd name="T30" fmla="*/ 316 w 634"/>
                <a:gd name="T31" fmla="*/ 680 h 680"/>
                <a:gd name="T32" fmla="*/ 465 w 634"/>
                <a:gd name="T33" fmla="*/ 359 h 680"/>
                <a:gd name="T34" fmla="*/ 425 w 634"/>
                <a:gd name="T35" fmla="*/ 369 h 680"/>
                <a:gd name="T36" fmla="*/ 345 w 634"/>
                <a:gd name="T37" fmla="*/ 291 h 680"/>
                <a:gd name="T38" fmla="*/ 425 w 634"/>
                <a:gd name="T39" fmla="*/ 212 h 680"/>
                <a:gd name="T40" fmla="*/ 493 w 634"/>
                <a:gd name="T41" fmla="*/ 250 h 680"/>
                <a:gd name="T42" fmla="*/ 458 w 634"/>
                <a:gd name="T43" fmla="*/ 271 h 680"/>
                <a:gd name="T44" fmla="*/ 425 w 634"/>
                <a:gd name="T45" fmla="*/ 253 h 680"/>
                <a:gd name="T46" fmla="*/ 388 w 634"/>
                <a:gd name="T47" fmla="*/ 291 h 680"/>
                <a:gd name="T48" fmla="*/ 425 w 634"/>
                <a:gd name="T49" fmla="*/ 329 h 680"/>
                <a:gd name="T50" fmla="*/ 458 w 634"/>
                <a:gd name="T51" fmla="*/ 310 h 680"/>
                <a:gd name="T52" fmla="*/ 481 w 634"/>
                <a:gd name="T53" fmla="*/ 324 h 680"/>
                <a:gd name="T54" fmla="*/ 514 w 634"/>
                <a:gd name="T55" fmla="*/ 252 h 680"/>
                <a:gd name="T56" fmla="*/ 549 w 634"/>
                <a:gd name="T57" fmla="*/ 252 h 680"/>
                <a:gd name="T58" fmla="*/ 549 w 634"/>
                <a:gd name="T59" fmla="*/ 368 h 680"/>
                <a:gd name="T60" fmla="*/ 592 w 634"/>
                <a:gd name="T61" fmla="*/ 368 h 680"/>
                <a:gd name="T62" fmla="*/ 592 w 634"/>
                <a:gd name="T63" fmla="*/ 252 h 680"/>
                <a:gd name="T64" fmla="*/ 634 w 634"/>
                <a:gd name="T65" fmla="*/ 252 h 680"/>
                <a:gd name="T66" fmla="*/ 634 w 634"/>
                <a:gd name="T67" fmla="*/ 214 h 680"/>
                <a:gd name="T68" fmla="*/ 532 w 634"/>
                <a:gd name="T69" fmla="*/ 214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4" h="680">
                  <a:moveTo>
                    <a:pt x="325" y="215"/>
                  </a:moveTo>
                  <a:lnTo>
                    <a:pt x="282" y="215"/>
                  </a:lnTo>
                  <a:lnTo>
                    <a:pt x="282" y="366"/>
                  </a:lnTo>
                  <a:lnTo>
                    <a:pt x="325" y="366"/>
                  </a:lnTo>
                  <a:lnTo>
                    <a:pt x="325" y="215"/>
                  </a:lnTo>
                  <a:close/>
                  <a:moveTo>
                    <a:pt x="532" y="214"/>
                  </a:moveTo>
                  <a:lnTo>
                    <a:pt x="631" y="0"/>
                  </a:lnTo>
                  <a:lnTo>
                    <a:pt x="0" y="0"/>
                  </a:lnTo>
                  <a:lnTo>
                    <a:pt x="100" y="215"/>
                  </a:lnTo>
                  <a:lnTo>
                    <a:pt x="147" y="215"/>
                  </a:lnTo>
                  <a:lnTo>
                    <a:pt x="185" y="298"/>
                  </a:lnTo>
                  <a:lnTo>
                    <a:pt x="223" y="215"/>
                  </a:lnTo>
                  <a:lnTo>
                    <a:pt x="270" y="215"/>
                  </a:lnTo>
                  <a:lnTo>
                    <a:pt x="200" y="366"/>
                  </a:lnTo>
                  <a:lnTo>
                    <a:pt x="170" y="366"/>
                  </a:lnTo>
                  <a:lnTo>
                    <a:pt x="316" y="680"/>
                  </a:lnTo>
                  <a:lnTo>
                    <a:pt x="465" y="359"/>
                  </a:lnTo>
                  <a:cubicBezTo>
                    <a:pt x="453" y="366"/>
                    <a:pt x="440" y="369"/>
                    <a:pt x="425" y="369"/>
                  </a:cubicBezTo>
                  <a:cubicBezTo>
                    <a:pt x="380" y="369"/>
                    <a:pt x="345" y="336"/>
                    <a:pt x="345" y="291"/>
                  </a:cubicBezTo>
                  <a:cubicBezTo>
                    <a:pt x="345" y="246"/>
                    <a:pt x="380" y="212"/>
                    <a:pt x="425" y="212"/>
                  </a:cubicBezTo>
                  <a:cubicBezTo>
                    <a:pt x="454" y="212"/>
                    <a:pt x="479" y="227"/>
                    <a:pt x="493" y="250"/>
                  </a:cubicBezTo>
                  <a:lnTo>
                    <a:pt x="458" y="271"/>
                  </a:lnTo>
                  <a:cubicBezTo>
                    <a:pt x="451" y="261"/>
                    <a:pt x="439" y="253"/>
                    <a:pt x="425" y="253"/>
                  </a:cubicBezTo>
                  <a:cubicBezTo>
                    <a:pt x="405" y="253"/>
                    <a:pt x="388" y="270"/>
                    <a:pt x="388" y="291"/>
                  </a:cubicBezTo>
                  <a:cubicBezTo>
                    <a:pt x="388" y="311"/>
                    <a:pt x="405" y="329"/>
                    <a:pt x="425" y="329"/>
                  </a:cubicBezTo>
                  <a:cubicBezTo>
                    <a:pt x="439" y="329"/>
                    <a:pt x="451" y="321"/>
                    <a:pt x="458" y="310"/>
                  </a:cubicBezTo>
                  <a:lnTo>
                    <a:pt x="481" y="324"/>
                  </a:lnTo>
                  <a:lnTo>
                    <a:pt x="514" y="252"/>
                  </a:lnTo>
                  <a:lnTo>
                    <a:pt x="549" y="252"/>
                  </a:lnTo>
                  <a:lnTo>
                    <a:pt x="549" y="368"/>
                  </a:lnTo>
                  <a:lnTo>
                    <a:pt x="592" y="368"/>
                  </a:lnTo>
                  <a:lnTo>
                    <a:pt x="592" y="252"/>
                  </a:lnTo>
                  <a:lnTo>
                    <a:pt x="634" y="252"/>
                  </a:lnTo>
                  <a:lnTo>
                    <a:pt x="634" y="214"/>
                  </a:lnTo>
                  <a:lnTo>
                    <a:pt x="532" y="214"/>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69" name="Freeform 68"/>
            <p:cNvSpPr>
              <a:spLocks/>
            </p:cNvSpPr>
            <p:nvPr userDrawn="1"/>
          </p:nvSpPr>
          <p:spPr bwMode="auto">
            <a:xfrm>
              <a:off x="1804988" y="6481763"/>
              <a:ext cx="33338" cy="41275"/>
            </a:xfrm>
            <a:custGeom>
              <a:avLst/>
              <a:gdLst>
                <a:gd name="T0" fmla="*/ 56 w 64"/>
                <a:gd name="T1" fmla="*/ 21 h 79"/>
                <a:gd name="T2" fmla="*/ 34 w 64"/>
                <a:gd name="T3" fmla="*/ 14 h 79"/>
                <a:gd name="T4" fmla="*/ 19 w 64"/>
                <a:gd name="T5" fmla="*/ 23 h 79"/>
                <a:gd name="T6" fmla="*/ 35 w 64"/>
                <a:gd name="T7" fmla="*/ 32 h 79"/>
                <a:gd name="T8" fmla="*/ 39 w 64"/>
                <a:gd name="T9" fmla="*/ 33 h 79"/>
                <a:gd name="T10" fmla="*/ 64 w 64"/>
                <a:gd name="T11" fmla="*/ 54 h 79"/>
                <a:gd name="T12" fmla="*/ 32 w 64"/>
                <a:gd name="T13" fmla="*/ 79 h 79"/>
                <a:gd name="T14" fmla="*/ 0 w 64"/>
                <a:gd name="T15" fmla="*/ 69 h 79"/>
                <a:gd name="T16" fmla="*/ 8 w 64"/>
                <a:gd name="T17" fmla="*/ 57 h 79"/>
                <a:gd name="T18" fmla="*/ 32 w 64"/>
                <a:gd name="T19" fmla="*/ 65 h 79"/>
                <a:gd name="T20" fmla="*/ 47 w 64"/>
                <a:gd name="T21" fmla="*/ 56 h 79"/>
                <a:gd name="T22" fmla="*/ 31 w 64"/>
                <a:gd name="T23" fmla="*/ 47 h 79"/>
                <a:gd name="T24" fmla="*/ 26 w 64"/>
                <a:gd name="T25" fmla="*/ 46 h 79"/>
                <a:gd name="T26" fmla="*/ 3 w 64"/>
                <a:gd name="T27" fmla="*/ 24 h 79"/>
                <a:gd name="T28" fmla="*/ 33 w 64"/>
                <a:gd name="T29" fmla="*/ 0 h 79"/>
                <a:gd name="T30" fmla="*/ 63 w 64"/>
                <a:gd name="T31" fmla="*/ 8 h 79"/>
                <a:gd name="T32" fmla="*/ 56 w 64"/>
                <a:gd name="T33" fmla="*/ 2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79">
                  <a:moveTo>
                    <a:pt x="56" y="21"/>
                  </a:moveTo>
                  <a:cubicBezTo>
                    <a:pt x="50" y="17"/>
                    <a:pt x="42" y="14"/>
                    <a:pt x="34" y="14"/>
                  </a:cubicBezTo>
                  <a:cubicBezTo>
                    <a:pt x="25" y="14"/>
                    <a:pt x="19" y="17"/>
                    <a:pt x="19" y="23"/>
                  </a:cubicBezTo>
                  <a:cubicBezTo>
                    <a:pt x="19" y="29"/>
                    <a:pt x="26" y="31"/>
                    <a:pt x="35" y="32"/>
                  </a:cubicBezTo>
                  <a:lnTo>
                    <a:pt x="39" y="33"/>
                  </a:lnTo>
                  <a:cubicBezTo>
                    <a:pt x="53" y="35"/>
                    <a:pt x="64" y="41"/>
                    <a:pt x="64" y="54"/>
                  </a:cubicBezTo>
                  <a:cubicBezTo>
                    <a:pt x="64" y="71"/>
                    <a:pt x="49" y="79"/>
                    <a:pt x="32" y="79"/>
                  </a:cubicBezTo>
                  <a:cubicBezTo>
                    <a:pt x="21" y="79"/>
                    <a:pt x="8" y="76"/>
                    <a:pt x="0" y="69"/>
                  </a:cubicBezTo>
                  <a:lnTo>
                    <a:pt x="8" y="57"/>
                  </a:lnTo>
                  <a:cubicBezTo>
                    <a:pt x="13" y="61"/>
                    <a:pt x="22" y="65"/>
                    <a:pt x="32" y="65"/>
                  </a:cubicBezTo>
                  <a:cubicBezTo>
                    <a:pt x="41" y="65"/>
                    <a:pt x="47" y="62"/>
                    <a:pt x="47" y="56"/>
                  </a:cubicBezTo>
                  <a:cubicBezTo>
                    <a:pt x="47" y="51"/>
                    <a:pt x="42" y="49"/>
                    <a:pt x="31" y="47"/>
                  </a:cubicBezTo>
                  <a:lnTo>
                    <a:pt x="26" y="46"/>
                  </a:lnTo>
                  <a:cubicBezTo>
                    <a:pt x="13" y="44"/>
                    <a:pt x="3" y="38"/>
                    <a:pt x="3" y="24"/>
                  </a:cubicBezTo>
                  <a:cubicBezTo>
                    <a:pt x="3" y="8"/>
                    <a:pt x="17" y="0"/>
                    <a:pt x="33" y="0"/>
                  </a:cubicBezTo>
                  <a:cubicBezTo>
                    <a:pt x="44" y="0"/>
                    <a:pt x="53" y="2"/>
                    <a:pt x="63" y="8"/>
                  </a:cubicBezTo>
                  <a:lnTo>
                    <a:pt x="56" y="21"/>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0" name="Freeform 69"/>
            <p:cNvSpPr>
              <a:spLocks/>
            </p:cNvSpPr>
            <p:nvPr userDrawn="1"/>
          </p:nvSpPr>
          <p:spPr bwMode="auto">
            <a:xfrm>
              <a:off x="1841500" y="6486525"/>
              <a:ext cx="25400" cy="36513"/>
            </a:xfrm>
            <a:custGeom>
              <a:avLst/>
              <a:gdLst>
                <a:gd name="T0" fmla="*/ 44 w 48"/>
                <a:gd name="T1" fmla="*/ 29 h 70"/>
                <a:gd name="T2" fmla="*/ 24 w 48"/>
                <a:gd name="T3" fmla="*/ 29 h 70"/>
                <a:gd name="T4" fmla="*/ 24 w 48"/>
                <a:gd name="T5" fmla="*/ 48 h 70"/>
                <a:gd name="T6" fmla="*/ 32 w 48"/>
                <a:gd name="T7" fmla="*/ 57 h 70"/>
                <a:gd name="T8" fmla="*/ 42 w 48"/>
                <a:gd name="T9" fmla="*/ 54 h 70"/>
                <a:gd name="T10" fmla="*/ 48 w 48"/>
                <a:gd name="T11" fmla="*/ 65 h 70"/>
                <a:gd name="T12" fmla="*/ 30 w 48"/>
                <a:gd name="T13" fmla="*/ 70 h 70"/>
                <a:gd name="T14" fmla="*/ 10 w 48"/>
                <a:gd name="T15" fmla="*/ 49 h 70"/>
                <a:gd name="T16" fmla="*/ 10 w 48"/>
                <a:gd name="T17" fmla="*/ 29 h 70"/>
                <a:gd name="T18" fmla="*/ 0 w 48"/>
                <a:gd name="T19" fmla="*/ 29 h 70"/>
                <a:gd name="T20" fmla="*/ 0 w 48"/>
                <a:gd name="T21" fmla="*/ 16 h 70"/>
                <a:gd name="T22" fmla="*/ 10 w 48"/>
                <a:gd name="T23" fmla="*/ 16 h 70"/>
                <a:gd name="T24" fmla="*/ 10 w 48"/>
                <a:gd name="T25" fmla="*/ 0 h 70"/>
                <a:gd name="T26" fmla="*/ 24 w 48"/>
                <a:gd name="T27" fmla="*/ 0 h 70"/>
                <a:gd name="T28" fmla="*/ 24 w 48"/>
                <a:gd name="T29" fmla="*/ 16 h 70"/>
                <a:gd name="T30" fmla="*/ 44 w 48"/>
                <a:gd name="T31" fmla="*/ 16 h 70"/>
                <a:gd name="T32" fmla="*/ 44 w 48"/>
                <a:gd name="T33" fmla="*/ 2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70">
                  <a:moveTo>
                    <a:pt x="44" y="29"/>
                  </a:moveTo>
                  <a:lnTo>
                    <a:pt x="24" y="29"/>
                  </a:lnTo>
                  <a:lnTo>
                    <a:pt x="24" y="48"/>
                  </a:lnTo>
                  <a:cubicBezTo>
                    <a:pt x="24" y="55"/>
                    <a:pt x="28" y="57"/>
                    <a:pt x="32" y="57"/>
                  </a:cubicBezTo>
                  <a:cubicBezTo>
                    <a:pt x="36" y="57"/>
                    <a:pt x="40" y="55"/>
                    <a:pt x="42" y="54"/>
                  </a:cubicBezTo>
                  <a:lnTo>
                    <a:pt x="48" y="65"/>
                  </a:lnTo>
                  <a:cubicBezTo>
                    <a:pt x="43" y="68"/>
                    <a:pt x="38" y="70"/>
                    <a:pt x="30" y="70"/>
                  </a:cubicBezTo>
                  <a:cubicBezTo>
                    <a:pt x="17" y="70"/>
                    <a:pt x="10" y="63"/>
                    <a:pt x="10" y="49"/>
                  </a:cubicBezTo>
                  <a:lnTo>
                    <a:pt x="10" y="29"/>
                  </a:lnTo>
                  <a:lnTo>
                    <a:pt x="0" y="29"/>
                  </a:lnTo>
                  <a:lnTo>
                    <a:pt x="0" y="16"/>
                  </a:lnTo>
                  <a:lnTo>
                    <a:pt x="10" y="16"/>
                  </a:lnTo>
                  <a:lnTo>
                    <a:pt x="10" y="0"/>
                  </a:lnTo>
                  <a:lnTo>
                    <a:pt x="24" y="0"/>
                  </a:lnTo>
                  <a:lnTo>
                    <a:pt x="24" y="16"/>
                  </a:lnTo>
                  <a:lnTo>
                    <a:pt x="44" y="16"/>
                  </a:lnTo>
                  <a:lnTo>
                    <a:pt x="44" y="29"/>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1" name="Freeform 70"/>
            <p:cNvSpPr>
              <a:spLocks noEditPoints="1"/>
            </p:cNvSpPr>
            <p:nvPr userDrawn="1"/>
          </p:nvSpPr>
          <p:spPr bwMode="auto">
            <a:xfrm>
              <a:off x="1866900" y="6494463"/>
              <a:ext cx="30163" cy="28575"/>
            </a:xfrm>
            <a:custGeom>
              <a:avLst/>
              <a:gdLst>
                <a:gd name="T0" fmla="*/ 56 w 56"/>
                <a:gd name="T1" fmla="*/ 55 h 56"/>
                <a:gd name="T2" fmla="*/ 42 w 56"/>
                <a:gd name="T3" fmla="*/ 55 h 56"/>
                <a:gd name="T4" fmla="*/ 42 w 56"/>
                <a:gd name="T5" fmla="*/ 49 h 56"/>
                <a:gd name="T6" fmla="*/ 26 w 56"/>
                <a:gd name="T7" fmla="*/ 56 h 56"/>
                <a:gd name="T8" fmla="*/ 0 w 56"/>
                <a:gd name="T9" fmla="*/ 28 h 56"/>
                <a:gd name="T10" fmla="*/ 26 w 56"/>
                <a:gd name="T11" fmla="*/ 0 h 56"/>
                <a:gd name="T12" fmla="*/ 42 w 56"/>
                <a:gd name="T13" fmla="*/ 8 h 56"/>
                <a:gd name="T14" fmla="*/ 42 w 56"/>
                <a:gd name="T15" fmla="*/ 2 h 56"/>
                <a:gd name="T16" fmla="*/ 56 w 56"/>
                <a:gd name="T17" fmla="*/ 2 h 56"/>
                <a:gd name="T18" fmla="*/ 56 w 56"/>
                <a:gd name="T19" fmla="*/ 55 h 56"/>
                <a:gd name="T20" fmla="*/ 15 w 56"/>
                <a:gd name="T21" fmla="*/ 28 h 56"/>
                <a:gd name="T22" fmla="*/ 29 w 56"/>
                <a:gd name="T23" fmla="*/ 43 h 56"/>
                <a:gd name="T24" fmla="*/ 42 w 56"/>
                <a:gd name="T25" fmla="*/ 28 h 56"/>
                <a:gd name="T26" fmla="*/ 29 w 56"/>
                <a:gd name="T27" fmla="*/ 14 h 56"/>
                <a:gd name="T28" fmla="*/ 15 w 56"/>
                <a:gd name="T29" fmla="*/ 2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56">
                  <a:moveTo>
                    <a:pt x="56" y="55"/>
                  </a:moveTo>
                  <a:lnTo>
                    <a:pt x="42" y="55"/>
                  </a:lnTo>
                  <a:lnTo>
                    <a:pt x="42" y="49"/>
                  </a:lnTo>
                  <a:cubicBezTo>
                    <a:pt x="38" y="53"/>
                    <a:pt x="33" y="56"/>
                    <a:pt x="26" y="56"/>
                  </a:cubicBezTo>
                  <a:cubicBezTo>
                    <a:pt x="11" y="56"/>
                    <a:pt x="0" y="44"/>
                    <a:pt x="0" y="28"/>
                  </a:cubicBezTo>
                  <a:cubicBezTo>
                    <a:pt x="0" y="12"/>
                    <a:pt x="11" y="0"/>
                    <a:pt x="26" y="0"/>
                  </a:cubicBezTo>
                  <a:cubicBezTo>
                    <a:pt x="33" y="0"/>
                    <a:pt x="38" y="3"/>
                    <a:pt x="42" y="8"/>
                  </a:cubicBezTo>
                  <a:lnTo>
                    <a:pt x="42" y="2"/>
                  </a:lnTo>
                  <a:lnTo>
                    <a:pt x="56" y="2"/>
                  </a:lnTo>
                  <a:lnTo>
                    <a:pt x="56" y="55"/>
                  </a:lnTo>
                  <a:close/>
                  <a:moveTo>
                    <a:pt x="15" y="28"/>
                  </a:moveTo>
                  <a:cubicBezTo>
                    <a:pt x="15" y="37"/>
                    <a:pt x="20" y="43"/>
                    <a:pt x="29" y="43"/>
                  </a:cubicBezTo>
                  <a:cubicBezTo>
                    <a:pt x="37" y="43"/>
                    <a:pt x="42" y="37"/>
                    <a:pt x="42" y="28"/>
                  </a:cubicBezTo>
                  <a:cubicBezTo>
                    <a:pt x="42" y="20"/>
                    <a:pt x="37" y="14"/>
                    <a:pt x="29" y="14"/>
                  </a:cubicBezTo>
                  <a:cubicBezTo>
                    <a:pt x="20" y="14"/>
                    <a:pt x="15" y="20"/>
                    <a:pt x="15" y="28"/>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2" name="Freeform 71"/>
            <p:cNvSpPr>
              <a:spLocks/>
            </p:cNvSpPr>
            <p:nvPr userDrawn="1"/>
          </p:nvSpPr>
          <p:spPr bwMode="auto">
            <a:xfrm>
              <a:off x="1900238" y="6486525"/>
              <a:ext cx="25400" cy="36513"/>
            </a:xfrm>
            <a:custGeom>
              <a:avLst/>
              <a:gdLst>
                <a:gd name="T0" fmla="*/ 44 w 48"/>
                <a:gd name="T1" fmla="*/ 29 h 70"/>
                <a:gd name="T2" fmla="*/ 25 w 48"/>
                <a:gd name="T3" fmla="*/ 29 h 70"/>
                <a:gd name="T4" fmla="*/ 25 w 48"/>
                <a:gd name="T5" fmla="*/ 48 h 70"/>
                <a:gd name="T6" fmla="*/ 33 w 48"/>
                <a:gd name="T7" fmla="*/ 57 h 70"/>
                <a:gd name="T8" fmla="*/ 43 w 48"/>
                <a:gd name="T9" fmla="*/ 54 h 70"/>
                <a:gd name="T10" fmla="*/ 48 w 48"/>
                <a:gd name="T11" fmla="*/ 65 h 70"/>
                <a:gd name="T12" fmla="*/ 31 w 48"/>
                <a:gd name="T13" fmla="*/ 70 h 70"/>
                <a:gd name="T14" fmla="*/ 11 w 48"/>
                <a:gd name="T15" fmla="*/ 49 h 70"/>
                <a:gd name="T16" fmla="*/ 11 w 48"/>
                <a:gd name="T17" fmla="*/ 29 h 70"/>
                <a:gd name="T18" fmla="*/ 0 w 48"/>
                <a:gd name="T19" fmla="*/ 29 h 70"/>
                <a:gd name="T20" fmla="*/ 0 w 48"/>
                <a:gd name="T21" fmla="*/ 16 h 70"/>
                <a:gd name="T22" fmla="*/ 11 w 48"/>
                <a:gd name="T23" fmla="*/ 16 h 70"/>
                <a:gd name="T24" fmla="*/ 11 w 48"/>
                <a:gd name="T25" fmla="*/ 0 h 70"/>
                <a:gd name="T26" fmla="*/ 25 w 48"/>
                <a:gd name="T27" fmla="*/ 0 h 70"/>
                <a:gd name="T28" fmla="*/ 25 w 48"/>
                <a:gd name="T29" fmla="*/ 16 h 70"/>
                <a:gd name="T30" fmla="*/ 44 w 48"/>
                <a:gd name="T31" fmla="*/ 16 h 70"/>
                <a:gd name="T32" fmla="*/ 44 w 48"/>
                <a:gd name="T33" fmla="*/ 2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70">
                  <a:moveTo>
                    <a:pt x="44" y="29"/>
                  </a:moveTo>
                  <a:lnTo>
                    <a:pt x="25" y="29"/>
                  </a:lnTo>
                  <a:lnTo>
                    <a:pt x="25" y="48"/>
                  </a:lnTo>
                  <a:cubicBezTo>
                    <a:pt x="25" y="55"/>
                    <a:pt x="28" y="57"/>
                    <a:pt x="33" y="57"/>
                  </a:cubicBezTo>
                  <a:cubicBezTo>
                    <a:pt x="36" y="57"/>
                    <a:pt x="40" y="55"/>
                    <a:pt x="43" y="54"/>
                  </a:cubicBezTo>
                  <a:lnTo>
                    <a:pt x="48" y="65"/>
                  </a:lnTo>
                  <a:cubicBezTo>
                    <a:pt x="43" y="68"/>
                    <a:pt x="38" y="70"/>
                    <a:pt x="31" y="70"/>
                  </a:cubicBezTo>
                  <a:cubicBezTo>
                    <a:pt x="17" y="70"/>
                    <a:pt x="11" y="63"/>
                    <a:pt x="11" y="49"/>
                  </a:cubicBezTo>
                  <a:lnTo>
                    <a:pt x="11" y="29"/>
                  </a:lnTo>
                  <a:lnTo>
                    <a:pt x="0" y="29"/>
                  </a:lnTo>
                  <a:lnTo>
                    <a:pt x="0" y="16"/>
                  </a:lnTo>
                  <a:lnTo>
                    <a:pt x="11" y="16"/>
                  </a:lnTo>
                  <a:lnTo>
                    <a:pt x="11" y="0"/>
                  </a:lnTo>
                  <a:lnTo>
                    <a:pt x="25" y="0"/>
                  </a:lnTo>
                  <a:lnTo>
                    <a:pt x="25" y="16"/>
                  </a:lnTo>
                  <a:lnTo>
                    <a:pt x="44" y="16"/>
                  </a:lnTo>
                  <a:lnTo>
                    <a:pt x="44" y="29"/>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3" name="Freeform 72"/>
            <p:cNvSpPr>
              <a:spLocks noEditPoints="1"/>
            </p:cNvSpPr>
            <p:nvPr userDrawn="1"/>
          </p:nvSpPr>
          <p:spPr bwMode="auto">
            <a:xfrm>
              <a:off x="1927225" y="6494463"/>
              <a:ext cx="26988" cy="28575"/>
            </a:xfrm>
            <a:custGeom>
              <a:avLst/>
              <a:gdLst>
                <a:gd name="T0" fmla="*/ 52 w 52"/>
                <a:gd name="T1" fmla="*/ 28 h 56"/>
                <a:gd name="T2" fmla="*/ 52 w 52"/>
                <a:gd name="T3" fmla="*/ 33 h 56"/>
                <a:gd name="T4" fmla="*/ 14 w 52"/>
                <a:gd name="T5" fmla="*/ 33 h 56"/>
                <a:gd name="T6" fmla="*/ 28 w 52"/>
                <a:gd name="T7" fmla="*/ 44 h 56"/>
                <a:gd name="T8" fmla="*/ 41 w 52"/>
                <a:gd name="T9" fmla="*/ 39 h 56"/>
                <a:gd name="T10" fmla="*/ 50 w 52"/>
                <a:gd name="T11" fmla="*/ 48 h 56"/>
                <a:gd name="T12" fmla="*/ 27 w 52"/>
                <a:gd name="T13" fmla="*/ 56 h 56"/>
                <a:gd name="T14" fmla="*/ 0 w 52"/>
                <a:gd name="T15" fmla="*/ 29 h 56"/>
                <a:gd name="T16" fmla="*/ 26 w 52"/>
                <a:gd name="T17" fmla="*/ 0 h 56"/>
                <a:gd name="T18" fmla="*/ 52 w 52"/>
                <a:gd name="T19" fmla="*/ 28 h 56"/>
                <a:gd name="T20" fmla="*/ 14 w 52"/>
                <a:gd name="T21" fmla="*/ 23 h 56"/>
                <a:gd name="T22" fmla="*/ 38 w 52"/>
                <a:gd name="T23" fmla="*/ 23 h 56"/>
                <a:gd name="T24" fmla="*/ 26 w 52"/>
                <a:gd name="T25" fmla="*/ 13 h 56"/>
                <a:gd name="T26" fmla="*/ 14 w 52"/>
                <a:gd name="T27" fmla="*/ 2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56">
                  <a:moveTo>
                    <a:pt x="52" y="28"/>
                  </a:moveTo>
                  <a:cubicBezTo>
                    <a:pt x="52" y="30"/>
                    <a:pt x="52" y="32"/>
                    <a:pt x="52" y="33"/>
                  </a:cubicBezTo>
                  <a:lnTo>
                    <a:pt x="14" y="33"/>
                  </a:lnTo>
                  <a:cubicBezTo>
                    <a:pt x="16" y="41"/>
                    <a:pt x="21" y="44"/>
                    <a:pt x="28" y="44"/>
                  </a:cubicBezTo>
                  <a:cubicBezTo>
                    <a:pt x="33" y="44"/>
                    <a:pt x="38" y="42"/>
                    <a:pt x="41" y="39"/>
                  </a:cubicBezTo>
                  <a:lnTo>
                    <a:pt x="50" y="48"/>
                  </a:lnTo>
                  <a:cubicBezTo>
                    <a:pt x="44" y="54"/>
                    <a:pt x="36" y="56"/>
                    <a:pt x="27" y="56"/>
                  </a:cubicBezTo>
                  <a:cubicBezTo>
                    <a:pt x="11" y="56"/>
                    <a:pt x="0" y="45"/>
                    <a:pt x="0" y="29"/>
                  </a:cubicBezTo>
                  <a:cubicBezTo>
                    <a:pt x="0" y="12"/>
                    <a:pt x="11" y="0"/>
                    <a:pt x="26" y="0"/>
                  </a:cubicBezTo>
                  <a:cubicBezTo>
                    <a:pt x="42" y="0"/>
                    <a:pt x="52" y="12"/>
                    <a:pt x="52" y="28"/>
                  </a:cubicBezTo>
                  <a:moveTo>
                    <a:pt x="14" y="23"/>
                  </a:moveTo>
                  <a:lnTo>
                    <a:pt x="38" y="23"/>
                  </a:lnTo>
                  <a:cubicBezTo>
                    <a:pt x="37" y="17"/>
                    <a:pt x="33" y="13"/>
                    <a:pt x="26" y="13"/>
                  </a:cubicBezTo>
                  <a:cubicBezTo>
                    <a:pt x="20" y="13"/>
                    <a:pt x="16" y="17"/>
                    <a:pt x="14" y="23"/>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4" name="Freeform 73"/>
            <p:cNvSpPr>
              <a:spLocks/>
            </p:cNvSpPr>
            <p:nvPr userDrawn="1"/>
          </p:nvSpPr>
          <p:spPr bwMode="auto">
            <a:xfrm>
              <a:off x="1804988" y="6532563"/>
              <a:ext cx="41275" cy="42863"/>
            </a:xfrm>
            <a:custGeom>
              <a:avLst/>
              <a:gdLst>
                <a:gd name="T0" fmla="*/ 69 w 77"/>
                <a:gd name="T1" fmla="*/ 12 h 80"/>
                <a:gd name="T2" fmla="*/ 58 w 77"/>
                <a:gd name="T3" fmla="*/ 23 h 80"/>
                <a:gd name="T4" fmla="*/ 40 w 77"/>
                <a:gd name="T5" fmla="*/ 15 h 80"/>
                <a:gd name="T6" fmla="*/ 16 w 77"/>
                <a:gd name="T7" fmla="*/ 40 h 80"/>
                <a:gd name="T8" fmla="*/ 40 w 77"/>
                <a:gd name="T9" fmla="*/ 66 h 80"/>
                <a:gd name="T10" fmla="*/ 61 w 77"/>
                <a:gd name="T11" fmla="*/ 49 h 80"/>
                <a:gd name="T12" fmla="*/ 42 w 77"/>
                <a:gd name="T13" fmla="*/ 49 h 80"/>
                <a:gd name="T14" fmla="*/ 42 w 77"/>
                <a:gd name="T15" fmla="*/ 36 h 80"/>
                <a:gd name="T16" fmla="*/ 77 w 77"/>
                <a:gd name="T17" fmla="*/ 36 h 80"/>
                <a:gd name="T18" fmla="*/ 77 w 77"/>
                <a:gd name="T19" fmla="*/ 40 h 80"/>
                <a:gd name="T20" fmla="*/ 40 w 77"/>
                <a:gd name="T21" fmla="*/ 80 h 80"/>
                <a:gd name="T22" fmla="*/ 0 w 77"/>
                <a:gd name="T23" fmla="*/ 40 h 80"/>
                <a:gd name="T24" fmla="*/ 40 w 77"/>
                <a:gd name="T25" fmla="*/ 0 h 80"/>
                <a:gd name="T26" fmla="*/ 69 w 77"/>
                <a:gd name="T27" fmla="*/ 1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80">
                  <a:moveTo>
                    <a:pt x="69" y="12"/>
                  </a:moveTo>
                  <a:lnTo>
                    <a:pt x="58" y="23"/>
                  </a:lnTo>
                  <a:cubicBezTo>
                    <a:pt x="54" y="18"/>
                    <a:pt x="48" y="15"/>
                    <a:pt x="40" y="15"/>
                  </a:cubicBezTo>
                  <a:cubicBezTo>
                    <a:pt x="26" y="15"/>
                    <a:pt x="16" y="25"/>
                    <a:pt x="16" y="40"/>
                  </a:cubicBezTo>
                  <a:cubicBezTo>
                    <a:pt x="16" y="56"/>
                    <a:pt x="26" y="66"/>
                    <a:pt x="40" y="66"/>
                  </a:cubicBezTo>
                  <a:cubicBezTo>
                    <a:pt x="52" y="66"/>
                    <a:pt x="59" y="60"/>
                    <a:pt x="61" y="49"/>
                  </a:cubicBezTo>
                  <a:lnTo>
                    <a:pt x="42" y="49"/>
                  </a:lnTo>
                  <a:lnTo>
                    <a:pt x="42" y="36"/>
                  </a:lnTo>
                  <a:lnTo>
                    <a:pt x="77" y="36"/>
                  </a:lnTo>
                  <a:cubicBezTo>
                    <a:pt x="77" y="38"/>
                    <a:pt x="77" y="39"/>
                    <a:pt x="77" y="40"/>
                  </a:cubicBezTo>
                  <a:cubicBezTo>
                    <a:pt x="77" y="64"/>
                    <a:pt x="62" y="80"/>
                    <a:pt x="40" y="80"/>
                  </a:cubicBezTo>
                  <a:cubicBezTo>
                    <a:pt x="19" y="80"/>
                    <a:pt x="0" y="65"/>
                    <a:pt x="0" y="40"/>
                  </a:cubicBezTo>
                  <a:cubicBezTo>
                    <a:pt x="0" y="17"/>
                    <a:pt x="17" y="0"/>
                    <a:pt x="40" y="0"/>
                  </a:cubicBezTo>
                  <a:cubicBezTo>
                    <a:pt x="52" y="0"/>
                    <a:pt x="63" y="5"/>
                    <a:pt x="69" y="12"/>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5" name="Freeform 74"/>
            <p:cNvSpPr>
              <a:spLocks noEditPoints="1"/>
            </p:cNvSpPr>
            <p:nvPr userDrawn="1"/>
          </p:nvSpPr>
          <p:spPr bwMode="auto">
            <a:xfrm>
              <a:off x="1849438" y="6545263"/>
              <a:ext cx="30163" cy="30163"/>
            </a:xfrm>
            <a:custGeom>
              <a:avLst/>
              <a:gdLst>
                <a:gd name="T0" fmla="*/ 57 w 57"/>
                <a:gd name="T1" fmla="*/ 28 h 56"/>
                <a:gd name="T2" fmla="*/ 28 w 57"/>
                <a:gd name="T3" fmla="*/ 56 h 56"/>
                <a:gd name="T4" fmla="*/ 0 w 57"/>
                <a:gd name="T5" fmla="*/ 28 h 56"/>
                <a:gd name="T6" fmla="*/ 28 w 57"/>
                <a:gd name="T7" fmla="*/ 0 h 56"/>
                <a:gd name="T8" fmla="*/ 57 w 57"/>
                <a:gd name="T9" fmla="*/ 28 h 56"/>
                <a:gd name="T10" fmla="*/ 14 w 57"/>
                <a:gd name="T11" fmla="*/ 28 h 56"/>
                <a:gd name="T12" fmla="*/ 28 w 57"/>
                <a:gd name="T13" fmla="*/ 43 h 56"/>
                <a:gd name="T14" fmla="*/ 42 w 57"/>
                <a:gd name="T15" fmla="*/ 28 h 56"/>
                <a:gd name="T16" fmla="*/ 28 w 57"/>
                <a:gd name="T17" fmla="*/ 13 h 56"/>
                <a:gd name="T18" fmla="*/ 14 w 57"/>
                <a:gd name="T19" fmla="*/ 2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56">
                  <a:moveTo>
                    <a:pt x="57" y="28"/>
                  </a:moveTo>
                  <a:cubicBezTo>
                    <a:pt x="57" y="44"/>
                    <a:pt x="45" y="56"/>
                    <a:pt x="28" y="56"/>
                  </a:cubicBezTo>
                  <a:cubicBezTo>
                    <a:pt x="12" y="56"/>
                    <a:pt x="0" y="44"/>
                    <a:pt x="0" y="28"/>
                  </a:cubicBezTo>
                  <a:cubicBezTo>
                    <a:pt x="0" y="12"/>
                    <a:pt x="12" y="0"/>
                    <a:pt x="28" y="0"/>
                  </a:cubicBezTo>
                  <a:cubicBezTo>
                    <a:pt x="45" y="0"/>
                    <a:pt x="57" y="12"/>
                    <a:pt x="57" y="28"/>
                  </a:cubicBezTo>
                  <a:moveTo>
                    <a:pt x="14" y="28"/>
                  </a:moveTo>
                  <a:cubicBezTo>
                    <a:pt x="14" y="37"/>
                    <a:pt x="20" y="43"/>
                    <a:pt x="28" y="43"/>
                  </a:cubicBezTo>
                  <a:cubicBezTo>
                    <a:pt x="36" y="43"/>
                    <a:pt x="42" y="37"/>
                    <a:pt x="42" y="28"/>
                  </a:cubicBezTo>
                  <a:cubicBezTo>
                    <a:pt x="42" y="19"/>
                    <a:pt x="36" y="13"/>
                    <a:pt x="28" y="13"/>
                  </a:cubicBezTo>
                  <a:cubicBezTo>
                    <a:pt x="20" y="13"/>
                    <a:pt x="14" y="19"/>
                    <a:pt x="14" y="28"/>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6" name="Freeform 75"/>
            <p:cNvSpPr>
              <a:spLocks/>
            </p:cNvSpPr>
            <p:nvPr userDrawn="1"/>
          </p:nvSpPr>
          <p:spPr bwMode="auto">
            <a:xfrm>
              <a:off x="1881188" y="6546850"/>
              <a:ext cx="30163" cy="28575"/>
            </a:xfrm>
            <a:custGeom>
              <a:avLst/>
              <a:gdLst>
                <a:gd name="T0" fmla="*/ 12 w 19"/>
                <a:gd name="T1" fmla="*/ 18 h 18"/>
                <a:gd name="T2" fmla="*/ 7 w 19"/>
                <a:gd name="T3" fmla="*/ 18 h 18"/>
                <a:gd name="T4" fmla="*/ 0 w 19"/>
                <a:gd name="T5" fmla="*/ 0 h 18"/>
                <a:gd name="T6" fmla="*/ 5 w 19"/>
                <a:gd name="T7" fmla="*/ 0 h 18"/>
                <a:gd name="T8" fmla="*/ 9 w 19"/>
                <a:gd name="T9" fmla="*/ 13 h 18"/>
                <a:gd name="T10" fmla="*/ 14 w 19"/>
                <a:gd name="T11" fmla="*/ 0 h 18"/>
                <a:gd name="T12" fmla="*/ 19 w 19"/>
                <a:gd name="T13" fmla="*/ 0 h 18"/>
                <a:gd name="T14" fmla="*/ 12 w 19"/>
                <a:gd name="T15" fmla="*/ 18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8">
                  <a:moveTo>
                    <a:pt x="12" y="18"/>
                  </a:moveTo>
                  <a:lnTo>
                    <a:pt x="7" y="18"/>
                  </a:lnTo>
                  <a:lnTo>
                    <a:pt x="0" y="0"/>
                  </a:lnTo>
                  <a:lnTo>
                    <a:pt x="5" y="0"/>
                  </a:lnTo>
                  <a:lnTo>
                    <a:pt x="9" y="13"/>
                  </a:lnTo>
                  <a:lnTo>
                    <a:pt x="14" y="0"/>
                  </a:lnTo>
                  <a:lnTo>
                    <a:pt x="19" y="0"/>
                  </a:lnTo>
                  <a:lnTo>
                    <a:pt x="12" y="1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7" name="Freeform 76"/>
            <p:cNvSpPr>
              <a:spLocks noEditPoints="1"/>
            </p:cNvSpPr>
            <p:nvPr userDrawn="1"/>
          </p:nvSpPr>
          <p:spPr bwMode="auto">
            <a:xfrm>
              <a:off x="1911350" y="6545263"/>
              <a:ext cx="28575" cy="30163"/>
            </a:xfrm>
            <a:custGeom>
              <a:avLst/>
              <a:gdLst>
                <a:gd name="T0" fmla="*/ 53 w 53"/>
                <a:gd name="T1" fmla="*/ 28 h 56"/>
                <a:gd name="T2" fmla="*/ 53 w 53"/>
                <a:gd name="T3" fmla="*/ 33 h 56"/>
                <a:gd name="T4" fmla="*/ 15 w 53"/>
                <a:gd name="T5" fmla="*/ 33 h 56"/>
                <a:gd name="T6" fmla="*/ 29 w 53"/>
                <a:gd name="T7" fmla="*/ 44 h 56"/>
                <a:gd name="T8" fmla="*/ 42 w 53"/>
                <a:gd name="T9" fmla="*/ 39 h 56"/>
                <a:gd name="T10" fmla="*/ 50 w 53"/>
                <a:gd name="T11" fmla="*/ 48 h 56"/>
                <a:gd name="T12" fmla="*/ 28 w 53"/>
                <a:gd name="T13" fmla="*/ 56 h 56"/>
                <a:gd name="T14" fmla="*/ 0 w 53"/>
                <a:gd name="T15" fmla="*/ 28 h 56"/>
                <a:gd name="T16" fmla="*/ 27 w 53"/>
                <a:gd name="T17" fmla="*/ 0 h 56"/>
                <a:gd name="T18" fmla="*/ 53 w 53"/>
                <a:gd name="T19" fmla="*/ 28 h 56"/>
                <a:gd name="T20" fmla="*/ 15 w 53"/>
                <a:gd name="T21" fmla="*/ 23 h 56"/>
                <a:gd name="T22" fmla="*/ 39 w 53"/>
                <a:gd name="T23" fmla="*/ 23 h 56"/>
                <a:gd name="T24" fmla="*/ 27 w 53"/>
                <a:gd name="T25" fmla="*/ 12 h 56"/>
                <a:gd name="T26" fmla="*/ 15 w 53"/>
                <a:gd name="T27" fmla="*/ 2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 h="56">
                  <a:moveTo>
                    <a:pt x="53" y="28"/>
                  </a:moveTo>
                  <a:cubicBezTo>
                    <a:pt x="53" y="30"/>
                    <a:pt x="53" y="32"/>
                    <a:pt x="53" y="33"/>
                  </a:cubicBezTo>
                  <a:lnTo>
                    <a:pt x="15" y="33"/>
                  </a:lnTo>
                  <a:cubicBezTo>
                    <a:pt x="17" y="41"/>
                    <a:pt x="22" y="44"/>
                    <a:pt x="29" y="44"/>
                  </a:cubicBezTo>
                  <a:cubicBezTo>
                    <a:pt x="33" y="44"/>
                    <a:pt x="38" y="42"/>
                    <a:pt x="42" y="39"/>
                  </a:cubicBezTo>
                  <a:lnTo>
                    <a:pt x="50" y="48"/>
                  </a:lnTo>
                  <a:cubicBezTo>
                    <a:pt x="44" y="54"/>
                    <a:pt x="37" y="56"/>
                    <a:pt x="28" y="56"/>
                  </a:cubicBezTo>
                  <a:cubicBezTo>
                    <a:pt x="12" y="56"/>
                    <a:pt x="0" y="45"/>
                    <a:pt x="0" y="28"/>
                  </a:cubicBezTo>
                  <a:cubicBezTo>
                    <a:pt x="0" y="12"/>
                    <a:pt x="11" y="0"/>
                    <a:pt x="27" y="0"/>
                  </a:cubicBezTo>
                  <a:cubicBezTo>
                    <a:pt x="42" y="0"/>
                    <a:pt x="53" y="11"/>
                    <a:pt x="53" y="28"/>
                  </a:cubicBezTo>
                  <a:moveTo>
                    <a:pt x="15" y="23"/>
                  </a:moveTo>
                  <a:lnTo>
                    <a:pt x="39" y="23"/>
                  </a:lnTo>
                  <a:cubicBezTo>
                    <a:pt x="37" y="16"/>
                    <a:pt x="33" y="12"/>
                    <a:pt x="27" y="12"/>
                  </a:cubicBezTo>
                  <a:cubicBezTo>
                    <a:pt x="20" y="12"/>
                    <a:pt x="16" y="17"/>
                    <a:pt x="15" y="23"/>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8" name="Freeform 77"/>
            <p:cNvSpPr>
              <a:spLocks/>
            </p:cNvSpPr>
            <p:nvPr userDrawn="1"/>
          </p:nvSpPr>
          <p:spPr bwMode="auto">
            <a:xfrm>
              <a:off x="1944688" y="6545263"/>
              <a:ext cx="19050" cy="30163"/>
            </a:xfrm>
            <a:custGeom>
              <a:avLst/>
              <a:gdLst>
                <a:gd name="T0" fmla="*/ 37 w 37"/>
                <a:gd name="T1" fmla="*/ 1 h 55"/>
                <a:gd name="T2" fmla="*/ 35 w 37"/>
                <a:gd name="T3" fmla="*/ 15 h 55"/>
                <a:gd name="T4" fmla="*/ 26 w 37"/>
                <a:gd name="T5" fmla="*/ 14 h 55"/>
                <a:gd name="T6" fmla="*/ 15 w 37"/>
                <a:gd name="T7" fmla="*/ 26 h 55"/>
                <a:gd name="T8" fmla="*/ 15 w 37"/>
                <a:gd name="T9" fmla="*/ 55 h 55"/>
                <a:gd name="T10" fmla="*/ 0 w 37"/>
                <a:gd name="T11" fmla="*/ 55 h 55"/>
                <a:gd name="T12" fmla="*/ 0 w 37"/>
                <a:gd name="T13" fmla="*/ 2 h 55"/>
                <a:gd name="T14" fmla="*/ 14 w 37"/>
                <a:gd name="T15" fmla="*/ 2 h 55"/>
                <a:gd name="T16" fmla="*/ 14 w 37"/>
                <a:gd name="T17" fmla="*/ 7 h 55"/>
                <a:gd name="T18" fmla="*/ 29 w 37"/>
                <a:gd name="T19" fmla="*/ 0 h 55"/>
                <a:gd name="T20" fmla="*/ 37 w 37"/>
                <a:gd name="T21"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5">
                  <a:moveTo>
                    <a:pt x="37" y="1"/>
                  </a:moveTo>
                  <a:lnTo>
                    <a:pt x="35" y="15"/>
                  </a:lnTo>
                  <a:cubicBezTo>
                    <a:pt x="32" y="14"/>
                    <a:pt x="29" y="14"/>
                    <a:pt x="26" y="14"/>
                  </a:cubicBezTo>
                  <a:cubicBezTo>
                    <a:pt x="19" y="14"/>
                    <a:pt x="15" y="18"/>
                    <a:pt x="15" y="26"/>
                  </a:cubicBezTo>
                  <a:lnTo>
                    <a:pt x="15" y="55"/>
                  </a:lnTo>
                  <a:lnTo>
                    <a:pt x="0" y="55"/>
                  </a:lnTo>
                  <a:lnTo>
                    <a:pt x="0" y="2"/>
                  </a:lnTo>
                  <a:lnTo>
                    <a:pt x="14" y="2"/>
                  </a:lnTo>
                  <a:lnTo>
                    <a:pt x="14" y="7"/>
                  </a:lnTo>
                  <a:cubicBezTo>
                    <a:pt x="18" y="2"/>
                    <a:pt x="23" y="0"/>
                    <a:pt x="29" y="0"/>
                  </a:cubicBezTo>
                  <a:cubicBezTo>
                    <a:pt x="32" y="0"/>
                    <a:pt x="35" y="1"/>
                    <a:pt x="37" y="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9" name="Freeform 78"/>
            <p:cNvSpPr>
              <a:spLocks/>
            </p:cNvSpPr>
            <p:nvPr userDrawn="1"/>
          </p:nvSpPr>
          <p:spPr bwMode="auto">
            <a:xfrm>
              <a:off x="1966913" y="6545263"/>
              <a:ext cx="26988" cy="30163"/>
            </a:xfrm>
            <a:custGeom>
              <a:avLst/>
              <a:gdLst>
                <a:gd name="T0" fmla="*/ 51 w 51"/>
                <a:gd name="T1" fmla="*/ 21 h 55"/>
                <a:gd name="T2" fmla="*/ 51 w 51"/>
                <a:gd name="T3" fmla="*/ 55 h 55"/>
                <a:gd name="T4" fmla="*/ 36 w 51"/>
                <a:gd name="T5" fmla="*/ 55 h 55"/>
                <a:gd name="T6" fmla="*/ 36 w 51"/>
                <a:gd name="T7" fmla="*/ 25 h 55"/>
                <a:gd name="T8" fmla="*/ 26 w 51"/>
                <a:gd name="T9" fmla="*/ 14 h 55"/>
                <a:gd name="T10" fmla="*/ 15 w 51"/>
                <a:gd name="T11" fmla="*/ 26 h 55"/>
                <a:gd name="T12" fmla="*/ 15 w 51"/>
                <a:gd name="T13" fmla="*/ 55 h 55"/>
                <a:gd name="T14" fmla="*/ 0 w 51"/>
                <a:gd name="T15" fmla="*/ 55 h 55"/>
                <a:gd name="T16" fmla="*/ 0 w 51"/>
                <a:gd name="T17" fmla="*/ 2 h 55"/>
                <a:gd name="T18" fmla="*/ 14 w 51"/>
                <a:gd name="T19" fmla="*/ 2 h 55"/>
                <a:gd name="T20" fmla="*/ 14 w 51"/>
                <a:gd name="T21" fmla="*/ 8 h 55"/>
                <a:gd name="T22" fmla="*/ 30 w 51"/>
                <a:gd name="T23" fmla="*/ 0 h 55"/>
                <a:gd name="T24" fmla="*/ 51 w 51"/>
                <a:gd name="T25"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 h="55">
                  <a:moveTo>
                    <a:pt x="51" y="21"/>
                  </a:moveTo>
                  <a:lnTo>
                    <a:pt x="51" y="55"/>
                  </a:lnTo>
                  <a:lnTo>
                    <a:pt x="36" y="55"/>
                  </a:lnTo>
                  <a:lnTo>
                    <a:pt x="36" y="25"/>
                  </a:lnTo>
                  <a:cubicBezTo>
                    <a:pt x="36" y="18"/>
                    <a:pt x="32" y="14"/>
                    <a:pt x="26" y="14"/>
                  </a:cubicBezTo>
                  <a:cubicBezTo>
                    <a:pt x="20" y="14"/>
                    <a:pt x="15" y="18"/>
                    <a:pt x="15" y="26"/>
                  </a:cubicBezTo>
                  <a:lnTo>
                    <a:pt x="15" y="55"/>
                  </a:lnTo>
                  <a:lnTo>
                    <a:pt x="0" y="55"/>
                  </a:lnTo>
                  <a:lnTo>
                    <a:pt x="0" y="2"/>
                  </a:lnTo>
                  <a:lnTo>
                    <a:pt x="14" y="2"/>
                  </a:lnTo>
                  <a:lnTo>
                    <a:pt x="14" y="8"/>
                  </a:lnTo>
                  <a:cubicBezTo>
                    <a:pt x="18" y="2"/>
                    <a:pt x="24" y="0"/>
                    <a:pt x="30" y="0"/>
                  </a:cubicBezTo>
                  <a:cubicBezTo>
                    <a:pt x="42" y="0"/>
                    <a:pt x="51" y="9"/>
                    <a:pt x="51" y="2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80" name="Freeform 79"/>
            <p:cNvSpPr>
              <a:spLocks/>
            </p:cNvSpPr>
            <p:nvPr userDrawn="1"/>
          </p:nvSpPr>
          <p:spPr bwMode="auto">
            <a:xfrm>
              <a:off x="2000250" y="6545263"/>
              <a:ext cx="46038" cy="30163"/>
            </a:xfrm>
            <a:custGeom>
              <a:avLst/>
              <a:gdLst>
                <a:gd name="T0" fmla="*/ 86 w 86"/>
                <a:gd name="T1" fmla="*/ 21 h 55"/>
                <a:gd name="T2" fmla="*/ 86 w 86"/>
                <a:gd name="T3" fmla="*/ 55 h 55"/>
                <a:gd name="T4" fmla="*/ 72 w 86"/>
                <a:gd name="T5" fmla="*/ 55 h 55"/>
                <a:gd name="T6" fmla="*/ 72 w 86"/>
                <a:gd name="T7" fmla="*/ 25 h 55"/>
                <a:gd name="T8" fmla="*/ 61 w 86"/>
                <a:gd name="T9" fmla="*/ 14 h 55"/>
                <a:gd name="T10" fmla="*/ 50 w 86"/>
                <a:gd name="T11" fmla="*/ 26 h 55"/>
                <a:gd name="T12" fmla="*/ 50 w 86"/>
                <a:gd name="T13" fmla="*/ 55 h 55"/>
                <a:gd name="T14" fmla="*/ 36 w 86"/>
                <a:gd name="T15" fmla="*/ 55 h 55"/>
                <a:gd name="T16" fmla="*/ 36 w 86"/>
                <a:gd name="T17" fmla="*/ 25 h 55"/>
                <a:gd name="T18" fmla="*/ 25 w 86"/>
                <a:gd name="T19" fmla="*/ 14 h 55"/>
                <a:gd name="T20" fmla="*/ 14 w 86"/>
                <a:gd name="T21" fmla="*/ 26 h 55"/>
                <a:gd name="T22" fmla="*/ 14 w 86"/>
                <a:gd name="T23" fmla="*/ 55 h 55"/>
                <a:gd name="T24" fmla="*/ 0 w 86"/>
                <a:gd name="T25" fmla="*/ 55 h 55"/>
                <a:gd name="T26" fmla="*/ 0 w 86"/>
                <a:gd name="T27" fmla="*/ 2 h 55"/>
                <a:gd name="T28" fmla="*/ 14 w 86"/>
                <a:gd name="T29" fmla="*/ 2 h 55"/>
                <a:gd name="T30" fmla="*/ 14 w 86"/>
                <a:gd name="T31" fmla="*/ 8 h 55"/>
                <a:gd name="T32" fmla="*/ 29 w 86"/>
                <a:gd name="T33" fmla="*/ 0 h 55"/>
                <a:gd name="T34" fmla="*/ 47 w 86"/>
                <a:gd name="T35" fmla="*/ 9 h 55"/>
                <a:gd name="T36" fmla="*/ 65 w 86"/>
                <a:gd name="T37" fmla="*/ 0 h 55"/>
                <a:gd name="T38" fmla="*/ 86 w 86"/>
                <a:gd name="T39"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55">
                  <a:moveTo>
                    <a:pt x="86" y="21"/>
                  </a:moveTo>
                  <a:lnTo>
                    <a:pt x="86" y="55"/>
                  </a:lnTo>
                  <a:lnTo>
                    <a:pt x="72" y="55"/>
                  </a:lnTo>
                  <a:lnTo>
                    <a:pt x="72" y="25"/>
                  </a:lnTo>
                  <a:cubicBezTo>
                    <a:pt x="72" y="18"/>
                    <a:pt x="68" y="14"/>
                    <a:pt x="61" y="14"/>
                  </a:cubicBezTo>
                  <a:cubicBezTo>
                    <a:pt x="55" y="14"/>
                    <a:pt x="50" y="18"/>
                    <a:pt x="50" y="26"/>
                  </a:cubicBezTo>
                  <a:lnTo>
                    <a:pt x="50" y="55"/>
                  </a:lnTo>
                  <a:lnTo>
                    <a:pt x="36" y="55"/>
                  </a:lnTo>
                  <a:lnTo>
                    <a:pt x="36" y="25"/>
                  </a:lnTo>
                  <a:cubicBezTo>
                    <a:pt x="36" y="18"/>
                    <a:pt x="32" y="14"/>
                    <a:pt x="25" y="14"/>
                  </a:cubicBezTo>
                  <a:cubicBezTo>
                    <a:pt x="19" y="14"/>
                    <a:pt x="14" y="18"/>
                    <a:pt x="14" y="26"/>
                  </a:cubicBezTo>
                  <a:lnTo>
                    <a:pt x="14" y="55"/>
                  </a:lnTo>
                  <a:lnTo>
                    <a:pt x="0" y="55"/>
                  </a:lnTo>
                  <a:lnTo>
                    <a:pt x="0" y="2"/>
                  </a:lnTo>
                  <a:lnTo>
                    <a:pt x="14" y="2"/>
                  </a:lnTo>
                  <a:lnTo>
                    <a:pt x="14" y="8"/>
                  </a:lnTo>
                  <a:cubicBezTo>
                    <a:pt x="18" y="2"/>
                    <a:pt x="23" y="0"/>
                    <a:pt x="29" y="0"/>
                  </a:cubicBezTo>
                  <a:cubicBezTo>
                    <a:pt x="37" y="0"/>
                    <a:pt x="43" y="4"/>
                    <a:pt x="47" y="9"/>
                  </a:cubicBezTo>
                  <a:cubicBezTo>
                    <a:pt x="51" y="2"/>
                    <a:pt x="58" y="0"/>
                    <a:pt x="65" y="0"/>
                  </a:cubicBezTo>
                  <a:cubicBezTo>
                    <a:pt x="78" y="0"/>
                    <a:pt x="86" y="9"/>
                    <a:pt x="86" y="2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81" name="Freeform 80"/>
            <p:cNvSpPr>
              <a:spLocks noEditPoints="1"/>
            </p:cNvSpPr>
            <p:nvPr userDrawn="1"/>
          </p:nvSpPr>
          <p:spPr bwMode="auto">
            <a:xfrm>
              <a:off x="2051050" y="6545263"/>
              <a:ext cx="26988" cy="30163"/>
            </a:xfrm>
            <a:custGeom>
              <a:avLst/>
              <a:gdLst>
                <a:gd name="T0" fmla="*/ 53 w 53"/>
                <a:gd name="T1" fmla="*/ 28 h 56"/>
                <a:gd name="T2" fmla="*/ 52 w 53"/>
                <a:gd name="T3" fmla="*/ 33 h 56"/>
                <a:gd name="T4" fmla="*/ 15 w 53"/>
                <a:gd name="T5" fmla="*/ 33 h 56"/>
                <a:gd name="T6" fmla="*/ 28 w 53"/>
                <a:gd name="T7" fmla="*/ 44 h 56"/>
                <a:gd name="T8" fmla="*/ 42 w 53"/>
                <a:gd name="T9" fmla="*/ 39 h 56"/>
                <a:gd name="T10" fmla="*/ 50 w 53"/>
                <a:gd name="T11" fmla="*/ 48 h 56"/>
                <a:gd name="T12" fmla="*/ 28 w 53"/>
                <a:gd name="T13" fmla="*/ 56 h 56"/>
                <a:gd name="T14" fmla="*/ 0 w 53"/>
                <a:gd name="T15" fmla="*/ 28 h 56"/>
                <a:gd name="T16" fmla="*/ 27 w 53"/>
                <a:gd name="T17" fmla="*/ 0 h 56"/>
                <a:gd name="T18" fmla="*/ 53 w 53"/>
                <a:gd name="T19" fmla="*/ 28 h 56"/>
                <a:gd name="T20" fmla="*/ 15 w 53"/>
                <a:gd name="T21" fmla="*/ 23 h 56"/>
                <a:gd name="T22" fmla="*/ 38 w 53"/>
                <a:gd name="T23" fmla="*/ 23 h 56"/>
                <a:gd name="T24" fmla="*/ 27 w 53"/>
                <a:gd name="T25" fmla="*/ 12 h 56"/>
                <a:gd name="T26" fmla="*/ 15 w 53"/>
                <a:gd name="T27" fmla="*/ 2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 h="56">
                  <a:moveTo>
                    <a:pt x="53" y="28"/>
                  </a:moveTo>
                  <a:cubicBezTo>
                    <a:pt x="53" y="30"/>
                    <a:pt x="53" y="32"/>
                    <a:pt x="52" y="33"/>
                  </a:cubicBezTo>
                  <a:lnTo>
                    <a:pt x="15" y="33"/>
                  </a:lnTo>
                  <a:cubicBezTo>
                    <a:pt x="16" y="41"/>
                    <a:pt x="22" y="44"/>
                    <a:pt x="28" y="44"/>
                  </a:cubicBezTo>
                  <a:cubicBezTo>
                    <a:pt x="33" y="44"/>
                    <a:pt x="38" y="42"/>
                    <a:pt x="42" y="39"/>
                  </a:cubicBezTo>
                  <a:lnTo>
                    <a:pt x="50" y="48"/>
                  </a:lnTo>
                  <a:cubicBezTo>
                    <a:pt x="44" y="54"/>
                    <a:pt x="37" y="56"/>
                    <a:pt x="28" y="56"/>
                  </a:cubicBezTo>
                  <a:cubicBezTo>
                    <a:pt x="11" y="56"/>
                    <a:pt x="0" y="45"/>
                    <a:pt x="0" y="28"/>
                  </a:cubicBezTo>
                  <a:cubicBezTo>
                    <a:pt x="0" y="12"/>
                    <a:pt x="11" y="0"/>
                    <a:pt x="27" y="0"/>
                  </a:cubicBezTo>
                  <a:cubicBezTo>
                    <a:pt x="42" y="0"/>
                    <a:pt x="53" y="11"/>
                    <a:pt x="53" y="28"/>
                  </a:cubicBezTo>
                  <a:moveTo>
                    <a:pt x="15" y="23"/>
                  </a:moveTo>
                  <a:lnTo>
                    <a:pt x="38" y="23"/>
                  </a:lnTo>
                  <a:cubicBezTo>
                    <a:pt x="37" y="16"/>
                    <a:pt x="33" y="12"/>
                    <a:pt x="27" y="12"/>
                  </a:cubicBezTo>
                  <a:cubicBezTo>
                    <a:pt x="20" y="12"/>
                    <a:pt x="16" y="17"/>
                    <a:pt x="15" y="23"/>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82" name="Freeform 81"/>
            <p:cNvSpPr>
              <a:spLocks/>
            </p:cNvSpPr>
            <p:nvPr userDrawn="1"/>
          </p:nvSpPr>
          <p:spPr bwMode="auto">
            <a:xfrm>
              <a:off x="2082800" y="6545263"/>
              <a:ext cx="26988" cy="30163"/>
            </a:xfrm>
            <a:custGeom>
              <a:avLst/>
              <a:gdLst>
                <a:gd name="T0" fmla="*/ 50 w 50"/>
                <a:gd name="T1" fmla="*/ 21 h 55"/>
                <a:gd name="T2" fmla="*/ 50 w 50"/>
                <a:gd name="T3" fmla="*/ 55 h 55"/>
                <a:gd name="T4" fmla="*/ 36 w 50"/>
                <a:gd name="T5" fmla="*/ 55 h 55"/>
                <a:gd name="T6" fmla="*/ 36 w 50"/>
                <a:gd name="T7" fmla="*/ 25 h 55"/>
                <a:gd name="T8" fmla="*/ 26 w 50"/>
                <a:gd name="T9" fmla="*/ 14 h 55"/>
                <a:gd name="T10" fmla="*/ 15 w 50"/>
                <a:gd name="T11" fmla="*/ 26 h 55"/>
                <a:gd name="T12" fmla="*/ 15 w 50"/>
                <a:gd name="T13" fmla="*/ 55 h 55"/>
                <a:gd name="T14" fmla="*/ 0 w 50"/>
                <a:gd name="T15" fmla="*/ 55 h 55"/>
                <a:gd name="T16" fmla="*/ 0 w 50"/>
                <a:gd name="T17" fmla="*/ 2 h 55"/>
                <a:gd name="T18" fmla="*/ 14 w 50"/>
                <a:gd name="T19" fmla="*/ 2 h 55"/>
                <a:gd name="T20" fmla="*/ 14 w 50"/>
                <a:gd name="T21" fmla="*/ 8 h 55"/>
                <a:gd name="T22" fmla="*/ 30 w 50"/>
                <a:gd name="T23" fmla="*/ 0 h 55"/>
                <a:gd name="T24" fmla="*/ 50 w 50"/>
                <a:gd name="T25"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55">
                  <a:moveTo>
                    <a:pt x="50" y="21"/>
                  </a:moveTo>
                  <a:lnTo>
                    <a:pt x="50" y="55"/>
                  </a:lnTo>
                  <a:lnTo>
                    <a:pt x="36" y="55"/>
                  </a:lnTo>
                  <a:lnTo>
                    <a:pt x="36" y="25"/>
                  </a:lnTo>
                  <a:cubicBezTo>
                    <a:pt x="36" y="18"/>
                    <a:pt x="32" y="14"/>
                    <a:pt x="26" y="14"/>
                  </a:cubicBezTo>
                  <a:cubicBezTo>
                    <a:pt x="20" y="14"/>
                    <a:pt x="15" y="18"/>
                    <a:pt x="15" y="26"/>
                  </a:cubicBezTo>
                  <a:lnTo>
                    <a:pt x="15" y="55"/>
                  </a:lnTo>
                  <a:lnTo>
                    <a:pt x="0" y="55"/>
                  </a:lnTo>
                  <a:lnTo>
                    <a:pt x="0" y="2"/>
                  </a:lnTo>
                  <a:lnTo>
                    <a:pt x="14" y="2"/>
                  </a:lnTo>
                  <a:lnTo>
                    <a:pt x="14" y="8"/>
                  </a:lnTo>
                  <a:cubicBezTo>
                    <a:pt x="18" y="2"/>
                    <a:pt x="24" y="0"/>
                    <a:pt x="30" y="0"/>
                  </a:cubicBezTo>
                  <a:cubicBezTo>
                    <a:pt x="42" y="0"/>
                    <a:pt x="50" y="9"/>
                    <a:pt x="50" y="2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83" name="Freeform 82"/>
            <p:cNvSpPr>
              <a:spLocks/>
            </p:cNvSpPr>
            <p:nvPr userDrawn="1"/>
          </p:nvSpPr>
          <p:spPr bwMode="auto">
            <a:xfrm>
              <a:off x="2112963" y="6538913"/>
              <a:ext cx="25400" cy="36513"/>
            </a:xfrm>
            <a:custGeom>
              <a:avLst/>
              <a:gdLst>
                <a:gd name="T0" fmla="*/ 44 w 48"/>
                <a:gd name="T1" fmla="*/ 28 h 70"/>
                <a:gd name="T2" fmla="*/ 25 w 48"/>
                <a:gd name="T3" fmla="*/ 28 h 70"/>
                <a:gd name="T4" fmla="*/ 25 w 48"/>
                <a:gd name="T5" fmla="*/ 48 h 70"/>
                <a:gd name="T6" fmla="*/ 33 w 48"/>
                <a:gd name="T7" fmla="*/ 57 h 70"/>
                <a:gd name="T8" fmla="*/ 43 w 48"/>
                <a:gd name="T9" fmla="*/ 53 h 70"/>
                <a:gd name="T10" fmla="*/ 48 w 48"/>
                <a:gd name="T11" fmla="*/ 64 h 70"/>
                <a:gd name="T12" fmla="*/ 30 w 48"/>
                <a:gd name="T13" fmla="*/ 70 h 70"/>
                <a:gd name="T14" fmla="*/ 10 w 48"/>
                <a:gd name="T15" fmla="*/ 49 h 70"/>
                <a:gd name="T16" fmla="*/ 10 w 48"/>
                <a:gd name="T17" fmla="*/ 28 h 70"/>
                <a:gd name="T18" fmla="*/ 0 w 48"/>
                <a:gd name="T19" fmla="*/ 28 h 70"/>
                <a:gd name="T20" fmla="*/ 0 w 48"/>
                <a:gd name="T21" fmla="*/ 16 h 70"/>
                <a:gd name="T22" fmla="*/ 10 w 48"/>
                <a:gd name="T23" fmla="*/ 16 h 70"/>
                <a:gd name="T24" fmla="*/ 10 w 48"/>
                <a:gd name="T25" fmla="*/ 0 h 70"/>
                <a:gd name="T26" fmla="*/ 25 w 48"/>
                <a:gd name="T27" fmla="*/ 0 h 70"/>
                <a:gd name="T28" fmla="*/ 25 w 48"/>
                <a:gd name="T29" fmla="*/ 16 h 70"/>
                <a:gd name="T30" fmla="*/ 44 w 48"/>
                <a:gd name="T31" fmla="*/ 16 h 70"/>
                <a:gd name="T32" fmla="*/ 44 w 48"/>
                <a:gd name="T33" fmla="*/ 28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70">
                  <a:moveTo>
                    <a:pt x="44" y="28"/>
                  </a:moveTo>
                  <a:lnTo>
                    <a:pt x="25" y="28"/>
                  </a:lnTo>
                  <a:lnTo>
                    <a:pt x="25" y="48"/>
                  </a:lnTo>
                  <a:cubicBezTo>
                    <a:pt x="25" y="54"/>
                    <a:pt x="28" y="57"/>
                    <a:pt x="33" y="57"/>
                  </a:cubicBezTo>
                  <a:cubicBezTo>
                    <a:pt x="36" y="57"/>
                    <a:pt x="40" y="55"/>
                    <a:pt x="43" y="53"/>
                  </a:cubicBezTo>
                  <a:lnTo>
                    <a:pt x="48" y="64"/>
                  </a:lnTo>
                  <a:cubicBezTo>
                    <a:pt x="43" y="68"/>
                    <a:pt x="38" y="70"/>
                    <a:pt x="30" y="70"/>
                  </a:cubicBezTo>
                  <a:cubicBezTo>
                    <a:pt x="17" y="70"/>
                    <a:pt x="10" y="63"/>
                    <a:pt x="10" y="49"/>
                  </a:cubicBezTo>
                  <a:lnTo>
                    <a:pt x="10" y="28"/>
                  </a:lnTo>
                  <a:lnTo>
                    <a:pt x="0" y="28"/>
                  </a:lnTo>
                  <a:lnTo>
                    <a:pt x="0" y="16"/>
                  </a:lnTo>
                  <a:lnTo>
                    <a:pt x="10" y="16"/>
                  </a:lnTo>
                  <a:lnTo>
                    <a:pt x="10" y="0"/>
                  </a:lnTo>
                  <a:lnTo>
                    <a:pt x="25" y="0"/>
                  </a:lnTo>
                  <a:lnTo>
                    <a:pt x="25" y="16"/>
                  </a:lnTo>
                  <a:lnTo>
                    <a:pt x="44" y="16"/>
                  </a:lnTo>
                  <a:lnTo>
                    <a:pt x="44" y="28"/>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grpSp>
      <p:grpSp>
        <p:nvGrpSpPr>
          <p:cNvPr id="105" name="logo_brand_vic_right" descr="&lt;mode=4x3&gt;&#10;&lt;size&gt;h=30.15764;w=52.81488&lt;size/&gt;&#10;&lt;pos&gt;top=493.9158;left=464.4977&lt;pos/&gt;&#10;&lt;mode/&gt;&#10;&lt;mode=16x9&gt;&#10;&lt;size&gt;h=22.61827;w=39.11811&lt;size/&gt;&#10;&lt;pos&gt;top=366.2362;left=534.5255&lt;pos/&gt;&#10;&lt;mode/&gt;" hidden="1"/>
          <p:cNvGrpSpPr>
            <a:grpSpLocks/>
          </p:cNvGrpSpPr>
          <p:nvPr userDrawn="1"/>
        </p:nvGrpSpPr>
        <p:grpSpPr>
          <a:xfrm>
            <a:off x="9051299" y="6201600"/>
            <a:ext cx="662400" cy="383003"/>
            <a:chOff x="1520825" y="6256338"/>
            <a:chExt cx="630238" cy="357188"/>
          </a:xfrm>
          <a:solidFill>
            <a:srgbClr val="004EA8"/>
          </a:solidFill>
        </p:grpSpPr>
        <p:sp>
          <p:nvSpPr>
            <p:cNvPr id="106" name="Freeform 105" hidden="1"/>
            <p:cNvSpPr>
              <a:spLocks noEditPoints="1"/>
            </p:cNvSpPr>
            <p:nvPr userDrawn="1"/>
          </p:nvSpPr>
          <p:spPr bwMode="auto">
            <a:xfrm>
              <a:off x="1858963" y="6367463"/>
              <a:ext cx="87313" cy="84138"/>
            </a:xfrm>
            <a:custGeom>
              <a:avLst/>
              <a:gdLst>
                <a:gd name="T0" fmla="*/ 83 w 166"/>
                <a:gd name="T1" fmla="*/ 118 h 160"/>
                <a:gd name="T2" fmla="*/ 44 w 166"/>
                <a:gd name="T3" fmla="*/ 80 h 160"/>
                <a:gd name="T4" fmla="*/ 83 w 166"/>
                <a:gd name="T5" fmla="*/ 41 h 160"/>
                <a:gd name="T6" fmla="*/ 122 w 166"/>
                <a:gd name="T7" fmla="*/ 80 h 160"/>
                <a:gd name="T8" fmla="*/ 83 w 166"/>
                <a:gd name="T9" fmla="*/ 118 h 160"/>
                <a:gd name="T10" fmla="*/ 83 w 166"/>
                <a:gd name="T11" fmla="*/ 0 h 160"/>
                <a:gd name="T12" fmla="*/ 0 w 166"/>
                <a:gd name="T13" fmla="*/ 80 h 160"/>
                <a:gd name="T14" fmla="*/ 83 w 166"/>
                <a:gd name="T15" fmla="*/ 160 h 160"/>
                <a:gd name="T16" fmla="*/ 166 w 166"/>
                <a:gd name="T17" fmla="*/ 80 h 160"/>
                <a:gd name="T18" fmla="*/ 83 w 166"/>
                <a:gd name="T1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160">
                  <a:moveTo>
                    <a:pt x="83" y="118"/>
                  </a:moveTo>
                  <a:cubicBezTo>
                    <a:pt x="62" y="118"/>
                    <a:pt x="44" y="101"/>
                    <a:pt x="44" y="80"/>
                  </a:cubicBezTo>
                  <a:cubicBezTo>
                    <a:pt x="44" y="59"/>
                    <a:pt x="62" y="41"/>
                    <a:pt x="83" y="41"/>
                  </a:cubicBezTo>
                  <a:cubicBezTo>
                    <a:pt x="104" y="41"/>
                    <a:pt x="122" y="59"/>
                    <a:pt x="122" y="80"/>
                  </a:cubicBezTo>
                  <a:cubicBezTo>
                    <a:pt x="122" y="101"/>
                    <a:pt x="104" y="118"/>
                    <a:pt x="83" y="118"/>
                  </a:cubicBezTo>
                  <a:close/>
                  <a:moveTo>
                    <a:pt x="83" y="0"/>
                  </a:moveTo>
                  <a:cubicBezTo>
                    <a:pt x="37" y="0"/>
                    <a:pt x="0" y="34"/>
                    <a:pt x="0" y="80"/>
                  </a:cubicBezTo>
                  <a:cubicBezTo>
                    <a:pt x="0" y="125"/>
                    <a:pt x="37" y="160"/>
                    <a:pt x="83" y="160"/>
                  </a:cubicBezTo>
                  <a:cubicBezTo>
                    <a:pt x="129" y="160"/>
                    <a:pt x="166" y="125"/>
                    <a:pt x="166" y="80"/>
                  </a:cubicBezTo>
                  <a:cubicBezTo>
                    <a:pt x="166" y="34"/>
                    <a:pt x="129" y="0"/>
                    <a:pt x="83" y="0"/>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07" name="Freeform 106" hidden="1"/>
            <p:cNvSpPr>
              <a:spLocks noEditPoints="1"/>
            </p:cNvSpPr>
            <p:nvPr userDrawn="1"/>
          </p:nvSpPr>
          <p:spPr bwMode="auto">
            <a:xfrm>
              <a:off x="1957388" y="6369050"/>
              <a:ext cx="66675" cy="80963"/>
            </a:xfrm>
            <a:custGeom>
              <a:avLst/>
              <a:gdLst>
                <a:gd name="T0" fmla="*/ 71 w 129"/>
                <a:gd name="T1" fmla="*/ 74 h 154"/>
                <a:gd name="T2" fmla="*/ 42 w 129"/>
                <a:gd name="T3" fmla="*/ 74 h 154"/>
                <a:gd name="T4" fmla="*/ 42 w 129"/>
                <a:gd name="T5" fmla="*/ 38 h 154"/>
                <a:gd name="T6" fmla="*/ 71 w 129"/>
                <a:gd name="T7" fmla="*/ 38 h 154"/>
                <a:gd name="T8" fmla="*/ 86 w 129"/>
                <a:gd name="T9" fmla="*/ 56 h 154"/>
                <a:gd name="T10" fmla="*/ 71 w 129"/>
                <a:gd name="T11" fmla="*/ 74 h 154"/>
                <a:gd name="T12" fmla="*/ 129 w 129"/>
                <a:gd name="T13" fmla="*/ 56 h 154"/>
                <a:gd name="T14" fmla="*/ 71 w 129"/>
                <a:gd name="T15" fmla="*/ 0 h 154"/>
                <a:gd name="T16" fmla="*/ 0 w 129"/>
                <a:gd name="T17" fmla="*/ 0 h 154"/>
                <a:gd name="T18" fmla="*/ 0 w 129"/>
                <a:gd name="T19" fmla="*/ 154 h 154"/>
                <a:gd name="T20" fmla="*/ 42 w 129"/>
                <a:gd name="T21" fmla="*/ 154 h 154"/>
                <a:gd name="T22" fmla="*/ 42 w 129"/>
                <a:gd name="T23" fmla="*/ 112 h 154"/>
                <a:gd name="T24" fmla="*/ 62 w 129"/>
                <a:gd name="T25" fmla="*/ 112 h 154"/>
                <a:gd name="T26" fmla="*/ 81 w 129"/>
                <a:gd name="T27" fmla="*/ 154 h 154"/>
                <a:gd name="T28" fmla="*/ 129 w 129"/>
                <a:gd name="T29" fmla="*/ 154 h 154"/>
                <a:gd name="T30" fmla="*/ 102 w 129"/>
                <a:gd name="T31" fmla="*/ 102 h 154"/>
                <a:gd name="T32" fmla="*/ 129 w 129"/>
                <a:gd name="T33" fmla="*/ 5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9" h="154">
                  <a:moveTo>
                    <a:pt x="71" y="74"/>
                  </a:moveTo>
                  <a:lnTo>
                    <a:pt x="42" y="74"/>
                  </a:lnTo>
                  <a:lnTo>
                    <a:pt x="42" y="38"/>
                  </a:lnTo>
                  <a:lnTo>
                    <a:pt x="71" y="38"/>
                  </a:lnTo>
                  <a:cubicBezTo>
                    <a:pt x="80" y="38"/>
                    <a:pt x="86" y="48"/>
                    <a:pt x="86" y="56"/>
                  </a:cubicBezTo>
                  <a:cubicBezTo>
                    <a:pt x="86" y="64"/>
                    <a:pt x="80" y="74"/>
                    <a:pt x="71" y="74"/>
                  </a:cubicBezTo>
                  <a:close/>
                  <a:moveTo>
                    <a:pt x="129" y="56"/>
                  </a:moveTo>
                  <a:cubicBezTo>
                    <a:pt x="129" y="24"/>
                    <a:pt x="103" y="0"/>
                    <a:pt x="71" y="0"/>
                  </a:cubicBezTo>
                  <a:lnTo>
                    <a:pt x="0" y="0"/>
                  </a:lnTo>
                  <a:lnTo>
                    <a:pt x="0" y="154"/>
                  </a:lnTo>
                  <a:lnTo>
                    <a:pt x="42" y="154"/>
                  </a:lnTo>
                  <a:lnTo>
                    <a:pt x="42" y="112"/>
                  </a:lnTo>
                  <a:lnTo>
                    <a:pt x="62" y="112"/>
                  </a:lnTo>
                  <a:lnTo>
                    <a:pt x="81" y="154"/>
                  </a:lnTo>
                  <a:lnTo>
                    <a:pt x="129" y="154"/>
                  </a:lnTo>
                  <a:lnTo>
                    <a:pt x="102" y="102"/>
                  </a:lnTo>
                  <a:cubicBezTo>
                    <a:pt x="117" y="92"/>
                    <a:pt x="129" y="77"/>
                    <a:pt x="129" y="56"/>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08" name="Rectangle 107" hidden="1"/>
            <p:cNvSpPr>
              <a:spLocks noChangeArrowheads="1"/>
            </p:cNvSpPr>
            <p:nvPr userDrawn="1"/>
          </p:nvSpPr>
          <p:spPr bwMode="auto">
            <a:xfrm>
              <a:off x="2038350" y="6369050"/>
              <a:ext cx="22225" cy="8096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sz="2400"/>
            </a:p>
          </p:txBody>
        </p:sp>
        <p:sp>
          <p:nvSpPr>
            <p:cNvPr id="109" name="Freeform 108" hidden="1"/>
            <p:cNvSpPr>
              <a:spLocks noEditPoints="1"/>
            </p:cNvSpPr>
            <p:nvPr userDrawn="1"/>
          </p:nvSpPr>
          <p:spPr bwMode="auto">
            <a:xfrm>
              <a:off x="2068513" y="6369050"/>
              <a:ext cx="82550" cy="80963"/>
            </a:xfrm>
            <a:custGeom>
              <a:avLst/>
              <a:gdLst>
                <a:gd name="T0" fmla="*/ 22 w 52"/>
                <a:gd name="T1" fmla="*/ 33 h 51"/>
                <a:gd name="T2" fmla="*/ 26 w 52"/>
                <a:gd name="T3" fmla="*/ 23 h 51"/>
                <a:gd name="T4" fmla="*/ 26 w 52"/>
                <a:gd name="T5" fmla="*/ 23 h 51"/>
                <a:gd name="T6" fmla="*/ 31 w 52"/>
                <a:gd name="T7" fmla="*/ 33 h 51"/>
                <a:gd name="T8" fmla="*/ 22 w 52"/>
                <a:gd name="T9" fmla="*/ 33 h 51"/>
                <a:gd name="T10" fmla="*/ 29 w 52"/>
                <a:gd name="T11" fmla="*/ 0 h 51"/>
                <a:gd name="T12" fmla="*/ 23 w 52"/>
                <a:gd name="T13" fmla="*/ 0 h 51"/>
                <a:gd name="T14" fmla="*/ 0 w 52"/>
                <a:gd name="T15" fmla="*/ 51 h 51"/>
                <a:gd name="T16" fmla="*/ 15 w 52"/>
                <a:gd name="T17" fmla="*/ 51 h 51"/>
                <a:gd name="T18" fmla="*/ 17 w 52"/>
                <a:gd name="T19" fmla="*/ 45 h 51"/>
                <a:gd name="T20" fmla="*/ 35 w 52"/>
                <a:gd name="T21" fmla="*/ 45 h 51"/>
                <a:gd name="T22" fmla="*/ 37 w 52"/>
                <a:gd name="T23" fmla="*/ 51 h 51"/>
                <a:gd name="T24" fmla="*/ 52 w 52"/>
                <a:gd name="T25" fmla="*/ 51 h 51"/>
                <a:gd name="T26" fmla="*/ 29 w 52"/>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51">
                  <a:moveTo>
                    <a:pt x="22" y="33"/>
                  </a:moveTo>
                  <a:lnTo>
                    <a:pt x="26" y="23"/>
                  </a:lnTo>
                  <a:lnTo>
                    <a:pt x="26" y="23"/>
                  </a:lnTo>
                  <a:lnTo>
                    <a:pt x="31" y="33"/>
                  </a:lnTo>
                  <a:lnTo>
                    <a:pt x="22" y="33"/>
                  </a:lnTo>
                  <a:close/>
                  <a:moveTo>
                    <a:pt x="29" y="0"/>
                  </a:moveTo>
                  <a:lnTo>
                    <a:pt x="23" y="0"/>
                  </a:lnTo>
                  <a:lnTo>
                    <a:pt x="0" y="51"/>
                  </a:lnTo>
                  <a:lnTo>
                    <a:pt x="15" y="51"/>
                  </a:lnTo>
                  <a:lnTo>
                    <a:pt x="17" y="45"/>
                  </a:lnTo>
                  <a:lnTo>
                    <a:pt x="35" y="45"/>
                  </a:lnTo>
                  <a:lnTo>
                    <a:pt x="37" y="51"/>
                  </a:lnTo>
                  <a:lnTo>
                    <a:pt x="52" y="51"/>
                  </a:lnTo>
                  <a:lnTo>
                    <a:pt x="29"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10" name="Freeform 109" hidden="1"/>
            <p:cNvSpPr>
              <a:spLocks noEditPoints="1"/>
            </p:cNvSpPr>
            <p:nvPr userDrawn="1"/>
          </p:nvSpPr>
          <p:spPr bwMode="auto">
            <a:xfrm>
              <a:off x="1520825" y="6256338"/>
              <a:ext cx="333375" cy="357188"/>
            </a:xfrm>
            <a:custGeom>
              <a:avLst/>
              <a:gdLst>
                <a:gd name="T0" fmla="*/ 325 w 634"/>
                <a:gd name="T1" fmla="*/ 215 h 680"/>
                <a:gd name="T2" fmla="*/ 282 w 634"/>
                <a:gd name="T3" fmla="*/ 215 h 680"/>
                <a:gd name="T4" fmla="*/ 282 w 634"/>
                <a:gd name="T5" fmla="*/ 366 h 680"/>
                <a:gd name="T6" fmla="*/ 325 w 634"/>
                <a:gd name="T7" fmla="*/ 366 h 680"/>
                <a:gd name="T8" fmla="*/ 325 w 634"/>
                <a:gd name="T9" fmla="*/ 215 h 680"/>
                <a:gd name="T10" fmla="*/ 532 w 634"/>
                <a:gd name="T11" fmla="*/ 214 h 680"/>
                <a:gd name="T12" fmla="*/ 631 w 634"/>
                <a:gd name="T13" fmla="*/ 0 h 680"/>
                <a:gd name="T14" fmla="*/ 0 w 634"/>
                <a:gd name="T15" fmla="*/ 0 h 680"/>
                <a:gd name="T16" fmla="*/ 100 w 634"/>
                <a:gd name="T17" fmla="*/ 215 h 680"/>
                <a:gd name="T18" fmla="*/ 147 w 634"/>
                <a:gd name="T19" fmla="*/ 215 h 680"/>
                <a:gd name="T20" fmla="*/ 185 w 634"/>
                <a:gd name="T21" fmla="*/ 298 h 680"/>
                <a:gd name="T22" fmla="*/ 223 w 634"/>
                <a:gd name="T23" fmla="*/ 215 h 680"/>
                <a:gd name="T24" fmla="*/ 270 w 634"/>
                <a:gd name="T25" fmla="*/ 215 h 680"/>
                <a:gd name="T26" fmla="*/ 200 w 634"/>
                <a:gd name="T27" fmla="*/ 366 h 680"/>
                <a:gd name="T28" fmla="*/ 170 w 634"/>
                <a:gd name="T29" fmla="*/ 366 h 680"/>
                <a:gd name="T30" fmla="*/ 316 w 634"/>
                <a:gd name="T31" fmla="*/ 680 h 680"/>
                <a:gd name="T32" fmla="*/ 465 w 634"/>
                <a:gd name="T33" fmla="*/ 359 h 680"/>
                <a:gd name="T34" fmla="*/ 425 w 634"/>
                <a:gd name="T35" fmla="*/ 369 h 680"/>
                <a:gd name="T36" fmla="*/ 345 w 634"/>
                <a:gd name="T37" fmla="*/ 291 h 680"/>
                <a:gd name="T38" fmla="*/ 425 w 634"/>
                <a:gd name="T39" fmla="*/ 212 h 680"/>
                <a:gd name="T40" fmla="*/ 493 w 634"/>
                <a:gd name="T41" fmla="*/ 250 h 680"/>
                <a:gd name="T42" fmla="*/ 458 w 634"/>
                <a:gd name="T43" fmla="*/ 271 h 680"/>
                <a:gd name="T44" fmla="*/ 425 w 634"/>
                <a:gd name="T45" fmla="*/ 253 h 680"/>
                <a:gd name="T46" fmla="*/ 388 w 634"/>
                <a:gd name="T47" fmla="*/ 291 h 680"/>
                <a:gd name="T48" fmla="*/ 425 w 634"/>
                <a:gd name="T49" fmla="*/ 329 h 680"/>
                <a:gd name="T50" fmla="*/ 458 w 634"/>
                <a:gd name="T51" fmla="*/ 310 h 680"/>
                <a:gd name="T52" fmla="*/ 481 w 634"/>
                <a:gd name="T53" fmla="*/ 324 h 680"/>
                <a:gd name="T54" fmla="*/ 514 w 634"/>
                <a:gd name="T55" fmla="*/ 252 h 680"/>
                <a:gd name="T56" fmla="*/ 549 w 634"/>
                <a:gd name="T57" fmla="*/ 252 h 680"/>
                <a:gd name="T58" fmla="*/ 549 w 634"/>
                <a:gd name="T59" fmla="*/ 368 h 680"/>
                <a:gd name="T60" fmla="*/ 592 w 634"/>
                <a:gd name="T61" fmla="*/ 368 h 680"/>
                <a:gd name="T62" fmla="*/ 592 w 634"/>
                <a:gd name="T63" fmla="*/ 252 h 680"/>
                <a:gd name="T64" fmla="*/ 634 w 634"/>
                <a:gd name="T65" fmla="*/ 252 h 680"/>
                <a:gd name="T66" fmla="*/ 634 w 634"/>
                <a:gd name="T67" fmla="*/ 214 h 680"/>
                <a:gd name="T68" fmla="*/ 532 w 634"/>
                <a:gd name="T69" fmla="*/ 214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4" h="680">
                  <a:moveTo>
                    <a:pt x="325" y="215"/>
                  </a:moveTo>
                  <a:lnTo>
                    <a:pt x="282" y="215"/>
                  </a:lnTo>
                  <a:lnTo>
                    <a:pt x="282" y="366"/>
                  </a:lnTo>
                  <a:lnTo>
                    <a:pt x="325" y="366"/>
                  </a:lnTo>
                  <a:lnTo>
                    <a:pt x="325" y="215"/>
                  </a:lnTo>
                  <a:close/>
                  <a:moveTo>
                    <a:pt x="532" y="214"/>
                  </a:moveTo>
                  <a:lnTo>
                    <a:pt x="631" y="0"/>
                  </a:lnTo>
                  <a:lnTo>
                    <a:pt x="0" y="0"/>
                  </a:lnTo>
                  <a:lnTo>
                    <a:pt x="100" y="215"/>
                  </a:lnTo>
                  <a:lnTo>
                    <a:pt x="147" y="215"/>
                  </a:lnTo>
                  <a:lnTo>
                    <a:pt x="185" y="298"/>
                  </a:lnTo>
                  <a:lnTo>
                    <a:pt x="223" y="215"/>
                  </a:lnTo>
                  <a:lnTo>
                    <a:pt x="270" y="215"/>
                  </a:lnTo>
                  <a:lnTo>
                    <a:pt x="200" y="366"/>
                  </a:lnTo>
                  <a:lnTo>
                    <a:pt x="170" y="366"/>
                  </a:lnTo>
                  <a:lnTo>
                    <a:pt x="316" y="680"/>
                  </a:lnTo>
                  <a:lnTo>
                    <a:pt x="465" y="359"/>
                  </a:lnTo>
                  <a:cubicBezTo>
                    <a:pt x="453" y="366"/>
                    <a:pt x="440" y="369"/>
                    <a:pt x="425" y="369"/>
                  </a:cubicBezTo>
                  <a:cubicBezTo>
                    <a:pt x="380" y="369"/>
                    <a:pt x="345" y="336"/>
                    <a:pt x="345" y="291"/>
                  </a:cubicBezTo>
                  <a:cubicBezTo>
                    <a:pt x="345" y="246"/>
                    <a:pt x="380" y="212"/>
                    <a:pt x="425" y="212"/>
                  </a:cubicBezTo>
                  <a:cubicBezTo>
                    <a:pt x="454" y="212"/>
                    <a:pt x="479" y="227"/>
                    <a:pt x="493" y="250"/>
                  </a:cubicBezTo>
                  <a:lnTo>
                    <a:pt x="458" y="271"/>
                  </a:lnTo>
                  <a:cubicBezTo>
                    <a:pt x="451" y="261"/>
                    <a:pt x="439" y="253"/>
                    <a:pt x="425" y="253"/>
                  </a:cubicBezTo>
                  <a:cubicBezTo>
                    <a:pt x="405" y="253"/>
                    <a:pt x="388" y="270"/>
                    <a:pt x="388" y="291"/>
                  </a:cubicBezTo>
                  <a:cubicBezTo>
                    <a:pt x="388" y="311"/>
                    <a:pt x="405" y="329"/>
                    <a:pt x="425" y="329"/>
                  </a:cubicBezTo>
                  <a:cubicBezTo>
                    <a:pt x="439" y="329"/>
                    <a:pt x="451" y="321"/>
                    <a:pt x="458" y="310"/>
                  </a:cubicBezTo>
                  <a:lnTo>
                    <a:pt x="481" y="324"/>
                  </a:lnTo>
                  <a:lnTo>
                    <a:pt x="514" y="252"/>
                  </a:lnTo>
                  <a:lnTo>
                    <a:pt x="549" y="252"/>
                  </a:lnTo>
                  <a:lnTo>
                    <a:pt x="549" y="368"/>
                  </a:lnTo>
                  <a:lnTo>
                    <a:pt x="592" y="368"/>
                  </a:lnTo>
                  <a:lnTo>
                    <a:pt x="592" y="252"/>
                  </a:lnTo>
                  <a:lnTo>
                    <a:pt x="634" y="252"/>
                  </a:lnTo>
                  <a:lnTo>
                    <a:pt x="634" y="214"/>
                  </a:lnTo>
                  <a:lnTo>
                    <a:pt x="532" y="214"/>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11" name="Freeform 110" hidden="1"/>
            <p:cNvSpPr>
              <a:spLocks/>
            </p:cNvSpPr>
            <p:nvPr userDrawn="1"/>
          </p:nvSpPr>
          <p:spPr bwMode="auto">
            <a:xfrm>
              <a:off x="1804988" y="6481763"/>
              <a:ext cx="33338" cy="41275"/>
            </a:xfrm>
            <a:custGeom>
              <a:avLst/>
              <a:gdLst>
                <a:gd name="T0" fmla="*/ 56 w 64"/>
                <a:gd name="T1" fmla="*/ 21 h 79"/>
                <a:gd name="T2" fmla="*/ 34 w 64"/>
                <a:gd name="T3" fmla="*/ 14 h 79"/>
                <a:gd name="T4" fmla="*/ 19 w 64"/>
                <a:gd name="T5" fmla="*/ 23 h 79"/>
                <a:gd name="T6" fmla="*/ 35 w 64"/>
                <a:gd name="T7" fmla="*/ 32 h 79"/>
                <a:gd name="T8" fmla="*/ 39 w 64"/>
                <a:gd name="T9" fmla="*/ 33 h 79"/>
                <a:gd name="T10" fmla="*/ 64 w 64"/>
                <a:gd name="T11" fmla="*/ 54 h 79"/>
                <a:gd name="T12" fmla="*/ 32 w 64"/>
                <a:gd name="T13" fmla="*/ 79 h 79"/>
                <a:gd name="T14" fmla="*/ 0 w 64"/>
                <a:gd name="T15" fmla="*/ 69 h 79"/>
                <a:gd name="T16" fmla="*/ 8 w 64"/>
                <a:gd name="T17" fmla="*/ 57 h 79"/>
                <a:gd name="T18" fmla="*/ 32 w 64"/>
                <a:gd name="T19" fmla="*/ 65 h 79"/>
                <a:gd name="T20" fmla="*/ 47 w 64"/>
                <a:gd name="T21" fmla="*/ 56 h 79"/>
                <a:gd name="T22" fmla="*/ 31 w 64"/>
                <a:gd name="T23" fmla="*/ 47 h 79"/>
                <a:gd name="T24" fmla="*/ 26 w 64"/>
                <a:gd name="T25" fmla="*/ 46 h 79"/>
                <a:gd name="T26" fmla="*/ 3 w 64"/>
                <a:gd name="T27" fmla="*/ 24 h 79"/>
                <a:gd name="T28" fmla="*/ 33 w 64"/>
                <a:gd name="T29" fmla="*/ 0 h 79"/>
                <a:gd name="T30" fmla="*/ 63 w 64"/>
                <a:gd name="T31" fmla="*/ 8 h 79"/>
                <a:gd name="T32" fmla="*/ 56 w 64"/>
                <a:gd name="T33" fmla="*/ 2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79">
                  <a:moveTo>
                    <a:pt x="56" y="21"/>
                  </a:moveTo>
                  <a:cubicBezTo>
                    <a:pt x="50" y="17"/>
                    <a:pt x="42" y="14"/>
                    <a:pt x="34" y="14"/>
                  </a:cubicBezTo>
                  <a:cubicBezTo>
                    <a:pt x="25" y="14"/>
                    <a:pt x="19" y="17"/>
                    <a:pt x="19" y="23"/>
                  </a:cubicBezTo>
                  <a:cubicBezTo>
                    <a:pt x="19" y="29"/>
                    <a:pt x="26" y="31"/>
                    <a:pt x="35" y="32"/>
                  </a:cubicBezTo>
                  <a:lnTo>
                    <a:pt x="39" y="33"/>
                  </a:lnTo>
                  <a:cubicBezTo>
                    <a:pt x="53" y="35"/>
                    <a:pt x="64" y="41"/>
                    <a:pt x="64" y="54"/>
                  </a:cubicBezTo>
                  <a:cubicBezTo>
                    <a:pt x="64" y="71"/>
                    <a:pt x="49" y="79"/>
                    <a:pt x="32" y="79"/>
                  </a:cubicBezTo>
                  <a:cubicBezTo>
                    <a:pt x="21" y="79"/>
                    <a:pt x="8" y="76"/>
                    <a:pt x="0" y="69"/>
                  </a:cubicBezTo>
                  <a:lnTo>
                    <a:pt x="8" y="57"/>
                  </a:lnTo>
                  <a:cubicBezTo>
                    <a:pt x="13" y="61"/>
                    <a:pt x="22" y="65"/>
                    <a:pt x="32" y="65"/>
                  </a:cubicBezTo>
                  <a:cubicBezTo>
                    <a:pt x="41" y="65"/>
                    <a:pt x="47" y="62"/>
                    <a:pt x="47" y="56"/>
                  </a:cubicBezTo>
                  <a:cubicBezTo>
                    <a:pt x="47" y="51"/>
                    <a:pt x="42" y="49"/>
                    <a:pt x="31" y="47"/>
                  </a:cubicBezTo>
                  <a:lnTo>
                    <a:pt x="26" y="46"/>
                  </a:lnTo>
                  <a:cubicBezTo>
                    <a:pt x="13" y="44"/>
                    <a:pt x="3" y="38"/>
                    <a:pt x="3" y="24"/>
                  </a:cubicBezTo>
                  <a:cubicBezTo>
                    <a:pt x="3" y="8"/>
                    <a:pt x="17" y="0"/>
                    <a:pt x="33" y="0"/>
                  </a:cubicBezTo>
                  <a:cubicBezTo>
                    <a:pt x="44" y="0"/>
                    <a:pt x="53" y="2"/>
                    <a:pt x="63" y="8"/>
                  </a:cubicBezTo>
                  <a:lnTo>
                    <a:pt x="56" y="21"/>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12" name="Freeform 111" hidden="1"/>
            <p:cNvSpPr>
              <a:spLocks/>
            </p:cNvSpPr>
            <p:nvPr userDrawn="1"/>
          </p:nvSpPr>
          <p:spPr bwMode="auto">
            <a:xfrm>
              <a:off x="1841500" y="6486525"/>
              <a:ext cx="25400" cy="36513"/>
            </a:xfrm>
            <a:custGeom>
              <a:avLst/>
              <a:gdLst>
                <a:gd name="T0" fmla="*/ 44 w 48"/>
                <a:gd name="T1" fmla="*/ 29 h 70"/>
                <a:gd name="T2" fmla="*/ 24 w 48"/>
                <a:gd name="T3" fmla="*/ 29 h 70"/>
                <a:gd name="T4" fmla="*/ 24 w 48"/>
                <a:gd name="T5" fmla="*/ 48 h 70"/>
                <a:gd name="T6" fmla="*/ 32 w 48"/>
                <a:gd name="T7" fmla="*/ 57 h 70"/>
                <a:gd name="T8" fmla="*/ 42 w 48"/>
                <a:gd name="T9" fmla="*/ 54 h 70"/>
                <a:gd name="T10" fmla="*/ 48 w 48"/>
                <a:gd name="T11" fmla="*/ 65 h 70"/>
                <a:gd name="T12" fmla="*/ 30 w 48"/>
                <a:gd name="T13" fmla="*/ 70 h 70"/>
                <a:gd name="T14" fmla="*/ 10 w 48"/>
                <a:gd name="T15" fmla="*/ 49 h 70"/>
                <a:gd name="T16" fmla="*/ 10 w 48"/>
                <a:gd name="T17" fmla="*/ 29 h 70"/>
                <a:gd name="T18" fmla="*/ 0 w 48"/>
                <a:gd name="T19" fmla="*/ 29 h 70"/>
                <a:gd name="T20" fmla="*/ 0 w 48"/>
                <a:gd name="T21" fmla="*/ 16 h 70"/>
                <a:gd name="T22" fmla="*/ 10 w 48"/>
                <a:gd name="T23" fmla="*/ 16 h 70"/>
                <a:gd name="T24" fmla="*/ 10 w 48"/>
                <a:gd name="T25" fmla="*/ 0 h 70"/>
                <a:gd name="T26" fmla="*/ 24 w 48"/>
                <a:gd name="T27" fmla="*/ 0 h 70"/>
                <a:gd name="T28" fmla="*/ 24 w 48"/>
                <a:gd name="T29" fmla="*/ 16 h 70"/>
                <a:gd name="T30" fmla="*/ 44 w 48"/>
                <a:gd name="T31" fmla="*/ 16 h 70"/>
                <a:gd name="T32" fmla="*/ 44 w 48"/>
                <a:gd name="T33" fmla="*/ 2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70">
                  <a:moveTo>
                    <a:pt x="44" y="29"/>
                  </a:moveTo>
                  <a:lnTo>
                    <a:pt x="24" y="29"/>
                  </a:lnTo>
                  <a:lnTo>
                    <a:pt x="24" y="48"/>
                  </a:lnTo>
                  <a:cubicBezTo>
                    <a:pt x="24" y="55"/>
                    <a:pt x="28" y="57"/>
                    <a:pt x="32" y="57"/>
                  </a:cubicBezTo>
                  <a:cubicBezTo>
                    <a:pt x="36" y="57"/>
                    <a:pt x="40" y="55"/>
                    <a:pt x="42" y="54"/>
                  </a:cubicBezTo>
                  <a:lnTo>
                    <a:pt x="48" y="65"/>
                  </a:lnTo>
                  <a:cubicBezTo>
                    <a:pt x="43" y="68"/>
                    <a:pt x="38" y="70"/>
                    <a:pt x="30" y="70"/>
                  </a:cubicBezTo>
                  <a:cubicBezTo>
                    <a:pt x="17" y="70"/>
                    <a:pt x="10" y="63"/>
                    <a:pt x="10" y="49"/>
                  </a:cubicBezTo>
                  <a:lnTo>
                    <a:pt x="10" y="29"/>
                  </a:lnTo>
                  <a:lnTo>
                    <a:pt x="0" y="29"/>
                  </a:lnTo>
                  <a:lnTo>
                    <a:pt x="0" y="16"/>
                  </a:lnTo>
                  <a:lnTo>
                    <a:pt x="10" y="16"/>
                  </a:lnTo>
                  <a:lnTo>
                    <a:pt x="10" y="0"/>
                  </a:lnTo>
                  <a:lnTo>
                    <a:pt x="24" y="0"/>
                  </a:lnTo>
                  <a:lnTo>
                    <a:pt x="24" y="16"/>
                  </a:lnTo>
                  <a:lnTo>
                    <a:pt x="44" y="16"/>
                  </a:lnTo>
                  <a:lnTo>
                    <a:pt x="44" y="29"/>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13" name="Freeform 112" hidden="1"/>
            <p:cNvSpPr>
              <a:spLocks noEditPoints="1"/>
            </p:cNvSpPr>
            <p:nvPr userDrawn="1"/>
          </p:nvSpPr>
          <p:spPr bwMode="auto">
            <a:xfrm>
              <a:off x="1866900" y="6494463"/>
              <a:ext cx="30163" cy="28575"/>
            </a:xfrm>
            <a:custGeom>
              <a:avLst/>
              <a:gdLst>
                <a:gd name="T0" fmla="*/ 56 w 56"/>
                <a:gd name="T1" fmla="*/ 55 h 56"/>
                <a:gd name="T2" fmla="*/ 42 w 56"/>
                <a:gd name="T3" fmla="*/ 55 h 56"/>
                <a:gd name="T4" fmla="*/ 42 w 56"/>
                <a:gd name="T5" fmla="*/ 49 h 56"/>
                <a:gd name="T6" fmla="*/ 26 w 56"/>
                <a:gd name="T7" fmla="*/ 56 h 56"/>
                <a:gd name="T8" fmla="*/ 0 w 56"/>
                <a:gd name="T9" fmla="*/ 28 h 56"/>
                <a:gd name="T10" fmla="*/ 26 w 56"/>
                <a:gd name="T11" fmla="*/ 0 h 56"/>
                <a:gd name="T12" fmla="*/ 42 w 56"/>
                <a:gd name="T13" fmla="*/ 8 h 56"/>
                <a:gd name="T14" fmla="*/ 42 w 56"/>
                <a:gd name="T15" fmla="*/ 2 h 56"/>
                <a:gd name="T16" fmla="*/ 56 w 56"/>
                <a:gd name="T17" fmla="*/ 2 h 56"/>
                <a:gd name="T18" fmla="*/ 56 w 56"/>
                <a:gd name="T19" fmla="*/ 55 h 56"/>
                <a:gd name="T20" fmla="*/ 15 w 56"/>
                <a:gd name="T21" fmla="*/ 28 h 56"/>
                <a:gd name="T22" fmla="*/ 29 w 56"/>
                <a:gd name="T23" fmla="*/ 43 h 56"/>
                <a:gd name="T24" fmla="*/ 42 w 56"/>
                <a:gd name="T25" fmla="*/ 28 h 56"/>
                <a:gd name="T26" fmla="*/ 29 w 56"/>
                <a:gd name="T27" fmla="*/ 14 h 56"/>
                <a:gd name="T28" fmla="*/ 15 w 56"/>
                <a:gd name="T29" fmla="*/ 2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56">
                  <a:moveTo>
                    <a:pt x="56" y="55"/>
                  </a:moveTo>
                  <a:lnTo>
                    <a:pt x="42" y="55"/>
                  </a:lnTo>
                  <a:lnTo>
                    <a:pt x="42" y="49"/>
                  </a:lnTo>
                  <a:cubicBezTo>
                    <a:pt x="38" y="53"/>
                    <a:pt x="33" y="56"/>
                    <a:pt x="26" y="56"/>
                  </a:cubicBezTo>
                  <a:cubicBezTo>
                    <a:pt x="11" y="56"/>
                    <a:pt x="0" y="44"/>
                    <a:pt x="0" y="28"/>
                  </a:cubicBezTo>
                  <a:cubicBezTo>
                    <a:pt x="0" y="12"/>
                    <a:pt x="11" y="0"/>
                    <a:pt x="26" y="0"/>
                  </a:cubicBezTo>
                  <a:cubicBezTo>
                    <a:pt x="33" y="0"/>
                    <a:pt x="38" y="3"/>
                    <a:pt x="42" y="8"/>
                  </a:cubicBezTo>
                  <a:lnTo>
                    <a:pt x="42" y="2"/>
                  </a:lnTo>
                  <a:lnTo>
                    <a:pt x="56" y="2"/>
                  </a:lnTo>
                  <a:lnTo>
                    <a:pt x="56" y="55"/>
                  </a:lnTo>
                  <a:close/>
                  <a:moveTo>
                    <a:pt x="15" y="28"/>
                  </a:moveTo>
                  <a:cubicBezTo>
                    <a:pt x="15" y="37"/>
                    <a:pt x="20" y="43"/>
                    <a:pt x="29" y="43"/>
                  </a:cubicBezTo>
                  <a:cubicBezTo>
                    <a:pt x="37" y="43"/>
                    <a:pt x="42" y="37"/>
                    <a:pt x="42" y="28"/>
                  </a:cubicBezTo>
                  <a:cubicBezTo>
                    <a:pt x="42" y="20"/>
                    <a:pt x="37" y="14"/>
                    <a:pt x="29" y="14"/>
                  </a:cubicBezTo>
                  <a:cubicBezTo>
                    <a:pt x="20" y="14"/>
                    <a:pt x="15" y="20"/>
                    <a:pt x="15" y="28"/>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14" name="Freeform 113" hidden="1"/>
            <p:cNvSpPr>
              <a:spLocks/>
            </p:cNvSpPr>
            <p:nvPr userDrawn="1"/>
          </p:nvSpPr>
          <p:spPr bwMode="auto">
            <a:xfrm>
              <a:off x="1900238" y="6486525"/>
              <a:ext cx="25400" cy="36513"/>
            </a:xfrm>
            <a:custGeom>
              <a:avLst/>
              <a:gdLst>
                <a:gd name="T0" fmla="*/ 44 w 48"/>
                <a:gd name="T1" fmla="*/ 29 h 70"/>
                <a:gd name="T2" fmla="*/ 25 w 48"/>
                <a:gd name="T3" fmla="*/ 29 h 70"/>
                <a:gd name="T4" fmla="*/ 25 w 48"/>
                <a:gd name="T5" fmla="*/ 48 h 70"/>
                <a:gd name="T6" fmla="*/ 33 w 48"/>
                <a:gd name="T7" fmla="*/ 57 h 70"/>
                <a:gd name="T8" fmla="*/ 43 w 48"/>
                <a:gd name="T9" fmla="*/ 54 h 70"/>
                <a:gd name="T10" fmla="*/ 48 w 48"/>
                <a:gd name="T11" fmla="*/ 65 h 70"/>
                <a:gd name="T12" fmla="*/ 31 w 48"/>
                <a:gd name="T13" fmla="*/ 70 h 70"/>
                <a:gd name="T14" fmla="*/ 11 w 48"/>
                <a:gd name="T15" fmla="*/ 49 h 70"/>
                <a:gd name="T16" fmla="*/ 11 w 48"/>
                <a:gd name="T17" fmla="*/ 29 h 70"/>
                <a:gd name="T18" fmla="*/ 0 w 48"/>
                <a:gd name="T19" fmla="*/ 29 h 70"/>
                <a:gd name="T20" fmla="*/ 0 w 48"/>
                <a:gd name="T21" fmla="*/ 16 h 70"/>
                <a:gd name="T22" fmla="*/ 11 w 48"/>
                <a:gd name="T23" fmla="*/ 16 h 70"/>
                <a:gd name="T24" fmla="*/ 11 w 48"/>
                <a:gd name="T25" fmla="*/ 0 h 70"/>
                <a:gd name="T26" fmla="*/ 25 w 48"/>
                <a:gd name="T27" fmla="*/ 0 h 70"/>
                <a:gd name="T28" fmla="*/ 25 w 48"/>
                <a:gd name="T29" fmla="*/ 16 h 70"/>
                <a:gd name="T30" fmla="*/ 44 w 48"/>
                <a:gd name="T31" fmla="*/ 16 h 70"/>
                <a:gd name="T32" fmla="*/ 44 w 48"/>
                <a:gd name="T33" fmla="*/ 2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70">
                  <a:moveTo>
                    <a:pt x="44" y="29"/>
                  </a:moveTo>
                  <a:lnTo>
                    <a:pt x="25" y="29"/>
                  </a:lnTo>
                  <a:lnTo>
                    <a:pt x="25" y="48"/>
                  </a:lnTo>
                  <a:cubicBezTo>
                    <a:pt x="25" y="55"/>
                    <a:pt x="28" y="57"/>
                    <a:pt x="33" y="57"/>
                  </a:cubicBezTo>
                  <a:cubicBezTo>
                    <a:pt x="36" y="57"/>
                    <a:pt x="40" y="55"/>
                    <a:pt x="43" y="54"/>
                  </a:cubicBezTo>
                  <a:lnTo>
                    <a:pt x="48" y="65"/>
                  </a:lnTo>
                  <a:cubicBezTo>
                    <a:pt x="43" y="68"/>
                    <a:pt x="38" y="70"/>
                    <a:pt x="31" y="70"/>
                  </a:cubicBezTo>
                  <a:cubicBezTo>
                    <a:pt x="17" y="70"/>
                    <a:pt x="11" y="63"/>
                    <a:pt x="11" y="49"/>
                  </a:cubicBezTo>
                  <a:lnTo>
                    <a:pt x="11" y="29"/>
                  </a:lnTo>
                  <a:lnTo>
                    <a:pt x="0" y="29"/>
                  </a:lnTo>
                  <a:lnTo>
                    <a:pt x="0" y="16"/>
                  </a:lnTo>
                  <a:lnTo>
                    <a:pt x="11" y="16"/>
                  </a:lnTo>
                  <a:lnTo>
                    <a:pt x="11" y="0"/>
                  </a:lnTo>
                  <a:lnTo>
                    <a:pt x="25" y="0"/>
                  </a:lnTo>
                  <a:lnTo>
                    <a:pt x="25" y="16"/>
                  </a:lnTo>
                  <a:lnTo>
                    <a:pt x="44" y="16"/>
                  </a:lnTo>
                  <a:lnTo>
                    <a:pt x="44" y="29"/>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15" name="Freeform 114" hidden="1"/>
            <p:cNvSpPr>
              <a:spLocks noEditPoints="1"/>
            </p:cNvSpPr>
            <p:nvPr userDrawn="1"/>
          </p:nvSpPr>
          <p:spPr bwMode="auto">
            <a:xfrm>
              <a:off x="1927225" y="6494463"/>
              <a:ext cx="26988" cy="28575"/>
            </a:xfrm>
            <a:custGeom>
              <a:avLst/>
              <a:gdLst>
                <a:gd name="T0" fmla="*/ 52 w 52"/>
                <a:gd name="T1" fmla="*/ 28 h 56"/>
                <a:gd name="T2" fmla="*/ 52 w 52"/>
                <a:gd name="T3" fmla="*/ 33 h 56"/>
                <a:gd name="T4" fmla="*/ 14 w 52"/>
                <a:gd name="T5" fmla="*/ 33 h 56"/>
                <a:gd name="T6" fmla="*/ 28 w 52"/>
                <a:gd name="T7" fmla="*/ 44 h 56"/>
                <a:gd name="T8" fmla="*/ 41 w 52"/>
                <a:gd name="T9" fmla="*/ 39 h 56"/>
                <a:gd name="T10" fmla="*/ 50 w 52"/>
                <a:gd name="T11" fmla="*/ 48 h 56"/>
                <a:gd name="T12" fmla="*/ 27 w 52"/>
                <a:gd name="T13" fmla="*/ 56 h 56"/>
                <a:gd name="T14" fmla="*/ 0 w 52"/>
                <a:gd name="T15" fmla="*/ 29 h 56"/>
                <a:gd name="T16" fmla="*/ 26 w 52"/>
                <a:gd name="T17" fmla="*/ 0 h 56"/>
                <a:gd name="T18" fmla="*/ 52 w 52"/>
                <a:gd name="T19" fmla="*/ 28 h 56"/>
                <a:gd name="T20" fmla="*/ 14 w 52"/>
                <a:gd name="T21" fmla="*/ 23 h 56"/>
                <a:gd name="T22" fmla="*/ 38 w 52"/>
                <a:gd name="T23" fmla="*/ 23 h 56"/>
                <a:gd name="T24" fmla="*/ 26 w 52"/>
                <a:gd name="T25" fmla="*/ 13 h 56"/>
                <a:gd name="T26" fmla="*/ 14 w 52"/>
                <a:gd name="T27" fmla="*/ 2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56">
                  <a:moveTo>
                    <a:pt x="52" y="28"/>
                  </a:moveTo>
                  <a:cubicBezTo>
                    <a:pt x="52" y="30"/>
                    <a:pt x="52" y="32"/>
                    <a:pt x="52" y="33"/>
                  </a:cubicBezTo>
                  <a:lnTo>
                    <a:pt x="14" y="33"/>
                  </a:lnTo>
                  <a:cubicBezTo>
                    <a:pt x="16" y="41"/>
                    <a:pt x="21" y="44"/>
                    <a:pt x="28" y="44"/>
                  </a:cubicBezTo>
                  <a:cubicBezTo>
                    <a:pt x="33" y="44"/>
                    <a:pt x="38" y="42"/>
                    <a:pt x="41" y="39"/>
                  </a:cubicBezTo>
                  <a:lnTo>
                    <a:pt x="50" y="48"/>
                  </a:lnTo>
                  <a:cubicBezTo>
                    <a:pt x="44" y="54"/>
                    <a:pt x="36" y="56"/>
                    <a:pt x="27" y="56"/>
                  </a:cubicBezTo>
                  <a:cubicBezTo>
                    <a:pt x="11" y="56"/>
                    <a:pt x="0" y="45"/>
                    <a:pt x="0" y="29"/>
                  </a:cubicBezTo>
                  <a:cubicBezTo>
                    <a:pt x="0" y="12"/>
                    <a:pt x="11" y="0"/>
                    <a:pt x="26" y="0"/>
                  </a:cubicBezTo>
                  <a:cubicBezTo>
                    <a:pt x="42" y="0"/>
                    <a:pt x="52" y="12"/>
                    <a:pt x="52" y="28"/>
                  </a:cubicBezTo>
                  <a:moveTo>
                    <a:pt x="14" y="23"/>
                  </a:moveTo>
                  <a:lnTo>
                    <a:pt x="38" y="23"/>
                  </a:lnTo>
                  <a:cubicBezTo>
                    <a:pt x="37" y="17"/>
                    <a:pt x="33" y="13"/>
                    <a:pt x="26" y="13"/>
                  </a:cubicBezTo>
                  <a:cubicBezTo>
                    <a:pt x="20" y="13"/>
                    <a:pt x="16" y="17"/>
                    <a:pt x="14" y="23"/>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16" name="Freeform 115" hidden="1"/>
            <p:cNvSpPr>
              <a:spLocks/>
            </p:cNvSpPr>
            <p:nvPr userDrawn="1"/>
          </p:nvSpPr>
          <p:spPr bwMode="auto">
            <a:xfrm>
              <a:off x="1804988" y="6532563"/>
              <a:ext cx="41275" cy="42863"/>
            </a:xfrm>
            <a:custGeom>
              <a:avLst/>
              <a:gdLst>
                <a:gd name="T0" fmla="*/ 69 w 77"/>
                <a:gd name="T1" fmla="*/ 12 h 80"/>
                <a:gd name="T2" fmla="*/ 58 w 77"/>
                <a:gd name="T3" fmla="*/ 23 h 80"/>
                <a:gd name="T4" fmla="*/ 40 w 77"/>
                <a:gd name="T5" fmla="*/ 15 h 80"/>
                <a:gd name="T6" fmla="*/ 16 w 77"/>
                <a:gd name="T7" fmla="*/ 40 h 80"/>
                <a:gd name="T8" fmla="*/ 40 w 77"/>
                <a:gd name="T9" fmla="*/ 66 h 80"/>
                <a:gd name="T10" fmla="*/ 61 w 77"/>
                <a:gd name="T11" fmla="*/ 49 h 80"/>
                <a:gd name="T12" fmla="*/ 42 w 77"/>
                <a:gd name="T13" fmla="*/ 49 h 80"/>
                <a:gd name="T14" fmla="*/ 42 w 77"/>
                <a:gd name="T15" fmla="*/ 36 h 80"/>
                <a:gd name="T16" fmla="*/ 77 w 77"/>
                <a:gd name="T17" fmla="*/ 36 h 80"/>
                <a:gd name="T18" fmla="*/ 77 w 77"/>
                <a:gd name="T19" fmla="*/ 40 h 80"/>
                <a:gd name="T20" fmla="*/ 40 w 77"/>
                <a:gd name="T21" fmla="*/ 80 h 80"/>
                <a:gd name="T22" fmla="*/ 0 w 77"/>
                <a:gd name="T23" fmla="*/ 40 h 80"/>
                <a:gd name="T24" fmla="*/ 40 w 77"/>
                <a:gd name="T25" fmla="*/ 0 h 80"/>
                <a:gd name="T26" fmla="*/ 69 w 77"/>
                <a:gd name="T27" fmla="*/ 1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80">
                  <a:moveTo>
                    <a:pt x="69" y="12"/>
                  </a:moveTo>
                  <a:lnTo>
                    <a:pt x="58" y="23"/>
                  </a:lnTo>
                  <a:cubicBezTo>
                    <a:pt x="54" y="18"/>
                    <a:pt x="48" y="15"/>
                    <a:pt x="40" y="15"/>
                  </a:cubicBezTo>
                  <a:cubicBezTo>
                    <a:pt x="26" y="15"/>
                    <a:pt x="16" y="25"/>
                    <a:pt x="16" y="40"/>
                  </a:cubicBezTo>
                  <a:cubicBezTo>
                    <a:pt x="16" y="56"/>
                    <a:pt x="26" y="66"/>
                    <a:pt x="40" y="66"/>
                  </a:cubicBezTo>
                  <a:cubicBezTo>
                    <a:pt x="52" y="66"/>
                    <a:pt x="59" y="60"/>
                    <a:pt x="61" y="49"/>
                  </a:cubicBezTo>
                  <a:lnTo>
                    <a:pt x="42" y="49"/>
                  </a:lnTo>
                  <a:lnTo>
                    <a:pt x="42" y="36"/>
                  </a:lnTo>
                  <a:lnTo>
                    <a:pt x="77" y="36"/>
                  </a:lnTo>
                  <a:cubicBezTo>
                    <a:pt x="77" y="38"/>
                    <a:pt x="77" y="39"/>
                    <a:pt x="77" y="40"/>
                  </a:cubicBezTo>
                  <a:cubicBezTo>
                    <a:pt x="77" y="64"/>
                    <a:pt x="62" y="80"/>
                    <a:pt x="40" y="80"/>
                  </a:cubicBezTo>
                  <a:cubicBezTo>
                    <a:pt x="19" y="80"/>
                    <a:pt x="0" y="65"/>
                    <a:pt x="0" y="40"/>
                  </a:cubicBezTo>
                  <a:cubicBezTo>
                    <a:pt x="0" y="17"/>
                    <a:pt x="17" y="0"/>
                    <a:pt x="40" y="0"/>
                  </a:cubicBezTo>
                  <a:cubicBezTo>
                    <a:pt x="52" y="0"/>
                    <a:pt x="63" y="5"/>
                    <a:pt x="69" y="12"/>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17" name="Freeform 116" hidden="1"/>
            <p:cNvSpPr>
              <a:spLocks noEditPoints="1"/>
            </p:cNvSpPr>
            <p:nvPr userDrawn="1"/>
          </p:nvSpPr>
          <p:spPr bwMode="auto">
            <a:xfrm>
              <a:off x="1849438" y="6545263"/>
              <a:ext cx="30163" cy="30163"/>
            </a:xfrm>
            <a:custGeom>
              <a:avLst/>
              <a:gdLst>
                <a:gd name="T0" fmla="*/ 57 w 57"/>
                <a:gd name="T1" fmla="*/ 28 h 56"/>
                <a:gd name="T2" fmla="*/ 28 w 57"/>
                <a:gd name="T3" fmla="*/ 56 h 56"/>
                <a:gd name="T4" fmla="*/ 0 w 57"/>
                <a:gd name="T5" fmla="*/ 28 h 56"/>
                <a:gd name="T6" fmla="*/ 28 w 57"/>
                <a:gd name="T7" fmla="*/ 0 h 56"/>
                <a:gd name="T8" fmla="*/ 57 w 57"/>
                <a:gd name="T9" fmla="*/ 28 h 56"/>
                <a:gd name="T10" fmla="*/ 14 w 57"/>
                <a:gd name="T11" fmla="*/ 28 h 56"/>
                <a:gd name="T12" fmla="*/ 28 w 57"/>
                <a:gd name="T13" fmla="*/ 43 h 56"/>
                <a:gd name="T14" fmla="*/ 42 w 57"/>
                <a:gd name="T15" fmla="*/ 28 h 56"/>
                <a:gd name="T16" fmla="*/ 28 w 57"/>
                <a:gd name="T17" fmla="*/ 13 h 56"/>
                <a:gd name="T18" fmla="*/ 14 w 57"/>
                <a:gd name="T19" fmla="*/ 2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56">
                  <a:moveTo>
                    <a:pt x="57" y="28"/>
                  </a:moveTo>
                  <a:cubicBezTo>
                    <a:pt x="57" y="44"/>
                    <a:pt x="45" y="56"/>
                    <a:pt x="28" y="56"/>
                  </a:cubicBezTo>
                  <a:cubicBezTo>
                    <a:pt x="12" y="56"/>
                    <a:pt x="0" y="44"/>
                    <a:pt x="0" y="28"/>
                  </a:cubicBezTo>
                  <a:cubicBezTo>
                    <a:pt x="0" y="12"/>
                    <a:pt x="12" y="0"/>
                    <a:pt x="28" y="0"/>
                  </a:cubicBezTo>
                  <a:cubicBezTo>
                    <a:pt x="45" y="0"/>
                    <a:pt x="57" y="12"/>
                    <a:pt x="57" y="28"/>
                  </a:cubicBezTo>
                  <a:moveTo>
                    <a:pt x="14" y="28"/>
                  </a:moveTo>
                  <a:cubicBezTo>
                    <a:pt x="14" y="37"/>
                    <a:pt x="20" y="43"/>
                    <a:pt x="28" y="43"/>
                  </a:cubicBezTo>
                  <a:cubicBezTo>
                    <a:pt x="36" y="43"/>
                    <a:pt x="42" y="37"/>
                    <a:pt x="42" y="28"/>
                  </a:cubicBezTo>
                  <a:cubicBezTo>
                    <a:pt x="42" y="19"/>
                    <a:pt x="36" y="13"/>
                    <a:pt x="28" y="13"/>
                  </a:cubicBezTo>
                  <a:cubicBezTo>
                    <a:pt x="20" y="13"/>
                    <a:pt x="14" y="19"/>
                    <a:pt x="14" y="28"/>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18" name="Freeform 117" hidden="1"/>
            <p:cNvSpPr>
              <a:spLocks/>
            </p:cNvSpPr>
            <p:nvPr userDrawn="1"/>
          </p:nvSpPr>
          <p:spPr bwMode="auto">
            <a:xfrm>
              <a:off x="1881188" y="6546850"/>
              <a:ext cx="30163" cy="28575"/>
            </a:xfrm>
            <a:custGeom>
              <a:avLst/>
              <a:gdLst>
                <a:gd name="T0" fmla="*/ 12 w 19"/>
                <a:gd name="T1" fmla="*/ 18 h 18"/>
                <a:gd name="T2" fmla="*/ 7 w 19"/>
                <a:gd name="T3" fmla="*/ 18 h 18"/>
                <a:gd name="T4" fmla="*/ 0 w 19"/>
                <a:gd name="T5" fmla="*/ 0 h 18"/>
                <a:gd name="T6" fmla="*/ 5 w 19"/>
                <a:gd name="T7" fmla="*/ 0 h 18"/>
                <a:gd name="T8" fmla="*/ 9 w 19"/>
                <a:gd name="T9" fmla="*/ 13 h 18"/>
                <a:gd name="T10" fmla="*/ 14 w 19"/>
                <a:gd name="T11" fmla="*/ 0 h 18"/>
                <a:gd name="T12" fmla="*/ 19 w 19"/>
                <a:gd name="T13" fmla="*/ 0 h 18"/>
                <a:gd name="T14" fmla="*/ 12 w 19"/>
                <a:gd name="T15" fmla="*/ 18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8">
                  <a:moveTo>
                    <a:pt x="12" y="18"/>
                  </a:moveTo>
                  <a:lnTo>
                    <a:pt x="7" y="18"/>
                  </a:lnTo>
                  <a:lnTo>
                    <a:pt x="0" y="0"/>
                  </a:lnTo>
                  <a:lnTo>
                    <a:pt x="5" y="0"/>
                  </a:lnTo>
                  <a:lnTo>
                    <a:pt x="9" y="13"/>
                  </a:lnTo>
                  <a:lnTo>
                    <a:pt x="14" y="0"/>
                  </a:lnTo>
                  <a:lnTo>
                    <a:pt x="19" y="0"/>
                  </a:lnTo>
                  <a:lnTo>
                    <a:pt x="12" y="1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19" name="Freeform 118" hidden="1"/>
            <p:cNvSpPr>
              <a:spLocks noEditPoints="1"/>
            </p:cNvSpPr>
            <p:nvPr userDrawn="1"/>
          </p:nvSpPr>
          <p:spPr bwMode="auto">
            <a:xfrm>
              <a:off x="1911350" y="6545263"/>
              <a:ext cx="28575" cy="30163"/>
            </a:xfrm>
            <a:custGeom>
              <a:avLst/>
              <a:gdLst>
                <a:gd name="T0" fmla="*/ 53 w 53"/>
                <a:gd name="T1" fmla="*/ 28 h 56"/>
                <a:gd name="T2" fmla="*/ 53 w 53"/>
                <a:gd name="T3" fmla="*/ 33 h 56"/>
                <a:gd name="T4" fmla="*/ 15 w 53"/>
                <a:gd name="T5" fmla="*/ 33 h 56"/>
                <a:gd name="T6" fmla="*/ 29 w 53"/>
                <a:gd name="T7" fmla="*/ 44 h 56"/>
                <a:gd name="T8" fmla="*/ 42 w 53"/>
                <a:gd name="T9" fmla="*/ 39 h 56"/>
                <a:gd name="T10" fmla="*/ 50 w 53"/>
                <a:gd name="T11" fmla="*/ 48 h 56"/>
                <a:gd name="T12" fmla="*/ 28 w 53"/>
                <a:gd name="T13" fmla="*/ 56 h 56"/>
                <a:gd name="T14" fmla="*/ 0 w 53"/>
                <a:gd name="T15" fmla="*/ 28 h 56"/>
                <a:gd name="T16" fmla="*/ 27 w 53"/>
                <a:gd name="T17" fmla="*/ 0 h 56"/>
                <a:gd name="T18" fmla="*/ 53 w 53"/>
                <a:gd name="T19" fmla="*/ 28 h 56"/>
                <a:gd name="T20" fmla="*/ 15 w 53"/>
                <a:gd name="T21" fmla="*/ 23 h 56"/>
                <a:gd name="T22" fmla="*/ 39 w 53"/>
                <a:gd name="T23" fmla="*/ 23 h 56"/>
                <a:gd name="T24" fmla="*/ 27 w 53"/>
                <a:gd name="T25" fmla="*/ 12 h 56"/>
                <a:gd name="T26" fmla="*/ 15 w 53"/>
                <a:gd name="T27" fmla="*/ 2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 h="56">
                  <a:moveTo>
                    <a:pt x="53" y="28"/>
                  </a:moveTo>
                  <a:cubicBezTo>
                    <a:pt x="53" y="30"/>
                    <a:pt x="53" y="32"/>
                    <a:pt x="53" y="33"/>
                  </a:cubicBezTo>
                  <a:lnTo>
                    <a:pt x="15" y="33"/>
                  </a:lnTo>
                  <a:cubicBezTo>
                    <a:pt x="17" y="41"/>
                    <a:pt x="22" y="44"/>
                    <a:pt x="29" y="44"/>
                  </a:cubicBezTo>
                  <a:cubicBezTo>
                    <a:pt x="33" y="44"/>
                    <a:pt x="38" y="42"/>
                    <a:pt x="42" y="39"/>
                  </a:cubicBezTo>
                  <a:lnTo>
                    <a:pt x="50" y="48"/>
                  </a:lnTo>
                  <a:cubicBezTo>
                    <a:pt x="44" y="54"/>
                    <a:pt x="37" y="56"/>
                    <a:pt x="28" y="56"/>
                  </a:cubicBezTo>
                  <a:cubicBezTo>
                    <a:pt x="12" y="56"/>
                    <a:pt x="0" y="45"/>
                    <a:pt x="0" y="28"/>
                  </a:cubicBezTo>
                  <a:cubicBezTo>
                    <a:pt x="0" y="12"/>
                    <a:pt x="11" y="0"/>
                    <a:pt x="27" y="0"/>
                  </a:cubicBezTo>
                  <a:cubicBezTo>
                    <a:pt x="42" y="0"/>
                    <a:pt x="53" y="11"/>
                    <a:pt x="53" y="28"/>
                  </a:cubicBezTo>
                  <a:moveTo>
                    <a:pt x="15" y="23"/>
                  </a:moveTo>
                  <a:lnTo>
                    <a:pt x="39" y="23"/>
                  </a:lnTo>
                  <a:cubicBezTo>
                    <a:pt x="37" y="16"/>
                    <a:pt x="33" y="12"/>
                    <a:pt x="27" y="12"/>
                  </a:cubicBezTo>
                  <a:cubicBezTo>
                    <a:pt x="20" y="12"/>
                    <a:pt x="16" y="17"/>
                    <a:pt x="15" y="23"/>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20" name="Freeform 119" hidden="1"/>
            <p:cNvSpPr>
              <a:spLocks/>
            </p:cNvSpPr>
            <p:nvPr userDrawn="1"/>
          </p:nvSpPr>
          <p:spPr bwMode="auto">
            <a:xfrm>
              <a:off x="1944688" y="6545263"/>
              <a:ext cx="19050" cy="30163"/>
            </a:xfrm>
            <a:custGeom>
              <a:avLst/>
              <a:gdLst>
                <a:gd name="T0" fmla="*/ 37 w 37"/>
                <a:gd name="T1" fmla="*/ 1 h 55"/>
                <a:gd name="T2" fmla="*/ 35 w 37"/>
                <a:gd name="T3" fmla="*/ 15 h 55"/>
                <a:gd name="T4" fmla="*/ 26 w 37"/>
                <a:gd name="T5" fmla="*/ 14 h 55"/>
                <a:gd name="T6" fmla="*/ 15 w 37"/>
                <a:gd name="T7" fmla="*/ 26 h 55"/>
                <a:gd name="T8" fmla="*/ 15 w 37"/>
                <a:gd name="T9" fmla="*/ 55 h 55"/>
                <a:gd name="T10" fmla="*/ 0 w 37"/>
                <a:gd name="T11" fmla="*/ 55 h 55"/>
                <a:gd name="T12" fmla="*/ 0 w 37"/>
                <a:gd name="T13" fmla="*/ 2 h 55"/>
                <a:gd name="T14" fmla="*/ 14 w 37"/>
                <a:gd name="T15" fmla="*/ 2 h 55"/>
                <a:gd name="T16" fmla="*/ 14 w 37"/>
                <a:gd name="T17" fmla="*/ 7 h 55"/>
                <a:gd name="T18" fmla="*/ 29 w 37"/>
                <a:gd name="T19" fmla="*/ 0 h 55"/>
                <a:gd name="T20" fmla="*/ 37 w 37"/>
                <a:gd name="T21"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5">
                  <a:moveTo>
                    <a:pt x="37" y="1"/>
                  </a:moveTo>
                  <a:lnTo>
                    <a:pt x="35" y="15"/>
                  </a:lnTo>
                  <a:cubicBezTo>
                    <a:pt x="32" y="14"/>
                    <a:pt x="29" y="14"/>
                    <a:pt x="26" y="14"/>
                  </a:cubicBezTo>
                  <a:cubicBezTo>
                    <a:pt x="19" y="14"/>
                    <a:pt x="15" y="18"/>
                    <a:pt x="15" y="26"/>
                  </a:cubicBezTo>
                  <a:lnTo>
                    <a:pt x="15" y="55"/>
                  </a:lnTo>
                  <a:lnTo>
                    <a:pt x="0" y="55"/>
                  </a:lnTo>
                  <a:lnTo>
                    <a:pt x="0" y="2"/>
                  </a:lnTo>
                  <a:lnTo>
                    <a:pt x="14" y="2"/>
                  </a:lnTo>
                  <a:lnTo>
                    <a:pt x="14" y="7"/>
                  </a:lnTo>
                  <a:cubicBezTo>
                    <a:pt x="18" y="2"/>
                    <a:pt x="23" y="0"/>
                    <a:pt x="29" y="0"/>
                  </a:cubicBezTo>
                  <a:cubicBezTo>
                    <a:pt x="32" y="0"/>
                    <a:pt x="35" y="1"/>
                    <a:pt x="37" y="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21" name="Freeform 120" hidden="1"/>
            <p:cNvSpPr>
              <a:spLocks/>
            </p:cNvSpPr>
            <p:nvPr userDrawn="1"/>
          </p:nvSpPr>
          <p:spPr bwMode="auto">
            <a:xfrm>
              <a:off x="1966913" y="6545263"/>
              <a:ext cx="26988" cy="30163"/>
            </a:xfrm>
            <a:custGeom>
              <a:avLst/>
              <a:gdLst>
                <a:gd name="T0" fmla="*/ 51 w 51"/>
                <a:gd name="T1" fmla="*/ 21 h 55"/>
                <a:gd name="T2" fmla="*/ 51 w 51"/>
                <a:gd name="T3" fmla="*/ 55 h 55"/>
                <a:gd name="T4" fmla="*/ 36 w 51"/>
                <a:gd name="T5" fmla="*/ 55 h 55"/>
                <a:gd name="T6" fmla="*/ 36 w 51"/>
                <a:gd name="T7" fmla="*/ 25 h 55"/>
                <a:gd name="T8" fmla="*/ 26 w 51"/>
                <a:gd name="T9" fmla="*/ 14 h 55"/>
                <a:gd name="T10" fmla="*/ 15 w 51"/>
                <a:gd name="T11" fmla="*/ 26 h 55"/>
                <a:gd name="T12" fmla="*/ 15 w 51"/>
                <a:gd name="T13" fmla="*/ 55 h 55"/>
                <a:gd name="T14" fmla="*/ 0 w 51"/>
                <a:gd name="T15" fmla="*/ 55 h 55"/>
                <a:gd name="T16" fmla="*/ 0 w 51"/>
                <a:gd name="T17" fmla="*/ 2 h 55"/>
                <a:gd name="T18" fmla="*/ 14 w 51"/>
                <a:gd name="T19" fmla="*/ 2 h 55"/>
                <a:gd name="T20" fmla="*/ 14 w 51"/>
                <a:gd name="T21" fmla="*/ 8 h 55"/>
                <a:gd name="T22" fmla="*/ 30 w 51"/>
                <a:gd name="T23" fmla="*/ 0 h 55"/>
                <a:gd name="T24" fmla="*/ 51 w 51"/>
                <a:gd name="T25"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 h="55">
                  <a:moveTo>
                    <a:pt x="51" y="21"/>
                  </a:moveTo>
                  <a:lnTo>
                    <a:pt x="51" y="55"/>
                  </a:lnTo>
                  <a:lnTo>
                    <a:pt x="36" y="55"/>
                  </a:lnTo>
                  <a:lnTo>
                    <a:pt x="36" y="25"/>
                  </a:lnTo>
                  <a:cubicBezTo>
                    <a:pt x="36" y="18"/>
                    <a:pt x="32" y="14"/>
                    <a:pt x="26" y="14"/>
                  </a:cubicBezTo>
                  <a:cubicBezTo>
                    <a:pt x="20" y="14"/>
                    <a:pt x="15" y="18"/>
                    <a:pt x="15" y="26"/>
                  </a:cubicBezTo>
                  <a:lnTo>
                    <a:pt x="15" y="55"/>
                  </a:lnTo>
                  <a:lnTo>
                    <a:pt x="0" y="55"/>
                  </a:lnTo>
                  <a:lnTo>
                    <a:pt x="0" y="2"/>
                  </a:lnTo>
                  <a:lnTo>
                    <a:pt x="14" y="2"/>
                  </a:lnTo>
                  <a:lnTo>
                    <a:pt x="14" y="8"/>
                  </a:lnTo>
                  <a:cubicBezTo>
                    <a:pt x="18" y="2"/>
                    <a:pt x="24" y="0"/>
                    <a:pt x="30" y="0"/>
                  </a:cubicBezTo>
                  <a:cubicBezTo>
                    <a:pt x="42" y="0"/>
                    <a:pt x="51" y="9"/>
                    <a:pt x="51" y="2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22" name="Freeform 121" hidden="1"/>
            <p:cNvSpPr>
              <a:spLocks/>
            </p:cNvSpPr>
            <p:nvPr userDrawn="1"/>
          </p:nvSpPr>
          <p:spPr bwMode="auto">
            <a:xfrm>
              <a:off x="2000250" y="6545263"/>
              <a:ext cx="46038" cy="30163"/>
            </a:xfrm>
            <a:custGeom>
              <a:avLst/>
              <a:gdLst>
                <a:gd name="T0" fmla="*/ 86 w 86"/>
                <a:gd name="T1" fmla="*/ 21 h 55"/>
                <a:gd name="T2" fmla="*/ 86 w 86"/>
                <a:gd name="T3" fmla="*/ 55 h 55"/>
                <a:gd name="T4" fmla="*/ 72 w 86"/>
                <a:gd name="T5" fmla="*/ 55 h 55"/>
                <a:gd name="T6" fmla="*/ 72 w 86"/>
                <a:gd name="T7" fmla="*/ 25 h 55"/>
                <a:gd name="T8" fmla="*/ 61 w 86"/>
                <a:gd name="T9" fmla="*/ 14 h 55"/>
                <a:gd name="T10" fmla="*/ 50 w 86"/>
                <a:gd name="T11" fmla="*/ 26 h 55"/>
                <a:gd name="T12" fmla="*/ 50 w 86"/>
                <a:gd name="T13" fmla="*/ 55 h 55"/>
                <a:gd name="T14" fmla="*/ 36 w 86"/>
                <a:gd name="T15" fmla="*/ 55 h 55"/>
                <a:gd name="T16" fmla="*/ 36 w 86"/>
                <a:gd name="T17" fmla="*/ 25 h 55"/>
                <a:gd name="T18" fmla="*/ 25 w 86"/>
                <a:gd name="T19" fmla="*/ 14 h 55"/>
                <a:gd name="T20" fmla="*/ 14 w 86"/>
                <a:gd name="T21" fmla="*/ 26 h 55"/>
                <a:gd name="T22" fmla="*/ 14 w 86"/>
                <a:gd name="T23" fmla="*/ 55 h 55"/>
                <a:gd name="T24" fmla="*/ 0 w 86"/>
                <a:gd name="T25" fmla="*/ 55 h 55"/>
                <a:gd name="T26" fmla="*/ 0 w 86"/>
                <a:gd name="T27" fmla="*/ 2 h 55"/>
                <a:gd name="T28" fmla="*/ 14 w 86"/>
                <a:gd name="T29" fmla="*/ 2 h 55"/>
                <a:gd name="T30" fmla="*/ 14 w 86"/>
                <a:gd name="T31" fmla="*/ 8 h 55"/>
                <a:gd name="T32" fmla="*/ 29 w 86"/>
                <a:gd name="T33" fmla="*/ 0 h 55"/>
                <a:gd name="T34" fmla="*/ 47 w 86"/>
                <a:gd name="T35" fmla="*/ 9 h 55"/>
                <a:gd name="T36" fmla="*/ 65 w 86"/>
                <a:gd name="T37" fmla="*/ 0 h 55"/>
                <a:gd name="T38" fmla="*/ 86 w 86"/>
                <a:gd name="T39"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55">
                  <a:moveTo>
                    <a:pt x="86" y="21"/>
                  </a:moveTo>
                  <a:lnTo>
                    <a:pt x="86" y="55"/>
                  </a:lnTo>
                  <a:lnTo>
                    <a:pt x="72" y="55"/>
                  </a:lnTo>
                  <a:lnTo>
                    <a:pt x="72" y="25"/>
                  </a:lnTo>
                  <a:cubicBezTo>
                    <a:pt x="72" y="18"/>
                    <a:pt x="68" y="14"/>
                    <a:pt x="61" y="14"/>
                  </a:cubicBezTo>
                  <a:cubicBezTo>
                    <a:pt x="55" y="14"/>
                    <a:pt x="50" y="18"/>
                    <a:pt x="50" y="26"/>
                  </a:cubicBezTo>
                  <a:lnTo>
                    <a:pt x="50" y="55"/>
                  </a:lnTo>
                  <a:lnTo>
                    <a:pt x="36" y="55"/>
                  </a:lnTo>
                  <a:lnTo>
                    <a:pt x="36" y="25"/>
                  </a:lnTo>
                  <a:cubicBezTo>
                    <a:pt x="36" y="18"/>
                    <a:pt x="32" y="14"/>
                    <a:pt x="25" y="14"/>
                  </a:cubicBezTo>
                  <a:cubicBezTo>
                    <a:pt x="19" y="14"/>
                    <a:pt x="14" y="18"/>
                    <a:pt x="14" y="26"/>
                  </a:cubicBezTo>
                  <a:lnTo>
                    <a:pt x="14" y="55"/>
                  </a:lnTo>
                  <a:lnTo>
                    <a:pt x="0" y="55"/>
                  </a:lnTo>
                  <a:lnTo>
                    <a:pt x="0" y="2"/>
                  </a:lnTo>
                  <a:lnTo>
                    <a:pt x="14" y="2"/>
                  </a:lnTo>
                  <a:lnTo>
                    <a:pt x="14" y="8"/>
                  </a:lnTo>
                  <a:cubicBezTo>
                    <a:pt x="18" y="2"/>
                    <a:pt x="23" y="0"/>
                    <a:pt x="29" y="0"/>
                  </a:cubicBezTo>
                  <a:cubicBezTo>
                    <a:pt x="37" y="0"/>
                    <a:pt x="43" y="4"/>
                    <a:pt x="47" y="9"/>
                  </a:cubicBezTo>
                  <a:cubicBezTo>
                    <a:pt x="51" y="2"/>
                    <a:pt x="58" y="0"/>
                    <a:pt x="65" y="0"/>
                  </a:cubicBezTo>
                  <a:cubicBezTo>
                    <a:pt x="78" y="0"/>
                    <a:pt x="86" y="9"/>
                    <a:pt x="86" y="2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23" name="Freeform 122" hidden="1"/>
            <p:cNvSpPr>
              <a:spLocks noEditPoints="1"/>
            </p:cNvSpPr>
            <p:nvPr userDrawn="1"/>
          </p:nvSpPr>
          <p:spPr bwMode="auto">
            <a:xfrm>
              <a:off x="2051050" y="6545263"/>
              <a:ext cx="26988" cy="30163"/>
            </a:xfrm>
            <a:custGeom>
              <a:avLst/>
              <a:gdLst>
                <a:gd name="T0" fmla="*/ 53 w 53"/>
                <a:gd name="T1" fmla="*/ 28 h 56"/>
                <a:gd name="T2" fmla="*/ 52 w 53"/>
                <a:gd name="T3" fmla="*/ 33 h 56"/>
                <a:gd name="T4" fmla="*/ 15 w 53"/>
                <a:gd name="T5" fmla="*/ 33 h 56"/>
                <a:gd name="T6" fmla="*/ 28 w 53"/>
                <a:gd name="T7" fmla="*/ 44 h 56"/>
                <a:gd name="T8" fmla="*/ 42 w 53"/>
                <a:gd name="T9" fmla="*/ 39 h 56"/>
                <a:gd name="T10" fmla="*/ 50 w 53"/>
                <a:gd name="T11" fmla="*/ 48 h 56"/>
                <a:gd name="T12" fmla="*/ 28 w 53"/>
                <a:gd name="T13" fmla="*/ 56 h 56"/>
                <a:gd name="T14" fmla="*/ 0 w 53"/>
                <a:gd name="T15" fmla="*/ 28 h 56"/>
                <a:gd name="T16" fmla="*/ 27 w 53"/>
                <a:gd name="T17" fmla="*/ 0 h 56"/>
                <a:gd name="T18" fmla="*/ 53 w 53"/>
                <a:gd name="T19" fmla="*/ 28 h 56"/>
                <a:gd name="T20" fmla="*/ 15 w 53"/>
                <a:gd name="T21" fmla="*/ 23 h 56"/>
                <a:gd name="T22" fmla="*/ 38 w 53"/>
                <a:gd name="T23" fmla="*/ 23 h 56"/>
                <a:gd name="T24" fmla="*/ 27 w 53"/>
                <a:gd name="T25" fmla="*/ 12 h 56"/>
                <a:gd name="T26" fmla="*/ 15 w 53"/>
                <a:gd name="T27" fmla="*/ 2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 h="56">
                  <a:moveTo>
                    <a:pt x="53" y="28"/>
                  </a:moveTo>
                  <a:cubicBezTo>
                    <a:pt x="53" y="30"/>
                    <a:pt x="53" y="32"/>
                    <a:pt x="52" y="33"/>
                  </a:cubicBezTo>
                  <a:lnTo>
                    <a:pt x="15" y="33"/>
                  </a:lnTo>
                  <a:cubicBezTo>
                    <a:pt x="16" y="41"/>
                    <a:pt x="22" y="44"/>
                    <a:pt x="28" y="44"/>
                  </a:cubicBezTo>
                  <a:cubicBezTo>
                    <a:pt x="33" y="44"/>
                    <a:pt x="38" y="42"/>
                    <a:pt x="42" y="39"/>
                  </a:cubicBezTo>
                  <a:lnTo>
                    <a:pt x="50" y="48"/>
                  </a:lnTo>
                  <a:cubicBezTo>
                    <a:pt x="44" y="54"/>
                    <a:pt x="37" y="56"/>
                    <a:pt x="28" y="56"/>
                  </a:cubicBezTo>
                  <a:cubicBezTo>
                    <a:pt x="11" y="56"/>
                    <a:pt x="0" y="45"/>
                    <a:pt x="0" y="28"/>
                  </a:cubicBezTo>
                  <a:cubicBezTo>
                    <a:pt x="0" y="12"/>
                    <a:pt x="11" y="0"/>
                    <a:pt x="27" y="0"/>
                  </a:cubicBezTo>
                  <a:cubicBezTo>
                    <a:pt x="42" y="0"/>
                    <a:pt x="53" y="11"/>
                    <a:pt x="53" y="28"/>
                  </a:cubicBezTo>
                  <a:moveTo>
                    <a:pt x="15" y="23"/>
                  </a:moveTo>
                  <a:lnTo>
                    <a:pt x="38" y="23"/>
                  </a:lnTo>
                  <a:cubicBezTo>
                    <a:pt x="37" y="16"/>
                    <a:pt x="33" y="12"/>
                    <a:pt x="27" y="12"/>
                  </a:cubicBezTo>
                  <a:cubicBezTo>
                    <a:pt x="20" y="12"/>
                    <a:pt x="16" y="17"/>
                    <a:pt x="15" y="23"/>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24" name="Freeform 123" hidden="1"/>
            <p:cNvSpPr>
              <a:spLocks/>
            </p:cNvSpPr>
            <p:nvPr userDrawn="1"/>
          </p:nvSpPr>
          <p:spPr bwMode="auto">
            <a:xfrm>
              <a:off x="2082800" y="6545263"/>
              <a:ext cx="26988" cy="30163"/>
            </a:xfrm>
            <a:custGeom>
              <a:avLst/>
              <a:gdLst>
                <a:gd name="T0" fmla="*/ 50 w 50"/>
                <a:gd name="T1" fmla="*/ 21 h 55"/>
                <a:gd name="T2" fmla="*/ 50 w 50"/>
                <a:gd name="T3" fmla="*/ 55 h 55"/>
                <a:gd name="T4" fmla="*/ 36 w 50"/>
                <a:gd name="T5" fmla="*/ 55 h 55"/>
                <a:gd name="T6" fmla="*/ 36 w 50"/>
                <a:gd name="T7" fmla="*/ 25 h 55"/>
                <a:gd name="T8" fmla="*/ 26 w 50"/>
                <a:gd name="T9" fmla="*/ 14 h 55"/>
                <a:gd name="T10" fmla="*/ 15 w 50"/>
                <a:gd name="T11" fmla="*/ 26 h 55"/>
                <a:gd name="T12" fmla="*/ 15 w 50"/>
                <a:gd name="T13" fmla="*/ 55 h 55"/>
                <a:gd name="T14" fmla="*/ 0 w 50"/>
                <a:gd name="T15" fmla="*/ 55 h 55"/>
                <a:gd name="T16" fmla="*/ 0 w 50"/>
                <a:gd name="T17" fmla="*/ 2 h 55"/>
                <a:gd name="T18" fmla="*/ 14 w 50"/>
                <a:gd name="T19" fmla="*/ 2 h 55"/>
                <a:gd name="T20" fmla="*/ 14 w 50"/>
                <a:gd name="T21" fmla="*/ 8 h 55"/>
                <a:gd name="T22" fmla="*/ 30 w 50"/>
                <a:gd name="T23" fmla="*/ 0 h 55"/>
                <a:gd name="T24" fmla="*/ 50 w 50"/>
                <a:gd name="T25"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55">
                  <a:moveTo>
                    <a:pt x="50" y="21"/>
                  </a:moveTo>
                  <a:lnTo>
                    <a:pt x="50" y="55"/>
                  </a:lnTo>
                  <a:lnTo>
                    <a:pt x="36" y="55"/>
                  </a:lnTo>
                  <a:lnTo>
                    <a:pt x="36" y="25"/>
                  </a:lnTo>
                  <a:cubicBezTo>
                    <a:pt x="36" y="18"/>
                    <a:pt x="32" y="14"/>
                    <a:pt x="26" y="14"/>
                  </a:cubicBezTo>
                  <a:cubicBezTo>
                    <a:pt x="20" y="14"/>
                    <a:pt x="15" y="18"/>
                    <a:pt x="15" y="26"/>
                  </a:cubicBezTo>
                  <a:lnTo>
                    <a:pt x="15" y="55"/>
                  </a:lnTo>
                  <a:lnTo>
                    <a:pt x="0" y="55"/>
                  </a:lnTo>
                  <a:lnTo>
                    <a:pt x="0" y="2"/>
                  </a:lnTo>
                  <a:lnTo>
                    <a:pt x="14" y="2"/>
                  </a:lnTo>
                  <a:lnTo>
                    <a:pt x="14" y="8"/>
                  </a:lnTo>
                  <a:cubicBezTo>
                    <a:pt x="18" y="2"/>
                    <a:pt x="24" y="0"/>
                    <a:pt x="30" y="0"/>
                  </a:cubicBezTo>
                  <a:cubicBezTo>
                    <a:pt x="42" y="0"/>
                    <a:pt x="50" y="9"/>
                    <a:pt x="50" y="2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125" name="Freeform 124" hidden="1"/>
            <p:cNvSpPr>
              <a:spLocks/>
            </p:cNvSpPr>
            <p:nvPr userDrawn="1"/>
          </p:nvSpPr>
          <p:spPr bwMode="auto">
            <a:xfrm>
              <a:off x="2112963" y="6538913"/>
              <a:ext cx="25400" cy="36513"/>
            </a:xfrm>
            <a:custGeom>
              <a:avLst/>
              <a:gdLst>
                <a:gd name="T0" fmla="*/ 44 w 48"/>
                <a:gd name="T1" fmla="*/ 28 h 70"/>
                <a:gd name="T2" fmla="*/ 25 w 48"/>
                <a:gd name="T3" fmla="*/ 28 h 70"/>
                <a:gd name="T4" fmla="*/ 25 w 48"/>
                <a:gd name="T5" fmla="*/ 48 h 70"/>
                <a:gd name="T6" fmla="*/ 33 w 48"/>
                <a:gd name="T7" fmla="*/ 57 h 70"/>
                <a:gd name="T8" fmla="*/ 43 w 48"/>
                <a:gd name="T9" fmla="*/ 53 h 70"/>
                <a:gd name="T10" fmla="*/ 48 w 48"/>
                <a:gd name="T11" fmla="*/ 64 h 70"/>
                <a:gd name="T12" fmla="*/ 30 w 48"/>
                <a:gd name="T13" fmla="*/ 70 h 70"/>
                <a:gd name="T14" fmla="*/ 10 w 48"/>
                <a:gd name="T15" fmla="*/ 49 h 70"/>
                <a:gd name="T16" fmla="*/ 10 w 48"/>
                <a:gd name="T17" fmla="*/ 28 h 70"/>
                <a:gd name="T18" fmla="*/ 0 w 48"/>
                <a:gd name="T19" fmla="*/ 28 h 70"/>
                <a:gd name="T20" fmla="*/ 0 w 48"/>
                <a:gd name="T21" fmla="*/ 16 h 70"/>
                <a:gd name="T22" fmla="*/ 10 w 48"/>
                <a:gd name="T23" fmla="*/ 16 h 70"/>
                <a:gd name="T24" fmla="*/ 10 w 48"/>
                <a:gd name="T25" fmla="*/ 0 h 70"/>
                <a:gd name="T26" fmla="*/ 25 w 48"/>
                <a:gd name="T27" fmla="*/ 0 h 70"/>
                <a:gd name="T28" fmla="*/ 25 w 48"/>
                <a:gd name="T29" fmla="*/ 16 h 70"/>
                <a:gd name="T30" fmla="*/ 44 w 48"/>
                <a:gd name="T31" fmla="*/ 16 h 70"/>
                <a:gd name="T32" fmla="*/ 44 w 48"/>
                <a:gd name="T33" fmla="*/ 28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70">
                  <a:moveTo>
                    <a:pt x="44" y="28"/>
                  </a:moveTo>
                  <a:lnTo>
                    <a:pt x="25" y="28"/>
                  </a:lnTo>
                  <a:lnTo>
                    <a:pt x="25" y="48"/>
                  </a:lnTo>
                  <a:cubicBezTo>
                    <a:pt x="25" y="54"/>
                    <a:pt x="28" y="57"/>
                    <a:pt x="33" y="57"/>
                  </a:cubicBezTo>
                  <a:cubicBezTo>
                    <a:pt x="36" y="57"/>
                    <a:pt x="40" y="55"/>
                    <a:pt x="43" y="53"/>
                  </a:cubicBezTo>
                  <a:lnTo>
                    <a:pt x="48" y="64"/>
                  </a:lnTo>
                  <a:cubicBezTo>
                    <a:pt x="43" y="68"/>
                    <a:pt x="38" y="70"/>
                    <a:pt x="30" y="70"/>
                  </a:cubicBezTo>
                  <a:cubicBezTo>
                    <a:pt x="17" y="70"/>
                    <a:pt x="10" y="63"/>
                    <a:pt x="10" y="49"/>
                  </a:cubicBezTo>
                  <a:lnTo>
                    <a:pt x="10" y="28"/>
                  </a:lnTo>
                  <a:lnTo>
                    <a:pt x="0" y="28"/>
                  </a:lnTo>
                  <a:lnTo>
                    <a:pt x="0" y="16"/>
                  </a:lnTo>
                  <a:lnTo>
                    <a:pt x="10" y="16"/>
                  </a:lnTo>
                  <a:lnTo>
                    <a:pt x="10" y="0"/>
                  </a:lnTo>
                  <a:lnTo>
                    <a:pt x="25" y="0"/>
                  </a:lnTo>
                  <a:lnTo>
                    <a:pt x="25" y="16"/>
                  </a:lnTo>
                  <a:lnTo>
                    <a:pt x="44" y="16"/>
                  </a:lnTo>
                  <a:lnTo>
                    <a:pt x="44" y="28"/>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grpSp>
    </p:spTree>
    <p:extLst>
      <p:ext uri="{BB962C8B-B14F-4D97-AF65-F5344CB8AC3E}">
        <p14:creationId xmlns:p14="http://schemas.microsoft.com/office/powerpoint/2010/main" val="2679866853"/>
      </p:ext>
    </p:extLst>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B">
    <p:bg bwMode="ltGray">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42" name="Rectangle 41" descr="&lt;mode=4x3&gt;&#10;&lt;size&gt;h=82.5;w=720&lt;size/&gt;&#10;&lt;pos&gt;top=457.5;left=0.24&lt;pos/&gt;&#10;&lt;mode/&gt;&#10;&lt;mode=16x9&gt;&#10;&lt;size&gt;h=82.50008;w=720&lt;size/&gt;&#10;&lt;pos&gt;top=322.4999;left=0.24&lt;pos/&gt;&#10;&lt;mode/&gt;"/>
          <p:cNvSpPr/>
          <p:nvPr userDrawn="1"/>
        </p:nvSpPr>
        <p:spPr bwMode="white">
          <a:xfrm>
            <a:off x="4064" y="5461000"/>
            <a:ext cx="12192000" cy="1397001"/>
          </a:xfrm>
          <a:prstGeom prst="rect">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22" name="Rectangle 21" descr="&lt;mode=4x3&gt;&#10;&lt;size&gt;h=61.87504;w=720&lt;size/&gt;&#10;&lt;pos&gt;top=343.1253;left=0.24&lt;pos/&gt;&#10;&lt;mode/&gt;&#10;&lt;mode=16x9&gt;&#10;&lt;size&gt;h=61.87504;w=720&lt;size/&gt;&#10;&lt;pos&gt;top=343.128;left=0.24&lt;pos/&gt;&#10;&lt;mode/&gt;" hidden="1"/>
          <p:cNvSpPr/>
          <p:nvPr userDrawn="1"/>
        </p:nvSpPr>
        <p:spPr bwMode="white">
          <a:xfrm>
            <a:off x="4064" y="5810301"/>
            <a:ext cx="12192000" cy="1047751"/>
          </a:xfrm>
          <a:prstGeom prst="rect">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grpSp>
        <p:nvGrpSpPr>
          <p:cNvPr id="35" name="logo_ripples_bar_small-4x3" descr="&lt;mode=4x3&gt;&#10;&lt;size&gt;h=158;w=720&lt;size/&gt;&#10;&lt;pos&gt;top=319.3506;left=0&lt;pos/&gt;&#10;&lt;mode/&gt;&#10;&lt;mode=16x9&gt;&#10;&lt;size&gt;h=118.5;w=720&lt;size/&gt;&#10;&lt;pos&gt;top=239.5129;left=0&lt;pos/&gt;&#10;&lt;mode/&gt;" hidden="1"/>
          <p:cNvGrpSpPr/>
          <p:nvPr userDrawn="1"/>
        </p:nvGrpSpPr>
        <p:grpSpPr>
          <a:xfrm>
            <a:off x="0" y="4055752"/>
            <a:ext cx="12192000" cy="2006600"/>
            <a:chOff x="0" y="4055752"/>
            <a:chExt cx="9144000" cy="2006600"/>
          </a:xfrm>
        </p:grpSpPr>
        <p:sp>
          <p:nvSpPr>
            <p:cNvPr id="36" name="base_bar" hidden="1"/>
            <p:cNvSpPr>
              <a:spLocks/>
            </p:cNvSpPr>
            <p:nvPr userDrawn="1"/>
          </p:nvSpPr>
          <p:spPr bwMode="ltGray">
            <a:xfrm>
              <a:off x="0" y="4662177"/>
              <a:ext cx="9144000" cy="1400175"/>
            </a:xfrm>
            <a:custGeom>
              <a:avLst/>
              <a:gdLst>
                <a:gd name="T0" fmla="*/ 0 w 2879"/>
                <a:gd name="T1" fmla="*/ 441 h 441"/>
                <a:gd name="T2" fmla="*/ 0 w 2879"/>
                <a:gd name="T3" fmla="*/ 0 h 441"/>
                <a:gd name="T4" fmla="*/ 2265 w 2879"/>
                <a:gd name="T5" fmla="*/ 0 h 441"/>
                <a:gd name="T6" fmla="*/ 2266 w 2879"/>
                <a:gd name="T7" fmla="*/ 3 h 441"/>
                <a:gd name="T8" fmla="*/ 2348 w 2879"/>
                <a:gd name="T9" fmla="*/ 57 h 441"/>
                <a:gd name="T10" fmla="*/ 2351 w 2879"/>
                <a:gd name="T11" fmla="*/ 56 h 441"/>
                <a:gd name="T12" fmla="*/ 2541 w 2879"/>
                <a:gd name="T13" fmla="*/ 199 h 441"/>
                <a:gd name="T14" fmla="*/ 2738 w 2879"/>
                <a:gd name="T15" fmla="*/ 3 h 441"/>
                <a:gd name="T16" fmla="*/ 2738 w 2879"/>
                <a:gd name="T17" fmla="*/ 0 h 441"/>
                <a:gd name="T18" fmla="*/ 2879 w 2879"/>
                <a:gd name="T19" fmla="*/ 0 h 441"/>
                <a:gd name="T20" fmla="*/ 2879 w 2879"/>
                <a:gd name="T21" fmla="*/ 441 h 441"/>
                <a:gd name="T22" fmla="*/ 0 w 2879"/>
                <a:gd name="T23" fmla="*/ 441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79" h="441">
                  <a:moveTo>
                    <a:pt x="0" y="441"/>
                  </a:moveTo>
                  <a:cubicBezTo>
                    <a:pt x="0" y="0"/>
                    <a:pt x="0" y="0"/>
                    <a:pt x="0" y="0"/>
                  </a:cubicBezTo>
                  <a:cubicBezTo>
                    <a:pt x="2265" y="0"/>
                    <a:pt x="2265" y="0"/>
                    <a:pt x="2265" y="0"/>
                  </a:cubicBezTo>
                  <a:cubicBezTo>
                    <a:pt x="2266" y="3"/>
                    <a:pt x="2266" y="3"/>
                    <a:pt x="2266" y="3"/>
                  </a:cubicBezTo>
                  <a:cubicBezTo>
                    <a:pt x="2281" y="36"/>
                    <a:pt x="2313" y="57"/>
                    <a:pt x="2348" y="57"/>
                  </a:cubicBezTo>
                  <a:cubicBezTo>
                    <a:pt x="2349" y="57"/>
                    <a:pt x="2350" y="56"/>
                    <a:pt x="2351" y="56"/>
                  </a:cubicBezTo>
                  <a:cubicBezTo>
                    <a:pt x="2376" y="140"/>
                    <a:pt x="2453" y="199"/>
                    <a:pt x="2541" y="199"/>
                  </a:cubicBezTo>
                  <a:cubicBezTo>
                    <a:pt x="2649" y="199"/>
                    <a:pt x="2737" y="111"/>
                    <a:pt x="2738" y="3"/>
                  </a:cubicBezTo>
                  <a:cubicBezTo>
                    <a:pt x="2738" y="0"/>
                    <a:pt x="2738" y="0"/>
                    <a:pt x="2738" y="0"/>
                  </a:cubicBezTo>
                  <a:cubicBezTo>
                    <a:pt x="2879" y="0"/>
                    <a:pt x="2879" y="0"/>
                    <a:pt x="2879" y="0"/>
                  </a:cubicBezTo>
                  <a:cubicBezTo>
                    <a:pt x="2879" y="441"/>
                    <a:pt x="2879" y="441"/>
                    <a:pt x="2879" y="441"/>
                  </a:cubicBezTo>
                  <a:lnTo>
                    <a:pt x="0" y="441"/>
                  </a:lnTo>
                  <a:close/>
                </a:path>
              </a:pathLst>
            </a:custGeom>
            <a:solidFill>
              <a:srgbClr val="0092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37" name="circle_mid3" hidden="1"/>
            <p:cNvSpPr>
              <a:spLocks noEditPoints="1"/>
            </p:cNvSpPr>
            <p:nvPr userDrawn="1"/>
          </p:nvSpPr>
          <p:spPr bwMode="ltGray">
            <a:xfrm>
              <a:off x="7456170" y="4055752"/>
              <a:ext cx="1224280" cy="1222375"/>
            </a:xfrm>
            <a:custGeom>
              <a:avLst/>
              <a:gdLst>
                <a:gd name="T0" fmla="*/ 770 w 1540"/>
                <a:gd name="T1" fmla="*/ 1539 h 1539"/>
                <a:gd name="T2" fmla="*/ 1540 w 1540"/>
                <a:gd name="T3" fmla="*/ 770 h 1539"/>
                <a:gd name="T4" fmla="*/ 770 w 1540"/>
                <a:gd name="T5" fmla="*/ 0 h 1539"/>
                <a:gd name="T6" fmla="*/ 0 w 1540"/>
                <a:gd name="T7" fmla="*/ 770 h 1539"/>
                <a:gd name="T8" fmla="*/ 770 w 1540"/>
                <a:gd name="T9" fmla="*/ 1539 h 1539"/>
                <a:gd name="T10" fmla="*/ 770 w 1540"/>
                <a:gd name="T11" fmla="*/ 10 h 1539"/>
                <a:gd name="T12" fmla="*/ 1529 w 1540"/>
                <a:gd name="T13" fmla="*/ 770 h 1539"/>
                <a:gd name="T14" fmla="*/ 770 w 1540"/>
                <a:gd name="T15" fmla="*/ 1529 h 1539"/>
                <a:gd name="T16" fmla="*/ 11 w 1540"/>
                <a:gd name="T17" fmla="*/ 770 h 1539"/>
                <a:gd name="T18" fmla="*/ 770 w 1540"/>
                <a:gd name="T19" fmla="*/ 10 h 1539"/>
                <a:gd name="T20" fmla="*/ 770 w 1540"/>
                <a:gd name="T21" fmla="*/ 1494 h 1539"/>
                <a:gd name="T22" fmla="*/ 1495 w 1540"/>
                <a:gd name="T23" fmla="*/ 770 h 1539"/>
                <a:gd name="T24" fmla="*/ 770 w 1540"/>
                <a:gd name="T25" fmla="*/ 45 h 1539"/>
                <a:gd name="T26" fmla="*/ 45 w 1540"/>
                <a:gd name="T27" fmla="*/ 770 h 1539"/>
                <a:gd name="T28" fmla="*/ 770 w 1540"/>
                <a:gd name="T29" fmla="*/ 1494 h 1539"/>
                <a:gd name="T30" fmla="*/ 770 w 1540"/>
                <a:gd name="T31" fmla="*/ 63 h 1539"/>
                <a:gd name="T32" fmla="*/ 1476 w 1540"/>
                <a:gd name="T33" fmla="*/ 770 h 1539"/>
                <a:gd name="T34" fmla="*/ 770 w 1540"/>
                <a:gd name="T35" fmla="*/ 1476 h 1539"/>
                <a:gd name="T36" fmla="*/ 64 w 1540"/>
                <a:gd name="T37" fmla="*/ 770 h 1539"/>
                <a:gd name="T38" fmla="*/ 770 w 1540"/>
                <a:gd name="T39" fmla="*/ 63 h 1539"/>
                <a:gd name="T40" fmla="*/ 770 w 1540"/>
                <a:gd name="T41" fmla="*/ 1449 h 1539"/>
                <a:gd name="T42" fmla="*/ 1450 w 1540"/>
                <a:gd name="T43" fmla="*/ 770 h 1539"/>
                <a:gd name="T44" fmla="*/ 770 w 1540"/>
                <a:gd name="T45" fmla="*/ 90 h 1539"/>
                <a:gd name="T46" fmla="*/ 90 w 1540"/>
                <a:gd name="T47" fmla="*/ 770 h 1539"/>
                <a:gd name="T48" fmla="*/ 770 w 1540"/>
                <a:gd name="T49" fmla="*/ 1449 h 1539"/>
                <a:gd name="T50" fmla="*/ 770 w 1540"/>
                <a:gd name="T51" fmla="*/ 116 h 1539"/>
                <a:gd name="T52" fmla="*/ 1423 w 1540"/>
                <a:gd name="T53" fmla="*/ 770 h 1539"/>
                <a:gd name="T54" fmla="*/ 770 w 1540"/>
                <a:gd name="T55" fmla="*/ 1423 h 1539"/>
                <a:gd name="T56" fmla="*/ 117 w 1540"/>
                <a:gd name="T57" fmla="*/ 770 h 1539"/>
                <a:gd name="T58" fmla="*/ 770 w 1540"/>
                <a:gd name="T59" fmla="*/ 116 h 1539"/>
                <a:gd name="T60" fmla="*/ 770 w 1540"/>
                <a:gd name="T61" fmla="*/ 1405 h 1539"/>
                <a:gd name="T62" fmla="*/ 1405 w 1540"/>
                <a:gd name="T63" fmla="*/ 770 h 1539"/>
                <a:gd name="T64" fmla="*/ 770 w 1540"/>
                <a:gd name="T65" fmla="*/ 135 h 1539"/>
                <a:gd name="T66" fmla="*/ 135 w 1540"/>
                <a:gd name="T67" fmla="*/ 770 h 1539"/>
                <a:gd name="T68" fmla="*/ 770 w 1540"/>
                <a:gd name="T69" fmla="*/ 1405 h 1539"/>
                <a:gd name="T70" fmla="*/ 770 w 1540"/>
                <a:gd name="T71" fmla="*/ 169 h 1539"/>
                <a:gd name="T72" fmla="*/ 1370 w 1540"/>
                <a:gd name="T73" fmla="*/ 770 h 1539"/>
                <a:gd name="T74" fmla="*/ 770 w 1540"/>
                <a:gd name="T75" fmla="*/ 1370 h 1539"/>
                <a:gd name="T76" fmla="*/ 170 w 1540"/>
                <a:gd name="T77" fmla="*/ 770 h 1539"/>
                <a:gd name="T78" fmla="*/ 770 w 1540"/>
                <a:gd name="T79" fmla="*/ 169 h 1539"/>
                <a:gd name="T80" fmla="*/ 770 w 1540"/>
                <a:gd name="T81" fmla="*/ 180 h 1539"/>
                <a:gd name="T82" fmla="*/ 1360 w 1540"/>
                <a:gd name="T83" fmla="*/ 770 h 1539"/>
                <a:gd name="T84" fmla="*/ 770 w 1540"/>
                <a:gd name="T85" fmla="*/ 1360 h 1539"/>
                <a:gd name="T86" fmla="*/ 180 w 1540"/>
                <a:gd name="T87" fmla="*/ 770 h 1539"/>
                <a:gd name="T88" fmla="*/ 770 w 1540"/>
                <a:gd name="T89" fmla="*/ 180 h 1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40" h="1539">
                  <a:moveTo>
                    <a:pt x="770" y="1539"/>
                  </a:moveTo>
                  <a:cubicBezTo>
                    <a:pt x="1194" y="1539"/>
                    <a:pt x="1540" y="1194"/>
                    <a:pt x="1540" y="770"/>
                  </a:cubicBezTo>
                  <a:cubicBezTo>
                    <a:pt x="1540" y="345"/>
                    <a:pt x="1194" y="0"/>
                    <a:pt x="770" y="0"/>
                  </a:cubicBezTo>
                  <a:cubicBezTo>
                    <a:pt x="346" y="0"/>
                    <a:pt x="0" y="345"/>
                    <a:pt x="0" y="770"/>
                  </a:cubicBezTo>
                  <a:cubicBezTo>
                    <a:pt x="0" y="1194"/>
                    <a:pt x="346" y="1539"/>
                    <a:pt x="770" y="1539"/>
                  </a:cubicBezTo>
                  <a:close/>
                  <a:moveTo>
                    <a:pt x="770" y="10"/>
                  </a:moveTo>
                  <a:cubicBezTo>
                    <a:pt x="1189" y="10"/>
                    <a:pt x="1529" y="351"/>
                    <a:pt x="1529" y="770"/>
                  </a:cubicBezTo>
                  <a:cubicBezTo>
                    <a:pt x="1529" y="1188"/>
                    <a:pt x="1189" y="1529"/>
                    <a:pt x="770" y="1529"/>
                  </a:cubicBezTo>
                  <a:cubicBezTo>
                    <a:pt x="351" y="1529"/>
                    <a:pt x="11" y="1188"/>
                    <a:pt x="11" y="770"/>
                  </a:cubicBezTo>
                  <a:cubicBezTo>
                    <a:pt x="11" y="351"/>
                    <a:pt x="351" y="10"/>
                    <a:pt x="770" y="10"/>
                  </a:cubicBezTo>
                  <a:close/>
                  <a:moveTo>
                    <a:pt x="770" y="1494"/>
                  </a:moveTo>
                  <a:cubicBezTo>
                    <a:pt x="1170" y="1494"/>
                    <a:pt x="1495" y="1169"/>
                    <a:pt x="1495" y="770"/>
                  </a:cubicBezTo>
                  <a:cubicBezTo>
                    <a:pt x="1495" y="370"/>
                    <a:pt x="1170" y="45"/>
                    <a:pt x="770" y="45"/>
                  </a:cubicBezTo>
                  <a:cubicBezTo>
                    <a:pt x="370" y="45"/>
                    <a:pt x="45" y="370"/>
                    <a:pt x="45" y="770"/>
                  </a:cubicBezTo>
                  <a:cubicBezTo>
                    <a:pt x="45" y="1169"/>
                    <a:pt x="370" y="1494"/>
                    <a:pt x="770" y="1494"/>
                  </a:cubicBezTo>
                  <a:close/>
                  <a:moveTo>
                    <a:pt x="770" y="63"/>
                  </a:moveTo>
                  <a:cubicBezTo>
                    <a:pt x="1160" y="63"/>
                    <a:pt x="1476" y="380"/>
                    <a:pt x="1476" y="770"/>
                  </a:cubicBezTo>
                  <a:cubicBezTo>
                    <a:pt x="1476" y="1159"/>
                    <a:pt x="1160" y="1476"/>
                    <a:pt x="770" y="1476"/>
                  </a:cubicBezTo>
                  <a:cubicBezTo>
                    <a:pt x="381" y="1476"/>
                    <a:pt x="64" y="1159"/>
                    <a:pt x="64" y="770"/>
                  </a:cubicBezTo>
                  <a:cubicBezTo>
                    <a:pt x="64" y="380"/>
                    <a:pt x="381" y="63"/>
                    <a:pt x="770" y="63"/>
                  </a:cubicBezTo>
                  <a:close/>
                  <a:moveTo>
                    <a:pt x="770" y="1449"/>
                  </a:moveTo>
                  <a:cubicBezTo>
                    <a:pt x="1145" y="1449"/>
                    <a:pt x="1450" y="1144"/>
                    <a:pt x="1450" y="770"/>
                  </a:cubicBezTo>
                  <a:cubicBezTo>
                    <a:pt x="1450" y="395"/>
                    <a:pt x="1145" y="90"/>
                    <a:pt x="770" y="90"/>
                  </a:cubicBezTo>
                  <a:cubicBezTo>
                    <a:pt x="395" y="90"/>
                    <a:pt x="90" y="395"/>
                    <a:pt x="90" y="770"/>
                  </a:cubicBezTo>
                  <a:cubicBezTo>
                    <a:pt x="90" y="1144"/>
                    <a:pt x="395" y="1449"/>
                    <a:pt x="770" y="1449"/>
                  </a:cubicBezTo>
                  <a:close/>
                  <a:moveTo>
                    <a:pt x="770" y="116"/>
                  </a:moveTo>
                  <a:cubicBezTo>
                    <a:pt x="1130" y="116"/>
                    <a:pt x="1423" y="409"/>
                    <a:pt x="1423" y="770"/>
                  </a:cubicBezTo>
                  <a:cubicBezTo>
                    <a:pt x="1423" y="1130"/>
                    <a:pt x="1130" y="1423"/>
                    <a:pt x="770" y="1423"/>
                  </a:cubicBezTo>
                  <a:cubicBezTo>
                    <a:pt x="410" y="1423"/>
                    <a:pt x="117" y="1130"/>
                    <a:pt x="117" y="770"/>
                  </a:cubicBezTo>
                  <a:cubicBezTo>
                    <a:pt x="117" y="409"/>
                    <a:pt x="410" y="116"/>
                    <a:pt x="770" y="116"/>
                  </a:cubicBezTo>
                  <a:close/>
                  <a:moveTo>
                    <a:pt x="770" y="1405"/>
                  </a:moveTo>
                  <a:cubicBezTo>
                    <a:pt x="1120" y="1405"/>
                    <a:pt x="1405" y="1120"/>
                    <a:pt x="1405" y="770"/>
                  </a:cubicBezTo>
                  <a:cubicBezTo>
                    <a:pt x="1405" y="420"/>
                    <a:pt x="1120" y="135"/>
                    <a:pt x="770" y="135"/>
                  </a:cubicBezTo>
                  <a:cubicBezTo>
                    <a:pt x="420" y="135"/>
                    <a:pt x="135" y="420"/>
                    <a:pt x="135" y="770"/>
                  </a:cubicBezTo>
                  <a:cubicBezTo>
                    <a:pt x="135" y="1120"/>
                    <a:pt x="420" y="1405"/>
                    <a:pt x="770" y="1405"/>
                  </a:cubicBezTo>
                  <a:close/>
                  <a:moveTo>
                    <a:pt x="770" y="169"/>
                  </a:moveTo>
                  <a:cubicBezTo>
                    <a:pt x="1101" y="169"/>
                    <a:pt x="1370" y="439"/>
                    <a:pt x="1370" y="770"/>
                  </a:cubicBezTo>
                  <a:cubicBezTo>
                    <a:pt x="1370" y="1101"/>
                    <a:pt x="1101" y="1370"/>
                    <a:pt x="770" y="1370"/>
                  </a:cubicBezTo>
                  <a:cubicBezTo>
                    <a:pt x="439" y="1370"/>
                    <a:pt x="170" y="1101"/>
                    <a:pt x="170" y="770"/>
                  </a:cubicBezTo>
                  <a:cubicBezTo>
                    <a:pt x="170" y="439"/>
                    <a:pt x="439" y="169"/>
                    <a:pt x="770" y="169"/>
                  </a:cubicBezTo>
                  <a:close/>
                  <a:moveTo>
                    <a:pt x="770" y="180"/>
                  </a:moveTo>
                  <a:cubicBezTo>
                    <a:pt x="1095" y="180"/>
                    <a:pt x="1360" y="444"/>
                    <a:pt x="1360" y="770"/>
                  </a:cubicBezTo>
                  <a:cubicBezTo>
                    <a:pt x="1360" y="1095"/>
                    <a:pt x="1095" y="1360"/>
                    <a:pt x="770" y="1360"/>
                  </a:cubicBezTo>
                  <a:cubicBezTo>
                    <a:pt x="445" y="1360"/>
                    <a:pt x="180" y="1095"/>
                    <a:pt x="180" y="770"/>
                  </a:cubicBezTo>
                  <a:cubicBezTo>
                    <a:pt x="180" y="444"/>
                    <a:pt x="445" y="180"/>
                    <a:pt x="770" y="180"/>
                  </a:cubicBezTo>
                  <a:close/>
                </a:path>
              </a:pathLst>
            </a:custGeom>
            <a:solidFill>
              <a:srgbClr val="40AD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38" name="circle_light3" hidden="1"/>
            <p:cNvSpPr>
              <a:spLocks noEditPoints="1"/>
            </p:cNvSpPr>
            <p:nvPr userDrawn="1"/>
          </p:nvSpPr>
          <p:spPr bwMode="ltGray">
            <a:xfrm>
              <a:off x="7186613" y="4287048"/>
              <a:ext cx="539787" cy="539916"/>
            </a:xfrm>
            <a:custGeom>
              <a:avLst/>
              <a:gdLst>
                <a:gd name="T0" fmla="*/ 339 w 679"/>
                <a:gd name="T1" fmla="*/ 680 h 680"/>
                <a:gd name="T2" fmla="*/ 679 w 679"/>
                <a:gd name="T3" fmla="*/ 340 h 680"/>
                <a:gd name="T4" fmla="*/ 339 w 679"/>
                <a:gd name="T5" fmla="*/ 0 h 680"/>
                <a:gd name="T6" fmla="*/ 0 w 679"/>
                <a:gd name="T7" fmla="*/ 340 h 680"/>
                <a:gd name="T8" fmla="*/ 339 w 679"/>
                <a:gd name="T9" fmla="*/ 680 h 680"/>
                <a:gd name="T10" fmla="*/ 339 w 679"/>
                <a:gd name="T11" fmla="*/ 21 h 680"/>
                <a:gd name="T12" fmla="*/ 659 w 679"/>
                <a:gd name="T13" fmla="*/ 340 h 680"/>
                <a:gd name="T14" fmla="*/ 339 w 679"/>
                <a:gd name="T15" fmla="*/ 660 h 680"/>
                <a:gd name="T16" fmla="*/ 20 w 679"/>
                <a:gd name="T17" fmla="*/ 340 h 680"/>
                <a:gd name="T18" fmla="*/ 339 w 679"/>
                <a:gd name="T19" fmla="*/ 21 h 680"/>
                <a:gd name="T20" fmla="*/ 339 w 679"/>
                <a:gd name="T21" fmla="*/ 649 h 680"/>
                <a:gd name="T22" fmla="*/ 648 w 679"/>
                <a:gd name="T23" fmla="*/ 340 h 680"/>
                <a:gd name="T24" fmla="*/ 339 w 679"/>
                <a:gd name="T25" fmla="*/ 32 h 680"/>
                <a:gd name="T26" fmla="*/ 31 w 679"/>
                <a:gd name="T27" fmla="*/ 340 h 680"/>
                <a:gd name="T28" fmla="*/ 339 w 679"/>
                <a:gd name="T29" fmla="*/ 649 h 680"/>
                <a:gd name="T30" fmla="*/ 339 w 679"/>
                <a:gd name="T31" fmla="*/ 47 h 680"/>
                <a:gd name="T32" fmla="*/ 632 w 679"/>
                <a:gd name="T33" fmla="*/ 340 h 680"/>
                <a:gd name="T34" fmla="*/ 339 w 679"/>
                <a:gd name="T35" fmla="*/ 633 h 680"/>
                <a:gd name="T36" fmla="*/ 46 w 679"/>
                <a:gd name="T37" fmla="*/ 340 h 680"/>
                <a:gd name="T38" fmla="*/ 339 w 679"/>
                <a:gd name="T39" fmla="*/ 47 h 680"/>
                <a:gd name="T40" fmla="*/ 339 w 679"/>
                <a:gd name="T41" fmla="*/ 618 h 680"/>
                <a:gd name="T42" fmla="*/ 617 w 679"/>
                <a:gd name="T43" fmla="*/ 340 h 680"/>
                <a:gd name="T44" fmla="*/ 339 w 679"/>
                <a:gd name="T45" fmla="*/ 63 h 680"/>
                <a:gd name="T46" fmla="*/ 62 w 679"/>
                <a:gd name="T47" fmla="*/ 340 h 680"/>
                <a:gd name="T48" fmla="*/ 339 w 679"/>
                <a:gd name="T49" fmla="*/ 618 h 680"/>
                <a:gd name="T50" fmla="*/ 339 w 679"/>
                <a:gd name="T51" fmla="*/ 74 h 680"/>
                <a:gd name="T52" fmla="*/ 606 w 679"/>
                <a:gd name="T53" fmla="*/ 340 h 680"/>
                <a:gd name="T54" fmla="*/ 339 w 679"/>
                <a:gd name="T55" fmla="*/ 607 h 680"/>
                <a:gd name="T56" fmla="*/ 73 w 679"/>
                <a:gd name="T57" fmla="*/ 340 h 680"/>
                <a:gd name="T58" fmla="*/ 339 w 679"/>
                <a:gd name="T59" fmla="*/ 74 h 680"/>
                <a:gd name="T60" fmla="*/ 339 w 679"/>
                <a:gd name="T61" fmla="*/ 587 h 680"/>
                <a:gd name="T62" fmla="*/ 586 w 679"/>
                <a:gd name="T63" fmla="*/ 340 h 680"/>
                <a:gd name="T64" fmla="*/ 339 w 679"/>
                <a:gd name="T65" fmla="*/ 94 h 680"/>
                <a:gd name="T66" fmla="*/ 93 w 679"/>
                <a:gd name="T67" fmla="*/ 340 h 680"/>
                <a:gd name="T68" fmla="*/ 339 w 679"/>
                <a:gd name="T69" fmla="*/ 587 h 680"/>
                <a:gd name="T70" fmla="*/ 339 w 679"/>
                <a:gd name="T71" fmla="*/ 100 h 680"/>
                <a:gd name="T72" fmla="*/ 580 w 679"/>
                <a:gd name="T73" fmla="*/ 340 h 680"/>
                <a:gd name="T74" fmla="*/ 339 w 679"/>
                <a:gd name="T75" fmla="*/ 580 h 680"/>
                <a:gd name="T76" fmla="*/ 99 w 679"/>
                <a:gd name="T77" fmla="*/ 340 h 680"/>
                <a:gd name="T78" fmla="*/ 339 w 679"/>
                <a:gd name="T79" fmla="*/ 100 h 680"/>
                <a:gd name="T80" fmla="*/ 339 w 679"/>
                <a:gd name="T81" fmla="*/ 126 h 680"/>
                <a:gd name="T82" fmla="*/ 554 w 679"/>
                <a:gd name="T83" fmla="*/ 340 h 680"/>
                <a:gd name="T84" fmla="*/ 339 w 679"/>
                <a:gd name="T85" fmla="*/ 555 h 680"/>
                <a:gd name="T86" fmla="*/ 125 w 679"/>
                <a:gd name="T87" fmla="*/ 340 h 680"/>
                <a:gd name="T88" fmla="*/ 339 w 679"/>
                <a:gd name="T89" fmla="*/ 126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79" h="680">
                  <a:moveTo>
                    <a:pt x="339" y="680"/>
                  </a:moveTo>
                  <a:cubicBezTo>
                    <a:pt x="527" y="680"/>
                    <a:pt x="679" y="528"/>
                    <a:pt x="679" y="340"/>
                  </a:cubicBezTo>
                  <a:cubicBezTo>
                    <a:pt x="679" y="153"/>
                    <a:pt x="527" y="0"/>
                    <a:pt x="339" y="0"/>
                  </a:cubicBezTo>
                  <a:cubicBezTo>
                    <a:pt x="152" y="0"/>
                    <a:pt x="0" y="153"/>
                    <a:pt x="0" y="340"/>
                  </a:cubicBezTo>
                  <a:cubicBezTo>
                    <a:pt x="0" y="528"/>
                    <a:pt x="152" y="680"/>
                    <a:pt x="339" y="680"/>
                  </a:cubicBezTo>
                  <a:close/>
                  <a:moveTo>
                    <a:pt x="339" y="21"/>
                  </a:moveTo>
                  <a:cubicBezTo>
                    <a:pt x="516" y="21"/>
                    <a:pt x="659" y="164"/>
                    <a:pt x="659" y="340"/>
                  </a:cubicBezTo>
                  <a:cubicBezTo>
                    <a:pt x="659" y="516"/>
                    <a:pt x="516" y="660"/>
                    <a:pt x="339" y="660"/>
                  </a:cubicBezTo>
                  <a:cubicBezTo>
                    <a:pt x="163" y="660"/>
                    <a:pt x="20" y="516"/>
                    <a:pt x="20" y="340"/>
                  </a:cubicBezTo>
                  <a:cubicBezTo>
                    <a:pt x="20" y="164"/>
                    <a:pt x="163" y="21"/>
                    <a:pt x="339" y="21"/>
                  </a:cubicBezTo>
                  <a:close/>
                  <a:moveTo>
                    <a:pt x="339" y="649"/>
                  </a:moveTo>
                  <a:cubicBezTo>
                    <a:pt x="510" y="649"/>
                    <a:pt x="648" y="510"/>
                    <a:pt x="648" y="340"/>
                  </a:cubicBezTo>
                  <a:cubicBezTo>
                    <a:pt x="648" y="170"/>
                    <a:pt x="510" y="32"/>
                    <a:pt x="339" y="32"/>
                  </a:cubicBezTo>
                  <a:cubicBezTo>
                    <a:pt x="169" y="32"/>
                    <a:pt x="31" y="170"/>
                    <a:pt x="31" y="340"/>
                  </a:cubicBezTo>
                  <a:cubicBezTo>
                    <a:pt x="31" y="510"/>
                    <a:pt x="169" y="649"/>
                    <a:pt x="339" y="649"/>
                  </a:cubicBezTo>
                  <a:close/>
                  <a:moveTo>
                    <a:pt x="339" y="47"/>
                  </a:moveTo>
                  <a:cubicBezTo>
                    <a:pt x="501" y="47"/>
                    <a:pt x="632" y="179"/>
                    <a:pt x="632" y="340"/>
                  </a:cubicBezTo>
                  <a:cubicBezTo>
                    <a:pt x="632" y="502"/>
                    <a:pt x="501" y="633"/>
                    <a:pt x="339" y="633"/>
                  </a:cubicBezTo>
                  <a:cubicBezTo>
                    <a:pt x="178" y="633"/>
                    <a:pt x="46" y="502"/>
                    <a:pt x="46" y="340"/>
                  </a:cubicBezTo>
                  <a:cubicBezTo>
                    <a:pt x="46" y="179"/>
                    <a:pt x="178" y="47"/>
                    <a:pt x="339" y="47"/>
                  </a:cubicBezTo>
                  <a:close/>
                  <a:moveTo>
                    <a:pt x="339" y="618"/>
                  </a:moveTo>
                  <a:cubicBezTo>
                    <a:pt x="492" y="618"/>
                    <a:pt x="617" y="493"/>
                    <a:pt x="617" y="340"/>
                  </a:cubicBezTo>
                  <a:cubicBezTo>
                    <a:pt x="617" y="187"/>
                    <a:pt x="492" y="63"/>
                    <a:pt x="339" y="63"/>
                  </a:cubicBezTo>
                  <a:cubicBezTo>
                    <a:pt x="186" y="63"/>
                    <a:pt x="62" y="187"/>
                    <a:pt x="62" y="340"/>
                  </a:cubicBezTo>
                  <a:cubicBezTo>
                    <a:pt x="62" y="493"/>
                    <a:pt x="186" y="618"/>
                    <a:pt x="339" y="618"/>
                  </a:cubicBezTo>
                  <a:close/>
                  <a:moveTo>
                    <a:pt x="339" y="74"/>
                  </a:moveTo>
                  <a:cubicBezTo>
                    <a:pt x="486" y="74"/>
                    <a:pt x="606" y="193"/>
                    <a:pt x="606" y="340"/>
                  </a:cubicBezTo>
                  <a:cubicBezTo>
                    <a:pt x="606" y="487"/>
                    <a:pt x="486" y="607"/>
                    <a:pt x="339" y="607"/>
                  </a:cubicBezTo>
                  <a:cubicBezTo>
                    <a:pt x="192" y="607"/>
                    <a:pt x="73" y="487"/>
                    <a:pt x="73" y="340"/>
                  </a:cubicBezTo>
                  <a:cubicBezTo>
                    <a:pt x="73" y="193"/>
                    <a:pt x="192" y="74"/>
                    <a:pt x="339" y="74"/>
                  </a:cubicBezTo>
                  <a:close/>
                  <a:moveTo>
                    <a:pt x="339" y="587"/>
                  </a:moveTo>
                  <a:cubicBezTo>
                    <a:pt x="475" y="587"/>
                    <a:pt x="586" y="476"/>
                    <a:pt x="586" y="340"/>
                  </a:cubicBezTo>
                  <a:cubicBezTo>
                    <a:pt x="586" y="204"/>
                    <a:pt x="475" y="94"/>
                    <a:pt x="339" y="94"/>
                  </a:cubicBezTo>
                  <a:cubicBezTo>
                    <a:pt x="204" y="94"/>
                    <a:pt x="93" y="204"/>
                    <a:pt x="93" y="340"/>
                  </a:cubicBezTo>
                  <a:cubicBezTo>
                    <a:pt x="93" y="476"/>
                    <a:pt x="204" y="587"/>
                    <a:pt x="339" y="587"/>
                  </a:cubicBezTo>
                  <a:close/>
                  <a:moveTo>
                    <a:pt x="339" y="100"/>
                  </a:moveTo>
                  <a:cubicBezTo>
                    <a:pt x="472" y="100"/>
                    <a:pt x="580" y="208"/>
                    <a:pt x="580" y="340"/>
                  </a:cubicBezTo>
                  <a:cubicBezTo>
                    <a:pt x="580" y="473"/>
                    <a:pt x="472" y="580"/>
                    <a:pt x="339" y="580"/>
                  </a:cubicBezTo>
                  <a:cubicBezTo>
                    <a:pt x="207" y="580"/>
                    <a:pt x="99" y="473"/>
                    <a:pt x="99" y="340"/>
                  </a:cubicBezTo>
                  <a:cubicBezTo>
                    <a:pt x="99" y="208"/>
                    <a:pt x="207" y="100"/>
                    <a:pt x="339" y="100"/>
                  </a:cubicBezTo>
                  <a:close/>
                  <a:moveTo>
                    <a:pt x="339" y="126"/>
                  </a:moveTo>
                  <a:cubicBezTo>
                    <a:pt x="458" y="126"/>
                    <a:pt x="554" y="222"/>
                    <a:pt x="554" y="340"/>
                  </a:cubicBezTo>
                  <a:cubicBezTo>
                    <a:pt x="554" y="459"/>
                    <a:pt x="458" y="555"/>
                    <a:pt x="339" y="555"/>
                  </a:cubicBezTo>
                  <a:cubicBezTo>
                    <a:pt x="221" y="555"/>
                    <a:pt x="125" y="459"/>
                    <a:pt x="125" y="340"/>
                  </a:cubicBezTo>
                  <a:cubicBezTo>
                    <a:pt x="125" y="222"/>
                    <a:pt x="221" y="126"/>
                    <a:pt x="339" y="126"/>
                  </a:cubicBezTo>
                  <a:close/>
                </a:path>
              </a:pathLst>
            </a:custGeom>
            <a:solidFill>
              <a:srgbClr val="80C8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grpSp>
      <p:sp>
        <p:nvSpPr>
          <p:cNvPr id="2" name="Title 1" descr="&lt;mode=4x3&gt;&#10;&lt;size&gt;h=93.02276;w=444.0164&lt;size/&gt;&#10;&lt;pos&gt;top=38.54535;left=40.24362&lt;pos/&gt;&#10;&lt;mode/&gt;&#10;&lt;mode=16x9&gt;&#10;&lt;size&gt;h=69.76709;w=444.0164&lt;size/&gt;&#10;&lt;pos&gt;top=28.33071;left=30.96165&lt;pos/&gt;&#10;&lt;mode/&gt;"/>
          <p:cNvSpPr>
            <a:spLocks noGrp="1"/>
          </p:cNvSpPr>
          <p:nvPr userDrawn="1">
            <p:ph type="ctrTitle" hasCustomPrompt="1"/>
          </p:nvPr>
        </p:nvSpPr>
        <p:spPr>
          <a:xfrm>
            <a:off x="524284" y="479734"/>
            <a:ext cx="7518677" cy="1181389"/>
          </a:xfrm>
        </p:spPr>
        <p:txBody>
          <a:bodyPr anchor="b" anchorCtr="0"/>
          <a:lstStyle>
            <a:lvl1pPr algn="l">
              <a:lnSpc>
                <a:spcPct val="92000"/>
              </a:lnSpc>
              <a:defRPr sz="2667" spc="0" baseline="0">
                <a:solidFill>
                  <a:schemeClr val="bg1"/>
                </a:solidFill>
              </a:defRPr>
            </a:lvl1pPr>
          </a:lstStyle>
          <a:p>
            <a:br>
              <a:rPr lang="en-US"/>
            </a:br>
            <a:r>
              <a:rPr lang="en-US"/>
              <a:t>Click </a:t>
            </a:r>
            <a:r>
              <a:rPr lang="en-US" dirty="0"/>
              <a:t>to enter heading</a:t>
            </a:r>
            <a:endParaRPr lang="en-AU" dirty="0"/>
          </a:p>
        </p:txBody>
      </p:sp>
      <p:sp>
        <p:nvSpPr>
          <p:cNvPr id="3" name="Subtitle 2" descr="&lt;mode=4x3&gt;&#10;&lt;size&gt;h=74.45457;w=443.8835&lt;size/&gt;&#10;&lt;pos&gt;top=149.545;left=41.89283&lt;pos/&gt;&#10;&lt;mode/&gt;&#10;&lt;mode=16x9&gt;&#10;&lt;size&gt;h=55.84095;w=443.8835&lt;size/&gt;&#10;&lt;pos&gt;top=113.0963;left=31.7689&lt;pos/&gt;&#10;&lt;mode/&gt;"/>
          <p:cNvSpPr>
            <a:spLocks noGrp="1"/>
          </p:cNvSpPr>
          <p:nvPr userDrawn="1">
            <p:ph type="subTitle" idx="1" hasCustomPrompt="1"/>
          </p:nvPr>
        </p:nvSpPr>
        <p:spPr>
          <a:xfrm>
            <a:off x="537954" y="1915098"/>
            <a:ext cx="7516428" cy="945573"/>
          </a:xfrm>
        </p:spPr>
        <p:txBody>
          <a:bodyPr anchor="t" anchorCtr="0"/>
          <a:lstStyle>
            <a:lvl1pPr marL="0" indent="0" algn="l">
              <a:spcBef>
                <a:spcPts val="0"/>
              </a:spcBef>
              <a:spcAft>
                <a:spcPts val="0"/>
              </a:spcAft>
              <a:buNone/>
              <a:defRPr sz="1800" b="0" spc="-53" baseline="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a:t>
            </a:r>
            <a:r>
              <a:rPr lang="en-US" dirty="0"/>
              <a:t>to enter subheading</a:t>
            </a:r>
            <a:endParaRPr lang="en-AU" dirty="0"/>
          </a:p>
        </p:txBody>
      </p:sp>
      <p:sp>
        <p:nvSpPr>
          <p:cNvPr id="39" name="logo_reflections_bar_small" descr="&lt;mode=4x3&gt;&#10;&lt;size&gt;h=79.25;w=720&lt;size/&gt;&#10;&lt;pos&gt;top=398.3796;left=0&lt;pos/&gt;&#10;&lt;mode/&gt;&#10;&lt;mode=16x9&gt;&#10;&lt;size&gt;h=59.43748;w=720&lt;size/&gt;&#10;&lt;pos&gt;top=295.0351;left=0&lt;pos/&gt;&#10;&lt;mode/&gt;"/>
          <p:cNvSpPr>
            <a:spLocks noChangeAspect="1" noEditPoints="1"/>
          </p:cNvSpPr>
          <p:nvPr userDrawn="1"/>
        </p:nvSpPr>
        <p:spPr bwMode="ltGray">
          <a:xfrm>
            <a:off x="0" y="4995928"/>
            <a:ext cx="12192000" cy="1006475"/>
          </a:xfrm>
          <a:custGeom>
            <a:avLst/>
            <a:gdLst>
              <a:gd name="T0" fmla="*/ 0 w 40176"/>
              <a:gd name="T1" fmla="*/ 730 h 4420"/>
              <a:gd name="T2" fmla="*/ 40176 w 40176"/>
              <a:gd name="T3" fmla="*/ 730 h 4420"/>
              <a:gd name="T4" fmla="*/ 40176 w 40176"/>
              <a:gd name="T5" fmla="*/ 640 h 4420"/>
              <a:gd name="T6" fmla="*/ 0 w 40176"/>
              <a:gd name="T7" fmla="*/ 640 h 4420"/>
              <a:gd name="T8" fmla="*/ 0 w 40176"/>
              <a:gd name="T9" fmla="*/ 730 h 4420"/>
              <a:gd name="T10" fmla="*/ 0 w 40176"/>
              <a:gd name="T11" fmla="*/ 553 h 4420"/>
              <a:gd name="T12" fmla="*/ 40176 w 40176"/>
              <a:gd name="T13" fmla="*/ 553 h 4420"/>
              <a:gd name="T14" fmla="*/ 40176 w 40176"/>
              <a:gd name="T15" fmla="*/ 482 h 4420"/>
              <a:gd name="T16" fmla="*/ 0 w 40176"/>
              <a:gd name="T17" fmla="*/ 482 h 4420"/>
              <a:gd name="T18" fmla="*/ 0 w 40176"/>
              <a:gd name="T19" fmla="*/ 553 h 4420"/>
              <a:gd name="T20" fmla="*/ 0 w 40176"/>
              <a:gd name="T21" fmla="*/ 203 h 4420"/>
              <a:gd name="T22" fmla="*/ 40176 w 40176"/>
              <a:gd name="T23" fmla="*/ 203 h 4420"/>
              <a:gd name="T24" fmla="*/ 40176 w 40176"/>
              <a:gd name="T25" fmla="*/ 161 h 4420"/>
              <a:gd name="T26" fmla="*/ 0 w 40176"/>
              <a:gd name="T27" fmla="*/ 161 h 4420"/>
              <a:gd name="T28" fmla="*/ 0 w 40176"/>
              <a:gd name="T29" fmla="*/ 203 h 4420"/>
              <a:gd name="T30" fmla="*/ 0 w 40176"/>
              <a:gd name="T31" fmla="*/ 378 h 4420"/>
              <a:gd name="T32" fmla="*/ 40176 w 40176"/>
              <a:gd name="T33" fmla="*/ 378 h 4420"/>
              <a:gd name="T34" fmla="*/ 40176 w 40176"/>
              <a:gd name="T35" fmla="*/ 322 h 4420"/>
              <a:gd name="T36" fmla="*/ 0 w 40176"/>
              <a:gd name="T37" fmla="*/ 322 h 4420"/>
              <a:gd name="T38" fmla="*/ 0 w 40176"/>
              <a:gd name="T39" fmla="*/ 378 h 4420"/>
              <a:gd name="T40" fmla="*/ 0 w 40176"/>
              <a:gd name="T41" fmla="*/ 905 h 4420"/>
              <a:gd name="T42" fmla="*/ 40176 w 40176"/>
              <a:gd name="T43" fmla="*/ 905 h 4420"/>
              <a:gd name="T44" fmla="*/ 40176 w 40176"/>
              <a:gd name="T45" fmla="*/ 801 h 4420"/>
              <a:gd name="T46" fmla="*/ 0 w 40176"/>
              <a:gd name="T47" fmla="*/ 801 h 4420"/>
              <a:gd name="T48" fmla="*/ 0 w 40176"/>
              <a:gd name="T49" fmla="*/ 905 h 4420"/>
              <a:gd name="T50" fmla="*/ 40176 w 40176"/>
              <a:gd name="T51" fmla="*/ 26 h 4420"/>
              <a:gd name="T52" fmla="*/ 40176 w 40176"/>
              <a:gd name="T53" fmla="*/ 0 h 4420"/>
              <a:gd name="T54" fmla="*/ 0 w 40176"/>
              <a:gd name="T55" fmla="*/ 0 h 4420"/>
              <a:gd name="T56" fmla="*/ 0 w 40176"/>
              <a:gd name="T57" fmla="*/ 26 h 4420"/>
              <a:gd name="T58" fmla="*/ 40176 w 40176"/>
              <a:gd name="T59" fmla="*/ 26 h 4420"/>
              <a:gd name="T60" fmla="*/ 0 w 40176"/>
              <a:gd name="T61" fmla="*/ 1281 h 4420"/>
              <a:gd name="T62" fmla="*/ 0 w 40176"/>
              <a:gd name="T63" fmla="*/ 4420 h 4420"/>
              <a:gd name="T64" fmla="*/ 40176 w 40176"/>
              <a:gd name="T65" fmla="*/ 4420 h 4420"/>
              <a:gd name="T66" fmla="*/ 40176 w 40176"/>
              <a:gd name="T67" fmla="*/ 1281 h 4420"/>
              <a:gd name="T68" fmla="*/ 0 w 40176"/>
              <a:gd name="T69" fmla="*/ 1281 h 4420"/>
              <a:gd name="T70" fmla="*/ 0 w 40176"/>
              <a:gd name="T71" fmla="*/ 1255 h 4420"/>
              <a:gd name="T72" fmla="*/ 40176 w 40176"/>
              <a:gd name="T73" fmla="*/ 1255 h 4420"/>
              <a:gd name="T74" fmla="*/ 40176 w 40176"/>
              <a:gd name="T75" fmla="*/ 1120 h 4420"/>
              <a:gd name="T76" fmla="*/ 0 w 40176"/>
              <a:gd name="T77" fmla="*/ 1120 h 4420"/>
              <a:gd name="T78" fmla="*/ 0 w 40176"/>
              <a:gd name="T79" fmla="*/ 1255 h 4420"/>
              <a:gd name="T80" fmla="*/ 0 w 40176"/>
              <a:gd name="T81" fmla="*/ 1080 h 4420"/>
              <a:gd name="T82" fmla="*/ 40176 w 40176"/>
              <a:gd name="T83" fmla="*/ 1080 h 4420"/>
              <a:gd name="T84" fmla="*/ 40176 w 40176"/>
              <a:gd name="T85" fmla="*/ 962 h 4420"/>
              <a:gd name="T86" fmla="*/ 0 w 40176"/>
              <a:gd name="T87" fmla="*/ 962 h 4420"/>
              <a:gd name="T88" fmla="*/ 0 w 40176"/>
              <a:gd name="T89" fmla="*/ 1080 h 4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0176" h="4420">
                <a:moveTo>
                  <a:pt x="0" y="730"/>
                </a:moveTo>
                <a:lnTo>
                  <a:pt x="40176" y="730"/>
                </a:lnTo>
                <a:lnTo>
                  <a:pt x="40176" y="640"/>
                </a:lnTo>
                <a:lnTo>
                  <a:pt x="0" y="640"/>
                </a:lnTo>
                <a:lnTo>
                  <a:pt x="0" y="730"/>
                </a:lnTo>
                <a:close/>
                <a:moveTo>
                  <a:pt x="0" y="553"/>
                </a:moveTo>
                <a:lnTo>
                  <a:pt x="40176" y="553"/>
                </a:lnTo>
                <a:lnTo>
                  <a:pt x="40176" y="482"/>
                </a:lnTo>
                <a:lnTo>
                  <a:pt x="0" y="482"/>
                </a:lnTo>
                <a:lnTo>
                  <a:pt x="0" y="553"/>
                </a:lnTo>
                <a:close/>
                <a:moveTo>
                  <a:pt x="0" y="203"/>
                </a:moveTo>
                <a:lnTo>
                  <a:pt x="40176" y="203"/>
                </a:lnTo>
                <a:lnTo>
                  <a:pt x="40176" y="161"/>
                </a:lnTo>
                <a:lnTo>
                  <a:pt x="0" y="161"/>
                </a:lnTo>
                <a:lnTo>
                  <a:pt x="0" y="203"/>
                </a:lnTo>
                <a:close/>
                <a:moveTo>
                  <a:pt x="0" y="378"/>
                </a:moveTo>
                <a:lnTo>
                  <a:pt x="40176" y="378"/>
                </a:lnTo>
                <a:lnTo>
                  <a:pt x="40176" y="322"/>
                </a:lnTo>
                <a:lnTo>
                  <a:pt x="0" y="322"/>
                </a:lnTo>
                <a:lnTo>
                  <a:pt x="0" y="378"/>
                </a:lnTo>
                <a:close/>
                <a:moveTo>
                  <a:pt x="0" y="905"/>
                </a:moveTo>
                <a:lnTo>
                  <a:pt x="40176" y="905"/>
                </a:lnTo>
                <a:lnTo>
                  <a:pt x="40176" y="801"/>
                </a:lnTo>
                <a:lnTo>
                  <a:pt x="0" y="801"/>
                </a:lnTo>
                <a:lnTo>
                  <a:pt x="0" y="905"/>
                </a:lnTo>
                <a:close/>
                <a:moveTo>
                  <a:pt x="40176" y="26"/>
                </a:moveTo>
                <a:lnTo>
                  <a:pt x="40176" y="0"/>
                </a:lnTo>
                <a:lnTo>
                  <a:pt x="0" y="0"/>
                </a:lnTo>
                <a:lnTo>
                  <a:pt x="0" y="26"/>
                </a:lnTo>
                <a:lnTo>
                  <a:pt x="40176" y="26"/>
                </a:lnTo>
                <a:close/>
                <a:moveTo>
                  <a:pt x="0" y="1281"/>
                </a:moveTo>
                <a:lnTo>
                  <a:pt x="0" y="4420"/>
                </a:lnTo>
                <a:lnTo>
                  <a:pt x="40176" y="4420"/>
                </a:lnTo>
                <a:lnTo>
                  <a:pt x="40176" y="1281"/>
                </a:lnTo>
                <a:lnTo>
                  <a:pt x="0" y="1281"/>
                </a:lnTo>
                <a:close/>
                <a:moveTo>
                  <a:pt x="0" y="1255"/>
                </a:moveTo>
                <a:lnTo>
                  <a:pt x="40176" y="1255"/>
                </a:lnTo>
                <a:lnTo>
                  <a:pt x="40176" y="1120"/>
                </a:lnTo>
                <a:lnTo>
                  <a:pt x="0" y="1120"/>
                </a:lnTo>
                <a:lnTo>
                  <a:pt x="0" y="1255"/>
                </a:lnTo>
                <a:close/>
                <a:moveTo>
                  <a:pt x="0" y="1080"/>
                </a:moveTo>
                <a:lnTo>
                  <a:pt x="40176" y="1080"/>
                </a:lnTo>
                <a:lnTo>
                  <a:pt x="40176" y="962"/>
                </a:lnTo>
                <a:lnTo>
                  <a:pt x="0" y="962"/>
                </a:lnTo>
                <a:lnTo>
                  <a:pt x="0" y="1080"/>
                </a:lnTo>
                <a:close/>
              </a:path>
            </a:pathLst>
          </a:custGeom>
          <a:solidFill>
            <a:srgbClr val="009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AU" sz="2400"/>
          </a:p>
        </p:txBody>
      </p:sp>
      <p:grpSp>
        <p:nvGrpSpPr>
          <p:cNvPr id="41" name="logo_brand_melbWater" descr="&lt;mode=4x3&gt;&#10;&lt;size&gt;h=30.95331;w=130.4006&lt;size/&gt;&#10;&lt;pos&gt;top=493.2755;left=547.9744&lt;pos/&gt;&#10;&lt;mode/&gt;&#10;&lt;mode=16x9&gt;&#10;&lt;size&gt;h=23.21496;w=96.56252&lt;size/&gt;&#10;&lt;pos&gt;top=365.8674;left=591.9376&lt;pos/&gt;&#10;&lt;mode/&gt;"/>
          <p:cNvGrpSpPr/>
          <p:nvPr userDrawn="1"/>
        </p:nvGrpSpPr>
        <p:grpSpPr>
          <a:xfrm>
            <a:off x="10023478" y="6195355"/>
            <a:ext cx="1635125" cy="393107"/>
            <a:chOff x="6959275" y="6264599"/>
            <a:chExt cx="1656087" cy="393107"/>
          </a:xfrm>
        </p:grpSpPr>
        <p:sp>
          <p:nvSpPr>
            <p:cNvPr id="43" name="Freeform 2"/>
            <p:cNvSpPr>
              <a:spLocks noEditPoints="1"/>
            </p:cNvSpPr>
            <p:nvPr userDrawn="1"/>
          </p:nvSpPr>
          <p:spPr bwMode="black">
            <a:xfrm>
              <a:off x="7418917" y="6270760"/>
              <a:ext cx="1196445" cy="386945"/>
            </a:xfrm>
            <a:custGeom>
              <a:avLst/>
              <a:gdLst>
                <a:gd name="T0" fmla="*/ 25 w 965"/>
                <a:gd name="T1" fmla="*/ 28 h 311"/>
                <a:gd name="T2" fmla="*/ 115 w 965"/>
                <a:gd name="T3" fmla="*/ 28 h 311"/>
                <a:gd name="T4" fmla="*/ 145 w 965"/>
                <a:gd name="T5" fmla="*/ 0 h 311"/>
                <a:gd name="T6" fmla="*/ 43 w 965"/>
                <a:gd name="T7" fmla="*/ 0 h 311"/>
                <a:gd name="T8" fmla="*/ 267 w 965"/>
                <a:gd name="T9" fmla="*/ 88 h 311"/>
                <a:gd name="T10" fmla="*/ 215 w 965"/>
                <a:gd name="T11" fmla="*/ 142 h 311"/>
                <a:gd name="T12" fmla="*/ 216 w 965"/>
                <a:gd name="T13" fmla="*/ 120 h 311"/>
                <a:gd name="T14" fmla="*/ 267 w 965"/>
                <a:gd name="T15" fmla="*/ 88 h 311"/>
                <a:gd name="T16" fmla="*/ 236 w 965"/>
                <a:gd name="T17" fmla="*/ 76 h 311"/>
                <a:gd name="T18" fmla="*/ 314 w 965"/>
                <a:gd name="T19" fmla="*/ 139 h 311"/>
                <a:gd name="T20" fmla="*/ 283 w 965"/>
                <a:gd name="T21" fmla="*/ 139 h 311"/>
                <a:gd name="T22" fmla="*/ 364 w 965"/>
                <a:gd name="T23" fmla="*/ 0 h 311"/>
                <a:gd name="T24" fmla="*/ 350 w 965"/>
                <a:gd name="T25" fmla="*/ 139 h 311"/>
                <a:gd name="T26" fmla="*/ 432 w 965"/>
                <a:gd name="T27" fmla="*/ 86 h 311"/>
                <a:gd name="T28" fmla="*/ 364 w 965"/>
                <a:gd name="T29" fmla="*/ 100 h 311"/>
                <a:gd name="T30" fmla="*/ 400 w 965"/>
                <a:gd name="T31" fmla="*/ 88 h 311"/>
                <a:gd name="T32" fmla="*/ 444 w 965"/>
                <a:gd name="T33" fmla="*/ 87 h 311"/>
                <a:gd name="T34" fmla="*/ 496 w 965"/>
                <a:gd name="T35" fmla="*/ 33 h 311"/>
                <a:gd name="T36" fmla="*/ 496 w 965"/>
                <a:gd name="T37" fmla="*/ 54 h 311"/>
                <a:gd name="T38" fmla="*/ 658 w 965"/>
                <a:gd name="T39" fmla="*/ 36 h 311"/>
                <a:gd name="T40" fmla="*/ 609 w 965"/>
                <a:gd name="T41" fmla="*/ 120 h 311"/>
                <a:gd name="T42" fmla="*/ 565 w 965"/>
                <a:gd name="T43" fmla="*/ 36 h 311"/>
                <a:gd name="T44" fmla="*/ 630 w 965"/>
                <a:gd name="T45" fmla="*/ 122 h 311"/>
                <a:gd name="T46" fmla="*/ 658 w 965"/>
                <a:gd name="T47" fmla="*/ 36 h 311"/>
                <a:gd name="T48" fmla="*/ 708 w 965"/>
                <a:gd name="T49" fmla="*/ 88 h 311"/>
                <a:gd name="T50" fmla="*/ 738 w 965"/>
                <a:gd name="T51" fmla="*/ 34 h 311"/>
                <a:gd name="T52" fmla="*/ 704 w 965"/>
                <a:gd name="T53" fmla="*/ 36 h 311"/>
                <a:gd name="T54" fmla="*/ 753 w 965"/>
                <a:gd name="T55" fmla="*/ 139 h 311"/>
                <a:gd name="T56" fmla="*/ 801 w 965"/>
                <a:gd name="T57" fmla="*/ 55 h 311"/>
                <a:gd name="T58" fmla="*/ 845 w 965"/>
                <a:gd name="T59" fmla="*/ 139 h 311"/>
                <a:gd name="T60" fmla="*/ 780 w 965"/>
                <a:gd name="T61" fmla="*/ 52 h 311"/>
                <a:gd name="T62" fmla="*/ 753 w 965"/>
                <a:gd name="T63" fmla="*/ 139 h 311"/>
                <a:gd name="T64" fmla="*/ 859 w 965"/>
                <a:gd name="T65" fmla="*/ 88 h 311"/>
                <a:gd name="T66" fmla="*/ 935 w 965"/>
                <a:gd name="T67" fmla="*/ 105 h 311"/>
                <a:gd name="T68" fmla="*/ 965 w 965"/>
                <a:gd name="T69" fmla="*/ 92 h 311"/>
                <a:gd name="T70" fmla="*/ 913 w 965"/>
                <a:gd name="T71" fmla="*/ 53 h 311"/>
                <a:gd name="T72" fmla="*/ 37 w 965"/>
                <a:gd name="T73" fmla="*/ 308 h 311"/>
                <a:gd name="T74" fmla="*/ 113 w 965"/>
                <a:gd name="T75" fmla="*/ 308 h 311"/>
                <a:gd name="T76" fmla="*/ 153 w 965"/>
                <a:gd name="T77" fmla="*/ 169 h 311"/>
                <a:gd name="T78" fmla="*/ 79 w 965"/>
                <a:gd name="T79" fmla="*/ 169 h 311"/>
                <a:gd name="T80" fmla="*/ 1 w 965"/>
                <a:gd name="T81" fmla="*/ 169 h 311"/>
                <a:gd name="T82" fmla="*/ 275 w 965"/>
                <a:gd name="T83" fmla="*/ 243 h 311"/>
                <a:gd name="T84" fmla="*/ 206 w 965"/>
                <a:gd name="T85" fmla="*/ 236 h 311"/>
                <a:gd name="T86" fmla="*/ 246 w 965"/>
                <a:gd name="T87" fmla="*/ 242 h 311"/>
                <a:gd name="T88" fmla="*/ 246 w 965"/>
                <a:gd name="T89" fmla="*/ 292 h 311"/>
                <a:gd name="T90" fmla="*/ 275 w 965"/>
                <a:gd name="T91" fmla="*/ 289 h 311"/>
                <a:gd name="T92" fmla="*/ 208 w 965"/>
                <a:gd name="T93" fmla="*/ 278 h 311"/>
                <a:gd name="T94" fmla="*/ 302 w 965"/>
                <a:gd name="T95" fmla="*/ 275 h 311"/>
                <a:gd name="T96" fmla="*/ 356 w 965"/>
                <a:gd name="T97" fmla="*/ 287 h 311"/>
                <a:gd name="T98" fmla="*/ 333 w 965"/>
                <a:gd name="T99" fmla="*/ 225 h 311"/>
                <a:gd name="T100" fmla="*/ 333 w 965"/>
                <a:gd name="T101" fmla="*/ 205 h 311"/>
                <a:gd name="T102" fmla="*/ 303 w 965"/>
                <a:gd name="T103" fmla="*/ 205 h 311"/>
                <a:gd name="T104" fmla="*/ 302 w 965"/>
                <a:gd name="T105" fmla="*/ 225 h 311"/>
                <a:gd name="T106" fmla="*/ 421 w 965"/>
                <a:gd name="T107" fmla="*/ 202 h 311"/>
                <a:gd name="T108" fmla="*/ 470 w 965"/>
                <a:gd name="T109" fmla="*/ 277 h 311"/>
                <a:gd name="T110" fmla="*/ 398 w 965"/>
                <a:gd name="T111" fmla="*/ 262 h 311"/>
                <a:gd name="T112" fmla="*/ 398 w 965"/>
                <a:gd name="T113" fmla="*/ 245 h 311"/>
                <a:gd name="T114" fmla="*/ 398 w 965"/>
                <a:gd name="T115" fmla="*/ 245 h 311"/>
                <a:gd name="T116" fmla="*/ 519 w 965"/>
                <a:gd name="T117" fmla="*/ 258 h 311"/>
                <a:gd name="T118" fmla="*/ 549 w 965"/>
                <a:gd name="T119" fmla="*/ 203 h 311"/>
                <a:gd name="T120" fmla="*/ 515 w 965"/>
                <a:gd name="T121" fmla="*/ 205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65" h="311">
                  <a:moveTo>
                    <a:pt x="0" y="139"/>
                  </a:moveTo>
                  <a:cubicBezTo>
                    <a:pt x="26" y="139"/>
                    <a:pt x="26" y="139"/>
                    <a:pt x="26" y="139"/>
                  </a:cubicBezTo>
                  <a:cubicBezTo>
                    <a:pt x="25" y="28"/>
                    <a:pt x="25" y="28"/>
                    <a:pt x="25" y="28"/>
                  </a:cubicBezTo>
                  <a:cubicBezTo>
                    <a:pt x="59" y="139"/>
                    <a:pt x="59" y="139"/>
                    <a:pt x="59" y="139"/>
                  </a:cubicBezTo>
                  <a:cubicBezTo>
                    <a:pt x="80" y="139"/>
                    <a:pt x="80" y="139"/>
                    <a:pt x="80" y="139"/>
                  </a:cubicBezTo>
                  <a:cubicBezTo>
                    <a:pt x="115" y="28"/>
                    <a:pt x="115" y="28"/>
                    <a:pt x="115" y="28"/>
                  </a:cubicBezTo>
                  <a:cubicBezTo>
                    <a:pt x="114" y="139"/>
                    <a:pt x="114" y="139"/>
                    <a:pt x="114" y="139"/>
                  </a:cubicBezTo>
                  <a:cubicBezTo>
                    <a:pt x="145" y="139"/>
                    <a:pt x="145" y="139"/>
                    <a:pt x="145" y="139"/>
                  </a:cubicBezTo>
                  <a:cubicBezTo>
                    <a:pt x="145" y="0"/>
                    <a:pt x="145" y="0"/>
                    <a:pt x="145" y="0"/>
                  </a:cubicBezTo>
                  <a:cubicBezTo>
                    <a:pt x="101" y="0"/>
                    <a:pt x="101" y="0"/>
                    <a:pt x="101" y="0"/>
                  </a:cubicBezTo>
                  <a:cubicBezTo>
                    <a:pt x="73" y="92"/>
                    <a:pt x="73" y="92"/>
                    <a:pt x="73" y="92"/>
                  </a:cubicBezTo>
                  <a:cubicBezTo>
                    <a:pt x="43" y="0"/>
                    <a:pt x="43" y="0"/>
                    <a:pt x="43" y="0"/>
                  </a:cubicBezTo>
                  <a:cubicBezTo>
                    <a:pt x="0" y="0"/>
                    <a:pt x="0" y="0"/>
                    <a:pt x="0" y="0"/>
                  </a:cubicBezTo>
                  <a:cubicBezTo>
                    <a:pt x="0" y="139"/>
                    <a:pt x="0" y="139"/>
                    <a:pt x="0" y="139"/>
                  </a:cubicBezTo>
                  <a:close/>
                  <a:moveTo>
                    <a:pt x="267" y="88"/>
                  </a:moveTo>
                  <a:cubicBezTo>
                    <a:pt x="267" y="54"/>
                    <a:pt x="248" y="33"/>
                    <a:pt x="217" y="33"/>
                  </a:cubicBezTo>
                  <a:cubicBezTo>
                    <a:pt x="184" y="33"/>
                    <a:pt x="161" y="56"/>
                    <a:pt x="161" y="88"/>
                  </a:cubicBezTo>
                  <a:cubicBezTo>
                    <a:pt x="161" y="120"/>
                    <a:pt x="183" y="142"/>
                    <a:pt x="215" y="142"/>
                  </a:cubicBezTo>
                  <a:cubicBezTo>
                    <a:pt x="241" y="142"/>
                    <a:pt x="260" y="129"/>
                    <a:pt x="267" y="107"/>
                  </a:cubicBezTo>
                  <a:cubicBezTo>
                    <a:pt x="267" y="107"/>
                    <a:pt x="267" y="107"/>
                    <a:pt x="237" y="105"/>
                  </a:cubicBezTo>
                  <a:cubicBezTo>
                    <a:pt x="234" y="115"/>
                    <a:pt x="227" y="120"/>
                    <a:pt x="216" y="120"/>
                  </a:cubicBezTo>
                  <a:cubicBezTo>
                    <a:pt x="202" y="120"/>
                    <a:pt x="194" y="110"/>
                    <a:pt x="194" y="92"/>
                  </a:cubicBezTo>
                  <a:cubicBezTo>
                    <a:pt x="194" y="92"/>
                    <a:pt x="194" y="92"/>
                    <a:pt x="267" y="92"/>
                  </a:cubicBezTo>
                  <a:cubicBezTo>
                    <a:pt x="267" y="92"/>
                    <a:pt x="267" y="92"/>
                    <a:pt x="267" y="88"/>
                  </a:cubicBezTo>
                  <a:close/>
                  <a:moveTo>
                    <a:pt x="194" y="76"/>
                  </a:moveTo>
                  <a:cubicBezTo>
                    <a:pt x="195" y="61"/>
                    <a:pt x="203" y="53"/>
                    <a:pt x="215" y="53"/>
                  </a:cubicBezTo>
                  <a:cubicBezTo>
                    <a:pt x="228" y="53"/>
                    <a:pt x="235" y="61"/>
                    <a:pt x="236" y="76"/>
                  </a:cubicBezTo>
                  <a:lnTo>
                    <a:pt x="194" y="76"/>
                  </a:lnTo>
                  <a:close/>
                  <a:moveTo>
                    <a:pt x="283" y="139"/>
                  </a:moveTo>
                  <a:cubicBezTo>
                    <a:pt x="314" y="139"/>
                    <a:pt x="314" y="139"/>
                    <a:pt x="314" y="139"/>
                  </a:cubicBezTo>
                  <a:cubicBezTo>
                    <a:pt x="314" y="0"/>
                    <a:pt x="314" y="0"/>
                    <a:pt x="314" y="0"/>
                  </a:cubicBezTo>
                  <a:cubicBezTo>
                    <a:pt x="283" y="0"/>
                    <a:pt x="283" y="0"/>
                    <a:pt x="283" y="0"/>
                  </a:cubicBezTo>
                  <a:cubicBezTo>
                    <a:pt x="283" y="139"/>
                    <a:pt x="283" y="139"/>
                    <a:pt x="283" y="139"/>
                  </a:cubicBezTo>
                  <a:close/>
                  <a:moveTo>
                    <a:pt x="392" y="33"/>
                  </a:moveTo>
                  <a:cubicBezTo>
                    <a:pt x="379" y="33"/>
                    <a:pt x="368" y="40"/>
                    <a:pt x="364" y="50"/>
                  </a:cubicBezTo>
                  <a:cubicBezTo>
                    <a:pt x="364" y="50"/>
                    <a:pt x="364" y="50"/>
                    <a:pt x="364" y="0"/>
                  </a:cubicBezTo>
                  <a:cubicBezTo>
                    <a:pt x="364" y="0"/>
                    <a:pt x="364" y="0"/>
                    <a:pt x="333" y="0"/>
                  </a:cubicBezTo>
                  <a:cubicBezTo>
                    <a:pt x="333" y="139"/>
                    <a:pt x="333" y="139"/>
                    <a:pt x="333" y="139"/>
                  </a:cubicBezTo>
                  <a:cubicBezTo>
                    <a:pt x="333" y="139"/>
                    <a:pt x="333" y="139"/>
                    <a:pt x="350" y="139"/>
                  </a:cubicBezTo>
                  <a:cubicBezTo>
                    <a:pt x="350" y="139"/>
                    <a:pt x="350" y="139"/>
                    <a:pt x="356" y="123"/>
                  </a:cubicBezTo>
                  <a:cubicBezTo>
                    <a:pt x="364" y="135"/>
                    <a:pt x="375" y="142"/>
                    <a:pt x="389" y="142"/>
                  </a:cubicBezTo>
                  <a:cubicBezTo>
                    <a:pt x="414" y="142"/>
                    <a:pt x="432" y="120"/>
                    <a:pt x="432" y="86"/>
                  </a:cubicBezTo>
                  <a:cubicBezTo>
                    <a:pt x="432" y="54"/>
                    <a:pt x="415" y="33"/>
                    <a:pt x="392" y="33"/>
                  </a:cubicBezTo>
                  <a:close/>
                  <a:moveTo>
                    <a:pt x="381" y="121"/>
                  </a:moveTo>
                  <a:cubicBezTo>
                    <a:pt x="370" y="121"/>
                    <a:pt x="364" y="113"/>
                    <a:pt x="364" y="100"/>
                  </a:cubicBezTo>
                  <a:cubicBezTo>
                    <a:pt x="364" y="100"/>
                    <a:pt x="364" y="100"/>
                    <a:pt x="364" y="74"/>
                  </a:cubicBezTo>
                  <a:cubicBezTo>
                    <a:pt x="364" y="62"/>
                    <a:pt x="371" y="54"/>
                    <a:pt x="381" y="54"/>
                  </a:cubicBezTo>
                  <a:cubicBezTo>
                    <a:pt x="394" y="54"/>
                    <a:pt x="400" y="65"/>
                    <a:pt x="400" y="88"/>
                  </a:cubicBezTo>
                  <a:cubicBezTo>
                    <a:pt x="400" y="109"/>
                    <a:pt x="393" y="121"/>
                    <a:pt x="381" y="121"/>
                  </a:cubicBezTo>
                  <a:close/>
                  <a:moveTo>
                    <a:pt x="496" y="33"/>
                  </a:moveTo>
                  <a:cubicBezTo>
                    <a:pt x="465" y="33"/>
                    <a:pt x="444" y="55"/>
                    <a:pt x="444" y="87"/>
                  </a:cubicBezTo>
                  <a:cubicBezTo>
                    <a:pt x="444" y="120"/>
                    <a:pt x="465" y="142"/>
                    <a:pt x="496" y="142"/>
                  </a:cubicBezTo>
                  <a:cubicBezTo>
                    <a:pt x="528" y="142"/>
                    <a:pt x="549" y="120"/>
                    <a:pt x="549" y="87"/>
                  </a:cubicBezTo>
                  <a:cubicBezTo>
                    <a:pt x="549" y="55"/>
                    <a:pt x="528" y="33"/>
                    <a:pt x="496" y="33"/>
                  </a:cubicBezTo>
                  <a:close/>
                  <a:moveTo>
                    <a:pt x="496" y="121"/>
                  </a:moveTo>
                  <a:cubicBezTo>
                    <a:pt x="483" y="121"/>
                    <a:pt x="476" y="109"/>
                    <a:pt x="476" y="87"/>
                  </a:cubicBezTo>
                  <a:cubicBezTo>
                    <a:pt x="476" y="65"/>
                    <a:pt x="483" y="54"/>
                    <a:pt x="496" y="54"/>
                  </a:cubicBezTo>
                  <a:cubicBezTo>
                    <a:pt x="509" y="54"/>
                    <a:pt x="517" y="66"/>
                    <a:pt x="517" y="87"/>
                  </a:cubicBezTo>
                  <a:cubicBezTo>
                    <a:pt x="517" y="109"/>
                    <a:pt x="509" y="121"/>
                    <a:pt x="496" y="121"/>
                  </a:cubicBezTo>
                  <a:close/>
                  <a:moveTo>
                    <a:pt x="658" y="36"/>
                  </a:moveTo>
                  <a:cubicBezTo>
                    <a:pt x="628" y="36"/>
                    <a:pt x="628" y="36"/>
                    <a:pt x="628" y="36"/>
                  </a:cubicBezTo>
                  <a:cubicBezTo>
                    <a:pt x="628" y="97"/>
                    <a:pt x="628" y="97"/>
                    <a:pt x="628" y="97"/>
                  </a:cubicBezTo>
                  <a:cubicBezTo>
                    <a:pt x="628" y="111"/>
                    <a:pt x="620" y="120"/>
                    <a:pt x="609" y="120"/>
                  </a:cubicBezTo>
                  <a:cubicBezTo>
                    <a:pt x="600" y="120"/>
                    <a:pt x="595" y="113"/>
                    <a:pt x="595" y="101"/>
                  </a:cubicBezTo>
                  <a:cubicBezTo>
                    <a:pt x="595" y="36"/>
                    <a:pt x="595" y="36"/>
                    <a:pt x="595" y="36"/>
                  </a:cubicBezTo>
                  <a:cubicBezTo>
                    <a:pt x="565" y="36"/>
                    <a:pt x="565" y="36"/>
                    <a:pt x="565" y="36"/>
                  </a:cubicBezTo>
                  <a:cubicBezTo>
                    <a:pt x="565" y="103"/>
                    <a:pt x="565" y="103"/>
                    <a:pt x="565" y="103"/>
                  </a:cubicBezTo>
                  <a:cubicBezTo>
                    <a:pt x="565" y="129"/>
                    <a:pt x="576" y="142"/>
                    <a:pt x="599" y="142"/>
                  </a:cubicBezTo>
                  <a:cubicBezTo>
                    <a:pt x="613" y="142"/>
                    <a:pt x="623" y="135"/>
                    <a:pt x="630" y="122"/>
                  </a:cubicBezTo>
                  <a:cubicBezTo>
                    <a:pt x="630" y="139"/>
                    <a:pt x="630" y="139"/>
                    <a:pt x="630" y="139"/>
                  </a:cubicBezTo>
                  <a:cubicBezTo>
                    <a:pt x="658" y="139"/>
                    <a:pt x="658" y="139"/>
                    <a:pt x="658" y="139"/>
                  </a:cubicBezTo>
                  <a:cubicBezTo>
                    <a:pt x="658" y="36"/>
                    <a:pt x="658" y="36"/>
                    <a:pt x="658" y="36"/>
                  </a:cubicBezTo>
                  <a:close/>
                  <a:moveTo>
                    <a:pt x="677" y="139"/>
                  </a:moveTo>
                  <a:cubicBezTo>
                    <a:pt x="708" y="139"/>
                    <a:pt x="708" y="139"/>
                    <a:pt x="708" y="139"/>
                  </a:cubicBezTo>
                  <a:cubicBezTo>
                    <a:pt x="708" y="88"/>
                    <a:pt x="708" y="88"/>
                    <a:pt x="708" y="88"/>
                  </a:cubicBezTo>
                  <a:cubicBezTo>
                    <a:pt x="708" y="71"/>
                    <a:pt x="717" y="61"/>
                    <a:pt x="732" y="61"/>
                  </a:cubicBezTo>
                  <a:cubicBezTo>
                    <a:pt x="734" y="61"/>
                    <a:pt x="736" y="61"/>
                    <a:pt x="738" y="61"/>
                  </a:cubicBezTo>
                  <a:cubicBezTo>
                    <a:pt x="738" y="34"/>
                    <a:pt x="738" y="34"/>
                    <a:pt x="738" y="34"/>
                  </a:cubicBezTo>
                  <a:cubicBezTo>
                    <a:pt x="736" y="33"/>
                    <a:pt x="734" y="33"/>
                    <a:pt x="733" y="33"/>
                  </a:cubicBezTo>
                  <a:cubicBezTo>
                    <a:pt x="718" y="33"/>
                    <a:pt x="709" y="41"/>
                    <a:pt x="704" y="57"/>
                  </a:cubicBezTo>
                  <a:cubicBezTo>
                    <a:pt x="704" y="36"/>
                    <a:pt x="704" y="36"/>
                    <a:pt x="704" y="36"/>
                  </a:cubicBezTo>
                  <a:cubicBezTo>
                    <a:pt x="677" y="36"/>
                    <a:pt x="677" y="36"/>
                    <a:pt x="677" y="36"/>
                  </a:cubicBezTo>
                  <a:cubicBezTo>
                    <a:pt x="677" y="139"/>
                    <a:pt x="677" y="139"/>
                    <a:pt x="677" y="139"/>
                  </a:cubicBezTo>
                  <a:close/>
                  <a:moveTo>
                    <a:pt x="753" y="139"/>
                  </a:moveTo>
                  <a:cubicBezTo>
                    <a:pt x="782" y="139"/>
                    <a:pt x="782" y="139"/>
                    <a:pt x="782" y="139"/>
                  </a:cubicBezTo>
                  <a:cubicBezTo>
                    <a:pt x="782" y="78"/>
                    <a:pt x="782" y="78"/>
                    <a:pt x="782" y="78"/>
                  </a:cubicBezTo>
                  <a:cubicBezTo>
                    <a:pt x="782" y="64"/>
                    <a:pt x="790" y="55"/>
                    <a:pt x="801" y="55"/>
                  </a:cubicBezTo>
                  <a:cubicBezTo>
                    <a:pt x="811" y="55"/>
                    <a:pt x="815" y="61"/>
                    <a:pt x="815" y="74"/>
                  </a:cubicBezTo>
                  <a:cubicBezTo>
                    <a:pt x="815" y="139"/>
                    <a:pt x="815" y="139"/>
                    <a:pt x="815" y="139"/>
                  </a:cubicBezTo>
                  <a:cubicBezTo>
                    <a:pt x="845" y="139"/>
                    <a:pt x="845" y="139"/>
                    <a:pt x="845" y="139"/>
                  </a:cubicBezTo>
                  <a:cubicBezTo>
                    <a:pt x="845" y="72"/>
                    <a:pt x="845" y="72"/>
                    <a:pt x="845" y="72"/>
                  </a:cubicBezTo>
                  <a:cubicBezTo>
                    <a:pt x="845" y="46"/>
                    <a:pt x="835" y="33"/>
                    <a:pt x="811" y="33"/>
                  </a:cubicBezTo>
                  <a:cubicBezTo>
                    <a:pt x="798" y="33"/>
                    <a:pt x="787" y="40"/>
                    <a:pt x="780" y="52"/>
                  </a:cubicBezTo>
                  <a:cubicBezTo>
                    <a:pt x="780" y="36"/>
                    <a:pt x="780" y="36"/>
                    <a:pt x="780" y="36"/>
                  </a:cubicBezTo>
                  <a:cubicBezTo>
                    <a:pt x="753" y="36"/>
                    <a:pt x="753" y="36"/>
                    <a:pt x="753" y="36"/>
                  </a:cubicBezTo>
                  <a:cubicBezTo>
                    <a:pt x="753" y="139"/>
                    <a:pt x="753" y="139"/>
                    <a:pt x="753" y="139"/>
                  </a:cubicBezTo>
                  <a:close/>
                  <a:moveTo>
                    <a:pt x="965" y="88"/>
                  </a:moveTo>
                  <a:cubicBezTo>
                    <a:pt x="965" y="54"/>
                    <a:pt x="946" y="33"/>
                    <a:pt x="915" y="33"/>
                  </a:cubicBezTo>
                  <a:cubicBezTo>
                    <a:pt x="882" y="33"/>
                    <a:pt x="859" y="56"/>
                    <a:pt x="859" y="88"/>
                  </a:cubicBezTo>
                  <a:cubicBezTo>
                    <a:pt x="859" y="120"/>
                    <a:pt x="881" y="142"/>
                    <a:pt x="913" y="142"/>
                  </a:cubicBezTo>
                  <a:cubicBezTo>
                    <a:pt x="939" y="142"/>
                    <a:pt x="958" y="129"/>
                    <a:pt x="965" y="107"/>
                  </a:cubicBezTo>
                  <a:cubicBezTo>
                    <a:pt x="965" y="107"/>
                    <a:pt x="965" y="107"/>
                    <a:pt x="935" y="105"/>
                  </a:cubicBezTo>
                  <a:cubicBezTo>
                    <a:pt x="932" y="115"/>
                    <a:pt x="925" y="120"/>
                    <a:pt x="915" y="120"/>
                  </a:cubicBezTo>
                  <a:cubicBezTo>
                    <a:pt x="900" y="120"/>
                    <a:pt x="892" y="110"/>
                    <a:pt x="892" y="92"/>
                  </a:cubicBezTo>
                  <a:cubicBezTo>
                    <a:pt x="892" y="92"/>
                    <a:pt x="892" y="92"/>
                    <a:pt x="965" y="92"/>
                  </a:cubicBezTo>
                  <a:cubicBezTo>
                    <a:pt x="965" y="92"/>
                    <a:pt x="965" y="92"/>
                    <a:pt x="965" y="88"/>
                  </a:cubicBezTo>
                  <a:close/>
                  <a:moveTo>
                    <a:pt x="892" y="76"/>
                  </a:moveTo>
                  <a:cubicBezTo>
                    <a:pt x="893" y="61"/>
                    <a:pt x="901" y="53"/>
                    <a:pt x="913" y="53"/>
                  </a:cubicBezTo>
                  <a:cubicBezTo>
                    <a:pt x="926" y="53"/>
                    <a:pt x="933" y="61"/>
                    <a:pt x="934" y="76"/>
                  </a:cubicBezTo>
                  <a:lnTo>
                    <a:pt x="892" y="76"/>
                  </a:lnTo>
                  <a:close/>
                  <a:moveTo>
                    <a:pt x="37" y="308"/>
                  </a:moveTo>
                  <a:cubicBezTo>
                    <a:pt x="67" y="308"/>
                    <a:pt x="67" y="308"/>
                    <a:pt x="67" y="308"/>
                  </a:cubicBezTo>
                  <a:cubicBezTo>
                    <a:pt x="90" y="217"/>
                    <a:pt x="90" y="217"/>
                    <a:pt x="90" y="217"/>
                  </a:cubicBezTo>
                  <a:cubicBezTo>
                    <a:pt x="113" y="308"/>
                    <a:pt x="113" y="308"/>
                    <a:pt x="113" y="308"/>
                  </a:cubicBezTo>
                  <a:cubicBezTo>
                    <a:pt x="142" y="308"/>
                    <a:pt x="142" y="308"/>
                    <a:pt x="142" y="308"/>
                  </a:cubicBezTo>
                  <a:cubicBezTo>
                    <a:pt x="179" y="169"/>
                    <a:pt x="179" y="169"/>
                    <a:pt x="179" y="169"/>
                  </a:cubicBezTo>
                  <a:cubicBezTo>
                    <a:pt x="153" y="169"/>
                    <a:pt x="153" y="169"/>
                    <a:pt x="153" y="169"/>
                  </a:cubicBezTo>
                  <a:cubicBezTo>
                    <a:pt x="130" y="264"/>
                    <a:pt x="130" y="264"/>
                    <a:pt x="130" y="264"/>
                  </a:cubicBezTo>
                  <a:cubicBezTo>
                    <a:pt x="105" y="169"/>
                    <a:pt x="105" y="169"/>
                    <a:pt x="105" y="169"/>
                  </a:cubicBezTo>
                  <a:cubicBezTo>
                    <a:pt x="79" y="169"/>
                    <a:pt x="79" y="169"/>
                    <a:pt x="79" y="169"/>
                  </a:cubicBezTo>
                  <a:cubicBezTo>
                    <a:pt x="55" y="265"/>
                    <a:pt x="55" y="265"/>
                    <a:pt x="55" y="265"/>
                  </a:cubicBezTo>
                  <a:cubicBezTo>
                    <a:pt x="32" y="169"/>
                    <a:pt x="32" y="169"/>
                    <a:pt x="32" y="169"/>
                  </a:cubicBezTo>
                  <a:cubicBezTo>
                    <a:pt x="1" y="169"/>
                    <a:pt x="1" y="169"/>
                    <a:pt x="1" y="169"/>
                  </a:cubicBezTo>
                  <a:cubicBezTo>
                    <a:pt x="37" y="308"/>
                    <a:pt x="37" y="308"/>
                    <a:pt x="37" y="308"/>
                  </a:cubicBezTo>
                  <a:close/>
                  <a:moveTo>
                    <a:pt x="275" y="289"/>
                  </a:moveTo>
                  <a:cubicBezTo>
                    <a:pt x="275" y="289"/>
                    <a:pt x="275" y="289"/>
                    <a:pt x="275" y="243"/>
                  </a:cubicBezTo>
                  <a:cubicBezTo>
                    <a:pt x="275" y="215"/>
                    <a:pt x="263" y="202"/>
                    <a:pt x="230" y="202"/>
                  </a:cubicBezTo>
                  <a:cubicBezTo>
                    <a:pt x="200" y="202"/>
                    <a:pt x="183" y="213"/>
                    <a:pt x="178" y="233"/>
                  </a:cubicBezTo>
                  <a:cubicBezTo>
                    <a:pt x="178" y="233"/>
                    <a:pt x="178" y="233"/>
                    <a:pt x="206" y="236"/>
                  </a:cubicBezTo>
                  <a:cubicBezTo>
                    <a:pt x="208" y="227"/>
                    <a:pt x="215" y="222"/>
                    <a:pt x="228" y="222"/>
                  </a:cubicBezTo>
                  <a:cubicBezTo>
                    <a:pt x="240" y="222"/>
                    <a:pt x="246" y="227"/>
                    <a:pt x="246" y="238"/>
                  </a:cubicBezTo>
                  <a:cubicBezTo>
                    <a:pt x="246" y="238"/>
                    <a:pt x="246" y="238"/>
                    <a:pt x="246" y="242"/>
                  </a:cubicBezTo>
                  <a:cubicBezTo>
                    <a:pt x="199" y="242"/>
                    <a:pt x="175" y="255"/>
                    <a:pt x="175" y="280"/>
                  </a:cubicBezTo>
                  <a:cubicBezTo>
                    <a:pt x="175" y="298"/>
                    <a:pt x="189" y="311"/>
                    <a:pt x="212" y="311"/>
                  </a:cubicBezTo>
                  <a:cubicBezTo>
                    <a:pt x="227" y="311"/>
                    <a:pt x="239" y="304"/>
                    <a:pt x="246" y="292"/>
                  </a:cubicBezTo>
                  <a:cubicBezTo>
                    <a:pt x="246" y="298"/>
                    <a:pt x="247" y="304"/>
                    <a:pt x="248" y="308"/>
                  </a:cubicBezTo>
                  <a:cubicBezTo>
                    <a:pt x="248" y="308"/>
                    <a:pt x="248" y="308"/>
                    <a:pt x="278" y="308"/>
                  </a:cubicBezTo>
                  <a:cubicBezTo>
                    <a:pt x="276" y="304"/>
                    <a:pt x="275" y="297"/>
                    <a:pt x="275" y="289"/>
                  </a:cubicBezTo>
                  <a:close/>
                  <a:moveTo>
                    <a:pt x="246" y="267"/>
                  </a:moveTo>
                  <a:cubicBezTo>
                    <a:pt x="246" y="281"/>
                    <a:pt x="236" y="291"/>
                    <a:pt x="223" y="291"/>
                  </a:cubicBezTo>
                  <a:cubicBezTo>
                    <a:pt x="213" y="291"/>
                    <a:pt x="208" y="286"/>
                    <a:pt x="208" y="278"/>
                  </a:cubicBezTo>
                  <a:cubicBezTo>
                    <a:pt x="208" y="265"/>
                    <a:pt x="220" y="258"/>
                    <a:pt x="246" y="258"/>
                  </a:cubicBezTo>
                  <a:cubicBezTo>
                    <a:pt x="246" y="258"/>
                    <a:pt x="246" y="258"/>
                    <a:pt x="246" y="267"/>
                  </a:cubicBezTo>
                  <a:close/>
                  <a:moveTo>
                    <a:pt x="302" y="275"/>
                  </a:moveTo>
                  <a:cubicBezTo>
                    <a:pt x="302" y="300"/>
                    <a:pt x="312" y="311"/>
                    <a:pt x="337" y="311"/>
                  </a:cubicBezTo>
                  <a:cubicBezTo>
                    <a:pt x="343" y="311"/>
                    <a:pt x="350" y="310"/>
                    <a:pt x="356" y="309"/>
                  </a:cubicBezTo>
                  <a:cubicBezTo>
                    <a:pt x="356" y="287"/>
                    <a:pt x="356" y="287"/>
                    <a:pt x="356" y="287"/>
                  </a:cubicBezTo>
                  <a:cubicBezTo>
                    <a:pt x="352" y="288"/>
                    <a:pt x="348" y="288"/>
                    <a:pt x="345" y="288"/>
                  </a:cubicBezTo>
                  <a:cubicBezTo>
                    <a:pt x="335" y="288"/>
                    <a:pt x="333" y="283"/>
                    <a:pt x="333" y="272"/>
                  </a:cubicBezTo>
                  <a:cubicBezTo>
                    <a:pt x="333" y="225"/>
                    <a:pt x="333" y="225"/>
                    <a:pt x="333" y="225"/>
                  </a:cubicBezTo>
                  <a:cubicBezTo>
                    <a:pt x="354" y="225"/>
                    <a:pt x="354" y="225"/>
                    <a:pt x="354" y="225"/>
                  </a:cubicBezTo>
                  <a:cubicBezTo>
                    <a:pt x="354" y="205"/>
                    <a:pt x="354" y="205"/>
                    <a:pt x="354" y="205"/>
                  </a:cubicBezTo>
                  <a:cubicBezTo>
                    <a:pt x="333" y="205"/>
                    <a:pt x="333" y="205"/>
                    <a:pt x="333" y="205"/>
                  </a:cubicBezTo>
                  <a:cubicBezTo>
                    <a:pt x="333" y="175"/>
                    <a:pt x="333" y="175"/>
                    <a:pt x="333" y="175"/>
                  </a:cubicBezTo>
                  <a:cubicBezTo>
                    <a:pt x="305" y="177"/>
                    <a:pt x="305" y="177"/>
                    <a:pt x="305" y="177"/>
                  </a:cubicBezTo>
                  <a:cubicBezTo>
                    <a:pt x="303" y="205"/>
                    <a:pt x="303" y="205"/>
                    <a:pt x="303" y="205"/>
                  </a:cubicBezTo>
                  <a:cubicBezTo>
                    <a:pt x="286" y="205"/>
                    <a:pt x="286" y="205"/>
                    <a:pt x="286" y="205"/>
                  </a:cubicBezTo>
                  <a:cubicBezTo>
                    <a:pt x="286" y="225"/>
                    <a:pt x="286" y="225"/>
                    <a:pt x="286" y="225"/>
                  </a:cubicBezTo>
                  <a:cubicBezTo>
                    <a:pt x="302" y="225"/>
                    <a:pt x="302" y="225"/>
                    <a:pt x="302" y="225"/>
                  </a:cubicBezTo>
                  <a:cubicBezTo>
                    <a:pt x="302" y="275"/>
                    <a:pt x="302" y="275"/>
                    <a:pt x="302" y="275"/>
                  </a:cubicBezTo>
                  <a:close/>
                  <a:moveTo>
                    <a:pt x="471" y="258"/>
                  </a:moveTo>
                  <a:cubicBezTo>
                    <a:pt x="471" y="223"/>
                    <a:pt x="452" y="202"/>
                    <a:pt x="421" y="202"/>
                  </a:cubicBezTo>
                  <a:cubicBezTo>
                    <a:pt x="388" y="202"/>
                    <a:pt x="366" y="225"/>
                    <a:pt x="366" y="257"/>
                  </a:cubicBezTo>
                  <a:cubicBezTo>
                    <a:pt x="366" y="289"/>
                    <a:pt x="387" y="311"/>
                    <a:pt x="420" y="311"/>
                  </a:cubicBezTo>
                  <a:cubicBezTo>
                    <a:pt x="445" y="311"/>
                    <a:pt x="464" y="299"/>
                    <a:pt x="470" y="277"/>
                  </a:cubicBezTo>
                  <a:cubicBezTo>
                    <a:pt x="470" y="277"/>
                    <a:pt x="470" y="277"/>
                    <a:pt x="441" y="275"/>
                  </a:cubicBezTo>
                  <a:cubicBezTo>
                    <a:pt x="438" y="284"/>
                    <a:pt x="431" y="290"/>
                    <a:pt x="421" y="290"/>
                  </a:cubicBezTo>
                  <a:cubicBezTo>
                    <a:pt x="406" y="290"/>
                    <a:pt x="398" y="280"/>
                    <a:pt x="398" y="262"/>
                  </a:cubicBezTo>
                  <a:cubicBezTo>
                    <a:pt x="398" y="262"/>
                    <a:pt x="398" y="262"/>
                    <a:pt x="471" y="262"/>
                  </a:cubicBezTo>
                  <a:cubicBezTo>
                    <a:pt x="471" y="262"/>
                    <a:pt x="471" y="262"/>
                    <a:pt x="471" y="258"/>
                  </a:cubicBezTo>
                  <a:close/>
                  <a:moveTo>
                    <a:pt x="398" y="245"/>
                  </a:moveTo>
                  <a:cubicBezTo>
                    <a:pt x="399" y="230"/>
                    <a:pt x="407" y="222"/>
                    <a:pt x="419" y="222"/>
                  </a:cubicBezTo>
                  <a:cubicBezTo>
                    <a:pt x="432" y="222"/>
                    <a:pt x="440" y="230"/>
                    <a:pt x="440" y="245"/>
                  </a:cubicBezTo>
                  <a:lnTo>
                    <a:pt x="398" y="245"/>
                  </a:lnTo>
                  <a:close/>
                  <a:moveTo>
                    <a:pt x="489" y="308"/>
                  </a:moveTo>
                  <a:cubicBezTo>
                    <a:pt x="519" y="308"/>
                    <a:pt x="519" y="308"/>
                    <a:pt x="519" y="308"/>
                  </a:cubicBezTo>
                  <a:cubicBezTo>
                    <a:pt x="519" y="258"/>
                    <a:pt x="519" y="258"/>
                    <a:pt x="519" y="258"/>
                  </a:cubicBezTo>
                  <a:cubicBezTo>
                    <a:pt x="519" y="241"/>
                    <a:pt x="528" y="230"/>
                    <a:pt x="543" y="230"/>
                  </a:cubicBezTo>
                  <a:cubicBezTo>
                    <a:pt x="545" y="230"/>
                    <a:pt x="547" y="231"/>
                    <a:pt x="549" y="231"/>
                  </a:cubicBezTo>
                  <a:cubicBezTo>
                    <a:pt x="549" y="203"/>
                    <a:pt x="549" y="203"/>
                    <a:pt x="549" y="203"/>
                  </a:cubicBezTo>
                  <a:cubicBezTo>
                    <a:pt x="547" y="203"/>
                    <a:pt x="545" y="202"/>
                    <a:pt x="544" y="202"/>
                  </a:cubicBezTo>
                  <a:cubicBezTo>
                    <a:pt x="529" y="202"/>
                    <a:pt x="520" y="211"/>
                    <a:pt x="515" y="227"/>
                  </a:cubicBezTo>
                  <a:cubicBezTo>
                    <a:pt x="515" y="205"/>
                    <a:pt x="515" y="205"/>
                    <a:pt x="515" y="205"/>
                  </a:cubicBezTo>
                  <a:cubicBezTo>
                    <a:pt x="489" y="205"/>
                    <a:pt x="489" y="205"/>
                    <a:pt x="489" y="205"/>
                  </a:cubicBezTo>
                  <a:cubicBezTo>
                    <a:pt x="489" y="308"/>
                    <a:pt x="489" y="308"/>
                    <a:pt x="489" y="308"/>
                  </a:cubicBezTo>
                  <a:close/>
                </a:path>
              </a:pathLst>
            </a:custGeom>
            <a:solidFill>
              <a:srgbClr val="00428B"/>
            </a:solidFill>
            <a:ln>
              <a:noFill/>
            </a:ln>
          </p:spPr>
          <p:txBody>
            <a:bodyPr vert="horz" wrap="square" lIns="91440" tIns="45720" rIns="91440" bIns="45720" numCol="1" anchor="t" anchorCtr="0" compatLnSpc="1">
              <a:prstTxWarp prst="textNoShape">
                <a:avLst/>
              </a:prstTxWarp>
            </a:bodyPr>
            <a:lstStyle/>
            <a:p>
              <a:endParaRPr lang="en-AU" sz="2400"/>
            </a:p>
          </p:txBody>
        </p:sp>
        <p:grpSp>
          <p:nvGrpSpPr>
            <p:cNvPr id="44" name="Group 3"/>
            <p:cNvGrpSpPr>
              <a:grpSpLocks/>
            </p:cNvGrpSpPr>
            <p:nvPr userDrawn="1"/>
          </p:nvGrpSpPr>
          <p:grpSpPr bwMode="gray">
            <a:xfrm>
              <a:off x="6959275" y="6264599"/>
              <a:ext cx="393107" cy="393107"/>
              <a:chOff x="1202" y="1207"/>
              <a:chExt cx="638" cy="638"/>
            </a:xfrm>
          </p:grpSpPr>
          <p:sp>
            <p:nvSpPr>
              <p:cNvPr id="45" name="Rectangle 4"/>
              <p:cNvSpPr>
                <a:spLocks noChangeArrowheads="1"/>
              </p:cNvSpPr>
              <p:nvPr/>
            </p:nvSpPr>
            <p:spPr bwMode="gray">
              <a:xfrm>
                <a:off x="1202" y="1207"/>
                <a:ext cx="638" cy="638"/>
              </a:xfrm>
              <a:prstGeom prst="rect">
                <a:avLst/>
              </a:prstGeom>
              <a:solidFill>
                <a:srgbClr val="FE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endParaRPr lang="en-AU" sz="2400"/>
              </a:p>
            </p:txBody>
          </p:sp>
          <p:grpSp>
            <p:nvGrpSpPr>
              <p:cNvPr id="46" name="Group 5"/>
              <p:cNvGrpSpPr>
                <a:grpSpLocks/>
              </p:cNvGrpSpPr>
              <p:nvPr/>
            </p:nvGrpSpPr>
            <p:grpSpPr bwMode="gray">
              <a:xfrm>
                <a:off x="1212" y="1217"/>
                <a:ext cx="619" cy="617"/>
                <a:chOff x="-1693" y="1089"/>
                <a:chExt cx="2147" cy="2141"/>
              </a:xfrm>
            </p:grpSpPr>
            <p:sp>
              <p:nvSpPr>
                <p:cNvPr id="47" name="Freeform 6"/>
                <p:cNvSpPr>
                  <a:spLocks/>
                </p:cNvSpPr>
                <p:nvPr/>
              </p:nvSpPr>
              <p:spPr bwMode="gray">
                <a:xfrm>
                  <a:off x="-1693" y="1451"/>
                  <a:ext cx="2145" cy="1779"/>
                </a:xfrm>
                <a:custGeom>
                  <a:avLst/>
                  <a:gdLst>
                    <a:gd name="T0" fmla="*/ 908 w 908"/>
                    <a:gd name="T1" fmla="*/ 753 h 753"/>
                    <a:gd name="T2" fmla="*/ 0 w 908"/>
                    <a:gd name="T3" fmla="*/ 753 h 753"/>
                    <a:gd name="T4" fmla="*/ 0 w 908"/>
                    <a:gd name="T5" fmla="*/ 17 h 753"/>
                    <a:gd name="T6" fmla="*/ 95 w 908"/>
                    <a:gd name="T7" fmla="*/ 0 h 753"/>
                    <a:gd name="T8" fmla="*/ 712 w 908"/>
                    <a:gd name="T9" fmla="*/ 269 h 753"/>
                    <a:gd name="T10" fmla="*/ 908 w 908"/>
                    <a:gd name="T11" fmla="*/ 227 h 753"/>
                    <a:gd name="T12" fmla="*/ 908 w 908"/>
                    <a:gd name="T13" fmla="*/ 753 h 753"/>
                  </a:gdLst>
                  <a:ahLst/>
                  <a:cxnLst>
                    <a:cxn ang="0">
                      <a:pos x="T0" y="T1"/>
                    </a:cxn>
                    <a:cxn ang="0">
                      <a:pos x="T2" y="T3"/>
                    </a:cxn>
                    <a:cxn ang="0">
                      <a:pos x="T4" y="T5"/>
                    </a:cxn>
                    <a:cxn ang="0">
                      <a:pos x="T6" y="T7"/>
                    </a:cxn>
                    <a:cxn ang="0">
                      <a:pos x="T8" y="T9"/>
                    </a:cxn>
                    <a:cxn ang="0">
                      <a:pos x="T10" y="T11"/>
                    </a:cxn>
                    <a:cxn ang="0">
                      <a:pos x="T12" y="T13"/>
                    </a:cxn>
                  </a:cxnLst>
                  <a:rect l="0" t="0" r="r" b="b"/>
                  <a:pathLst>
                    <a:path w="908" h="753">
                      <a:moveTo>
                        <a:pt x="908" y="753"/>
                      </a:moveTo>
                      <a:cubicBezTo>
                        <a:pt x="0" y="753"/>
                        <a:pt x="0" y="753"/>
                        <a:pt x="0" y="753"/>
                      </a:cubicBezTo>
                      <a:cubicBezTo>
                        <a:pt x="0" y="17"/>
                        <a:pt x="0" y="17"/>
                        <a:pt x="0" y="17"/>
                      </a:cubicBezTo>
                      <a:cubicBezTo>
                        <a:pt x="24" y="7"/>
                        <a:pt x="62" y="0"/>
                        <a:pt x="95" y="0"/>
                      </a:cubicBezTo>
                      <a:cubicBezTo>
                        <a:pt x="376" y="0"/>
                        <a:pt x="408" y="269"/>
                        <a:pt x="712" y="269"/>
                      </a:cubicBezTo>
                      <a:cubicBezTo>
                        <a:pt x="817" y="269"/>
                        <a:pt x="882" y="239"/>
                        <a:pt x="908" y="227"/>
                      </a:cubicBezTo>
                      <a:lnTo>
                        <a:pt x="908" y="753"/>
                      </a:lnTo>
                      <a:close/>
                    </a:path>
                  </a:pathLst>
                </a:custGeom>
                <a:solidFill>
                  <a:srgbClr val="009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p>
              </p:txBody>
            </p:sp>
            <p:sp>
              <p:nvSpPr>
                <p:cNvPr id="48" name="Freeform 7"/>
                <p:cNvSpPr>
                  <a:spLocks/>
                </p:cNvSpPr>
                <p:nvPr/>
              </p:nvSpPr>
              <p:spPr bwMode="gray">
                <a:xfrm>
                  <a:off x="-1693" y="1089"/>
                  <a:ext cx="2147" cy="912"/>
                </a:xfrm>
                <a:custGeom>
                  <a:avLst/>
                  <a:gdLst>
                    <a:gd name="T0" fmla="*/ 0 w 909"/>
                    <a:gd name="T1" fmla="*/ 159 h 386"/>
                    <a:gd name="T2" fmla="*/ 204 w 909"/>
                    <a:gd name="T3" fmla="*/ 113 h 386"/>
                    <a:gd name="T4" fmla="*/ 813 w 909"/>
                    <a:gd name="T5" fmla="*/ 386 h 386"/>
                    <a:gd name="T6" fmla="*/ 909 w 909"/>
                    <a:gd name="T7" fmla="*/ 370 h 386"/>
                    <a:gd name="T8" fmla="*/ 909 w 909"/>
                    <a:gd name="T9" fmla="*/ 0 h 386"/>
                    <a:gd name="T10" fmla="*/ 0 w 909"/>
                    <a:gd name="T11" fmla="*/ 0 h 386"/>
                    <a:gd name="T12" fmla="*/ 0 w 909"/>
                    <a:gd name="T13" fmla="*/ 159 h 386"/>
                  </a:gdLst>
                  <a:ahLst/>
                  <a:cxnLst>
                    <a:cxn ang="0">
                      <a:pos x="T0" y="T1"/>
                    </a:cxn>
                    <a:cxn ang="0">
                      <a:pos x="T2" y="T3"/>
                    </a:cxn>
                    <a:cxn ang="0">
                      <a:pos x="T4" y="T5"/>
                    </a:cxn>
                    <a:cxn ang="0">
                      <a:pos x="T6" y="T7"/>
                    </a:cxn>
                    <a:cxn ang="0">
                      <a:pos x="T8" y="T9"/>
                    </a:cxn>
                    <a:cxn ang="0">
                      <a:pos x="T10" y="T11"/>
                    </a:cxn>
                    <a:cxn ang="0">
                      <a:pos x="T12" y="T13"/>
                    </a:cxn>
                  </a:cxnLst>
                  <a:rect l="0" t="0" r="r" b="b"/>
                  <a:pathLst>
                    <a:path w="909" h="386">
                      <a:moveTo>
                        <a:pt x="0" y="159"/>
                      </a:moveTo>
                      <a:cubicBezTo>
                        <a:pt x="27" y="148"/>
                        <a:pt x="99" y="113"/>
                        <a:pt x="204" y="113"/>
                      </a:cubicBezTo>
                      <a:cubicBezTo>
                        <a:pt x="513" y="113"/>
                        <a:pt x="529" y="386"/>
                        <a:pt x="813" y="386"/>
                      </a:cubicBezTo>
                      <a:cubicBezTo>
                        <a:pt x="847" y="386"/>
                        <a:pt x="881" y="378"/>
                        <a:pt x="909" y="370"/>
                      </a:cubicBezTo>
                      <a:cubicBezTo>
                        <a:pt x="909" y="0"/>
                        <a:pt x="909" y="0"/>
                        <a:pt x="909" y="0"/>
                      </a:cubicBezTo>
                      <a:cubicBezTo>
                        <a:pt x="0" y="0"/>
                        <a:pt x="0" y="0"/>
                        <a:pt x="0" y="0"/>
                      </a:cubicBezTo>
                      <a:lnTo>
                        <a:pt x="0" y="159"/>
                      </a:lnTo>
                      <a:close/>
                    </a:path>
                  </a:pathLst>
                </a:custGeom>
                <a:solidFill>
                  <a:srgbClr val="0053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p>
              </p:txBody>
            </p:sp>
            <p:sp>
              <p:nvSpPr>
                <p:cNvPr id="49" name="Freeform 8"/>
                <p:cNvSpPr>
                  <a:spLocks/>
                </p:cNvSpPr>
                <p:nvPr/>
              </p:nvSpPr>
              <p:spPr bwMode="gray">
                <a:xfrm>
                  <a:off x="-1693" y="1739"/>
                  <a:ext cx="2145" cy="730"/>
                </a:xfrm>
                <a:custGeom>
                  <a:avLst/>
                  <a:gdLst>
                    <a:gd name="T0" fmla="*/ 908 w 908"/>
                    <a:gd name="T1" fmla="*/ 266 h 309"/>
                    <a:gd name="T2" fmla="*/ 712 w 908"/>
                    <a:gd name="T3" fmla="*/ 309 h 309"/>
                    <a:gd name="T4" fmla="*/ 95 w 908"/>
                    <a:gd name="T5" fmla="*/ 40 h 309"/>
                    <a:gd name="T6" fmla="*/ 0 w 908"/>
                    <a:gd name="T7" fmla="*/ 56 h 309"/>
                    <a:gd name="T8" fmla="*/ 0 w 908"/>
                    <a:gd name="T9" fmla="*/ 46 h 309"/>
                    <a:gd name="T10" fmla="*/ 204 w 908"/>
                    <a:gd name="T11" fmla="*/ 0 h 309"/>
                    <a:gd name="T12" fmla="*/ 813 w 908"/>
                    <a:gd name="T13" fmla="*/ 273 h 309"/>
                    <a:gd name="T14" fmla="*/ 908 w 908"/>
                    <a:gd name="T15" fmla="*/ 257 h 309"/>
                    <a:gd name="T16" fmla="*/ 908 w 908"/>
                    <a:gd name="T17" fmla="*/ 266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8" h="309">
                      <a:moveTo>
                        <a:pt x="908" y="266"/>
                      </a:moveTo>
                      <a:cubicBezTo>
                        <a:pt x="882" y="278"/>
                        <a:pt x="817" y="309"/>
                        <a:pt x="712" y="309"/>
                      </a:cubicBezTo>
                      <a:cubicBezTo>
                        <a:pt x="408" y="309"/>
                        <a:pt x="376" y="40"/>
                        <a:pt x="95" y="40"/>
                      </a:cubicBezTo>
                      <a:cubicBezTo>
                        <a:pt x="62" y="40"/>
                        <a:pt x="24" y="47"/>
                        <a:pt x="0" y="56"/>
                      </a:cubicBezTo>
                      <a:cubicBezTo>
                        <a:pt x="0" y="46"/>
                        <a:pt x="0" y="46"/>
                        <a:pt x="0" y="46"/>
                      </a:cubicBezTo>
                      <a:cubicBezTo>
                        <a:pt x="27" y="34"/>
                        <a:pt x="99" y="0"/>
                        <a:pt x="204" y="0"/>
                      </a:cubicBezTo>
                      <a:cubicBezTo>
                        <a:pt x="513" y="0"/>
                        <a:pt x="529" y="273"/>
                        <a:pt x="813" y="273"/>
                      </a:cubicBezTo>
                      <a:cubicBezTo>
                        <a:pt x="847" y="273"/>
                        <a:pt x="881" y="265"/>
                        <a:pt x="908" y="257"/>
                      </a:cubicBezTo>
                      <a:lnTo>
                        <a:pt x="908" y="26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p>
              </p:txBody>
            </p:sp>
          </p:grpSp>
        </p:grpSp>
      </p:grpSp>
      <p:sp>
        <p:nvSpPr>
          <p:cNvPr id="50" name="logo_brand_healthy" descr="&lt;mode=4x3&gt;&#10;&lt;size&gt;h=21.65756;w=134.1505&lt;size/&gt;&#10;&lt;pos&gt;top=507.952;left=39.84945&lt;pos/&gt;&#10;&lt;mode/&gt;&#10;&lt;mode=16x9&gt;&#10;&lt;size&gt;h=12.18898;w=100.6299&lt;size/&gt;&#10;&lt;pos&gt;top=379.8393;left=30.47551&lt;pos/&gt;&#10;&lt;mode/&gt;" hidden="1"/>
          <p:cNvSpPr>
            <a:spLocks noEditPoints="1"/>
          </p:cNvSpPr>
          <p:nvPr userDrawn="1"/>
        </p:nvSpPr>
        <p:spPr bwMode="gray">
          <a:xfrm>
            <a:off x="516052" y="6431945"/>
            <a:ext cx="1704000" cy="206400"/>
          </a:xfrm>
          <a:custGeom>
            <a:avLst/>
            <a:gdLst>
              <a:gd name="T0" fmla="*/ 15 w 2151"/>
              <a:gd name="T1" fmla="*/ 192 h 348"/>
              <a:gd name="T2" fmla="*/ 159 w 2151"/>
              <a:gd name="T3" fmla="*/ 251 h 348"/>
              <a:gd name="T4" fmla="*/ 155 w 2151"/>
              <a:gd name="T5" fmla="*/ 209 h 348"/>
              <a:gd name="T6" fmla="*/ 116 w 2151"/>
              <a:gd name="T7" fmla="*/ 188 h 348"/>
              <a:gd name="T8" fmla="*/ 211 w 2151"/>
              <a:gd name="T9" fmla="*/ 178 h 348"/>
              <a:gd name="T10" fmla="*/ 241 w 2151"/>
              <a:gd name="T11" fmla="*/ 132 h 348"/>
              <a:gd name="T12" fmla="*/ 273 w 2151"/>
              <a:gd name="T13" fmla="*/ 236 h 348"/>
              <a:gd name="T14" fmla="*/ 391 w 2151"/>
              <a:gd name="T15" fmla="*/ 209 h 348"/>
              <a:gd name="T16" fmla="*/ 359 w 2151"/>
              <a:gd name="T17" fmla="*/ 229 h 348"/>
              <a:gd name="T18" fmla="*/ 273 w 2151"/>
              <a:gd name="T19" fmla="*/ 229 h 348"/>
              <a:gd name="T20" fmla="*/ 303 w 2151"/>
              <a:gd name="T21" fmla="*/ 209 h 348"/>
              <a:gd name="T22" fmla="*/ 454 w 2151"/>
              <a:gd name="T23" fmla="*/ 185 h 348"/>
              <a:gd name="T24" fmla="*/ 484 w 2151"/>
              <a:gd name="T25" fmla="*/ 236 h 348"/>
              <a:gd name="T26" fmla="*/ 550 w 2151"/>
              <a:gd name="T27" fmla="*/ 226 h 348"/>
              <a:gd name="T28" fmla="*/ 511 w 2151"/>
              <a:gd name="T29" fmla="*/ 214 h 348"/>
              <a:gd name="T30" fmla="*/ 629 w 2151"/>
              <a:gd name="T31" fmla="*/ 250 h 348"/>
              <a:gd name="T32" fmla="*/ 650 w 2151"/>
              <a:gd name="T33" fmla="*/ 156 h 348"/>
              <a:gd name="T34" fmla="*/ 588 w 2151"/>
              <a:gd name="T35" fmla="*/ 270 h 348"/>
              <a:gd name="T36" fmla="*/ 615 w 2151"/>
              <a:gd name="T37" fmla="*/ 281 h 348"/>
              <a:gd name="T38" fmla="*/ 610 w 2151"/>
              <a:gd name="T39" fmla="*/ 192 h 348"/>
              <a:gd name="T40" fmla="*/ 672 w 2151"/>
              <a:gd name="T41" fmla="*/ 250 h 348"/>
              <a:gd name="T42" fmla="*/ 790 w 2151"/>
              <a:gd name="T43" fmla="*/ 236 h 348"/>
              <a:gd name="T44" fmla="*/ 796 w 2151"/>
              <a:gd name="T45" fmla="*/ 281 h 348"/>
              <a:gd name="T46" fmla="*/ 718 w 2151"/>
              <a:gd name="T47" fmla="*/ 188 h 348"/>
              <a:gd name="T48" fmla="*/ 793 w 2151"/>
              <a:gd name="T49" fmla="*/ 229 h 348"/>
              <a:gd name="T50" fmla="*/ 1122 w 2151"/>
              <a:gd name="T51" fmla="*/ 230 h 348"/>
              <a:gd name="T52" fmla="*/ 1094 w 2151"/>
              <a:gd name="T53" fmla="*/ 192 h 348"/>
              <a:gd name="T54" fmla="*/ 1133 w 2151"/>
              <a:gd name="T55" fmla="*/ 189 h 348"/>
              <a:gd name="T56" fmla="*/ 941 w 2151"/>
              <a:gd name="T57" fmla="*/ 192 h 348"/>
              <a:gd name="T58" fmla="*/ 940 w 2151"/>
              <a:gd name="T59" fmla="*/ 189 h 348"/>
              <a:gd name="T60" fmla="*/ 1219 w 2151"/>
              <a:gd name="T61" fmla="*/ 221 h 348"/>
              <a:gd name="T62" fmla="*/ 1174 w 2151"/>
              <a:gd name="T63" fmla="*/ 192 h 348"/>
              <a:gd name="T64" fmla="*/ 1175 w 2151"/>
              <a:gd name="T65" fmla="*/ 189 h 348"/>
              <a:gd name="T66" fmla="*/ 1140 w 2151"/>
              <a:gd name="T67" fmla="*/ 250 h 348"/>
              <a:gd name="T68" fmla="*/ 1336 w 2151"/>
              <a:gd name="T69" fmla="*/ 228 h 348"/>
              <a:gd name="T70" fmla="*/ 1349 w 2151"/>
              <a:gd name="T71" fmla="*/ 237 h 348"/>
              <a:gd name="T72" fmla="*/ 1330 w 2151"/>
              <a:gd name="T73" fmla="*/ 268 h 348"/>
              <a:gd name="T74" fmla="*/ 1452 w 2151"/>
              <a:gd name="T75" fmla="*/ 200 h 348"/>
              <a:gd name="T76" fmla="*/ 1487 w 2151"/>
              <a:gd name="T77" fmla="*/ 178 h 348"/>
              <a:gd name="T78" fmla="*/ 1450 w 2151"/>
              <a:gd name="T79" fmla="*/ 272 h 348"/>
              <a:gd name="T80" fmla="*/ 1416 w 2151"/>
              <a:gd name="T81" fmla="*/ 237 h 348"/>
              <a:gd name="T82" fmla="*/ 1613 w 2151"/>
              <a:gd name="T83" fmla="*/ 109 h 348"/>
              <a:gd name="T84" fmla="*/ 1558 w 2151"/>
              <a:gd name="T85" fmla="*/ 209 h 348"/>
              <a:gd name="T86" fmla="*/ 1594 w 2151"/>
              <a:gd name="T87" fmla="*/ 215 h 348"/>
              <a:gd name="T88" fmla="*/ 1801 w 2151"/>
              <a:gd name="T89" fmla="*/ 135 h 348"/>
              <a:gd name="T90" fmla="*/ 1743 w 2151"/>
              <a:gd name="T91" fmla="*/ 253 h 348"/>
              <a:gd name="T92" fmla="*/ 1591 w 2151"/>
              <a:gd name="T93" fmla="*/ 138 h 348"/>
              <a:gd name="T94" fmla="*/ 1913 w 2151"/>
              <a:gd name="T95" fmla="*/ 237 h 348"/>
              <a:gd name="T96" fmla="*/ 1845 w 2151"/>
              <a:gd name="T97" fmla="*/ 230 h 348"/>
              <a:gd name="T98" fmla="*/ 1795 w 2151"/>
              <a:gd name="T99" fmla="*/ 209 h 348"/>
              <a:gd name="T100" fmla="*/ 1789 w 2151"/>
              <a:gd name="T101" fmla="*/ 230 h 348"/>
              <a:gd name="T102" fmla="*/ 1787 w 2151"/>
              <a:gd name="T103" fmla="*/ 250 h 348"/>
              <a:gd name="T104" fmla="*/ 2013 w 2151"/>
              <a:gd name="T105" fmla="*/ 291 h 348"/>
              <a:gd name="T106" fmla="*/ 2013 w 2151"/>
              <a:gd name="T107" fmla="*/ 162 h 348"/>
              <a:gd name="T108" fmla="*/ 1988 w 2151"/>
              <a:gd name="T109" fmla="*/ 259 h 348"/>
              <a:gd name="T110" fmla="*/ 1997 w 2151"/>
              <a:gd name="T111" fmla="*/ 250 h 348"/>
              <a:gd name="T112" fmla="*/ 1925 w 2151"/>
              <a:gd name="T113" fmla="*/ 176 h 348"/>
              <a:gd name="T114" fmla="*/ 1986 w 2151"/>
              <a:gd name="T115" fmla="*/ 209 h 348"/>
              <a:gd name="T116" fmla="*/ 2090 w 2151"/>
              <a:gd name="T117" fmla="*/ 215 h 348"/>
              <a:gd name="T118" fmla="*/ 2131 w 2151"/>
              <a:gd name="T119" fmla="*/ 237 h 348"/>
              <a:gd name="T120" fmla="*/ 2074 w 2151"/>
              <a:gd name="T121" fmla="*/ 189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51" h="348">
                <a:moveTo>
                  <a:pt x="19" y="220"/>
                </a:moveTo>
                <a:cubicBezTo>
                  <a:pt x="20" y="224"/>
                  <a:pt x="20" y="227"/>
                  <a:pt x="21" y="229"/>
                </a:cubicBezTo>
                <a:cubicBezTo>
                  <a:pt x="64" y="229"/>
                  <a:pt x="64" y="229"/>
                  <a:pt x="64" y="229"/>
                </a:cubicBezTo>
                <a:cubicBezTo>
                  <a:pt x="66" y="225"/>
                  <a:pt x="69" y="219"/>
                  <a:pt x="71" y="214"/>
                </a:cubicBezTo>
                <a:cubicBezTo>
                  <a:pt x="18" y="214"/>
                  <a:pt x="18" y="214"/>
                  <a:pt x="18" y="214"/>
                </a:cubicBezTo>
                <a:cubicBezTo>
                  <a:pt x="18" y="216"/>
                  <a:pt x="19" y="218"/>
                  <a:pt x="19" y="220"/>
                </a:cubicBezTo>
                <a:moveTo>
                  <a:pt x="17" y="209"/>
                </a:moveTo>
                <a:cubicBezTo>
                  <a:pt x="73" y="209"/>
                  <a:pt x="73" y="209"/>
                  <a:pt x="73" y="209"/>
                </a:cubicBezTo>
                <a:cubicBezTo>
                  <a:pt x="76" y="203"/>
                  <a:pt x="78" y="197"/>
                  <a:pt x="81" y="192"/>
                </a:cubicBezTo>
                <a:cubicBezTo>
                  <a:pt x="15" y="192"/>
                  <a:pt x="15" y="192"/>
                  <a:pt x="15" y="192"/>
                </a:cubicBezTo>
                <a:cubicBezTo>
                  <a:pt x="16" y="198"/>
                  <a:pt x="17" y="204"/>
                  <a:pt x="17" y="209"/>
                </a:cubicBezTo>
                <a:moveTo>
                  <a:pt x="166" y="226"/>
                </a:moveTo>
                <a:cubicBezTo>
                  <a:pt x="164" y="222"/>
                  <a:pt x="161" y="218"/>
                  <a:pt x="158" y="214"/>
                </a:cubicBezTo>
                <a:cubicBezTo>
                  <a:pt x="120" y="214"/>
                  <a:pt x="120" y="214"/>
                  <a:pt x="120" y="214"/>
                </a:cubicBezTo>
                <a:cubicBezTo>
                  <a:pt x="120" y="214"/>
                  <a:pt x="120" y="214"/>
                  <a:pt x="120" y="214"/>
                </a:cubicBezTo>
                <a:cubicBezTo>
                  <a:pt x="120" y="220"/>
                  <a:pt x="122" y="225"/>
                  <a:pt x="125" y="229"/>
                </a:cubicBezTo>
                <a:cubicBezTo>
                  <a:pt x="167" y="229"/>
                  <a:pt x="167" y="229"/>
                  <a:pt x="167" y="229"/>
                </a:cubicBezTo>
                <a:cubicBezTo>
                  <a:pt x="167" y="228"/>
                  <a:pt x="167" y="227"/>
                  <a:pt x="166" y="226"/>
                </a:cubicBezTo>
                <a:moveTo>
                  <a:pt x="129" y="236"/>
                </a:moveTo>
                <a:cubicBezTo>
                  <a:pt x="138" y="248"/>
                  <a:pt x="151" y="254"/>
                  <a:pt x="159" y="251"/>
                </a:cubicBezTo>
                <a:cubicBezTo>
                  <a:pt x="164" y="249"/>
                  <a:pt x="168" y="243"/>
                  <a:pt x="168" y="236"/>
                </a:cubicBezTo>
                <a:lnTo>
                  <a:pt x="129" y="236"/>
                </a:lnTo>
                <a:close/>
                <a:moveTo>
                  <a:pt x="50" y="249"/>
                </a:moveTo>
                <a:cubicBezTo>
                  <a:pt x="54" y="246"/>
                  <a:pt x="58" y="241"/>
                  <a:pt x="60" y="236"/>
                </a:cubicBezTo>
                <a:cubicBezTo>
                  <a:pt x="23" y="236"/>
                  <a:pt x="23" y="236"/>
                  <a:pt x="23" y="236"/>
                </a:cubicBezTo>
                <a:cubicBezTo>
                  <a:pt x="31" y="258"/>
                  <a:pt x="45" y="253"/>
                  <a:pt x="50" y="249"/>
                </a:cubicBezTo>
                <a:moveTo>
                  <a:pt x="150" y="192"/>
                </a:moveTo>
                <a:cubicBezTo>
                  <a:pt x="117" y="192"/>
                  <a:pt x="117" y="192"/>
                  <a:pt x="117" y="192"/>
                </a:cubicBezTo>
                <a:cubicBezTo>
                  <a:pt x="118" y="197"/>
                  <a:pt x="118" y="202"/>
                  <a:pt x="119" y="209"/>
                </a:cubicBezTo>
                <a:cubicBezTo>
                  <a:pt x="155" y="209"/>
                  <a:pt x="155" y="209"/>
                  <a:pt x="155" y="209"/>
                </a:cubicBezTo>
                <a:cubicBezTo>
                  <a:pt x="153" y="204"/>
                  <a:pt x="151" y="199"/>
                  <a:pt x="150" y="192"/>
                </a:cubicBezTo>
                <a:moveTo>
                  <a:pt x="149" y="178"/>
                </a:moveTo>
                <a:cubicBezTo>
                  <a:pt x="149" y="154"/>
                  <a:pt x="151" y="128"/>
                  <a:pt x="124" y="122"/>
                </a:cubicBezTo>
                <a:cubicBezTo>
                  <a:pt x="83" y="113"/>
                  <a:pt x="66" y="183"/>
                  <a:pt x="53" y="175"/>
                </a:cubicBezTo>
                <a:cubicBezTo>
                  <a:pt x="47" y="171"/>
                  <a:pt x="41" y="131"/>
                  <a:pt x="54" y="91"/>
                </a:cubicBezTo>
                <a:cubicBezTo>
                  <a:pt x="63" y="59"/>
                  <a:pt x="66" y="31"/>
                  <a:pt x="52" y="24"/>
                </a:cubicBezTo>
                <a:cubicBezTo>
                  <a:pt x="0" y="0"/>
                  <a:pt x="6" y="122"/>
                  <a:pt x="15" y="188"/>
                </a:cubicBezTo>
                <a:cubicBezTo>
                  <a:pt x="83" y="188"/>
                  <a:pt x="83" y="188"/>
                  <a:pt x="83" y="188"/>
                </a:cubicBezTo>
                <a:cubicBezTo>
                  <a:pt x="85" y="186"/>
                  <a:pt x="86" y="183"/>
                  <a:pt x="88" y="181"/>
                </a:cubicBezTo>
                <a:cubicBezTo>
                  <a:pt x="91" y="175"/>
                  <a:pt x="106" y="145"/>
                  <a:pt x="116" y="188"/>
                </a:cubicBezTo>
                <a:cubicBezTo>
                  <a:pt x="150" y="188"/>
                  <a:pt x="150" y="188"/>
                  <a:pt x="150" y="188"/>
                </a:cubicBezTo>
                <a:cubicBezTo>
                  <a:pt x="149" y="185"/>
                  <a:pt x="149" y="182"/>
                  <a:pt x="149" y="178"/>
                </a:cubicBezTo>
                <a:moveTo>
                  <a:pt x="245" y="193"/>
                </a:moveTo>
                <a:cubicBezTo>
                  <a:pt x="228" y="206"/>
                  <a:pt x="207" y="203"/>
                  <a:pt x="205" y="192"/>
                </a:cubicBezTo>
                <a:cubicBezTo>
                  <a:pt x="170" y="192"/>
                  <a:pt x="170" y="192"/>
                  <a:pt x="170" y="192"/>
                </a:cubicBezTo>
                <a:cubicBezTo>
                  <a:pt x="171" y="198"/>
                  <a:pt x="172" y="204"/>
                  <a:pt x="175" y="209"/>
                </a:cubicBezTo>
                <a:cubicBezTo>
                  <a:pt x="262" y="209"/>
                  <a:pt x="262" y="209"/>
                  <a:pt x="262" y="209"/>
                </a:cubicBezTo>
                <a:cubicBezTo>
                  <a:pt x="262" y="208"/>
                  <a:pt x="263" y="208"/>
                  <a:pt x="263" y="207"/>
                </a:cubicBezTo>
                <a:cubicBezTo>
                  <a:pt x="270" y="196"/>
                  <a:pt x="256" y="185"/>
                  <a:pt x="245" y="193"/>
                </a:cubicBezTo>
                <a:moveTo>
                  <a:pt x="211" y="178"/>
                </a:moveTo>
                <a:cubicBezTo>
                  <a:pt x="218" y="170"/>
                  <a:pt x="237" y="163"/>
                  <a:pt x="254" y="150"/>
                </a:cubicBezTo>
                <a:cubicBezTo>
                  <a:pt x="271" y="137"/>
                  <a:pt x="287" y="112"/>
                  <a:pt x="269" y="89"/>
                </a:cubicBezTo>
                <a:cubicBezTo>
                  <a:pt x="244" y="61"/>
                  <a:pt x="208" y="87"/>
                  <a:pt x="190" y="114"/>
                </a:cubicBezTo>
                <a:cubicBezTo>
                  <a:pt x="180" y="129"/>
                  <a:pt x="167" y="160"/>
                  <a:pt x="169" y="188"/>
                </a:cubicBezTo>
                <a:cubicBezTo>
                  <a:pt x="169" y="188"/>
                  <a:pt x="169" y="188"/>
                  <a:pt x="169" y="188"/>
                </a:cubicBezTo>
                <a:cubicBezTo>
                  <a:pt x="206" y="188"/>
                  <a:pt x="206" y="188"/>
                  <a:pt x="206" y="188"/>
                </a:cubicBezTo>
                <a:cubicBezTo>
                  <a:pt x="206" y="185"/>
                  <a:pt x="208" y="182"/>
                  <a:pt x="211" y="178"/>
                </a:cubicBezTo>
                <a:moveTo>
                  <a:pt x="220" y="115"/>
                </a:moveTo>
                <a:cubicBezTo>
                  <a:pt x="229" y="107"/>
                  <a:pt x="243" y="100"/>
                  <a:pt x="249" y="106"/>
                </a:cubicBezTo>
                <a:cubicBezTo>
                  <a:pt x="255" y="112"/>
                  <a:pt x="246" y="126"/>
                  <a:pt x="241" y="132"/>
                </a:cubicBezTo>
                <a:cubicBezTo>
                  <a:pt x="236" y="138"/>
                  <a:pt x="218" y="150"/>
                  <a:pt x="210" y="143"/>
                </a:cubicBezTo>
                <a:cubicBezTo>
                  <a:pt x="204" y="137"/>
                  <a:pt x="212" y="123"/>
                  <a:pt x="220" y="115"/>
                </a:cubicBezTo>
                <a:moveTo>
                  <a:pt x="203" y="231"/>
                </a:moveTo>
                <a:cubicBezTo>
                  <a:pt x="228" y="234"/>
                  <a:pt x="247" y="224"/>
                  <a:pt x="257" y="214"/>
                </a:cubicBezTo>
                <a:cubicBezTo>
                  <a:pt x="177" y="214"/>
                  <a:pt x="177" y="214"/>
                  <a:pt x="177" y="214"/>
                </a:cubicBezTo>
                <a:cubicBezTo>
                  <a:pt x="184" y="224"/>
                  <a:pt x="193" y="229"/>
                  <a:pt x="203" y="231"/>
                </a:cubicBezTo>
                <a:moveTo>
                  <a:pt x="275" y="250"/>
                </a:moveTo>
                <a:cubicBezTo>
                  <a:pt x="334" y="250"/>
                  <a:pt x="334" y="250"/>
                  <a:pt x="334" y="250"/>
                </a:cubicBezTo>
                <a:cubicBezTo>
                  <a:pt x="338" y="245"/>
                  <a:pt x="341" y="241"/>
                  <a:pt x="344" y="236"/>
                </a:cubicBezTo>
                <a:cubicBezTo>
                  <a:pt x="273" y="236"/>
                  <a:pt x="273" y="236"/>
                  <a:pt x="273" y="236"/>
                </a:cubicBezTo>
                <a:cubicBezTo>
                  <a:pt x="273" y="241"/>
                  <a:pt x="274" y="246"/>
                  <a:pt x="275" y="250"/>
                </a:cubicBezTo>
                <a:moveTo>
                  <a:pt x="348" y="164"/>
                </a:moveTo>
                <a:cubicBezTo>
                  <a:pt x="349" y="169"/>
                  <a:pt x="347" y="179"/>
                  <a:pt x="343" y="188"/>
                </a:cubicBezTo>
                <a:cubicBezTo>
                  <a:pt x="385" y="188"/>
                  <a:pt x="385" y="188"/>
                  <a:pt x="385" y="188"/>
                </a:cubicBezTo>
                <a:cubicBezTo>
                  <a:pt x="382" y="166"/>
                  <a:pt x="390" y="143"/>
                  <a:pt x="376" y="135"/>
                </a:cubicBezTo>
                <a:cubicBezTo>
                  <a:pt x="331" y="110"/>
                  <a:pt x="296" y="147"/>
                  <a:pt x="281" y="188"/>
                </a:cubicBezTo>
                <a:cubicBezTo>
                  <a:pt x="308" y="188"/>
                  <a:pt x="308" y="188"/>
                  <a:pt x="308" y="188"/>
                </a:cubicBezTo>
                <a:cubicBezTo>
                  <a:pt x="316" y="167"/>
                  <a:pt x="331" y="148"/>
                  <a:pt x="348" y="164"/>
                </a:cubicBezTo>
                <a:moveTo>
                  <a:pt x="332" y="209"/>
                </a:moveTo>
                <a:cubicBezTo>
                  <a:pt x="391" y="209"/>
                  <a:pt x="391" y="209"/>
                  <a:pt x="391" y="209"/>
                </a:cubicBezTo>
                <a:cubicBezTo>
                  <a:pt x="390" y="208"/>
                  <a:pt x="390" y="206"/>
                  <a:pt x="389" y="205"/>
                </a:cubicBezTo>
                <a:cubicBezTo>
                  <a:pt x="387" y="201"/>
                  <a:pt x="386" y="196"/>
                  <a:pt x="385" y="192"/>
                </a:cubicBezTo>
                <a:cubicBezTo>
                  <a:pt x="341" y="192"/>
                  <a:pt x="341" y="192"/>
                  <a:pt x="341" y="192"/>
                </a:cubicBezTo>
                <a:cubicBezTo>
                  <a:pt x="339" y="197"/>
                  <a:pt x="335" y="203"/>
                  <a:pt x="332" y="209"/>
                </a:cubicBezTo>
                <a:moveTo>
                  <a:pt x="394" y="214"/>
                </a:moveTo>
                <a:cubicBezTo>
                  <a:pt x="329" y="214"/>
                  <a:pt x="329" y="214"/>
                  <a:pt x="329" y="214"/>
                </a:cubicBezTo>
                <a:cubicBezTo>
                  <a:pt x="324" y="221"/>
                  <a:pt x="319" y="226"/>
                  <a:pt x="315" y="229"/>
                </a:cubicBezTo>
                <a:cubicBezTo>
                  <a:pt x="348" y="229"/>
                  <a:pt x="348" y="229"/>
                  <a:pt x="348" y="229"/>
                </a:cubicBezTo>
                <a:cubicBezTo>
                  <a:pt x="350" y="224"/>
                  <a:pt x="352" y="220"/>
                  <a:pt x="353" y="216"/>
                </a:cubicBezTo>
                <a:cubicBezTo>
                  <a:pt x="355" y="221"/>
                  <a:pt x="357" y="226"/>
                  <a:pt x="359" y="229"/>
                </a:cubicBezTo>
                <a:cubicBezTo>
                  <a:pt x="404" y="229"/>
                  <a:pt x="404" y="229"/>
                  <a:pt x="404" y="229"/>
                </a:cubicBezTo>
                <a:cubicBezTo>
                  <a:pt x="400" y="223"/>
                  <a:pt x="397" y="218"/>
                  <a:pt x="394" y="214"/>
                </a:cubicBezTo>
                <a:moveTo>
                  <a:pt x="298" y="270"/>
                </a:moveTo>
                <a:cubicBezTo>
                  <a:pt x="308" y="270"/>
                  <a:pt x="317" y="266"/>
                  <a:pt x="325" y="259"/>
                </a:cubicBezTo>
                <a:cubicBezTo>
                  <a:pt x="278" y="259"/>
                  <a:pt x="278" y="259"/>
                  <a:pt x="278" y="259"/>
                </a:cubicBezTo>
                <a:cubicBezTo>
                  <a:pt x="283" y="266"/>
                  <a:pt x="289" y="270"/>
                  <a:pt x="298" y="270"/>
                </a:cubicBezTo>
                <a:moveTo>
                  <a:pt x="302" y="222"/>
                </a:moveTo>
                <a:cubicBezTo>
                  <a:pt x="302" y="220"/>
                  <a:pt x="302" y="217"/>
                  <a:pt x="302" y="214"/>
                </a:cubicBezTo>
                <a:cubicBezTo>
                  <a:pt x="274" y="214"/>
                  <a:pt x="274" y="214"/>
                  <a:pt x="274" y="214"/>
                </a:cubicBezTo>
                <a:cubicBezTo>
                  <a:pt x="273" y="219"/>
                  <a:pt x="273" y="224"/>
                  <a:pt x="273" y="229"/>
                </a:cubicBezTo>
                <a:cubicBezTo>
                  <a:pt x="305" y="229"/>
                  <a:pt x="305" y="229"/>
                  <a:pt x="305" y="229"/>
                </a:cubicBezTo>
                <a:cubicBezTo>
                  <a:pt x="304" y="228"/>
                  <a:pt x="303" y="225"/>
                  <a:pt x="302" y="222"/>
                </a:cubicBezTo>
                <a:moveTo>
                  <a:pt x="408" y="236"/>
                </a:moveTo>
                <a:cubicBezTo>
                  <a:pt x="363" y="236"/>
                  <a:pt x="363" y="236"/>
                  <a:pt x="363" y="236"/>
                </a:cubicBezTo>
                <a:cubicBezTo>
                  <a:pt x="370" y="248"/>
                  <a:pt x="378" y="251"/>
                  <a:pt x="392" y="251"/>
                </a:cubicBezTo>
                <a:cubicBezTo>
                  <a:pt x="401" y="251"/>
                  <a:pt x="409" y="245"/>
                  <a:pt x="408" y="236"/>
                </a:cubicBezTo>
                <a:moveTo>
                  <a:pt x="307" y="192"/>
                </a:moveTo>
                <a:cubicBezTo>
                  <a:pt x="280" y="192"/>
                  <a:pt x="280" y="192"/>
                  <a:pt x="280" y="192"/>
                </a:cubicBezTo>
                <a:cubicBezTo>
                  <a:pt x="278" y="197"/>
                  <a:pt x="276" y="203"/>
                  <a:pt x="275" y="209"/>
                </a:cubicBezTo>
                <a:cubicBezTo>
                  <a:pt x="303" y="209"/>
                  <a:pt x="303" y="209"/>
                  <a:pt x="303" y="209"/>
                </a:cubicBezTo>
                <a:cubicBezTo>
                  <a:pt x="304" y="204"/>
                  <a:pt x="305" y="198"/>
                  <a:pt x="307" y="192"/>
                </a:cubicBezTo>
                <a:moveTo>
                  <a:pt x="418" y="209"/>
                </a:moveTo>
                <a:cubicBezTo>
                  <a:pt x="452" y="209"/>
                  <a:pt x="452" y="209"/>
                  <a:pt x="452" y="209"/>
                </a:cubicBezTo>
                <a:cubicBezTo>
                  <a:pt x="453" y="203"/>
                  <a:pt x="454" y="197"/>
                  <a:pt x="454" y="192"/>
                </a:cubicBezTo>
                <a:cubicBezTo>
                  <a:pt x="413" y="192"/>
                  <a:pt x="413" y="192"/>
                  <a:pt x="413" y="192"/>
                </a:cubicBezTo>
                <a:cubicBezTo>
                  <a:pt x="415" y="198"/>
                  <a:pt x="416" y="204"/>
                  <a:pt x="418" y="209"/>
                </a:cubicBezTo>
                <a:moveTo>
                  <a:pt x="432" y="26"/>
                </a:moveTo>
                <a:cubicBezTo>
                  <a:pt x="404" y="26"/>
                  <a:pt x="400" y="128"/>
                  <a:pt x="413" y="188"/>
                </a:cubicBezTo>
                <a:cubicBezTo>
                  <a:pt x="454" y="188"/>
                  <a:pt x="454" y="188"/>
                  <a:pt x="454" y="188"/>
                </a:cubicBezTo>
                <a:cubicBezTo>
                  <a:pt x="454" y="187"/>
                  <a:pt x="454" y="186"/>
                  <a:pt x="454" y="185"/>
                </a:cubicBezTo>
                <a:cubicBezTo>
                  <a:pt x="456" y="151"/>
                  <a:pt x="457" y="28"/>
                  <a:pt x="432" y="26"/>
                </a:cubicBezTo>
                <a:moveTo>
                  <a:pt x="435" y="231"/>
                </a:moveTo>
                <a:cubicBezTo>
                  <a:pt x="443" y="232"/>
                  <a:pt x="448" y="224"/>
                  <a:pt x="450" y="214"/>
                </a:cubicBezTo>
                <a:cubicBezTo>
                  <a:pt x="420" y="214"/>
                  <a:pt x="420" y="214"/>
                  <a:pt x="420" y="214"/>
                </a:cubicBezTo>
                <a:cubicBezTo>
                  <a:pt x="424" y="225"/>
                  <a:pt x="429" y="231"/>
                  <a:pt x="435" y="231"/>
                </a:cubicBezTo>
                <a:moveTo>
                  <a:pt x="484" y="236"/>
                </a:moveTo>
                <a:cubicBezTo>
                  <a:pt x="486" y="241"/>
                  <a:pt x="489" y="246"/>
                  <a:pt x="491" y="250"/>
                </a:cubicBezTo>
                <a:cubicBezTo>
                  <a:pt x="559" y="250"/>
                  <a:pt x="559" y="250"/>
                  <a:pt x="559" y="250"/>
                </a:cubicBezTo>
                <a:cubicBezTo>
                  <a:pt x="563" y="245"/>
                  <a:pt x="565" y="241"/>
                  <a:pt x="566" y="236"/>
                </a:cubicBezTo>
                <a:lnTo>
                  <a:pt x="484" y="236"/>
                </a:lnTo>
                <a:close/>
                <a:moveTo>
                  <a:pt x="511" y="157"/>
                </a:moveTo>
                <a:cubicBezTo>
                  <a:pt x="516" y="152"/>
                  <a:pt x="533" y="159"/>
                  <a:pt x="549" y="158"/>
                </a:cubicBezTo>
                <a:cubicBezTo>
                  <a:pt x="565" y="158"/>
                  <a:pt x="570" y="135"/>
                  <a:pt x="552" y="130"/>
                </a:cubicBezTo>
                <a:cubicBezTo>
                  <a:pt x="537" y="127"/>
                  <a:pt x="519" y="134"/>
                  <a:pt x="514" y="127"/>
                </a:cubicBezTo>
                <a:cubicBezTo>
                  <a:pt x="510" y="120"/>
                  <a:pt x="525" y="82"/>
                  <a:pt x="513" y="78"/>
                </a:cubicBezTo>
                <a:cubicBezTo>
                  <a:pt x="488" y="71"/>
                  <a:pt x="471" y="116"/>
                  <a:pt x="472" y="181"/>
                </a:cubicBezTo>
                <a:cubicBezTo>
                  <a:pt x="472" y="183"/>
                  <a:pt x="472" y="186"/>
                  <a:pt x="472" y="188"/>
                </a:cubicBezTo>
                <a:cubicBezTo>
                  <a:pt x="506" y="188"/>
                  <a:pt x="506" y="188"/>
                  <a:pt x="506" y="188"/>
                </a:cubicBezTo>
                <a:cubicBezTo>
                  <a:pt x="505" y="175"/>
                  <a:pt x="507" y="161"/>
                  <a:pt x="511" y="157"/>
                </a:cubicBezTo>
                <a:moveTo>
                  <a:pt x="550" y="226"/>
                </a:moveTo>
                <a:cubicBezTo>
                  <a:pt x="547" y="226"/>
                  <a:pt x="544" y="228"/>
                  <a:pt x="541" y="229"/>
                </a:cubicBezTo>
                <a:cubicBezTo>
                  <a:pt x="564" y="229"/>
                  <a:pt x="564" y="229"/>
                  <a:pt x="564" y="229"/>
                </a:cubicBezTo>
                <a:cubicBezTo>
                  <a:pt x="561" y="226"/>
                  <a:pt x="555" y="225"/>
                  <a:pt x="550" y="226"/>
                </a:cubicBezTo>
                <a:moveTo>
                  <a:pt x="506" y="192"/>
                </a:moveTo>
                <a:cubicBezTo>
                  <a:pt x="472" y="192"/>
                  <a:pt x="472" y="192"/>
                  <a:pt x="472" y="192"/>
                </a:cubicBezTo>
                <a:cubicBezTo>
                  <a:pt x="473" y="198"/>
                  <a:pt x="474" y="203"/>
                  <a:pt x="475" y="209"/>
                </a:cubicBezTo>
                <a:cubicBezTo>
                  <a:pt x="509" y="209"/>
                  <a:pt x="509" y="209"/>
                  <a:pt x="509" y="209"/>
                </a:cubicBezTo>
                <a:cubicBezTo>
                  <a:pt x="507" y="203"/>
                  <a:pt x="506" y="198"/>
                  <a:pt x="506" y="192"/>
                </a:cubicBezTo>
                <a:moveTo>
                  <a:pt x="518" y="226"/>
                </a:moveTo>
                <a:cubicBezTo>
                  <a:pt x="515" y="224"/>
                  <a:pt x="513" y="219"/>
                  <a:pt x="511" y="214"/>
                </a:cubicBezTo>
                <a:cubicBezTo>
                  <a:pt x="476" y="214"/>
                  <a:pt x="476" y="214"/>
                  <a:pt x="476" y="214"/>
                </a:cubicBezTo>
                <a:cubicBezTo>
                  <a:pt x="477" y="219"/>
                  <a:pt x="479" y="224"/>
                  <a:pt x="481" y="229"/>
                </a:cubicBezTo>
                <a:cubicBezTo>
                  <a:pt x="523" y="229"/>
                  <a:pt x="523" y="229"/>
                  <a:pt x="523" y="229"/>
                </a:cubicBezTo>
                <a:cubicBezTo>
                  <a:pt x="522" y="228"/>
                  <a:pt x="520" y="227"/>
                  <a:pt x="518" y="226"/>
                </a:cubicBezTo>
                <a:moveTo>
                  <a:pt x="520" y="268"/>
                </a:moveTo>
                <a:cubicBezTo>
                  <a:pt x="529" y="269"/>
                  <a:pt x="540" y="265"/>
                  <a:pt x="549" y="259"/>
                </a:cubicBezTo>
                <a:cubicBezTo>
                  <a:pt x="499" y="259"/>
                  <a:pt x="499" y="259"/>
                  <a:pt x="499" y="259"/>
                </a:cubicBezTo>
                <a:cubicBezTo>
                  <a:pt x="505" y="264"/>
                  <a:pt x="512" y="268"/>
                  <a:pt x="520" y="268"/>
                </a:cubicBezTo>
                <a:moveTo>
                  <a:pt x="582" y="250"/>
                </a:moveTo>
                <a:cubicBezTo>
                  <a:pt x="629" y="250"/>
                  <a:pt x="629" y="250"/>
                  <a:pt x="629" y="250"/>
                </a:cubicBezTo>
                <a:cubicBezTo>
                  <a:pt x="631" y="245"/>
                  <a:pt x="632" y="241"/>
                  <a:pt x="633" y="236"/>
                </a:cubicBezTo>
                <a:cubicBezTo>
                  <a:pt x="580" y="236"/>
                  <a:pt x="580" y="236"/>
                  <a:pt x="580" y="236"/>
                </a:cubicBezTo>
                <a:cubicBezTo>
                  <a:pt x="580" y="241"/>
                  <a:pt x="581" y="246"/>
                  <a:pt x="582" y="250"/>
                </a:cubicBezTo>
                <a:moveTo>
                  <a:pt x="578" y="229"/>
                </a:moveTo>
                <a:cubicBezTo>
                  <a:pt x="635" y="229"/>
                  <a:pt x="635" y="229"/>
                  <a:pt x="635" y="229"/>
                </a:cubicBezTo>
                <a:cubicBezTo>
                  <a:pt x="637" y="224"/>
                  <a:pt x="638" y="219"/>
                  <a:pt x="640" y="214"/>
                </a:cubicBezTo>
                <a:cubicBezTo>
                  <a:pt x="576" y="214"/>
                  <a:pt x="576" y="214"/>
                  <a:pt x="576" y="214"/>
                </a:cubicBezTo>
                <a:cubicBezTo>
                  <a:pt x="577" y="220"/>
                  <a:pt x="577" y="225"/>
                  <a:pt x="578" y="229"/>
                </a:cubicBezTo>
                <a:moveTo>
                  <a:pt x="693" y="159"/>
                </a:moveTo>
                <a:cubicBezTo>
                  <a:pt x="685" y="143"/>
                  <a:pt x="663" y="145"/>
                  <a:pt x="650" y="156"/>
                </a:cubicBezTo>
                <a:cubicBezTo>
                  <a:pt x="640" y="165"/>
                  <a:pt x="632" y="178"/>
                  <a:pt x="626" y="188"/>
                </a:cubicBezTo>
                <a:cubicBezTo>
                  <a:pt x="700" y="188"/>
                  <a:pt x="700" y="188"/>
                  <a:pt x="700" y="188"/>
                </a:cubicBezTo>
                <a:cubicBezTo>
                  <a:pt x="699" y="178"/>
                  <a:pt x="698" y="167"/>
                  <a:pt x="693" y="159"/>
                </a:cubicBezTo>
                <a:moveTo>
                  <a:pt x="702" y="217"/>
                </a:moveTo>
                <a:cubicBezTo>
                  <a:pt x="702" y="216"/>
                  <a:pt x="702" y="215"/>
                  <a:pt x="702" y="214"/>
                </a:cubicBezTo>
                <a:cubicBezTo>
                  <a:pt x="663" y="214"/>
                  <a:pt x="663" y="214"/>
                  <a:pt x="663" y="214"/>
                </a:cubicBezTo>
                <a:cubicBezTo>
                  <a:pt x="664" y="219"/>
                  <a:pt x="665" y="224"/>
                  <a:pt x="666" y="229"/>
                </a:cubicBezTo>
                <a:cubicBezTo>
                  <a:pt x="704" y="229"/>
                  <a:pt x="704" y="229"/>
                  <a:pt x="704" y="229"/>
                </a:cubicBezTo>
                <a:cubicBezTo>
                  <a:pt x="703" y="225"/>
                  <a:pt x="702" y="221"/>
                  <a:pt x="702" y="217"/>
                </a:cubicBezTo>
                <a:moveTo>
                  <a:pt x="588" y="270"/>
                </a:moveTo>
                <a:cubicBezTo>
                  <a:pt x="621" y="270"/>
                  <a:pt x="621" y="270"/>
                  <a:pt x="621" y="270"/>
                </a:cubicBezTo>
                <a:cubicBezTo>
                  <a:pt x="623" y="266"/>
                  <a:pt x="625" y="263"/>
                  <a:pt x="626" y="259"/>
                </a:cubicBezTo>
                <a:cubicBezTo>
                  <a:pt x="585" y="259"/>
                  <a:pt x="585" y="259"/>
                  <a:pt x="585" y="259"/>
                </a:cubicBezTo>
                <a:cubicBezTo>
                  <a:pt x="586" y="263"/>
                  <a:pt x="587" y="267"/>
                  <a:pt x="588" y="270"/>
                </a:cubicBezTo>
                <a:moveTo>
                  <a:pt x="615" y="64"/>
                </a:moveTo>
                <a:cubicBezTo>
                  <a:pt x="574" y="48"/>
                  <a:pt x="569" y="129"/>
                  <a:pt x="573" y="188"/>
                </a:cubicBezTo>
                <a:cubicBezTo>
                  <a:pt x="611" y="188"/>
                  <a:pt x="611" y="188"/>
                  <a:pt x="611" y="188"/>
                </a:cubicBezTo>
                <a:cubicBezTo>
                  <a:pt x="613" y="156"/>
                  <a:pt x="637" y="73"/>
                  <a:pt x="615" y="64"/>
                </a:cubicBezTo>
                <a:moveTo>
                  <a:pt x="609" y="286"/>
                </a:moveTo>
                <a:cubicBezTo>
                  <a:pt x="611" y="285"/>
                  <a:pt x="613" y="283"/>
                  <a:pt x="615" y="281"/>
                </a:cubicBezTo>
                <a:cubicBezTo>
                  <a:pt x="593" y="281"/>
                  <a:pt x="593" y="281"/>
                  <a:pt x="593" y="281"/>
                </a:cubicBezTo>
                <a:cubicBezTo>
                  <a:pt x="598" y="289"/>
                  <a:pt x="604" y="291"/>
                  <a:pt x="609" y="286"/>
                </a:cubicBezTo>
                <a:moveTo>
                  <a:pt x="702" y="264"/>
                </a:moveTo>
                <a:cubicBezTo>
                  <a:pt x="704" y="262"/>
                  <a:pt x="705" y="261"/>
                  <a:pt x="706" y="259"/>
                </a:cubicBezTo>
                <a:cubicBezTo>
                  <a:pt x="678" y="259"/>
                  <a:pt x="678" y="259"/>
                  <a:pt x="678" y="259"/>
                </a:cubicBezTo>
                <a:cubicBezTo>
                  <a:pt x="683" y="266"/>
                  <a:pt x="691" y="269"/>
                  <a:pt x="702" y="264"/>
                </a:cubicBezTo>
                <a:moveTo>
                  <a:pt x="700" y="192"/>
                </a:moveTo>
                <a:cubicBezTo>
                  <a:pt x="624" y="192"/>
                  <a:pt x="624" y="192"/>
                  <a:pt x="624" y="192"/>
                </a:cubicBezTo>
                <a:cubicBezTo>
                  <a:pt x="619" y="199"/>
                  <a:pt x="616" y="203"/>
                  <a:pt x="613" y="202"/>
                </a:cubicBezTo>
                <a:cubicBezTo>
                  <a:pt x="611" y="200"/>
                  <a:pt x="610" y="197"/>
                  <a:pt x="610" y="192"/>
                </a:cubicBezTo>
                <a:cubicBezTo>
                  <a:pt x="574" y="192"/>
                  <a:pt x="574" y="192"/>
                  <a:pt x="574" y="192"/>
                </a:cubicBezTo>
                <a:cubicBezTo>
                  <a:pt x="574" y="198"/>
                  <a:pt x="575" y="203"/>
                  <a:pt x="575" y="209"/>
                </a:cubicBezTo>
                <a:cubicBezTo>
                  <a:pt x="642" y="209"/>
                  <a:pt x="642" y="209"/>
                  <a:pt x="642" y="209"/>
                </a:cubicBezTo>
                <a:cubicBezTo>
                  <a:pt x="645" y="200"/>
                  <a:pt x="648" y="194"/>
                  <a:pt x="653" y="194"/>
                </a:cubicBezTo>
                <a:cubicBezTo>
                  <a:pt x="657" y="195"/>
                  <a:pt x="659" y="200"/>
                  <a:pt x="661" y="209"/>
                </a:cubicBezTo>
                <a:cubicBezTo>
                  <a:pt x="701" y="209"/>
                  <a:pt x="701" y="209"/>
                  <a:pt x="701" y="209"/>
                </a:cubicBezTo>
                <a:cubicBezTo>
                  <a:pt x="701" y="203"/>
                  <a:pt x="701" y="198"/>
                  <a:pt x="700" y="192"/>
                </a:cubicBezTo>
                <a:moveTo>
                  <a:pt x="705" y="236"/>
                </a:moveTo>
                <a:cubicBezTo>
                  <a:pt x="668" y="236"/>
                  <a:pt x="668" y="236"/>
                  <a:pt x="668" y="236"/>
                </a:cubicBezTo>
                <a:cubicBezTo>
                  <a:pt x="669" y="241"/>
                  <a:pt x="671" y="246"/>
                  <a:pt x="672" y="250"/>
                </a:cubicBezTo>
                <a:cubicBezTo>
                  <a:pt x="707" y="250"/>
                  <a:pt x="707" y="250"/>
                  <a:pt x="707" y="250"/>
                </a:cubicBezTo>
                <a:cubicBezTo>
                  <a:pt x="707" y="246"/>
                  <a:pt x="706" y="241"/>
                  <a:pt x="705" y="236"/>
                </a:cubicBezTo>
                <a:moveTo>
                  <a:pt x="793" y="214"/>
                </a:moveTo>
                <a:cubicBezTo>
                  <a:pt x="734" y="214"/>
                  <a:pt x="734" y="214"/>
                  <a:pt x="734" y="214"/>
                </a:cubicBezTo>
                <a:cubicBezTo>
                  <a:pt x="735" y="215"/>
                  <a:pt x="735" y="216"/>
                  <a:pt x="736" y="217"/>
                </a:cubicBezTo>
                <a:cubicBezTo>
                  <a:pt x="748" y="231"/>
                  <a:pt x="778" y="235"/>
                  <a:pt x="793" y="214"/>
                </a:cubicBezTo>
                <a:moveTo>
                  <a:pt x="783" y="250"/>
                </a:moveTo>
                <a:cubicBezTo>
                  <a:pt x="816" y="250"/>
                  <a:pt x="816" y="250"/>
                  <a:pt x="816" y="250"/>
                </a:cubicBezTo>
                <a:cubicBezTo>
                  <a:pt x="818" y="245"/>
                  <a:pt x="820" y="241"/>
                  <a:pt x="821" y="236"/>
                </a:cubicBezTo>
                <a:cubicBezTo>
                  <a:pt x="790" y="236"/>
                  <a:pt x="790" y="236"/>
                  <a:pt x="790" y="236"/>
                </a:cubicBezTo>
                <a:cubicBezTo>
                  <a:pt x="788" y="241"/>
                  <a:pt x="786" y="245"/>
                  <a:pt x="783" y="250"/>
                </a:cubicBezTo>
                <a:moveTo>
                  <a:pt x="828" y="96"/>
                </a:moveTo>
                <a:cubicBezTo>
                  <a:pt x="825" y="65"/>
                  <a:pt x="795" y="73"/>
                  <a:pt x="794" y="97"/>
                </a:cubicBezTo>
                <a:cubicBezTo>
                  <a:pt x="793" y="113"/>
                  <a:pt x="789" y="175"/>
                  <a:pt x="770" y="188"/>
                </a:cubicBezTo>
                <a:cubicBezTo>
                  <a:pt x="831" y="188"/>
                  <a:pt x="831" y="188"/>
                  <a:pt x="831" y="188"/>
                </a:cubicBezTo>
                <a:cubicBezTo>
                  <a:pt x="834" y="157"/>
                  <a:pt x="832" y="123"/>
                  <a:pt x="828" y="96"/>
                </a:cubicBezTo>
                <a:moveTo>
                  <a:pt x="690" y="282"/>
                </a:moveTo>
                <a:cubicBezTo>
                  <a:pt x="685" y="284"/>
                  <a:pt x="682" y="287"/>
                  <a:pt x="680" y="290"/>
                </a:cubicBezTo>
                <a:cubicBezTo>
                  <a:pt x="786" y="290"/>
                  <a:pt x="786" y="290"/>
                  <a:pt x="786" y="290"/>
                </a:cubicBezTo>
                <a:cubicBezTo>
                  <a:pt x="789" y="287"/>
                  <a:pt x="793" y="284"/>
                  <a:pt x="796" y="281"/>
                </a:cubicBezTo>
                <a:cubicBezTo>
                  <a:pt x="747" y="281"/>
                  <a:pt x="747" y="281"/>
                  <a:pt x="747" y="281"/>
                </a:cubicBezTo>
                <a:cubicBezTo>
                  <a:pt x="724" y="289"/>
                  <a:pt x="705" y="278"/>
                  <a:pt x="690" y="282"/>
                </a:cubicBezTo>
                <a:moveTo>
                  <a:pt x="767" y="270"/>
                </a:moveTo>
                <a:cubicBezTo>
                  <a:pt x="805" y="270"/>
                  <a:pt x="805" y="270"/>
                  <a:pt x="805" y="270"/>
                </a:cubicBezTo>
                <a:cubicBezTo>
                  <a:pt x="807" y="266"/>
                  <a:pt x="809" y="263"/>
                  <a:pt x="811" y="259"/>
                </a:cubicBezTo>
                <a:cubicBezTo>
                  <a:pt x="777" y="259"/>
                  <a:pt x="777" y="259"/>
                  <a:pt x="777" y="259"/>
                </a:cubicBezTo>
                <a:cubicBezTo>
                  <a:pt x="774" y="263"/>
                  <a:pt x="770" y="267"/>
                  <a:pt x="767" y="270"/>
                </a:cubicBezTo>
                <a:moveTo>
                  <a:pt x="757" y="188"/>
                </a:moveTo>
                <a:cubicBezTo>
                  <a:pt x="743" y="174"/>
                  <a:pt x="742" y="105"/>
                  <a:pt x="715" y="110"/>
                </a:cubicBezTo>
                <a:cubicBezTo>
                  <a:pt x="699" y="114"/>
                  <a:pt x="701" y="153"/>
                  <a:pt x="718" y="188"/>
                </a:cubicBezTo>
                <a:lnTo>
                  <a:pt x="757" y="188"/>
                </a:lnTo>
                <a:close/>
                <a:moveTo>
                  <a:pt x="697" y="314"/>
                </a:moveTo>
                <a:cubicBezTo>
                  <a:pt x="724" y="315"/>
                  <a:pt x="747" y="312"/>
                  <a:pt x="764" y="304"/>
                </a:cubicBezTo>
                <a:cubicBezTo>
                  <a:pt x="680" y="304"/>
                  <a:pt x="680" y="304"/>
                  <a:pt x="680" y="304"/>
                </a:cubicBezTo>
                <a:cubicBezTo>
                  <a:pt x="683" y="309"/>
                  <a:pt x="688" y="313"/>
                  <a:pt x="697" y="314"/>
                </a:cubicBezTo>
                <a:moveTo>
                  <a:pt x="793" y="229"/>
                </a:moveTo>
                <a:cubicBezTo>
                  <a:pt x="823" y="229"/>
                  <a:pt x="823" y="229"/>
                  <a:pt x="823" y="229"/>
                </a:cubicBezTo>
                <a:cubicBezTo>
                  <a:pt x="825" y="224"/>
                  <a:pt x="826" y="219"/>
                  <a:pt x="827" y="214"/>
                </a:cubicBezTo>
                <a:cubicBezTo>
                  <a:pt x="798" y="214"/>
                  <a:pt x="798" y="214"/>
                  <a:pt x="798" y="214"/>
                </a:cubicBezTo>
                <a:cubicBezTo>
                  <a:pt x="797" y="219"/>
                  <a:pt x="795" y="224"/>
                  <a:pt x="793" y="229"/>
                </a:cubicBezTo>
                <a:moveTo>
                  <a:pt x="730" y="209"/>
                </a:moveTo>
                <a:cubicBezTo>
                  <a:pt x="796" y="209"/>
                  <a:pt x="796" y="209"/>
                  <a:pt x="796" y="209"/>
                </a:cubicBezTo>
                <a:cubicBezTo>
                  <a:pt x="798" y="206"/>
                  <a:pt x="799" y="203"/>
                  <a:pt x="800" y="200"/>
                </a:cubicBezTo>
                <a:cubicBezTo>
                  <a:pt x="800" y="203"/>
                  <a:pt x="799" y="206"/>
                  <a:pt x="799" y="209"/>
                </a:cubicBezTo>
                <a:cubicBezTo>
                  <a:pt x="828" y="209"/>
                  <a:pt x="828" y="209"/>
                  <a:pt x="828" y="209"/>
                </a:cubicBezTo>
                <a:cubicBezTo>
                  <a:pt x="829" y="203"/>
                  <a:pt x="830" y="197"/>
                  <a:pt x="831" y="192"/>
                </a:cubicBezTo>
                <a:cubicBezTo>
                  <a:pt x="720" y="192"/>
                  <a:pt x="720" y="192"/>
                  <a:pt x="720" y="192"/>
                </a:cubicBezTo>
                <a:cubicBezTo>
                  <a:pt x="723" y="198"/>
                  <a:pt x="726" y="203"/>
                  <a:pt x="730" y="209"/>
                </a:cubicBezTo>
                <a:moveTo>
                  <a:pt x="1057" y="230"/>
                </a:moveTo>
                <a:cubicBezTo>
                  <a:pt x="1122" y="230"/>
                  <a:pt x="1122" y="230"/>
                  <a:pt x="1122" y="230"/>
                </a:cubicBezTo>
                <a:cubicBezTo>
                  <a:pt x="1124" y="225"/>
                  <a:pt x="1125" y="220"/>
                  <a:pt x="1127" y="215"/>
                </a:cubicBezTo>
                <a:cubicBezTo>
                  <a:pt x="1054" y="215"/>
                  <a:pt x="1054" y="215"/>
                  <a:pt x="1054" y="215"/>
                </a:cubicBezTo>
                <a:cubicBezTo>
                  <a:pt x="1055" y="220"/>
                  <a:pt x="1056" y="225"/>
                  <a:pt x="1057" y="230"/>
                </a:cubicBezTo>
                <a:moveTo>
                  <a:pt x="1082" y="201"/>
                </a:moveTo>
                <a:cubicBezTo>
                  <a:pt x="1078" y="201"/>
                  <a:pt x="1076" y="198"/>
                  <a:pt x="1074" y="192"/>
                </a:cubicBezTo>
                <a:cubicBezTo>
                  <a:pt x="1050" y="192"/>
                  <a:pt x="1050" y="192"/>
                  <a:pt x="1050" y="192"/>
                </a:cubicBezTo>
                <a:cubicBezTo>
                  <a:pt x="1051" y="197"/>
                  <a:pt x="1052" y="203"/>
                  <a:pt x="1053" y="209"/>
                </a:cubicBezTo>
                <a:cubicBezTo>
                  <a:pt x="1128" y="209"/>
                  <a:pt x="1128" y="209"/>
                  <a:pt x="1128" y="209"/>
                </a:cubicBezTo>
                <a:cubicBezTo>
                  <a:pt x="1129" y="204"/>
                  <a:pt x="1131" y="198"/>
                  <a:pt x="1132" y="192"/>
                </a:cubicBezTo>
                <a:cubicBezTo>
                  <a:pt x="1094" y="192"/>
                  <a:pt x="1094" y="192"/>
                  <a:pt x="1094" y="192"/>
                </a:cubicBezTo>
                <a:cubicBezTo>
                  <a:pt x="1091" y="198"/>
                  <a:pt x="1087" y="201"/>
                  <a:pt x="1082" y="201"/>
                </a:cubicBezTo>
                <a:moveTo>
                  <a:pt x="1063" y="250"/>
                </a:moveTo>
                <a:cubicBezTo>
                  <a:pt x="1114" y="250"/>
                  <a:pt x="1114" y="250"/>
                  <a:pt x="1114" y="250"/>
                </a:cubicBezTo>
                <a:cubicBezTo>
                  <a:pt x="1116" y="246"/>
                  <a:pt x="1118" y="242"/>
                  <a:pt x="1120" y="237"/>
                </a:cubicBezTo>
                <a:cubicBezTo>
                  <a:pt x="1059" y="237"/>
                  <a:pt x="1059" y="237"/>
                  <a:pt x="1059" y="237"/>
                </a:cubicBezTo>
                <a:cubicBezTo>
                  <a:pt x="1060" y="242"/>
                  <a:pt x="1061" y="246"/>
                  <a:pt x="1063" y="250"/>
                </a:cubicBezTo>
                <a:moveTo>
                  <a:pt x="1156" y="81"/>
                </a:moveTo>
                <a:cubicBezTo>
                  <a:pt x="1141" y="75"/>
                  <a:pt x="1131" y="83"/>
                  <a:pt x="1120" y="99"/>
                </a:cubicBezTo>
                <a:cubicBezTo>
                  <a:pt x="1104" y="124"/>
                  <a:pt x="1104" y="168"/>
                  <a:pt x="1096" y="189"/>
                </a:cubicBezTo>
                <a:cubicBezTo>
                  <a:pt x="1133" y="189"/>
                  <a:pt x="1133" y="189"/>
                  <a:pt x="1133" y="189"/>
                </a:cubicBezTo>
                <a:cubicBezTo>
                  <a:pt x="1136" y="175"/>
                  <a:pt x="1140" y="161"/>
                  <a:pt x="1145" y="149"/>
                </a:cubicBezTo>
                <a:cubicBezTo>
                  <a:pt x="1159" y="112"/>
                  <a:pt x="1173" y="88"/>
                  <a:pt x="1156" y="81"/>
                </a:cubicBezTo>
                <a:moveTo>
                  <a:pt x="975" y="229"/>
                </a:moveTo>
                <a:cubicBezTo>
                  <a:pt x="994" y="231"/>
                  <a:pt x="1006" y="224"/>
                  <a:pt x="1015" y="215"/>
                </a:cubicBezTo>
                <a:cubicBezTo>
                  <a:pt x="952" y="215"/>
                  <a:pt x="952" y="215"/>
                  <a:pt x="952" y="215"/>
                </a:cubicBezTo>
                <a:cubicBezTo>
                  <a:pt x="957" y="222"/>
                  <a:pt x="965" y="228"/>
                  <a:pt x="975" y="229"/>
                </a:cubicBezTo>
                <a:moveTo>
                  <a:pt x="948" y="209"/>
                </a:moveTo>
                <a:cubicBezTo>
                  <a:pt x="1019" y="209"/>
                  <a:pt x="1019" y="209"/>
                  <a:pt x="1019" y="209"/>
                </a:cubicBezTo>
                <a:cubicBezTo>
                  <a:pt x="1024" y="204"/>
                  <a:pt x="1027" y="197"/>
                  <a:pt x="1031" y="192"/>
                </a:cubicBezTo>
                <a:cubicBezTo>
                  <a:pt x="941" y="192"/>
                  <a:pt x="941" y="192"/>
                  <a:pt x="941" y="192"/>
                </a:cubicBezTo>
                <a:cubicBezTo>
                  <a:pt x="943" y="199"/>
                  <a:pt x="945" y="204"/>
                  <a:pt x="948" y="209"/>
                </a:cubicBezTo>
                <a:moveTo>
                  <a:pt x="1092" y="271"/>
                </a:moveTo>
                <a:cubicBezTo>
                  <a:pt x="1099" y="270"/>
                  <a:pt x="1104" y="265"/>
                  <a:pt x="1109" y="259"/>
                </a:cubicBezTo>
                <a:cubicBezTo>
                  <a:pt x="1067" y="259"/>
                  <a:pt x="1067" y="259"/>
                  <a:pt x="1067" y="259"/>
                </a:cubicBezTo>
                <a:cubicBezTo>
                  <a:pt x="1073" y="268"/>
                  <a:pt x="1081" y="273"/>
                  <a:pt x="1092" y="271"/>
                </a:cubicBezTo>
                <a:moveTo>
                  <a:pt x="1044" y="122"/>
                </a:moveTo>
                <a:cubicBezTo>
                  <a:pt x="1020" y="124"/>
                  <a:pt x="1004" y="181"/>
                  <a:pt x="984" y="178"/>
                </a:cubicBezTo>
                <a:cubicBezTo>
                  <a:pt x="954" y="174"/>
                  <a:pt x="989" y="97"/>
                  <a:pt x="963" y="70"/>
                </a:cubicBezTo>
                <a:cubicBezTo>
                  <a:pt x="941" y="48"/>
                  <a:pt x="913" y="63"/>
                  <a:pt x="924" y="106"/>
                </a:cubicBezTo>
                <a:cubicBezTo>
                  <a:pt x="931" y="133"/>
                  <a:pt x="933" y="165"/>
                  <a:pt x="940" y="189"/>
                </a:cubicBezTo>
                <a:cubicBezTo>
                  <a:pt x="1033" y="189"/>
                  <a:pt x="1033" y="189"/>
                  <a:pt x="1033" y="189"/>
                </a:cubicBezTo>
                <a:cubicBezTo>
                  <a:pt x="1036" y="183"/>
                  <a:pt x="1040" y="180"/>
                  <a:pt x="1044" y="181"/>
                </a:cubicBezTo>
                <a:cubicBezTo>
                  <a:pt x="1046" y="181"/>
                  <a:pt x="1048" y="184"/>
                  <a:pt x="1049" y="189"/>
                </a:cubicBezTo>
                <a:cubicBezTo>
                  <a:pt x="1074" y="189"/>
                  <a:pt x="1074" y="189"/>
                  <a:pt x="1074" y="189"/>
                </a:cubicBezTo>
                <a:cubicBezTo>
                  <a:pt x="1069" y="166"/>
                  <a:pt x="1071" y="120"/>
                  <a:pt x="1044" y="122"/>
                </a:cubicBezTo>
                <a:moveTo>
                  <a:pt x="1257" y="215"/>
                </a:moveTo>
                <a:cubicBezTo>
                  <a:pt x="1197" y="215"/>
                  <a:pt x="1197" y="215"/>
                  <a:pt x="1197" y="215"/>
                </a:cubicBezTo>
                <a:cubicBezTo>
                  <a:pt x="1193" y="221"/>
                  <a:pt x="1189" y="226"/>
                  <a:pt x="1185" y="230"/>
                </a:cubicBezTo>
                <a:cubicBezTo>
                  <a:pt x="1215" y="230"/>
                  <a:pt x="1215" y="230"/>
                  <a:pt x="1215" y="230"/>
                </a:cubicBezTo>
                <a:cubicBezTo>
                  <a:pt x="1217" y="226"/>
                  <a:pt x="1218" y="223"/>
                  <a:pt x="1219" y="221"/>
                </a:cubicBezTo>
                <a:cubicBezTo>
                  <a:pt x="1220" y="224"/>
                  <a:pt x="1222" y="227"/>
                  <a:pt x="1223" y="230"/>
                </a:cubicBezTo>
                <a:cubicBezTo>
                  <a:pt x="1267" y="230"/>
                  <a:pt x="1267" y="230"/>
                  <a:pt x="1267" y="230"/>
                </a:cubicBezTo>
                <a:cubicBezTo>
                  <a:pt x="1263" y="223"/>
                  <a:pt x="1260" y="219"/>
                  <a:pt x="1257" y="215"/>
                </a:cubicBezTo>
                <a:moveTo>
                  <a:pt x="1168" y="226"/>
                </a:moveTo>
                <a:cubicBezTo>
                  <a:pt x="1168" y="223"/>
                  <a:pt x="1168" y="219"/>
                  <a:pt x="1168" y="215"/>
                </a:cubicBezTo>
                <a:cubicBezTo>
                  <a:pt x="1142" y="215"/>
                  <a:pt x="1142" y="215"/>
                  <a:pt x="1142" y="215"/>
                </a:cubicBezTo>
                <a:cubicBezTo>
                  <a:pt x="1141" y="220"/>
                  <a:pt x="1140" y="225"/>
                  <a:pt x="1139" y="230"/>
                </a:cubicBezTo>
                <a:cubicBezTo>
                  <a:pt x="1169" y="230"/>
                  <a:pt x="1169" y="230"/>
                  <a:pt x="1169" y="230"/>
                </a:cubicBezTo>
                <a:cubicBezTo>
                  <a:pt x="1169" y="229"/>
                  <a:pt x="1168" y="227"/>
                  <a:pt x="1168" y="226"/>
                </a:cubicBezTo>
                <a:moveTo>
                  <a:pt x="1174" y="192"/>
                </a:moveTo>
                <a:cubicBezTo>
                  <a:pt x="1148" y="192"/>
                  <a:pt x="1148" y="192"/>
                  <a:pt x="1148" y="192"/>
                </a:cubicBezTo>
                <a:cubicBezTo>
                  <a:pt x="1146" y="198"/>
                  <a:pt x="1144" y="204"/>
                  <a:pt x="1143" y="209"/>
                </a:cubicBezTo>
                <a:cubicBezTo>
                  <a:pt x="1169" y="209"/>
                  <a:pt x="1169" y="209"/>
                  <a:pt x="1169" y="209"/>
                </a:cubicBezTo>
                <a:cubicBezTo>
                  <a:pt x="1170" y="204"/>
                  <a:pt x="1172" y="198"/>
                  <a:pt x="1174" y="192"/>
                </a:cubicBezTo>
                <a:moveTo>
                  <a:pt x="1213" y="169"/>
                </a:moveTo>
                <a:cubicBezTo>
                  <a:pt x="1214" y="173"/>
                  <a:pt x="1213" y="181"/>
                  <a:pt x="1210" y="189"/>
                </a:cubicBezTo>
                <a:cubicBezTo>
                  <a:pt x="1250" y="189"/>
                  <a:pt x="1250" y="189"/>
                  <a:pt x="1250" y="189"/>
                </a:cubicBezTo>
                <a:cubicBezTo>
                  <a:pt x="1248" y="168"/>
                  <a:pt x="1255" y="147"/>
                  <a:pt x="1241" y="139"/>
                </a:cubicBezTo>
                <a:cubicBezTo>
                  <a:pt x="1200" y="113"/>
                  <a:pt x="1165" y="148"/>
                  <a:pt x="1149" y="189"/>
                </a:cubicBezTo>
                <a:cubicBezTo>
                  <a:pt x="1175" y="189"/>
                  <a:pt x="1175" y="189"/>
                  <a:pt x="1175" y="189"/>
                </a:cubicBezTo>
                <a:cubicBezTo>
                  <a:pt x="1183" y="169"/>
                  <a:pt x="1197" y="153"/>
                  <a:pt x="1213" y="169"/>
                </a:cubicBezTo>
                <a:moveTo>
                  <a:pt x="1164" y="275"/>
                </a:moveTo>
                <a:cubicBezTo>
                  <a:pt x="1175" y="275"/>
                  <a:pt x="1186" y="268"/>
                  <a:pt x="1195" y="259"/>
                </a:cubicBezTo>
                <a:cubicBezTo>
                  <a:pt x="1143" y="259"/>
                  <a:pt x="1143" y="259"/>
                  <a:pt x="1143" y="259"/>
                </a:cubicBezTo>
                <a:cubicBezTo>
                  <a:pt x="1146" y="269"/>
                  <a:pt x="1153" y="275"/>
                  <a:pt x="1164" y="275"/>
                </a:cubicBezTo>
                <a:moveTo>
                  <a:pt x="1272" y="237"/>
                </a:moveTo>
                <a:cubicBezTo>
                  <a:pt x="1226" y="237"/>
                  <a:pt x="1226" y="237"/>
                  <a:pt x="1226" y="237"/>
                </a:cubicBezTo>
                <a:cubicBezTo>
                  <a:pt x="1234" y="252"/>
                  <a:pt x="1243" y="255"/>
                  <a:pt x="1258" y="255"/>
                </a:cubicBezTo>
                <a:cubicBezTo>
                  <a:pt x="1268" y="255"/>
                  <a:pt x="1277" y="247"/>
                  <a:pt x="1272" y="237"/>
                </a:cubicBezTo>
                <a:moveTo>
                  <a:pt x="1140" y="250"/>
                </a:moveTo>
                <a:cubicBezTo>
                  <a:pt x="1203" y="250"/>
                  <a:pt x="1203" y="250"/>
                  <a:pt x="1203" y="250"/>
                </a:cubicBezTo>
                <a:cubicBezTo>
                  <a:pt x="1206" y="246"/>
                  <a:pt x="1209" y="241"/>
                  <a:pt x="1211" y="237"/>
                </a:cubicBezTo>
                <a:cubicBezTo>
                  <a:pt x="1139" y="237"/>
                  <a:pt x="1139" y="237"/>
                  <a:pt x="1139" y="237"/>
                </a:cubicBezTo>
                <a:cubicBezTo>
                  <a:pt x="1139" y="242"/>
                  <a:pt x="1139" y="246"/>
                  <a:pt x="1140" y="250"/>
                </a:cubicBezTo>
                <a:moveTo>
                  <a:pt x="1200" y="209"/>
                </a:moveTo>
                <a:cubicBezTo>
                  <a:pt x="1255" y="209"/>
                  <a:pt x="1255" y="209"/>
                  <a:pt x="1255" y="209"/>
                </a:cubicBezTo>
                <a:cubicBezTo>
                  <a:pt x="1252" y="204"/>
                  <a:pt x="1251" y="198"/>
                  <a:pt x="1250" y="192"/>
                </a:cubicBezTo>
                <a:cubicBezTo>
                  <a:pt x="1208" y="192"/>
                  <a:pt x="1208" y="192"/>
                  <a:pt x="1208" y="192"/>
                </a:cubicBezTo>
                <a:cubicBezTo>
                  <a:pt x="1206" y="198"/>
                  <a:pt x="1203" y="204"/>
                  <a:pt x="1200" y="209"/>
                </a:cubicBezTo>
                <a:moveTo>
                  <a:pt x="1336" y="228"/>
                </a:moveTo>
                <a:cubicBezTo>
                  <a:pt x="1332" y="224"/>
                  <a:pt x="1329" y="220"/>
                  <a:pt x="1326" y="215"/>
                </a:cubicBezTo>
                <a:cubicBezTo>
                  <a:pt x="1288" y="215"/>
                  <a:pt x="1288" y="215"/>
                  <a:pt x="1288" y="215"/>
                </a:cubicBezTo>
                <a:cubicBezTo>
                  <a:pt x="1289" y="220"/>
                  <a:pt x="1291" y="225"/>
                  <a:pt x="1292" y="230"/>
                </a:cubicBezTo>
                <a:cubicBezTo>
                  <a:pt x="1338" y="230"/>
                  <a:pt x="1338" y="230"/>
                  <a:pt x="1338" y="230"/>
                </a:cubicBezTo>
                <a:cubicBezTo>
                  <a:pt x="1337" y="229"/>
                  <a:pt x="1336" y="228"/>
                  <a:pt x="1336" y="228"/>
                </a:cubicBezTo>
                <a:moveTo>
                  <a:pt x="1349" y="237"/>
                </a:moveTo>
                <a:cubicBezTo>
                  <a:pt x="1295" y="237"/>
                  <a:pt x="1295" y="237"/>
                  <a:pt x="1295" y="237"/>
                </a:cubicBezTo>
                <a:cubicBezTo>
                  <a:pt x="1297" y="242"/>
                  <a:pt x="1300" y="246"/>
                  <a:pt x="1303" y="250"/>
                </a:cubicBezTo>
                <a:cubicBezTo>
                  <a:pt x="1367" y="250"/>
                  <a:pt x="1367" y="250"/>
                  <a:pt x="1367" y="250"/>
                </a:cubicBezTo>
                <a:cubicBezTo>
                  <a:pt x="1363" y="242"/>
                  <a:pt x="1357" y="241"/>
                  <a:pt x="1349" y="237"/>
                </a:cubicBezTo>
                <a:moveTo>
                  <a:pt x="1380" y="110"/>
                </a:moveTo>
                <a:cubicBezTo>
                  <a:pt x="1368" y="108"/>
                  <a:pt x="1340" y="112"/>
                  <a:pt x="1338" y="101"/>
                </a:cubicBezTo>
                <a:cubicBezTo>
                  <a:pt x="1336" y="92"/>
                  <a:pt x="1355" y="58"/>
                  <a:pt x="1329" y="58"/>
                </a:cubicBezTo>
                <a:cubicBezTo>
                  <a:pt x="1311" y="58"/>
                  <a:pt x="1282" y="103"/>
                  <a:pt x="1284" y="173"/>
                </a:cubicBezTo>
                <a:cubicBezTo>
                  <a:pt x="1284" y="178"/>
                  <a:pt x="1284" y="184"/>
                  <a:pt x="1285" y="189"/>
                </a:cubicBezTo>
                <a:cubicBezTo>
                  <a:pt x="1319" y="189"/>
                  <a:pt x="1319" y="189"/>
                  <a:pt x="1319" y="189"/>
                </a:cubicBezTo>
                <a:cubicBezTo>
                  <a:pt x="1316" y="168"/>
                  <a:pt x="1320" y="146"/>
                  <a:pt x="1332" y="137"/>
                </a:cubicBezTo>
                <a:cubicBezTo>
                  <a:pt x="1342" y="130"/>
                  <a:pt x="1358" y="138"/>
                  <a:pt x="1376" y="138"/>
                </a:cubicBezTo>
                <a:cubicBezTo>
                  <a:pt x="1393" y="139"/>
                  <a:pt x="1399" y="113"/>
                  <a:pt x="1380" y="110"/>
                </a:cubicBezTo>
                <a:moveTo>
                  <a:pt x="1330" y="268"/>
                </a:moveTo>
                <a:cubicBezTo>
                  <a:pt x="1355" y="275"/>
                  <a:pt x="1366" y="268"/>
                  <a:pt x="1368" y="259"/>
                </a:cubicBezTo>
                <a:cubicBezTo>
                  <a:pt x="1312" y="259"/>
                  <a:pt x="1312" y="259"/>
                  <a:pt x="1312" y="259"/>
                </a:cubicBezTo>
                <a:cubicBezTo>
                  <a:pt x="1317" y="263"/>
                  <a:pt x="1323" y="266"/>
                  <a:pt x="1330" y="268"/>
                </a:cubicBezTo>
                <a:moveTo>
                  <a:pt x="1319" y="192"/>
                </a:moveTo>
                <a:cubicBezTo>
                  <a:pt x="1285" y="192"/>
                  <a:pt x="1285" y="192"/>
                  <a:pt x="1285" y="192"/>
                </a:cubicBezTo>
                <a:cubicBezTo>
                  <a:pt x="1286" y="198"/>
                  <a:pt x="1286" y="204"/>
                  <a:pt x="1287" y="209"/>
                </a:cubicBezTo>
                <a:cubicBezTo>
                  <a:pt x="1324" y="209"/>
                  <a:pt x="1324" y="209"/>
                  <a:pt x="1324" y="209"/>
                </a:cubicBezTo>
                <a:cubicBezTo>
                  <a:pt x="1322" y="204"/>
                  <a:pt x="1320" y="198"/>
                  <a:pt x="1319" y="192"/>
                </a:cubicBezTo>
                <a:moveTo>
                  <a:pt x="1411" y="204"/>
                </a:moveTo>
                <a:cubicBezTo>
                  <a:pt x="1420" y="197"/>
                  <a:pt x="1433" y="204"/>
                  <a:pt x="1452" y="200"/>
                </a:cubicBezTo>
                <a:cubicBezTo>
                  <a:pt x="1460" y="199"/>
                  <a:pt x="1466" y="196"/>
                  <a:pt x="1472" y="192"/>
                </a:cubicBezTo>
                <a:cubicBezTo>
                  <a:pt x="1375" y="192"/>
                  <a:pt x="1375" y="192"/>
                  <a:pt x="1375" y="192"/>
                </a:cubicBezTo>
                <a:cubicBezTo>
                  <a:pt x="1374" y="198"/>
                  <a:pt x="1374" y="204"/>
                  <a:pt x="1374" y="209"/>
                </a:cubicBezTo>
                <a:cubicBezTo>
                  <a:pt x="1406" y="209"/>
                  <a:pt x="1406" y="209"/>
                  <a:pt x="1406" y="209"/>
                </a:cubicBezTo>
                <a:cubicBezTo>
                  <a:pt x="1407" y="207"/>
                  <a:pt x="1409" y="205"/>
                  <a:pt x="1411" y="204"/>
                </a:cubicBezTo>
                <a:moveTo>
                  <a:pt x="1487" y="178"/>
                </a:moveTo>
                <a:cubicBezTo>
                  <a:pt x="1510" y="150"/>
                  <a:pt x="1482" y="112"/>
                  <a:pt x="1450" y="115"/>
                </a:cubicBezTo>
                <a:cubicBezTo>
                  <a:pt x="1410" y="119"/>
                  <a:pt x="1382" y="153"/>
                  <a:pt x="1375" y="189"/>
                </a:cubicBezTo>
                <a:cubicBezTo>
                  <a:pt x="1476" y="189"/>
                  <a:pt x="1476" y="189"/>
                  <a:pt x="1476" y="189"/>
                </a:cubicBezTo>
                <a:cubicBezTo>
                  <a:pt x="1480" y="186"/>
                  <a:pt x="1483" y="182"/>
                  <a:pt x="1487" y="178"/>
                </a:cubicBezTo>
                <a:moveTo>
                  <a:pt x="1447" y="177"/>
                </a:moveTo>
                <a:cubicBezTo>
                  <a:pt x="1434" y="183"/>
                  <a:pt x="1412" y="185"/>
                  <a:pt x="1410" y="173"/>
                </a:cubicBezTo>
                <a:cubicBezTo>
                  <a:pt x="1407" y="154"/>
                  <a:pt x="1463" y="136"/>
                  <a:pt x="1466" y="154"/>
                </a:cubicBezTo>
                <a:cubicBezTo>
                  <a:pt x="1468" y="162"/>
                  <a:pt x="1459" y="173"/>
                  <a:pt x="1447" y="177"/>
                </a:cubicBezTo>
                <a:moveTo>
                  <a:pt x="1404" y="215"/>
                </a:moveTo>
                <a:cubicBezTo>
                  <a:pt x="1374" y="215"/>
                  <a:pt x="1374" y="215"/>
                  <a:pt x="1374" y="215"/>
                </a:cubicBezTo>
                <a:cubicBezTo>
                  <a:pt x="1375" y="220"/>
                  <a:pt x="1376" y="225"/>
                  <a:pt x="1377" y="230"/>
                </a:cubicBezTo>
                <a:cubicBezTo>
                  <a:pt x="1407" y="230"/>
                  <a:pt x="1407" y="230"/>
                  <a:pt x="1407" y="230"/>
                </a:cubicBezTo>
                <a:cubicBezTo>
                  <a:pt x="1404" y="225"/>
                  <a:pt x="1403" y="220"/>
                  <a:pt x="1404" y="215"/>
                </a:cubicBezTo>
                <a:moveTo>
                  <a:pt x="1450" y="272"/>
                </a:moveTo>
                <a:cubicBezTo>
                  <a:pt x="1456" y="271"/>
                  <a:pt x="1469" y="266"/>
                  <a:pt x="1480" y="259"/>
                </a:cubicBezTo>
                <a:cubicBezTo>
                  <a:pt x="1397" y="259"/>
                  <a:pt x="1397" y="259"/>
                  <a:pt x="1397" y="259"/>
                </a:cubicBezTo>
                <a:cubicBezTo>
                  <a:pt x="1412" y="271"/>
                  <a:pt x="1433" y="276"/>
                  <a:pt x="1450" y="272"/>
                </a:cubicBezTo>
                <a:moveTo>
                  <a:pt x="1477" y="220"/>
                </a:moveTo>
                <a:cubicBezTo>
                  <a:pt x="1472" y="222"/>
                  <a:pt x="1468" y="226"/>
                  <a:pt x="1463" y="230"/>
                </a:cubicBezTo>
                <a:cubicBezTo>
                  <a:pt x="1498" y="230"/>
                  <a:pt x="1498" y="230"/>
                  <a:pt x="1498" y="230"/>
                </a:cubicBezTo>
                <a:cubicBezTo>
                  <a:pt x="1494" y="220"/>
                  <a:pt x="1486" y="217"/>
                  <a:pt x="1477" y="220"/>
                </a:cubicBezTo>
                <a:moveTo>
                  <a:pt x="1452" y="237"/>
                </a:moveTo>
                <a:cubicBezTo>
                  <a:pt x="1449" y="238"/>
                  <a:pt x="1446" y="239"/>
                  <a:pt x="1442" y="239"/>
                </a:cubicBezTo>
                <a:cubicBezTo>
                  <a:pt x="1434" y="240"/>
                  <a:pt x="1424" y="240"/>
                  <a:pt x="1416" y="237"/>
                </a:cubicBezTo>
                <a:cubicBezTo>
                  <a:pt x="1380" y="237"/>
                  <a:pt x="1380" y="237"/>
                  <a:pt x="1380" y="237"/>
                </a:cubicBezTo>
                <a:cubicBezTo>
                  <a:pt x="1382" y="242"/>
                  <a:pt x="1385" y="246"/>
                  <a:pt x="1388" y="250"/>
                </a:cubicBezTo>
                <a:cubicBezTo>
                  <a:pt x="1492" y="250"/>
                  <a:pt x="1492" y="250"/>
                  <a:pt x="1492" y="250"/>
                </a:cubicBezTo>
                <a:cubicBezTo>
                  <a:pt x="1496" y="246"/>
                  <a:pt x="1499" y="242"/>
                  <a:pt x="1499" y="237"/>
                </a:cubicBezTo>
                <a:lnTo>
                  <a:pt x="1452" y="237"/>
                </a:lnTo>
                <a:close/>
                <a:moveTo>
                  <a:pt x="1508" y="124"/>
                </a:moveTo>
                <a:cubicBezTo>
                  <a:pt x="1506" y="134"/>
                  <a:pt x="1507" y="163"/>
                  <a:pt x="1512" y="189"/>
                </a:cubicBezTo>
                <a:cubicBezTo>
                  <a:pt x="1555" y="189"/>
                  <a:pt x="1555" y="189"/>
                  <a:pt x="1555" y="189"/>
                </a:cubicBezTo>
                <a:cubicBezTo>
                  <a:pt x="1549" y="172"/>
                  <a:pt x="1538" y="160"/>
                  <a:pt x="1539" y="141"/>
                </a:cubicBezTo>
                <a:cubicBezTo>
                  <a:pt x="1542" y="73"/>
                  <a:pt x="1608" y="154"/>
                  <a:pt x="1613" y="109"/>
                </a:cubicBezTo>
                <a:cubicBezTo>
                  <a:pt x="1619" y="61"/>
                  <a:pt x="1518" y="71"/>
                  <a:pt x="1508" y="124"/>
                </a:cubicBezTo>
                <a:moveTo>
                  <a:pt x="1539" y="235"/>
                </a:moveTo>
                <a:cubicBezTo>
                  <a:pt x="1555" y="236"/>
                  <a:pt x="1558" y="227"/>
                  <a:pt x="1559" y="215"/>
                </a:cubicBezTo>
                <a:cubicBezTo>
                  <a:pt x="1519" y="215"/>
                  <a:pt x="1519" y="215"/>
                  <a:pt x="1519" y="215"/>
                </a:cubicBezTo>
                <a:cubicBezTo>
                  <a:pt x="1524" y="227"/>
                  <a:pt x="1530" y="235"/>
                  <a:pt x="1539" y="235"/>
                </a:cubicBezTo>
                <a:moveTo>
                  <a:pt x="1558" y="205"/>
                </a:moveTo>
                <a:cubicBezTo>
                  <a:pt x="1558" y="200"/>
                  <a:pt x="1557" y="196"/>
                  <a:pt x="1556" y="192"/>
                </a:cubicBezTo>
                <a:cubicBezTo>
                  <a:pt x="1512" y="192"/>
                  <a:pt x="1512" y="192"/>
                  <a:pt x="1512" y="192"/>
                </a:cubicBezTo>
                <a:cubicBezTo>
                  <a:pt x="1513" y="198"/>
                  <a:pt x="1515" y="204"/>
                  <a:pt x="1517" y="209"/>
                </a:cubicBezTo>
                <a:cubicBezTo>
                  <a:pt x="1558" y="209"/>
                  <a:pt x="1558" y="209"/>
                  <a:pt x="1558" y="209"/>
                </a:cubicBezTo>
                <a:cubicBezTo>
                  <a:pt x="1558" y="208"/>
                  <a:pt x="1558" y="206"/>
                  <a:pt x="1558" y="205"/>
                </a:cubicBezTo>
                <a:moveTo>
                  <a:pt x="1591" y="209"/>
                </a:moveTo>
                <a:cubicBezTo>
                  <a:pt x="1672" y="209"/>
                  <a:pt x="1672" y="209"/>
                  <a:pt x="1672" y="209"/>
                </a:cubicBezTo>
                <a:cubicBezTo>
                  <a:pt x="1675" y="203"/>
                  <a:pt x="1678" y="197"/>
                  <a:pt x="1681" y="192"/>
                </a:cubicBezTo>
                <a:cubicBezTo>
                  <a:pt x="1585" y="192"/>
                  <a:pt x="1585" y="192"/>
                  <a:pt x="1585" y="192"/>
                </a:cubicBezTo>
                <a:cubicBezTo>
                  <a:pt x="1586" y="198"/>
                  <a:pt x="1589" y="204"/>
                  <a:pt x="1591" y="209"/>
                </a:cubicBezTo>
                <a:moveTo>
                  <a:pt x="1603" y="230"/>
                </a:moveTo>
                <a:cubicBezTo>
                  <a:pt x="1659" y="230"/>
                  <a:pt x="1659" y="230"/>
                  <a:pt x="1659" y="230"/>
                </a:cubicBezTo>
                <a:cubicBezTo>
                  <a:pt x="1663" y="225"/>
                  <a:pt x="1666" y="220"/>
                  <a:pt x="1669" y="215"/>
                </a:cubicBezTo>
                <a:cubicBezTo>
                  <a:pt x="1594" y="215"/>
                  <a:pt x="1594" y="215"/>
                  <a:pt x="1594" y="215"/>
                </a:cubicBezTo>
                <a:cubicBezTo>
                  <a:pt x="1597" y="220"/>
                  <a:pt x="1600" y="225"/>
                  <a:pt x="1603" y="230"/>
                </a:cubicBezTo>
                <a:moveTo>
                  <a:pt x="1771" y="100"/>
                </a:moveTo>
                <a:cubicBezTo>
                  <a:pt x="1749" y="122"/>
                  <a:pt x="1773" y="183"/>
                  <a:pt x="1740" y="185"/>
                </a:cubicBezTo>
                <a:cubicBezTo>
                  <a:pt x="1720" y="187"/>
                  <a:pt x="1719" y="138"/>
                  <a:pt x="1698" y="133"/>
                </a:cubicBezTo>
                <a:cubicBezTo>
                  <a:pt x="1668" y="126"/>
                  <a:pt x="1661" y="182"/>
                  <a:pt x="1643" y="189"/>
                </a:cubicBezTo>
                <a:cubicBezTo>
                  <a:pt x="1683" y="189"/>
                  <a:pt x="1683" y="189"/>
                  <a:pt x="1683" y="189"/>
                </a:cubicBezTo>
                <a:cubicBezTo>
                  <a:pt x="1686" y="184"/>
                  <a:pt x="1689" y="181"/>
                  <a:pt x="1692" y="181"/>
                </a:cubicBezTo>
                <a:cubicBezTo>
                  <a:pt x="1696" y="180"/>
                  <a:pt x="1698" y="184"/>
                  <a:pt x="1699" y="189"/>
                </a:cubicBezTo>
                <a:cubicBezTo>
                  <a:pt x="1782" y="189"/>
                  <a:pt x="1782" y="189"/>
                  <a:pt x="1782" y="189"/>
                </a:cubicBezTo>
                <a:cubicBezTo>
                  <a:pt x="1788" y="170"/>
                  <a:pt x="1793" y="150"/>
                  <a:pt x="1801" y="135"/>
                </a:cubicBezTo>
                <a:cubicBezTo>
                  <a:pt x="1818" y="101"/>
                  <a:pt x="1793" y="78"/>
                  <a:pt x="1771" y="100"/>
                </a:cubicBezTo>
                <a:moveTo>
                  <a:pt x="1710" y="230"/>
                </a:moveTo>
                <a:cubicBezTo>
                  <a:pt x="1769" y="230"/>
                  <a:pt x="1769" y="230"/>
                  <a:pt x="1769" y="230"/>
                </a:cubicBezTo>
                <a:cubicBezTo>
                  <a:pt x="1771" y="225"/>
                  <a:pt x="1773" y="220"/>
                  <a:pt x="1775" y="215"/>
                </a:cubicBezTo>
                <a:cubicBezTo>
                  <a:pt x="1705" y="215"/>
                  <a:pt x="1705" y="215"/>
                  <a:pt x="1705" y="215"/>
                </a:cubicBezTo>
                <a:cubicBezTo>
                  <a:pt x="1706" y="220"/>
                  <a:pt x="1708" y="225"/>
                  <a:pt x="1710" y="230"/>
                </a:cubicBezTo>
                <a:moveTo>
                  <a:pt x="1743" y="253"/>
                </a:moveTo>
                <a:cubicBezTo>
                  <a:pt x="1752" y="253"/>
                  <a:pt x="1759" y="247"/>
                  <a:pt x="1765" y="237"/>
                </a:cubicBezTo>
                <a:cubicBezTo>
                  <a:pt x="1714" y="237"/>
                  <a:pt x="1714" y="237"/>
                  <a:pt x="1714" y="237"/>
                </a:cubicBezTo>
                <a:cubicBezTo>
                  <a:pt x="1720" y="246"/>
                  <a:pt x="1729" y="253"/>
                  <a:pt x="1743" y="253"/>
                </a:cubicBezTo>
                <a:moveTo>
                  <a:pt x="1625" y="246"/>
                </a:moveTo>
                <a:cubicBezTo>
                  <a:pt x="1636" y="248"/>
                  <a:pt x="1645" y="244"/>
                  <a:pt x="1652" y="237"/>
                </a:cubicBezTo>
                <a:cubicBezTo>
                  <a:pt x="1609" y="237"/>
                  <a:pt x="1609" y="237"/>
                  <a:pt x="1609" y="237"/>
                </a:cubicBezTo>
                <a:cubicBezTo>
                  <a:pt x="1614" y="242"/>
                  <a:pt x="1620" y="246"/>
                  <a:pt x="1625" y="246"/>
                </a:cubicBezTo>
                <a:moveTo>
                  <a:pt x="1704" y="209"/>
                </a:moveTo>
                <a:cubicBezTo>
                  <a:pt x="1776" y="209"/>
                  <a:pt x="1776" y="209"/>
                  <a:pt x="1776" y="209"/>
                </a:cubicBezTo>
                <a:cubicBezTo>
                  <a:pt x="1778" y="204"/>
                  <a:pt x="1780" y="198"/>
                  <a:pt x="1781" y="192"/>
                </a:cubicBezTo>
                <a:cubicBezTo>
                  <a:pt x="1700" y="192"/>
                  <a:pt x="1700" y="192"/>
                  <a:pt x="1700" y="192"/>
                </a:cubicBezTo>
                <a:cubicBezTo>
                  <a:pt x="1701" y="197"/>
                  <a:pt x="1703" y="203"/>
                  <a:pt x="1704" y="209"/>
                </a:cubicBezTo>
                <a:moveTo>
                  <a:pt x="1591" y="138"/>
                </a:moveTo>
                <a:cubicBezTo>
                  <a:pt x="1577" y="143"/>
                  <a:pt x="1577" y="165"/>
                  <a:pt x="1584" y="189"/>
                </a:cubicBezTo>
                <a:cubicBezTo>
                  <a:pt x="1634" y="189"/>
                  <a:pt x="1634" y="189"/>
                  <a:pt x="1634" y="189"/>
                </a:cubicBezTo>
                <a:cubicBezTo>
                  <a:pt x="1611" y="182"/>
                  <a:pt x="1630" y="127"/>
                  <a:pt x="1591" y="138"/>
                </a:cubicBezTo>
                <a:moveTo>
                  <a:pt x="1791" y="271"/>
                </a:moveTo>
                <a:cubicBezTo>
                  <a:pt x="1846" y="271"/>
                  <a:pt x="1846" y="271"/>
                  <a:pt x="1846" y="271"/>
                </a:cubicBezTo>
                <a:cubicBezTo>
                  <a:pt x="1849" y="267"/>
                  <a:pt x="1852" y="263"/>
                  <a:pt x="1855" y="259"/>
                </a:cubicBezTo>
                <a:cubicBezTo>
                  <a:pt x="1788" y="259"/>
                  <a:pt x="1788" y="259"/>
                  <a:pt x="1788" y="259"/>
                </a:cubicBezTo>
                <a:cubicBezTo>
                  <a:pt x="1789" y="263"/>
                  <a:pt x="1789" y="267"/>
                  <a:pt x="1791" y="271"/>
                </a:cubicBezTo>
                <a:moveTo>
                  <a:pt x="1921" y="250"/>
                </a:moveTo>
                <a:cubicBezTo>
                  <a:pt x="1918" y="245"/>
                  <a:pt x="1915" y="240"/>
                  <a:pt x="1913" y="237"/>
                </a:cubicBezTo>
                <a:cubicBezTo>
                  <a:pt x="1869" y="237"/>
                  <a:pt x="1869" y="237"/>
                  <a:pt x="1869" y="237"/>
                </a:cubicBezTo>
                <a:cubicBezTo>
                  <a:pt x="1872" y="242"/>
                  <a:pt x="1873" y="247"/>
                  <a:pt x="1875" y="250"/>
                </a:cubicBezTo>
                <a:cubicBezTo>
                  <a:pt x="1921" y="250"/>
                  <a:pt x="1921" y="250"/>
                  <a:pt x="1921" y="250"/>
                </a:cubicBezTo>
                <a:cubicBezTo>
                  <a:pt x="1921" y="250"/>
                  <a:pt x="1921" y="250"/>
                  <a:pt x="1921" y="250"/>
                </a:cubicBezTo>
                <a:moveTo>
                  <a:pt x="1845" y="230"/>
                </a:moveTo>
                <a:cubicBezTo>
                  <a:pt x="1908" y="230"/>
                  <a:pt x="1908" y="230"/>
                  <a:pt x="1908" y="230"/>
                </a:cubicBezTo>
                <a:cubicBezTo>
                  <a:pt x="1906" y="227"/>
                  <a:pt x="1905" y="225"/>
                  <a:pt x="1904" y="223"/>
                </a:cubicBezTo>
                <a:cubicBezTo>
                  <a:pt x="1903" y="220"/>
                  <a:pt x="1902" y="217"/>
                  <a:pt x="1901" y="215"/>
                </a:cubicBezTo>
                <a:cubicBezTo>
                  <a:pt x="1853" y="215"/>
                  <a:pt x="1853" y="215"/>
                  <a:pt x="1853" y="215"/>
                </a:cubicBezTo>
                <a:cubicBezTo>
                  <a:pt x="1851" y="220"/>
                  <a:pt x="1848" y="225"/>
                  <a:pt x="1845" y="230"/>
                </a:cubicBezTo>
                <a:moveTo>
                  <a:pt x="1863" y="182"/>
                </a:moveTo>
                <a:cubicBezTo>
                  <a:pt x="1863" y="184"/>
                  <a:pt x="1863" y="186"/>
                  <a:pt x="1863" y="189"/>
                </a:cubicBezTo>
                <a:cubicBezTo>
                  <a:pt x="1899" y="189"/>
                  <a:pt x="1899" y="189"/>
                  <a:pt x="1899" y="189"/>
                </a:cubicBezTo>
                <a:cubicBezTo>
                  <a:pt x="1899" y="173"/>
                  <a:pt x="1901" y="159"/>
                  <a:pt x="1890" y="153"/>
                </a:cubicBezTo>
                <a:cubicBezTo>
                  <a:pt x="1852" y="131"/>
                  <a:pt x="1821" y="155"/>
                  <a:pt x="1803" y="189"/>
                </a:cubicBezTo>
                <a:cubicBezTo>
                  <a:pt x="1831" y="189"/>
                  <a:pt x="1831" y="189"/>
                  <a:pt x="1831" y="189"/>
                </a:cubicBezTo>
                <a:cubicBezTo>
                  <a:pt x="1839" y="177"/>
                  <a:pt x="1850" y="170"/>
                  <a:pt x="1863" y="182"/>
                </a:cubicBezTo>
                <a:moveTo>
                  <a:pt x="1829" y="192"/>
                </a:moveTo>
                <a:cubicBezTo>
                  <a:pt x="1802" y="192"/>
                  <a:pt x="1802" y="192"/>
                  <a:pt x="1802" y="192"/>
                </a:cubicBezTo>
                <a:cubicBezTo>
                  <a:pt x="1799" y="198"/>
                  <a:pt x="1797" y="204"/>
                  <a:pt x="1795" y="209"/>
                </a:cubicBezTo>
                <a:cubicBezTo>
                  <a:pt x="1822" y="209"/>
                  <a:pt x="1822" y="209"/>
                  <a:pt x="1822" y="209"/>
                </a:cubicBezTo>
                <a:cubicBezTo>
                  <a:pt x="1824" y="203"/>
                  <a:pt x="1826" y="197"/>
                  <a:pt x="1829" y="192"/>
                </a:cubicBezTo>
                <a:moveTo>
                  <a:pt x="1862" y="192"/>
                </a:moveTo>
                <a:cubicBezTo>
                  <a:pt x="1861" y="197"/>
                  <a:pt x="1859" y="203"/>
                  <a:pt x="1856" y="209"/>
                </a:cubicBezTo>
                <a:cubicBezTo>
                  <a:pt x="1900" y="209"/>
                  <a:pt x="1900" y="209"/>
                  <a:pt x="1900" y="209"/>
                </a:cubicBezTo>
                <a:cubicBezTo>
                  <a:pt x="1899" y="204"/>
                  <a:pt x="1899" y="198"/>
                  <a:pt x="1899" y="192"/>
                </a:cubicBezTo>
                <a:lnTo>
                  <a:pt x="1862" y="192"/>
                </a:lnTo>
                <a:close/>
                <a:moveTo>
                  <a:pt x="1820" y="215"/>
                </a:moveTo>
                <a:cubicBezTo>
                  <a:pt x="1793" y="215"/>
                  <a:pt x="1793" y="215"/>
                  <a:pt x="1793" y="215"/>
                </a:cubicBezTo>
                <a:cubicBezTo>
                  <a:pt x="1791" y="220"/>
                  <a:pt x="1790" y="225"/>
                  <a:pt x="1789" y="230"/>
                </a:cubicBezTo>
                <a:cubicBezTo>
                  <a:pt x="1817" y="230"/>
                  <a:pt x="1817" y="230"/>
                  <a:pt x="1817" y="230"/>
                </a:cubicBezTo>
                <a:cubicBezTo>
                  <a:pt x="1818" y="225"/>
                  <a:pt x="1819" y="220"/>
                  <a:pt x="1820" y="215"/>
                </a:cubicBezTo>
                <a:moveTo>
                  <a:pt x="1813" y="288"/>
                </a:moveTo>
                <a:cubicBezTo>
                  <a:pt x="1820" y="288"/>
                  <a:pt x="1827" y="286"/>
                  <a:pt x="1833" y="282"/>
                </a:cubicBezTo>
                <a:cubicBezTo>
                  <a:pt x="1797" y="282"/>
                  <a:pt x="1797" y="282"/>
                  <a:pt x="1797" y="282"/>
                </a:cubicBezTo>
                <a:cubicBezTo>
                  <a:pt x="1801" y="286"/>
                  <a:pt x="1806" y="288"/>
                  <a:pt x="1813" y="288"/>
                </a:cubicBezTo>
                <a:moveTo>
                  <a:pt x="1817" y="239"/>
                </a:moveTo>
                <a:cubicBezTo>
                  <a:pt x="1817" y="239"/>
                  <a:pt x="1817" y="238"/>
                  <a:pt x="1817" y="237"/>
                </a:cubicBezTo>
                <a:cubicBezTo>
                  <a:pt x="1788" y="237"/>
                  <a:pt x="1788" y="237"/>
                  <a:pt x="1788" y="237"/>
                </a:cubicBezTo>
                <a:cubicBezTo>
                  <a:pt x="1788" y="242"/>
                  <a:pt x="1787" y="246"/>
                  <a:pt x="1787" y="250"/>
                </a:cubicBezTo>
                <a:cubicBezTo>
                  <a:pt x="1861" y="250"/>
                  <a:pt x="1861" y="250"/>
                  <a:pt x="1861" y="250"/>
                </a:cubicBezTo>
                <a:cubicBezTo>
                  <a:pt x="1863" y="245"/>
                  <a:pt x="1866" y="241"/>
                  <a:pt x="1867" y="237"/>
                </a:cubicBezTo>
                <a:cubicBezTo>
                  <a:pt x="1839" y="237"/>
                  <a:pt x="1839" y="237"/>
                  <a:pt x="1839" y="237"/>
                </a:cubicBezTo>
                <a:cubicBezTo>
                  <a:pt x="1830" y="250"/>
                  <a:pt x="1820" y="255"/>
                  <a:pt x="1817" y="239"/>
                </a:cubicBezTo>
                <a:moveTo>
                  <a:pt x="1882" y="259"/>
                </a:moveTo>
                <a:cubicBezTo>
                  <a:pt x="1888" y="267"/>
                  <a:pt x="1896" y="269"/>
                  <a:pt x="1907" y="269"/>
                </a:cubicBezTo>
                <a:cubicBezTo>
                  <a:pt x="1914" y="269"/>
                  <a:pt x="1920" y="265"/>
                  <a:pt x="1922" y="259"/>
                </a:cubicBezTo>
                <a:lnTo>
                  <a:pt x="1882" y="259"/>
                </a:lnTo>
                <a:close/>
                <a:moveTo>
                  <a:pt x="1976" y="291"/>
                </a:moveTo>
                <a:cubicBezTo>
                  <a:pt x="2013" y="291"/>
                  <a:pt x="2013" y="291"/>
                  <a:pt x="2013" y="291"/>
                </a:cubicBezTo>
                <a:cubicBezTo>
                  <a:pt x="2014" y="288"/>
                  <a:pt x="2016" y="285"/>
                  <a:pt x="2018" y="282"/>
                </a:cubicBezTo>
                <a:cubicBezTo>
                  <a:pt x="1985" y="282"/>
                  <a:pt x="1985" y="282"/>
                  <a:pt x="1985" y="282"/>
                </a:cubicBezTo>
                <a:cubicBezTo>
                  <a:pt x="1982" y="285"/>
                  <a:pt x="1979" y="288"/>
                  <a:pt x="1976" y="291"/>
                </a:cubicBezTo>
                <a:moveTo>
                  <a:pt x="1861" y="308"/>
                </a:moveTo>
                <a:cubicBezTo>
                  <a:pt x="1851" y="307"/>
                  <a:pt x="1845" y="311"/>
                  <a:pt x="1843" y="316"/>
                </a:cubicBezTo>
                <a:cubicBezTo>
                  <a:pt x="1991" y="316"/>
                  <a:pt x="1991" y="316"/>
                  <a:pt x="1991" y="316"/>
                </a:cubicBezTo>
                <a:cubicBezTo>
                  <a:pt x="1995" y="312"/>
                  <a:pt x="1999" y="308"/>
                  <a:pt x="2003" y="304"/>
                </a:cubicBezTo>
                <a:cubicBezTo>
                  <a:pt x="1954" y="304"/>
                  <a:pt x="1954" y="304"/>
                  <a:pt x="1954" y="304"/>
                </a:cubicBezTo>
                <a:cubicBezTo>
                  <a:pt x="1920" y="318"/>
                  <a:pt x="1878" y="311"/>
                  <a:pt x="1861" y="308"/>
                </a:cubicBezTo>
                <a:moveTo>
                  <a:pt x="2013" y="162"/>
                </a:moveTo>
                <a:cubicBezTo>
                  <a:pt x="2010" y="167"/>
                  <a:pt x="2006" y="178"/>
                  <a:pt x="2000" y="189"/>
                </a:cubicBezTo>
                <a:cubicBezTo>
                  <a:pt x="2045" y="189"/>
                  <a:pt x="2045" y="189"/>
                  <a:pt x="2045" y="189"/>
                </a:cubicBezTo>
                <a:cubicBezTo>
                  <a:pt x="2045" y="185"/>
                  <a:pt x="2046" y="180"/>
                  <a:pt x="2046" y="176"/>
                </a:cubicBezTo>
                <a:cubicBezTo>
                  <a:pt x="2050" y="145"/>
                  <a:pt x="2022" y="146"/>
                  <a:pt x="2013" y="162"/>
                </a:cubicBezTo>
                <a:moveTo>
                  <a:pt x="1993" y="271"/>
                </a:moveTo>
                <a:cubicBezTo>
                  <a:pt x="2024" y="271"/>
                  <a:pt x="2024" y="271"/>
                  <a:pt x="2024" y="271"/>
                </a:cubicBezTo>
                <a:cubicBezTo>
                  <a:pt x="2025" y="267"/>
                  <a:pt x="2027" y="263"/>
                  <a:pt x="2028" y="259"/>
                </a:cubicBezTo>
                <a:cubicBezTo>
                  <a:pt x="1998" y="259"/>
                  <a:pt x="1998" y="259"/>
                  <a:pt x="1998" y="259"/>
                </a:cubicBezTo>
                <a:cubicBezTo>
                  <a:pt x="1996" y="263"/>
                  <a:pt x="1995" y="267"/>
                  <a:pt x="1993" y="271"/>
                </a:cubicBezTo>
                <a:moveTo>
                  <a:pt x="1988" y="259"/>
                </a:moveTo>
                <a:cubicBezTo>
                  <a:pt x="1950" y="259"/>
                  <a:pt x="1950" y="259"/>
                  <a:pt x="1950" y="259"/>
                </a:cubicBezTo>
                <a:cubicBezTo>
                  <a:pt x="1964" y="271"/>
                  <a:pt x="1976" y="269"/>
                  <a:pt x="1988" y="259"/>
                </a:cubicBezTo>
                <a:moveTo>
                  <a:pt x="1926" y="192"/>
                </a:moveTo>
                <a:cubicBezTo>
                  <a:pt x="1926" y="198"/>
                  <a:pt x="1926" y="204"/>
                  <a:pt x="1927" y="209"/>
                </a:cubicBezTo>
                <a:cubicBezTo>
                  <a:pt x="1964" y="209"/>
                  <a:pt x="1964" y="209"/>
                  <a:pt x="1964" y="209"/>
                </a:cubicBezTo>
                <a:cubicBezTo>
                  <a:pt x="1962" y="205"/>
                  <a:pt x="1961" y="199"/>
                  <a:pt x="1961" y="192"/>
                </a:cubicBezTo>
                <a:lnTo>
                  <a:pt x="1926" y="192"/>
                </a:lnTo>
                <a:close/>
                <a:moveTo>
                  <a:pt x="1940" y="249"/>
                </a:moveTo>
                <a:cubicBezTo>
                  <a:pt x="1941" y="249"/>
                  <a:pt x="1941" y="250"/>
                  <a:pt x="1941" y="250"/>
                </a:cubicBezTo>
                <a:cubicBezTo>
                  <a:pt x="1997" y="250"/>
                  <a:pt x="1997" y="250"/>
                  <a:pt x="1997" y="250"/>
                </a:cubicBezTo>
                <a:cubicBezTo>
                  <a:pt x="1999" y="247"/>
                  <a:pt x="2002" y="244"/>
                  <a:pt x="2004" y="241"/>
                </a:cubicBezTo>
                <a:cubicBezTo>
                  <a:pt x="2003" y="244"/>
                  <a:pt x="2002" y="247"/>
                  <a:pt x="2001" y="250"/>
                </a:cubicBezTo>
                <a:cubicBezTo>
                  <a:pt x="2032" y="250"/>
                  <a:pt x="2032" y="250"/>
                  <a:pt x="2032" y="250"/>
                </a:cubicBezTo>
                <a:cubicBezTo>
                  <a:pt x="2033" y="246"/>
                  <a:pt x="2034" y="241"/>
                  <a:pt x="2036" y="237"/>
                </a:cubicBezTo>
                <a:cubicBezTo>
                  <a:pt x="1934" y="237"/>
                  <a:pt x="1934" y="237"/>
                  <a:pt x="1934" y="237"/>
                </a:cubicBezTo>
                <a:cubicBezTo>
                  <a:pt x="1936" y="241"/>
                  <a:pt x="1938" y="245"/>
                  <a:pt x="1940" y="249"/>
                </a:cubicBezTo>
                <a:moveTo>
                  <a:pt x="1925" y="189"/>
                </a:moveTo>
                <a:cubicBezTo>
                  <a:pt x="1961" y="189"/>
                  <a:pt x="1961" y="189"/>
                  <a:pt x="1961" y="189"/>
                </a:cubicBezTo>
                <a:cubicBezTo>
                  <a:pt x="1962" y="172"/>
                  <a:pt x="1963" y="152"/>
                  <a:pt x="1952" y="143"/>
                </a:cubicBezTo>
                <a:cubicBezTo>
                  <a:pt x="1931" y="128"/>
                  <a:pt x="1924" y="154"/>
                  <a:pt x="1925" y="176"/>
                </a:cubicBezTo>
                <a:cubicBezTo>
                  <a:pt x="1925" y="180"/>
                  <a:pt x="1925" y="184"/>
                  <a:pt x="1925" y="189"/>
                </a:cubicBezTo>
                <a:moveTo>
                  <a:pt x="1860" y="336"/>
                </a:moveTo>
                <a:cubicBezTo>
                  <a:pt x="1910" y="348"/>
                  <a:pt x="1946" y="344"/>
                  <a:pt x="1972" y="329"/>
                </a:cubicBezTo>
                <a:cubicBezTo>
                  <a:pt x="1847" y="329"/>
                  <a:pt x="1847" y="329"/>
                  <a:pt x="1847" y="329"/>
                </a:cubicBezTo>
                <a:cubicBezTo>
                  <a:pt x="1850" y="332"/>
                  <a:pt x="1854" y="334"/>
                  <a:pt x="1860" y="336"/>
                </a:cubicBezTo>
                <a:moveTo>
                  <a:pt x="1986" y="209"/>
                </a:moveTo>
                <a:cubicBezTo>
                  <a:pt x="2042" y="209"/>
                  <a:pt x="2042" y="209"/>
                  <a:pt x="2042" y="209"/>
                </a:cubicBezTo>
                <a:cubicBezTo>
                  <a:pt x="2043" y="204"/>
                  <a:pt x="2044" y="198"/>
                  <a:pt x="2044" y="192"/>
                </a:cubicBezTo>
                <a:cubicBezTo>
                  <a:pt x="1999" y="192"/>
                  <a:pt x="1999" y="192"/>
                  <a:pt x="1999" y="192"/>
                </a:cubicBezTo>
                <a:cubicBezTo>
                  <a:pt x="1995" y="199"/>
                  <a:pt x="1991" y="205"/>
                  <a:pt x="1986" y="209"/>
                </a:cubicBezTo>
                <a:moveTo>
                  <a:pt x="1971" y="215"/>
                </a:moveTo>
                <a:cubicBezTo>
                  <a:pt x="1928" y="215"/>
                  <a:pt x="1928" y="215"/>
                  <a:pt x="1928" y="215"/>
                </a:cubicBezTo>
                <a:cubicBezTo>
                  <a:pt x="1929" y="220"/>
                  <a:pt x="1930" y="225"/>
                  <a:pt x="1931" y="230"/>
                </a:cubicBezTo>
                <a:cubicBezTo>
                  <a:pt x="2037" y="230"/>
                  <a:pt x="2037" y="230"/>
                  <a:pt x="2037" y="230"/>
                </a:cubicBezTo>
                <a:cubicBezTo>
                  <a:pt x="2039" y="225"/>
                  <a:pt x="2040" y="220"/>
                  <a:pt x="2041" y="215"/>
                </a:cubicBezTo>
                <a:cubicBezTo>
                  <a:pt x="1977" y="215"/>
                  <a:pt x="1977" y="215"/>
                  <a:pt x="1977" y="215"/>
                </a:cubicBezTo>
                <a:cubicBezTo>
                  <a:pt x="1975" y="215"/>
                  <a:pt x="1973" y="215"/>
                  <a:pt x="1971" y="215"/>
                </a:cubicBezTo>
                <a:moveTo>
                  <a:pt x="2130" y="230"/>
                </a:moveTo>
                <a:cubicBezTo>
                  <a:pt x="2130" y="224"/>
                  <a:pt x="2128" y="219"/>
                  <a:pt x="2126" y="215"/>
                </a:cubicBezTo>
                <a:cubicBezTo>
                  <a:pt x="2090" y="215"/>
                  <a:pt x="2090" y="215"/>
                  <a:pt x="2090" y="215"/>
                </a:cubicBezTo>
                <a:cubicBezTo>
                  <a:pt x="2094" y="220"/>
                  <a:pt x="2097" y="225"/>
                  <a:pt x="2098" y="230"/>
                </a:cubicBezTo>
                <a:lnTo>
                  <a:pt x="2130" y="230"/>
                </a:lnTo>
                <a:close/>
                <a:moveTo>
                  <a:pt x="2061" y="294"/>
                </a:moveTo>
                <a:cubicBezTo>
                  <a:pt x="2080" y="300"/>
                  <a:pt x="2100" y="293"/>
                  <a:pt x="2113" y="282"/>
                </a:cubicBezTo>
                <a:cubicBezTo>
                  <a:pt x="2048" y="282"/>
                  <a:pt x="2048" y="282"/>
                  <a:pt x="2048" y="282"/>
                </a:cubicBezTo>
                <a:cubicBezTo>
                  <a:pt x="2049" y="287"/>
                  <a:pt x="2053" y="292"/>
                  <a:pt x="2061" y="294"/>
                </a:cubicBezTo>
                <a:moveTo>
                  <a:pt x="2101" y="237"/>
                </a:moveTo>
                <a:cubicBezTo>
                  <a:pt x="2101" y="241"/>
                  <a:pt x="2101" y="246"/>
                  <a:pt x="2098" y="250"/>
                </a:cubicBezTo>
                <a:cubicBezTo>
                  <a:pt x="2130" y="250"/>
                  <a:pt x="2130" y="250"/>
                  <a:pt x="2130" y="250"/>
                </a:cubicBezTo>
                <a:cubicBezTo>
                  <a:pt x="2131" y="245"/>
                  <a:pt x="2131" y="241"/>
                  <a:pt x="2131" y="237"/>
                </a:cubicBezTo>
                <a:lnTo>
                  <a:pt x="2101" y="237"/>
                </a:lnTo>
                <a:close/>
                <a:moveTo>
                  <a:pt x="2052" y="268"/>
                </a:moveTo>
                <a:cubicBezTo>
                  <a:pt x="2051" y="269"/>
                  <a:pt x="2051" y="270"/>
                  <a:pt x="2050" y="271"/>
                </a:cubicBezTo>
                <a:cubicBezTo>
                  <a:pt x="2123" y="271"/>
                  <a:pt x="2123" y="271"/>
                  <a:pt x="2123" y="271"/>
                </a:cubicBezTo>
                <a:cubicBezTo>
                  <a:pt x="2125" y="267"/>
                  <a:pt x="2127" y="263"/>
                  <a:pt x="2128" y="259"/>
                </a:cubicBezTo>
                <a:cubicBezTo>
                  <a:pt x="2089" y="259"/>
                  <a:pt x="2089" y="259"/>
                  <a:pt x="2089" y="259"/>
                </a:cubicBezTo>
                <a:cubicBezTo>
                  <a:pt x="2079" y="264"/>
                  <a:pt x="2064" y="259"/>
                  <a:pt x="2052" y="268"/>
                </a:cubicBezTo>
                <a:moveTo>
                  <a:pt x="2132" y="61"/>
                </a:moveTo>
                <a:cubicBezTo>
                  <a:pt x="2101" y="49"/>
                  <a:pt x="2030" y="102"/>
                  <a:pt x="2070" y="182"/>
                </a:cubicBezTo>
                <a:cubicBezTo>
                  <a:pt x="2071" y="185"/>
                  <a:pt x="2072" y="187"/>
                  <a:pt x="2074" y="189"/>
                </a:cubicBezTo>
                <a:cubicBezTo>
                  <a:pt x="2111" y="189"/>
                  <a:pt x="2111" y="189"/>
                  <a:pt x="2111" y="189"/>
                </a:cubicBezTo>
                <a:cubicBezTo>
                  <a:pt x="2101" y="169"/>
                  <a:pt x="2089" y="139"/>
                  <a:pt x="2100" y="119"/>
                </a:cubicBezTo>
                <a:cubicBezTo>
                  <a:pt x="2113" y="95"/>
                  <a:pt x="2125" y="100"/>
                  <a:pt x="2138" y="89"/>
                </a:cubicBezTo>
                <a:cubicBezTo>
                  <a:pt x="2151" y="77"/>
                  <a:pt x="2140" y="64"/>
                  <a:pt x="2132" y="61"/>
                </a:cubicBezTo>
                <a:moveTo>
                  <a:pt x="2076" y="192"/>
                </a:moveTo>
                <a:cubicBezTo>
                  <a:pt x="2079" y="198"/>
                  <a:pt x="2083" y="204"/>
                  <a:pt x="2087" y="209"/>
                </a:cubicBezTo>
                <a:cubicBezTo>
                  <a:pt x="2123" y="209"/>
                  <a:pt x="2123" y="209"/>
                  <a:pt x="2123" y="209"/>
                </a:cubicBezTo>
                <a:cubicBezTo>
                  <a:pt x="2120" y="204"/>
                  <a:pt x="2117" y="198"/>
                  <a:pt x="2113" y="192"/>
                </a:cubicBezTo>
                <a:lnTo>
                  <a:pt x="2076" y="192"/>
                </a:lnTo>
                <a:close/>
              </a:path>
            </a:pathLst>
          </a:custGeom>
          <a:solidFill>
            <a:srgbClr val="46C2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AU" sz="2400"/>
          </a:p>
        </p:txBody>
      </p:sp>
      <p:cxnSp>
        <p:nvCxnSpPr>
          <p:cNvPr id="51" name="logo_brand_line" descr="&lt;mode=4x3&gt;&#10;&lt;size&gt;h=43.11063;w=0&lt;size/&gt;&#10;&lt;pos&gt;top=487.4393;left=532.1249&lt;pos/&gt;&#10;&lt;mode/&gt;&#10;&lt;mode=16x9&gt;&#10;&lt;size&gt;h=34.01575;w=0&lt;size/&gt;&#10;&lt;pos&gt;top=360.1457;left=582.6992&lt;pos/&gt;&#10;&lt;mode/&gt;" hidden="1"/>
          <p:cNvCxnSpPr/>
          <p:nvPr userDrawn="1"/>
        </p:nvCxnSpPr>
        <p:spPr>
          <a:xfrm>
            <a:off x="9867040" y="6098467"/>
            <a:ext cx="0" cy="576000"/>
          </a:xfrm>
          <a:prstGeom prst="line">
            <a:avLst/>
          </a:prstGeom>
          <a:ln w="6350">
            <a:solidFill>
              <a:srgbClr val="003366"/>
            </a:solidFill>
          </a:ln>
        </p:spPr>
        <p:style>
          <a:lnRef idx="1">
            <a:schemeClr val="accent1"/>
          </a:lnRef>
          <a:fillRef idx="0">
            <a:schemeClr val="accent1"/>
          </a:fillRef>
          <a:effectRef idx="0">
            <a:schemeClr val="accent1"/>
          </a:effectRef>
          <a:fontRef idx="minor">
            <a:schemeClr val="tx1"/>
          </a:fontRef>
        </p:style>
      </p:cxnSp>
      <p:grpSp>
        <p:nvGrpSpPr>
          <p:cNvPr id="6" name="logo_ripples_bar_small-16x9" descr="&lt;mode=16x9&gt;&#10;&lt;size&gt;h=119.2087;w=720&lt;size/&gt;&#10;&lt;pos&gt;top=235.2639;left=0&lt;pos/&gt;&#10;&lt;mode/&gt;" hidden="1"/>
          <p:cNvGrpSpPr/>
          <p:nvPr userDrawn="1"/>
        </p:nvGrpSpPr>
        <p:grpSpPr>
          <a:xfrm>
            <a:off x="0" y="3983804"/>
            <a:ext cx="12192000" cy="2018601"/>
            <a:chOff x="0" y="2987851"/>
            <a:chExt cx="9144000" cy="1513951"/>
          </a:xfrm>
        </p:grpSpPr>
        <p:sp>
          <p:nvSpPr>
            <p:cNvPr id="5" name="base_bar" hidden="1"/>
            <p:cNvSpPr>
              <a:spLocks noChangeAspect="1"/>
            </p:cNvSpPr>
            <p:nvPr userDrawn="1"/>
          </p:nvSpPr>
          <p:spPr bwMode="ltGray">
            <a:xfrm>
              <a:off x="0" y="3447702"/>
              <a:ext cx="9144000" cy="1054100"/>
            </a:xfrm>
            <a:custGeom>
              <a:avLst/>
              <a:gdLst>
                <a:gd name="T0" fmla="*/ 0 w 2880"/>
                <a:gd name="T1" fmla="*/ 332 h 332"/>
                <a:gd name="T2" fmla="*/ 0 w 2880"/>
                <a:gd name="T3" fmla="*/ 0 h 332"/>
                <a:gd name="T4" fmla="*/ 2417 w 2880"/>
                <a:gd name="T5" fmla="*/ 0 h 332"/>
                <a:gd name="T6" fmla="*/ 2419 w 2880"/>
                <a:gd name="T7" fmla="*/ 3 h 332"/>
                <a:gd name="T8" fmla="*/ 2480 w 2880"/>
                <a:gd name="T9" fmla="*/ 43 h 332"/>
                <a:gd name="T10" fmla="*/ 2483 w 2880"/>
                <a:gd name="T11" fmla="*/ 43 h 332"/>
                <a:gd name="T12" fmla="*/ 2625 w 2880"/>
                <a:gd name="T13" fmla="*/ 150 h 332"/>
                <a:gd name="T14" fmla="*/ 2773 w 2880"/>
                <a:gd name="T15" fmla="*/ 2 h 332"/>
                <a:gd name="T16" fmla="*/ 2773 w 2880"/>
                <a:gd name="T17" fmla="*/ 0 h 332"/>
                <a:gd name="T18" fmla="*/ 2880 w 2880"/>
                <a:gd name="T19" fmla="*/ 0 h 332"/>
                <a:gd name="T20" fmla="*/ 2880 w 2880"/>
                <a:gd name="T21" fmla="*/ 332 h 332"/>
                <a:gd name="T22" fmla="*/ 0 w 2880"/>
                <a:gd name="T23" fmla="*/ 33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0" h="332">
                  <a:moveTo>
                    <a:pt x="0" y="332"/>
                  </a:moveTo>
                  <a:cubicBezTo>
                    <a:pt x="0" y="0"/>
                    <a:pt x="0" y="0"/>
                    <a:pt x="0" y="0"/>
                  </a:cubicBezTo>
                  <a:cubicBezTo>
                    <a:pt x="2417" y="0"/>
                    <a:pt x="2417" y="0"/>
                    <a:pt x="2417" y="0"/>
                  </a:cubicBezTo>
                  <a:cubicBezTo>
                    <a:pt x="2419" y="3"/>
                    <a:pt x="2419" y="3"/>
                    <a:pt x="2419" y="3"/>
                  </a:cubicBezTo>
                  <a:cubicBezTo>
                    <a:pt x="2429" y="27"/>
                    <a:pt x="2454" y="43"/>
                    <a:pt x="2480" y="43"/>
                  </a:cubicBezTo>
                  <a:cubicBezTo>
                    <a:pt x="2481" y="43"/>
                    <a:pt x="2482" y="43"/>
                    <a:pt x="2483" y="43"/>
                  </a:cubicBezTo>
                  <a:cubicBezTo>
                    <a:pt x="2501" y="106"/>
                    <a:pt x="2559" y="150"/>
                    <a:pt x="2625" y="150"/>
                  </a:cubicBezTo>
                  <a:cubicBezTo>
                    <a:pt x="2707" y="150"/>
                    <a:pt x="2773" y="83"/>
                    <a:pt x="2773" y="2"/>
                  </a:cubicBezTo>
                  <a:cubicBezTo>
                    <a:pt x="2773" y="0"/>
                    <a:pt x="2773" y="0"/>
                    <a:pt x="2773" y="0"/>
                  </a:cubicBezTo>
                  <a:cubicBezTo>
                    <a:pt x="2880" y="0"/>
                    <a:pt x="2880" y="0"/>
                    <a:pt x="2880" y="0"/>
                  </a:cubicBezTo>
                  <a:cubicBezTo>
                    <a:pt x="2880" y="332"/>
                    <a:pt x="2880" y="332"/>
                    <a:pt x="2880" y="332"/>
                  </a:cubicBezTo>
                  <a:cubicBezTo>
                    <a:pt x="0" y="332"/>
                    <a:pt x="0" y="332"/>
                    <a:pt x="0" y="332"/>
                  </a:cubicBezTo>
                </a:path>
              </a:pathLst>
            </a:custGeom>
            <a:solidFill>
              <a:srgbClr val="0092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p>
          </p:txBody>
        </p:sp>
        <p:sp>
          <p:nvSpPr>
            <p:cNvPr id="26" name="circle_mid3" hidden="1"/>
            <p:cNvSpPr>
              <a:spLocks noEditPoints="1"/>
            </p:cNvSpPr>
            <p:nvPr userDrawn="1"/>
          </p:nvSpPr>
          <p:spPr bwMode="ltGray">
            <a:xfrm>
              <a:off x="7870678" y="2987851"/>
              <a:ext cx="930673" cy="929225"/>
            </a:xfrm>
            <a:custGeom>
              <a:avLst/>
              <a:gdLst>
                <a:gd name="T0" fmla="*/ 770 w 1540"/>
                <a:gd name="T1" fmla="*/ 1539 h 1539"/>
                <a:gd name="T2" fmla="*/ 1540 w 1540"/>
                <a:gd name="T3" fmla="*/ 770 h 1539"/>
                <a:gd name="T4" fmla="*/ 770 w 1540"/>
                <a:gd name="T5" fmla="*/ 0 h 1539"/>
                <a:gd name="T6" fmla="*/ 0 w 1540"/>
                <a:gd name="T7" fmla="*/ 770 h 1539"/>
                <a:gd name="T8" fmla="*/ 770 w 1540"/>
                <a:gd name="T9" fmla="*/ 1539 h 1539"/>
                <a:gd name="T10" fmla="*/ 770 w 1540"/>
                <a:gd name="T11" fmla="*/ 10 h 1539"/>
                <a:gd name="T12" fmla="*/ 1529 w 1540"/>
                <a:gd name="T13" fmla="*/ 770 h 1539"/>
                <a:gd name="T14" fmla="*/ 770 w 1540"/>
                <a:gd name="T15" fmla="*/ 1529 h 1539"/>
                <a:gd name="T16" fmla="*/ 11 w 1540"/>
                <a:gd name="T17" fmla="*/ 770 h 1539"/>
                <a:gd name="T18" fmla="*/ 770 w 1540"/>
                <a:gd name="T19" fmla="*/ 10 h 1539"/>
                <a:gd name="T20" fmla="*/ 770 w 1540"/>
                <a:gd name="T21" fmla="*/ 1494 h 1539"/>
                <a:gd name="T22" fmla="*/ 1495 w 1540"/>
                <a:gd name="T23" fmla="*/ 770 h 1539"/>
                <a:gd name="T24" fmla="*/ 770 w 1540"/>
                <a:gd name="T25" fmla="*/ 45 h 1539"/>
                <a:gd name="T26" fmla="*/ 45 w 1540"/>
                <a:gd name="T27" fmla="*/ 770 h 1539"/>
                <a:gd name="T28" fmla="*/ 770 w 1540"/>
                <a:gd name="T29" fmla="*/ 1494 h 1539"/>
                <a:gd name="T30" fmla="*/ 770 w 1540"/>
                <a:gd name="T31" fmla="*/ 63 h 1539"/>
                <a:gd name="T32" fmla="*/ 1476 w 1540"/>
                <a:gd name="T33" fmla="*/ 770 h 1539"/>
                <a:gd name="T34" fmla="*/ 770 w 1540"/>
                <a:gd name="T35" fmla="*/ 1476 h 1539"/>
                <a:gd name="T36" fmla="*/ 64 w 1540"/>
                <a:gd name="T37" fmla="*/ 770 h 1539"/>
                <a:gd name="T38" fmla="*/ 770 w 1540"/>
                <a:gd name="T39" fmla="*/ 63 h 1539"/>
                <a:gd name="T40" fmla="*/ 770 w 1540"/>
                <a:gd name="T41" fmla="*/ 1449 h 1539"/>
                <a:gd name="T42" fmla="*/ 1450 w 1540"/>
                <a:gd name="T43" fmla="*/ 770 h 1539"/>
                <a:gd name="T44" fmla="*/ 770 w 1540"/>
                <a:gd name="T45" fmla="*/ 90 h 1539"/>
                <a:gd name="T46" fmla="*/ 90 w 1540"/>
                <a:gd name="T47" fmla="*/ 770 h 1539"/>
                <a:gd name="T48" fmla="*/ 770 w 1540"/>
                <a:gd name="T49" fmla="*/ 1449 h 1539"/>
                <a:gd name="T50" fmla="*/ 770 w 1540"/>
                <a:gd name="T51" fmla="*/ 116 h 1539"/>
                <a:gd name="T52" fmla="*/ 1423 w 1540"/>
                <a:gd name="T53" fmla="*/ 770 h 1539"/>
                <a:gd name="T54" fmla="*/ 770 w 1540"/>
                <a:gd name="T55" fmla="*/ 1423 h 1539"/>
                <a:gd name="T56" fmla="*/ 117 w 1540"/>
                <a:gd name="T57" fmla="*/ 770 h 1539"/>
                <a:gd name="T58" fmla="*/ 770 w 1540"/>
                <a:gd name="T59" fmla="*/ 116 h 1539"/>
                <a:gd name="T60" fmla="*/ 770 w 1540"/>
                <a:gd name="T61" fmla="*/ 1405 h 1539"/>
                <a:gd name="T62" fmla="*/ 1405 w 1540"/>
                <a:gd name="T63" fmla="*/ 770 h 1539"/>
                <a:gd name="T64" fmla="*/ 770 w 1540"/>
                <a:gd name="T65" fmla="*/ 135 h 1539"/>
                <a:gd name="T66" fmla="*/ 135 w 1540"/>
                <a:gd name="T67" fmla="*/ 770 h 1539"/>
                <a:gd name="T68" fmla="*/ 770 w 1540"/>
                <a:gd name="T69" fmla="*/ 1405 h 1539"/>
                <a:gd name="T70" fmla="*/ 770 w 1540"/>
                <a:gd name="T71" fmla="*/ 169 h 1539"/>
                <a:gd name="T72" fmla="*/ 1370 w 1540"/>
                <a:gd name="T73" fmla="*/ 770 h 1539"/>
                <a:gd name="T74" fmla="*/ 770 w 1540"/>
                <a:gd name="T75" fmla="*/ 1370 h 1539"/>
                <a:gd name="T76" fmla="*/ 170 w 1540"/>
                <a:gd name="T77" fmla="*/ 770 h 1539"/>
                <a:gd name="T78" fmla="*/ 770 w 1540"/>
                <a:gd name="T79" fmla="*/ 169 h 1539"/>
                <a:gd name="T80" fmla="*/ 770 w 1540"/>
                <a:gd name="T81" fmla="*/ 180 h 1539"/>
                <a:gd name="T82" fmla="*/ 1360 w 1540"/>
                <a:gd name="T83" fmla="*/ 770 h 1539"/>
                <a:gd name="T84" fmla="*/ 770 w 1540"/>
                <a:gd name="T85" fmla="*/ 1360 h 1539"/>
                <a:gd name="T86" fmla="*/ 180 w 1540"/>
                <a:gd name="T87" fmla="*/ 770 h 1539"/>
                <a:gd name="T88" fmla="*/ 770 w 1540"/>
                <a:gd name="T89" fmla="*/ 180 h 1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40" h="1539">
                  <a:moveTo>
                    <a:pt x="770" y="1539"/>
                  </a:moveTo>
                  <a:cubicBezTo>
                    <a:pt x="1194" y="1539"/>
                    <a:pt x="1540" y="1194"/>
                    <a:pt x="1540" y="770"/>
                  </a:cubicBezTo>
                  <a:cubicBezTo>
                    <a:pt x="1540" y="345"/>
                    <a:pt x="1194" y="0"/>
                    <a:pt x="770" y="0"/>
                  </a:cubicBezTo>
                  <a:cubicBezTo>
                    <a:pt x="346" y="0"/>
                    <a:pt x="0" y="345"/>
                    <a:pt x="0" y="770"/>
                  </a:cubicBezTo>
                  <a:cubicBezTo>
                    <a:pt x="0" y="1194"/>
                    <a:pt x="346" y="1539"/>
                    <a:pt x="770" y="1539"/>
                  </a:cubicBezTo>
                  <a:close/>
                  <a:moveTo>
                    <a:pt x="770" y="10"/>
                  </a:moveTo>
                  <a:cubicBezTo>
                    <a:pt x="1189" y="10"/>
                    <a:pt x="1529" y="351"/>
                    <a:pt x="1529" y="770"/>
                  </a:cubicBezTo>
                  <a:cubicBezTo>
                    <a:pt x="1529" y="1188"/>
                    <a:pt x="1189" y="1529"/>
                    <a:pt x="770" y="1529"/>
                  </a:cubicBezTo>
                  <a:cubicBezTo>
                    <a:pt x="351" y="1529"/>
                    <a:pt x="11" y="1188"/>
                    <a:pt x="11" y="770"/>
                  </a:cubicBezTo>
                  <a:cubicBezTo>
                    <a:pt x="11" y="351"/>
                    <a:pt x="351" y="10"/>
                    <a:pt x="770" y="10"/>
                  </a:cubicBezTo>
                  <a:close/>
                  <a:moveTo>
                    <a:pt x="770" y="1494"/>
                  </a:moveTo>
                  <a:cubicBezTo>
                    <a:pt x="1170" y="1494"/>
                    <a:pt x="1495" y="1169"/>
                    <a:pt x="1495" y="770"/>
                  </a:cubicBezTo>
                  <a:cubicBezTo>
                    <a:pt x="1495" y="370"/>
                    <a:pt x="1170" y="45"/>
                    <a:pt x="770" y="45"/>
                  </a:cubicBezTo>
                  <a:cubicBezTo>
                    <a:pt x="370" y="45"/>
                    <a:pt x="45" y="370"/>
                    <a:pt x="45" y="770"/>
                  </a:cubicBezTo>
                  <a:cubicBezTo>
                    <a:pt x="45" y="1169"/>
                    <a:pt x="370" y="1494"/>
                    <a:pt x="770" y="1494"/>
                  </a:cubicBezTo>
                  <a:close/>
                  <a:moveTo>
                    <a:pt x="770" y="63"/>
                  </a:moveTo>
                  <a:cubicBezTo>
                    <a:pt x="1160" y="63"/>
                    <a:pt x="1476" y="380"/>
                    <a:pt x="1476" y="770"/>
                  </a:cubicBezTo>
                  <a:cubicBezTo>
                    <a:pt x="1476" y="1159"/>
                    <a:pt x="1160" y="1476"/>
                    <a:pt x="770" y="1476"/>
                  </a:cubicBezTo>
                  <a:cubicBezTo>
                    <a:pt x="381" y="1476"/>
                    <a:pt x="64" y="1159"/>
                    <a:pt x="64" y="770"/>
                  </a:cubicBezTo>
                  <a:cubicBezTo>
                    <a:pt x="64" y="380"/>
                    <a:pt x="381" y="63"/>
                    <a:pt x="770" y="63"/>
                  </a:cubicBezTo>
                  <a:close/>
                  <a:moveTo>
                    <a:pt x="770" y="1449"/>
                  </a:moveTo>
                  <a:cubicBezTo>
                    <a:pt x="1145" y="1449"/>
                    <a:pt x="1450" y="1144"/>
                    <a:pt x="1450" y="770"/>
                  </a:cubicBezTo>
                  <a:cubicBezTo>
                    <a:pt x="1450" y="395"/>
                    <a:pt x="1145" y="90"/>
                    <a:pt x="770" y="90"/>
                  </a:cubicBezTo>
                  <a:cubicBezTo>
                    <a:pt x="395" y="90"/>
                    <a:pt x="90" y="395"/>
                    <a:pt x="90" y="770"/>
                  </a:cubicBezTo>
                  <a:cubicBezTo>
                    <a:pt x="90" y="1144"/>
                    <a:pt x="395" y="1449"/>
                    <a:pt x="770" y="1449"/>
                  </a:cubicBezTo>
                  <a:close/>
                  <a:moveTo>
                    <a:pt x="770" y="116"/>
                  </a:moveTo>
                  <a:cubicBezTo>
                    <a:pt x="1130" y="116"/>
                    <a:pt x="1423" y="409"/>
                    <a:pt x="1423" y="770"/>
                  </a:cubicBezTo>
                  <a:cubicBezTo>
                    <a:pt x="1423" y="1130"/>
                    <a:pt x="1130" y="1423"/>
                    <a:pt x="770" y="1423"/>
                  </a:cubicBezTo>
                  <a:cubicBezTo>
                    <a:pt x="410" y="1423"/>
                    <a:pt x="117" y="1130"/>
                    <a:pt x="117" y="770"/>
                  </a:cubicBezTo>
                  <a:cubicBezTo>
                    <a:pt x="117" y="409"/>
                    <a:pt x="410" y="116"/>
                    <a:pt x="770" y="116"/>
                  </a:cubicBezTo>
                  <a:close/>
                  <a:moveTo>
                    <a:pt x="770" y="1405"/>
                  </a:moveTo>
                  <a:cubicBezTo>
                    <a:pt x="1120" y="1405"/>
                    <a:pt x="1405" y="1120"/>
                    <a:pt x="1405" y="770"/>
                  </a:cubicBezTo>
                  <a:cubicBezTo>
                    <a:pt x="1405" y="420"/>
                    <a:pt x="1120" y="135"/>
                    <a:pt x="770" y="135"/>
                  </a:cubicBezTo>
                  <a:cubicBezTo>
                    <a:pt x="420" y="135"/>
                    <a:pt x="135" y="420"/>
                    <a:pt x="135" y="770"/>
                  </a:cubicBezTo>
                  <a:cubicBezTo>
                    <a:pt x="135" y="1120"/>
                    <a:pt x="420" y="1405"/>
                    <a:pt x="770" y="1405"/>
                  </a:cubicBezTo>
                  <a:close/>
                  <a:moveTo>
                    <a:pt x="770" y="169"/>
                  </a:moveTo>
                  <a:cubicBezTo>
                    <a:pt x="1101" y="169"/>
                    <a:pt x="1370" y="439"/>
                    <a:pt x="1370" y="770"/>
                  </a:cubicBezTo>
                  <a:cubicBezTo>
                    <a:pt x="1370" y="1101"/>
                    <a:pt x="1101" y="1370"/>
                    <a:pt x="770" y="1370"/>
                  </a:cubicBezTo>
                  <a:cubicBezTo>
                    <a:pt x="439" y="1370"/>
                    <a:pt x="170" y="1101"/>
                    <a:pt x="170" y="770"/>
                  </a:cubicBezTo>
                  <a:cubicBezTo>
                    <a:pt x="170" y="439"/>
                    <a:pt x="439" y="169"/>
                    <a:pt x="770" y="169"/>
                  </a:cubicBezTo>
                  <a:close/>
                  <a:moveTo>
                    <a:pt x="770" y="180"/>
                  </a:moveTo>
                  <a:cubicBezTo>
                    <a:pt x="1095" y="180"/>
                    <a:pt x="1360" y="444"/>
                    <a:pt x="1360" y="770"/>
                  </a:cubicBezTo>
                  <a:cubicBezTo>
                    <a:pt x="1360" y="1095"/>
                    <a:pt x="1095" y="1360"/>
                    <a:pt x="770" y="1360"/>
                  </a:cubicBezTo>
                  <a:cubicBezTo>
                    <a:pt x="445" y="1360"/>
                    <a:pt x="180" y="1095"/>
                    <a:pt x="180" y="770"/>
                  </a:cubicBezTo>
                  <a:cubicBezTo>
                    <a:pt x="180" y="444"/>
                    <a:pt x="445" y="180"/>
                    <a:pt x="770" y="180"/>
                  </a:cubicBezTo>
                  <a:close/>
                </a:path>
              </a:pathLst>
            </a:custGeom>
            <a:solidFill>
              <a:srgbClr val="40AD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27" name="circle_light3" hidden="1"/>
            <p:cNvSpPr>
              <a:spLocks noEditPoints="1"/>
            </p:cNvSpPr>
            <p:nvPr userDrawn="1"/>
          </p:nvSpPr>
          <p:spPr bwMode="ltGray">
            <a:xfrm>
              <a:off x="7665766" y="3163678"/>
              <a:ext cx="410335" cy="410433"/>
            </a:xfrm>
            <a:custGeom>
              <a:avLst/>
              <a:gdLst>
                <a:gd name="T0" fmla="*/ 339 w 679"/>
                <a:gd name="T1" fmla="*/ 680 h 680"/>
                <a:gd name="T2" fmla="*/ 679 w 679"/>
                <a:gd name="T3" fmla="*/ 340 h 680"/>
                <a:gd name="T4" fmla="*/ 339 w 679"/>
                <a:gd name="T5" fmla="*/ 0 h 680"/>
                <a:gd name="T6" fmla="*/ 0 w 679"/>
                <a:gd name="T7" fmla="*/ 340 h 680"/>
                <a:gd name="T8" fmla="*/ 339 w 679"/>
                <a:gd name="T9" fmla="*/ 680 h 680"/>
                <a:gd name="T10" fmla="*/ 339 w 679"/>
                <a:gd name="T11" fmla="*/ 21 h 680"/>
                <a:gd name="T12" fmla="*/ 659 w 679"/>
                <a:gd name="T13" fmla="*/ 340 h 680"/>
                <a:gd name="T14" fmla="*/ 339 w 679"/>
                <a:gd name="T15" fmla="*/ 660 h 680"/>
                <a:gd name="T16" fmla="*/ 20 w 679"/>
                <a:gd name="T17" fmla="*/ 340 h 680"/>
                <a:gd name="T18" fmla="*/ 339 w 679"/>
                <a:gd name="T19" fmla="*/ 21 h 680"/>
                <a:gd name="T20" fmla="*/ 339 w 679"/>
                <a:gd name="T21" fmla="*/ 649 h 680"/>
                <a:gd name="T22" fmla="*/ 648 w 679"/>
                <a:gd name="T23" fmla="*/ 340 h 680"/>
                <a:gd name="T24" fmla="*/ 339 w 679"/>
                <a:gd name="T25" fmla="*/ 32 h 680"/>
                <a:gd name="T26" fmla="*/ 31 w 679"/>
                <a:gd name="T27" fmla="*/ 340 h 680"/>
                <a:gd name="T28" fmla="*/ 339 w 679"/>
                <a:gd name="T29" fmla="*/ 649 h 680"/>
                <a:gd name="T30" fmla="*/ 339 w 679"/>
                <a:gd name="T31" fmla="*/ 47 h 680"/>
                <a:gd name="T32" fmla="*/ 632 w 679"/>
                <a:gd name="T33" fmla="*/ 340 h 680"/>
                <a:gd name="T34" fmla="*/ 339 w 679"/>
                <a:gd name="T35" fmla="*/ 633 h 680"/>
                <a:gd name="T36" fmla="*/ 46 w 679"/>
                <a:gd name="T37" fmla="*/ 340 h 680"/>
                <a:gd name="T38" fmla="*/ 339 w 679"/>
                <a:gd name="T39" fmla="*/ 47 h 680"/>
                <a:gd name="T40" fmla="*/ 339 w 679"/>
                <a:gd name="T41" fmla="*/ 618 h 680"/>
                <a:gd name="T42" fmla="*/ 617 w 679"/>
                <a:gd name="T43" fmla="*/ 340 h 680"/>
                <a:gd name="T44" fmla="*/ 339 w 679"/>
                <a:gd name="T45" fmla="*/ 63 h 680"/>
                <a:gd name="T46" fmla="*/ 62 w 679"/>
                <a:gd name="T47" fmla="*/ 340 h 680"/>
                <a:gd name="T48" fmla="*/ 339 w 679"/>
                <a:gd name="T49" fmla="*/ 618 h 680"/>
                <a:gd name="T50" fmla="*/ 339 w 679"/>
                <a:gd name="T51" fmla="*/ 74 h 680"/>
                <a:gd name="T52" fmla="*/ 606 w 679"/>
                <a:gd name="T53" fmla="*/ 340 h 680"/>
                <a:gd name="T54" fmla="*/ 339 w 679"/>
                <a:gd name="T55" fmla="*/ 607 h 680"/>
                <a:gd name="T56" fmla="*/ 73 w 679"/>
                <a:gd name="T57" fmla="*/ 340 h 680"/>
                <a:gd name="T58" fmla="*/ 339 w 679"/>
                <a:gd name="T59" fmla="*/ 74 h 680"/>
                <a:gd name="T60" fmla="*/ 339 w 679"/>
                <a:gd name="T61" fmla="*/ 587 h 680"/>
                <a:gd name="T62" fmla="*/ 586 w 679"/>
                <a:gd name="T63" fmla="*/ 340 h 680"/>
                <a:gd name="T64" fmla="*/ 339 w 679"/>
                <a:gd name="T65" fmla="*/ 94 h 680"/>
                <a:gd name="T66" fmla="*/ 93 w 679"/>
                <a:gd name="T67" fmla="*/ 340 h 680"/>
                <a:gd name="T68" fmla="*/ 339 w 679"/>
                <a:gd name="T69" fmla="*/ 587 h 680"/>
                <a:gd name="T70" fmla="*/ 339 w 679"/>
                <a:gd name="T71" fmla="*/ 100 h 680"/>
                <a:gd name="T72" fmla="*/ 580 w 679"/>
                <a:gd name="T73" fmla="*/ 340 h 680"/>
                <a:gd name="T74" fmla="*/ 339 w 679"/>
                <a:gd name="T75" fmla="*/ 580 h 680"/>
                <a:gd name="T76" fmla="*/ 99 w 679"/>
                <a:gd name="T77" fmla="*/ 340 h 680"/>
                <a:gd name="T78" fmla="*/ 339 w 679"/>
                <a:gd name="T79" fmla="*/ 100 h 680"/>
                <a:gd name="T80" fmla="*/ 339 w 679"/>
                <a:gd name="T81" fmla="*/ 126 h 680"/>
                <a:gd name="T82" fmla="*/ 554 w 679"/>
                <a:gd name="T83" fmla="*/ 340 h 680"/>
                <a:gd name="T84" fmla="*/ 339 w 679"/>
                <a:gd name="T85" fmla="*/ 555 h 680"/>
                <a:gd name="T86" fmla="*/ 125 w 679"/>
                <a:gd name="T87" fmla="*/ 340 h 680"/>
                <a:gd name="T88" fmla="*/ 339 w 679"/>
                <a:gd name="T89" fmla="*/ 126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79" h="680">
                  <a:moveTo>
                    <a:pt x="339" y="680"/>
                  </a:moveTo>
                  <a:cubicBezTo>
                    <a:pt x="527" y="680"/>
                    <a:pt x="679" y="528"/>
                    <a:pt x="679" y="340"/>
                  </a:cubicBezTo>
                  <a:cubicBezTo>
                    <a:pt x="679" y="153"/>
                    <a:pt x="527" y="0"/>
                    <a:pt x="339" y="0"/>
                  </a:cubicBezTo>
                  <a:cubicBezTo>
                    <a:pt x="152" y="0"/>
                    <a:pt x="0" y="153"/>
                    <a:pt x="0" y="340"/>
                  </a:cubicBezTo>
                  <a:cubicBezTo>
                    <a:pt x="0" y="528"/>
                    <a:pt x="152" y="680"/>
                    <a:pt x="339" y="680"/>
                  </a:cubicBezTo>
                  <a:close/>
                  <a:moveTo>
                    <a:pt x="339" y="21"/>
                  </a:moveTo>
                  <a:cubicBezTo>
                    <a:pt x="516" y="21"/>
                    <a:pt x="659" y="164"/>
                    <a:pt x="659" y="340"/>
                  </a:cubicBezTo>
                  <a:cubicBezTo>
                    <a:pt x="659" y="516"/>
                    <a:pt x="516" y="660"/>
                    <a:pt x="339" y="660"/>
                  </a:cubicBezTo>
                  <a:cubicBezTo>
                    <a:pt x="163" y="660"/>
                    <a:pt x="20" y="516"/>
                    <a:pt x="20" y="340"/>
                  </a:cubicBezTo>
                  <a:cubicBezTo>
                    <a:pt x="20" y="164"/>
                    <a:pt x="163" y="21"/>
                    <a:pt x="339" y="21"/>
                  </a:cubicBezTo>
                  <a:close/>
                  <a:moveTo>
                    <a:pt x="339" y="649"/>
                  </a:moveTo>
                  <a:cubicBezTo>
                    <a:pt x="510" y="649"/>
                    <a:pt x="648" y="510"/>
                    <a:pt x="648" y="340"/>
                  </a:cubicBezTo>
                  <a:cubicBezTo>
                    <a:pt x="648" y="170"/>
                    <a:pt x="510" y="32"/>
                    <a:pt x="339" y="32"/>
                  </a:cubicBezTo>
                  <a:cubicBezTo>
                    <a:pt x="169" y="32"/>
                    <a:pt x="31" y="170"/>
                    <a:pt x="31" y="340"/>
                  </a:cubicBezTo>
                  <a:cubicBezTo>
                    <a:pt x="31" y="510"/>
                    <a:pt x="169" y="649"/>
                    <a:pt x="339" y="649"/>
                  </a:cubicBezTo>
                  <a:close/>
                  <a:moveTo>
                    <a:pt x="339" y="47"/>
                  </a:moveTo>
                  <a:cubicBezTo>
                    <a:pt x="501" y="47"/>
                    <a:pt x="632" y="179"/>
                    <a:pt x="632" y="340"/>
                  </a:cubicBezTo>
                  <a:cubicBezTo>
                    <a:pt x="632" y="502"/>
                    <a:pt x="501" y="633"/>
                    <a:pt x="339" y="633"/>
                  </a:cubicBezTo>
                  <a:cubicBezTo>
                    <a:pt x="178" y="633"/>
                    <a:pt x="46" y="502"/>
                    <a:pt x="46" y="340"/>
                  </a:cubicBezTo>
                  <a:cubicBezTo>
                    <a:pt x="46" y="179"/>
                    <a:pt x="178" y="47"/>
                    <a:pt x="339" y="47"/>
                  </a:cubicBezTo>
                  <a:close/>
                  <a:moveTo>
                    <a:pt x="339" y="618"/>
                  </a:moveTo>
                  <a:cubicBezTo>
                    <a:pt x="492" y="618"/>
                    <a:pt x="617" y="493"/>
                    <a:pt x="617" y="340"/>
                  </a:cubicBezTo>
                  <a:cubicBezTo>
                    <a:pt x="617" y="187"/>
                    <a:pt x="492" y="63"/>
                    <a:pt x="339" y="63"/>
                  </a:cubicBezTo>
                  <a:cubicBezTo>
                    <a:pt x="186" y="63"/>
                    <a:pt x="62" y="187"/>
                    <a:pt x="62" y="340"/>
                  </a:cubicBezTo>
                  <a:cubicBezTo>
                    <a:pt x="62" y="493"/>
                    <a:pt x="186" y="618"/>
                    <a:pt x="339" y="618"/>
                  </a:cubicBezTo>
                  <a:close/>
                  <a:moveTo>
                    <a:pt x="339" y="74"/>
                  </a:moveTo>
                  <a:cubicBezTo>
                    <a:pt x="486" y="74"/>
                    <a:pt x="606" y="193"/>
                    <a:pt x="606" y="340"/>
                  </a:cubicBezTo>
                  <a:cubicBezTo>
                    <a:pt x="606" y="487"/>
                    <a:pt x="486" y="607"/>
                    <a:pt x="339" y="607"/>
                  </a:cubicBezTo>
                  <a:cubicBezTo>
                    <a:pt x="192" y="607"/>
                    <a:pt x="73" y="487"/>
                    <a:pt x="73" y="340"/>
                  </a:cubicBezTo>
                  <a:cubicBezTo>
                    <a:pt x="73" y="193"/>
                    <a:pt x="192" y="74"/>
                    <a:pt x="339" y="74"/>
                  </a:cubicBezTo>
                  <a:close/>
                  <a:moveTo>
                    <a:pt x="339" y="587"/>
                  </a:moveTo>
                  <a:cubicBezTo>
                    <a:pt x="475" y="587"/>
                    <a:pt x="586" y="476"/>
                    <a:pt x="586" y="340"/>
                  </a:cubicBezTo>
                  <a:cubicBezTo>
                    <a:pt x="586" y="204"/>
                    <a:pt x="475" y="94"/>
                    <a:pt x="339" y="94"/>
                  </a:cubicBezTo>
                  <a:cubicBezTo>
                    <a:pt x="204" y="94"/>
                    <a:pt x="93" y="204"/>
                    <a:pt x="93" y="340"/>
                  </a:cubicBezTo>
                  <a:cubicBezTo>
                    <a:pt x="93" y="476"/>
                    <a:pt x="204" y="587"/>
                    <a:pt x="339" y="587"/>
                  </a:cubicBezTo>
                  <a:close/>
                  <a:moveTo>
                    <a:pt x="339" y="100"/>
                  </a:moveTo>
                  <a:cubicBezTo>
                    <a:pt x="472" y="100"/>
                    <a:pt x="580" y="208"/>
                    <a:pt x="580" y="340"/>
                  </a:cubicBezTo>
                  <a:cubicBezTo>
                    <a:pt x="580" y="473"/>
                    <a:pt x="472" y="580"/>
                    <a:pt x="339" y="580"/>
                  </a:cubicBezTo>
                  <a:cubicBezTo>
                    <a:pt x="207" y="580"/>
                    <a:pt x="99" y="473"/>
                    <a:pt x="99" y="340"/>
                  </a:cubicBezTo>
                  <a:cubicBezTo>
                    <a:pt x="99" y="208"/>
                    <a:pt x="207" y="100"/>
                    <a:pt x="339" y="100"/>
                  </a:cubicBezTo>
                  <a:close/>
                  <a:moveTo>
                    <a:pt x="339" y="126"/>
                  </a:moveTo>
                  <a:cubicBezTo>
                    <a:pt x="458" y="126"/>
                    <a:pt x="554" y="222"/>
                    <a:pt x="554" y="340"/>
                  </a:cubicBezTo>
                  <a:cubicBezTo>
                    <a:pt x="554" y="459"/>
                    <a:pt x="458" y="555"/>
                    <a:pt x="339" y="555"/>
                  </a:cubicBezTo>
                  <a:cubicBezTo>
                    <a:pt x="221" y="555"/>
                    <a:pt x="125" y="459"/>
                    <a:pt x="125" y="340"/>
                  </a:cubicBezTo>
                  <a:cubicBezTo>
                    <a:pt x="125" y="222"/>
                    <a:pt x="221" y="126"/>
                    <a:pt x="339" y="126"/>
                  </a:cubicBezTo>
                  <a:close/>
                </a:path>
              </a:pathLst>
            </a:custGeom>
            <a:solidFill>
              <a:srgbClr val="80C8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grpSp>
      <p:grpSp>
        <p:nvGrpSpPr>
          <p:cNvPr id="29" name="logo_brand_vic_left" descr="&lt;mode=4x3&gt;&#10;&lt;size&gt;h=30.15764;w=52.81488&lt;size/&gt;&#10;&lt;pos&gt;top=493.8837;left=40.3726&lt;pos/&gt;&#10;&lt;mode/&gt;&#10;&lt;mode=16x9&gt;&#10;&lt;size&gt;h=22.61827;w=39.12669&lt;size/&gt;&#10;&lt;pos&gt;top=366.2025;left=30.99835&lt;pos/&gt;&#10;&lt;mode/&gt;"/>
          <p:cNvGrpSpPr>
            <a:grpSpLocks/>
          </p:cNvGrpSpPr>
          <p:nvPr userDrawn="1"/>
        </p:nvGrpSpPr>
        <p:grpSpPr>
          <a:xfrm>
            <a:off x="524906" y="6201029"/>
            <a:ext cx="662545" cy="383003"/>
            <a:chOff x="1520825" y="6256338"/>
            <a:chExt cx="630238" cy="357188"/>
          </a:xfrm>
          <a:solidFill>
            <a:srgbClr val="004EA8"/>
          </a:solidFill>
        </p:grpSpPr>
        <p:sp>
          <p:nvSpPr>
            <p:cNvPr id="30" name="Freeform 29"/>
            <p:cNvSpPr>
              <a:spLocks noEditPoints="1"/>
            </p:cNvSpPr>
            <p:nvPr userDrawn="1"/>
          </p:nvSpPr>
          <p:spPr bwMode="auto">
            <a:xfrm>
              <a:off x="1858963" y="6367463"/>
              <a:ext cx="87313" cy="84138"/>
            </a:xfrm>
            <a:custGeom>
              <a:avLst/>
              <a:gdLst>
                <a:gd name="T0" fmla="*/ 83 w 166"/>
                <a:gd name="T1" fmla="*/ 118 h 160"/>
                <a:gd name="T2" fmla="*/ 44 w 166"/>
                <a:gd name="T3" fmla="*/ 80 h 160"/>
                <a:gd name="T4" fmla="*/ 83 w 166"/>
                <a:gd name="T5" fmla="*/ 41 h 160"/>
                <a:gd name="T6" fmla="*/ 122 w 166"/>
                <a:gd name="T7" fmla="*/ 80 h 160"/>
                <a:gd name="T8" fmla="*/ 83 w 166"/>
                <a:gd name="T9" fmla="*/ 118 h 160"/>
                <a:gd name="T10" fmla="*/ 83 w 166"/>
                <a:gd name="T11" fmla="*/ 0 h 160"/>
                <a:gd name="T12" fmla="*/ 0 w 166"/>
                <a:gd name="T13" fmla="*/ 80 h 160"/>
                <a:gd name="T14" fmla="*/ 83 w 166"/>
                <a:gd name="T15" fmla="*/ 160 h 160"/>
                <a:gd name="T16" fmla="*/ 166 w 166"/>
                <a:gd name="T17" fmla="*/ 80 h 160"/>
                <a:gd name="T18" fmla="*/ 83 w 166"/>
                <a:gd name="T1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160">
                  <a:moveTo>
                    <a:pt x="83" y="118"/>
                  </a:moveTo>
                  <a:cubicBezTo>
                    <a:pt x="62" y="118"/>
                    <a:pt x="44" y="101"/>
                    <a:pt x="44" y="80"/>
                  </a:cubicBezTo>
                  <a:cubicBezTo>
                    <a:pt x="44" y="59"/>
                    <a:pt x="62" y="41"/>
                    <a:pt x="83" y="41"/>
                  </a:cubicBezTo>
                  <a:cubicBezTo>
                    <a:pt x="104" y="41"/>
                    <a:pt x="122" y="59"/>
                    <a:pt x="122" y="80"/>
                  </a:cubicBezTo>
                  <a:cubicBezTo>
                    <a:pt x="122" y="101"/>
                    <a:pt x="104" y="118"/>
                    <a:pt x="83" y="118"/>
                  </a:cubicBezTo>
                  <a:close/>
                  <a:moveTo>
                    <a:pt x="83" y="0"/>
                  </a:moveTo>
                  <a:cubicBezTo>
                    <a:pt x="37" y="0"/>
                    <a:pt x="0" y="34"/>
                    <a:pt x="0" y="80"/>
                  </a:cubicBezTo>
                  <a:cubicBezTo>
                    <a:pt x="0" y="125"/>
                    <a:pt x="37" y="160"/>
                    <a:pt x="83" y="160"/>
                  </a:cubicBezTo>
                  <a:cubicBezTo>
                    <a:pt x="129" y="160"/>
                    <a:pt x="166" y="125"/>
                    <a:pt x="166" y="80"/>
                  </a:cubicBezTo>
                  <a:cubicBezTo>
                    <a:pt x="166" y="34"/>
                    <a:pt x="129" y="0"/>
                    <a:pt x="83" y="0"/>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31" name="Freeform 30"/>
            <p:cNvSpPr>
              <a:spLocks noEditPoints="1"/>
            </p:cNvSpPr>
            <p:nvPr userDrawn="1"/>
          </p:nvSpPr>
          <p:spPr bwMode="auto">
            <a:xfrm>
              <a:off x="1957388" y="6369050"/>
              <a:ext cx="66675" cy="80963"/>
            </a:xfrm>
            <a:custGeom>
              <a:avLst/>
              <a:gdLst>
                <a:gd name="T0" fmla="*/ 71 w 129"/>
                <a:gd name="T1" fmla="*/ 74 h 154"/>
                <a:gd name="T2" fmla="*/ 42 w 129"/>
                <a:gd name="T3" fmla="*/ 74 h 154"/>
                <a:gd name="T4" fmla="*/ 42 w 129"/>
                <a:gd name="T5" fmla="*/ 38 h 154"/>
                <a:gd name="T6" fmla="*/ 71 w 129"/>
                <a:gd name="T7" fmla="*/ 38 h 154"/>
                <a:gd name="T8" fmla="*/ 86 w 129"/>
                <a:gd name="T9" fmla="*/ 56 h 154"/>
                <a:gd name="T10" fmla="*/ 71 w 129"/>
                <a:gd name="T11" fmla="*/ 74 h 154"/>
                <a:gd name="T12" fmla="*/ 129 w 129"/>
                <a:gd name="T13" fmla="*/ 56 h 154"/>
                <a:gd name="T14" fmla="*/ 71 w 129"/>
                <a:gd name="T15" fmla="*/ 0 h 154"/>
                <a:gd name="T16" fmla="*/ 0 w 129"/>
                <a:gd name="T17" fmla="*/ 0 h 154"/>
                <a:gd name="T18" fmla="*/ 0 w 129"/>
                <a:gd name="T19" fmla="*/ 154 h 154"/>
                <a:gd name="T20" fmla="*/ 42 w 129"/>
                <a:gd name="T21" fmla="*/ 154 h 154"/>
                <a:gd name="T22" fmla="*/ 42 w 129"/>
                <a:gd name="T23" fmla="*/ 112 h 154"/>
                <a:gd name="T24" fmla="*/ 62 w 129"/>
                <a:gd name="T25" fmla="*/ 112 h 154"/>
                <a:gd name="T26" fmla="*/ 81 w 129"/>
                <a:gd name="T27" fmla="*/ 154 h 154"/>
                <a:gd name="T28" fmla="*/ 129 w 129"/>
                <a:gd name="T29" fmla="*/ 154 h 154"/>
                <a:gd name="T30" fmla="*/ 102 w 129"/>
                <a:gd name="T31" fmla="*/ 102 h 154"/>
                <a:gd name="T32" fmla="*/ 129 w 129"/>
                <a:gd name="T33" fmla="*/ 5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9" h="154">
                  <a:moveTo>
                    <a:pt x="71" y="74"/>
                  </a:moveTo>
                  <a:lnTo>
                    <a:pt x="42" y="74"/>
                  </a:lnTo>
                  <a:lnTo>
                    <a:pt x="42" y="38"/>
                  </a:lnTo>
                  <a:lnTo>
                    <a:pt x="71" y="38"/>
                  </a:lnTo>
                  <a:cubicBezTo>
                    <a:pt x="80" y="38"/>
                    <a:pt x="86" y="48"/>
                    <a:pt x="86" y="56"/>
                  </a:cubicBezTo>
                  <a:cubicBezTo>
                    <a:pt x="86" y="64"/>
                    <a:pt x="80" y="74"/>
                    <a:pt x="71" y="74"/>
                  </a:cubicBezTo>
                  <a:close/>
                  <a:moveTo>
                    <a:pt x="129" y="56"/>
                  </a:moveTo>
                  <a:cubicBezTo>
                    <a:pt x="129" y="24"/>
                    <a:pt x="103" y="0"/>
                    <a:pt x="71" y="0"/>
                  </a:cubicBezTo>
                  <a:lnTo>
                    <a:pt x="0" y="0"/>
                  </a:lnTo>
                  <a:lnTo>
                    <a:pt x="0" y="154"/>
                  </a:lnTo>
                  <a:lnTo>
                    <a:pt x="42" y="154"/>
                  </a:lnTo>
                  <a:lnTo>
                    <a:pt x="42" y="112"/>
                  </a:lnTo>
                  <a:lnTo>
                    <a:pt x="62" y="112"/>
                  </a:lnTo>
                  <a:lnTo>
                    <a:pt x="81" y="154"/>
                  </a:lnTo>
                  <a:lnTo>
                    <a:pt x="129" y="154"/>
                  </a:lnTo>
                  <a:lnTo>
                    <a:pt x="102" y="102"/>
                  </a:lnTo>
                  <a:cubicBezTo>
                    <a:pt x="117" y="92"/>
                    <a:pt x="129" y="77"/>
                    <a:pt x="129" y="56"/>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32" name="Rectangle 31"/>
            <p:cNvSpPr>
              <a:spLocks noChangeArrowheads="1"/>
            </p:cNvSpPr>
            <p:nvPr userDrawn="1"/>
          </p:nvSpPr>
          <p:spPr bwMode="auto">
            <a:xfrm>
              <a:off x="2038350" y="6369050"/>
              <a:ext cx="22225" cy="8096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sz="2400"/>
            </a:p>
          </p:txBody>
        </p:sp>
        <p:sp>
          <p:nvSpPr>
            <p:cNvPr id="33" name="Freeform 32"/>
            <p:cNvSpPr>
              <a:spLocks noEditPoints="1"/>
            </p:cNvSpPr>
            <p:nvPr userDrawn="1"/>
          </p:nvSpPr>
          <p:spPr bwMode="auto">
            <a:xfrm>
              <a:off x="2068513" y="6369050"/>
              <a:ext cx="82550" cy="80963"/>
            </a:xfrm>
            <a:custGeom>
              <a:avLst/>
              <a:gdLst>
                <a:gd name="T0" fmla="*/ 22 w 52"/>
                <a:gd name="T1" fmla="*/ 33 h 51"/>
                <a:gd name="T2" fmla="*/ 26 w 52"/>
                <a:gd name="T3" fmla="*/ 23 h 51"/>
                <a:gd name="T4" fmla="*/ 26 w 52"/>
                <a:gd name="T5" fmla="*/ 23 h 51"/>
                <a:gd name="T6" fmla="*/ 31 w 52"/>
                <a:gd name="T7" fmla="*/ 33 h 51"/>
                <a:gd name="T8" fmla="*/ 22 w 52"/>
                <a:gd name="T9" fmla="*/ 33 h 51"/>
                <a:gd name="T10" fmla="*/ 29 w 52"/>
                <a:gd name="T11" fmla="*/ 0 h 51"/>
                <a:gd name="T12" fmla="*/ 23 w 52"/>
                <a:gd name="T13" fmla="*/ 0 h 51"/>
                <a:gd name="T14" fmla="*/ 0 w 52"/>
                <a:gd name="T15" fmla="*/ 51 h 51"/>
                <a:gd name="T16" fmla="*/ 15 w 52"/>
                <a:gd name="T17" fmla="*/ 51 h 51"/>
                <a:gd name="T18" fmla="*/ 17 w 52"/>
                <a:gd name="T19" fmla="*/ 45 h 51"/>
                <a:gd name="T20" fmla="*/ 35 w 52"/>
                <a:gd name="T21" fmla="*/ 45 h 51"/>
                <a:gd name="T22" fmla="*/ 37 w 52"/>
                <a:gd name="T23" fmla="*/ 51 h 51"/>
                <a:gd name="T24" fmla="*/ 52 w 52"/>
                <a:gd name="T25" fmla="*/ 51 h 51"/>
                <a:gd name="T26" fmla="*/ 29 w 52"/>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51">
                  <a:moveTo>
                    <a:pt x="22" y="33"/>
                  </a:moveTo>
                  <a:lnTo>
                    <a:pt x="26" y="23"/>
                  </a:lnTo>
                  <a:lnTo>
                    <a:pt x="26" y="23"/>
                  </a:lnTo>
                  <a:lnTo>
                    <a:pt x="31" y="33"/>
                  </a:lnTo>
                  <a:lnTo>
                    <a:pt x="22" y="33"/>
                  </a:lnTo>
                  <a:close/>
                  <a:moveTo>
                    <a:pt x="29" y="0"/>
                  </a:moveTo>
                  <a:lnTo>
                    <a:pt x="23" y="0"/>
                  </a:lnTo>
                  <a:lnTo>
                    <a:pt x="0" y="51"/>
                  </a:lnTo>
                  <a:lnTo>
                    <a:pt x="15" y="51"/>
                  </a:lnTo>
                  <a:lnTo>
                    <a:pt x="17" y="45"/>
                  </a:lnTo>
                  <a:lnTo>
                    <a:pt x="35" y="45"/>
                  </a:lnTo>
                  <a:lnTo>
                    <a:pt x="37" y="51"/>
                  </a:lnTo>
                  <a:lnTo>
                    <a:pt x="52" y="51"/>
                  </a:lnTo>
                  <a:lnTo>
                    <a:pt x="29"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34" name="Freeform 33"/>
            <p:cNvSpPr>
              <a:spLocks noEditPoints="1"/>
            </p:cNvSpPr>
            <p:nvPr userDrawn="1"/>
          </p:nvSpPr>
          <p:spPr bwMode="auto">
            <a:xfrm>
              <a:off x="1520825" y="6256338"/>
              <a:ext cx="333375" cy="357188"/>
            </a:xfrm>
            <a:custGeom>
              <a:avLst/>
              <a:gdLst>
                <a:gd name="T0" fmla="*/ 325 w 634"/>
                <a:gd name="T1" fmla="*/ 215 h 680"/>
                <a:gd name="T2" fmla="*/ 282 w 634"/>
                <a:gd name="T3" fmla="*/ 215 h 680"/>
                <a:gd name="T4" fmla="*/ 282 w 634"/>
                <a:gd name="T5" fmla="*/ 366 h 680"/>
                <a:gd name="T6" fmla="*/ 325 w 634"/>
                <a:gd name="T7" fmla="*/ 366 h 680"/>
                <a:gd name="T8" fmla="*/ 325 w 634"/>
                <a:gd name="T9" fmla="*/ 215 h 680"/>
                <a:gd name="T10" fmla="*/ 532 w 634"/>
                <a:gd name="T11" fmla="*/ 214 h 680"/>
                <a:gd name="T12" fmla="*/ 631 w 634"/>
                <a:gd name="T13" fmla="*/ 0 h 680"/>
                <a:gd name="T14" fmla="*/ 0 w 634"/>
                <a:gd name="T15" fmla="*/ 0 h 680"/>
                <a:gd name="T16" fmla="*/ 100 w 634"/>
                <a:gd name="T17" fmla="*/ 215 h 680"/>
                <a:gd name="T18" fmla="*/ 147 w 634"/>
                <a:gd name="T19" fmla="*/ 215 h 680"/>
                <a:gd name="T20" fmla="*/ 185 w 634"/>
                <a:gd name="T21" fmla="*/ 298 h 680"/>
                <a:gd name="T22" fmla="*/ 223 w 634"/>
                <a:gd name="T23" fmla="*/ 215 h 680"/>
                <a:gd name="T24" fmla="*/ 270 w 634"/>
                <a:gd name="T25" fmla="*/ 215 h 680"/>
                <a:gd name="T26" fmla="*/ 200 w 634"/>
                <a:gd name="T27" fmla="*/ 366 h 680"/>
                <a:gd name="T28" fmla="*/ 170 w 634"/>
                <a:gd name="T29" fmla="*/ 366 h 680"/>
                <a:gd name="T30" fmla="*/ 316 w 634"/>
                <a:gd name="T31" fmla="*/ 680 h 680"/>
                <a:gd name="T32" fmla="*/ 465 w 634"/>
                <a:gd name="T33" fmla="*/ 359 h 680"/>
                <a:gd name="T34" fmla="*/ 425 w 634"/>
                <a:gd name="T35" fmla="*/ 369 h 680"/>
                <a:gd name="T36" fmla="*/ 345 w 634"/>
                <a:gd name="T37" fmla="*/ 291 h 680"/>
                <a:gd name="T38" fmla="*/ 425 w 634"/>
                <a:gd name="T39" fmla="*/ 212 h 680"/>
                <a:gd name="T40" fmla="*/ 493 w 634"/>
                <a:gd name="T41" fmla="*/ 250 h 680"/>
                <a:gd name="T42" fmla="*/ 458 w 634"/>
                <a:gd name="T43" fmla="*/ 271 h 680"/>
                <a:gd name="T44" fmla="*/ 425 w 634"/>
                <a:gd name="T45" fmla="*/ 253 h 680"/>
                <a:gd name="T46" fmla="*/ 388 w 634"/>
                <a:gd name="T47" fmla="*/ 291 h 680"/>
                <a:gd name="T48" fmla="*/ 425 w 634"/>
                <a:gd name="T49" fmla="*/ 329 h 680"/>
                <a:gd name="T50" fmla="*/ 458 w 634"/>
                <a:gd name="T51" fmla="*/ 310 h 680"/>
                <a:gd name="T52" fmla="*/ 481 w 634"/>
                <a:gd name="T53" fmla="*/ 324 h 680"/>
                <a:gd name="T54" fmla="*/ 514 w 634"/>
                <a:gd name="T55" fmla="*/ 252 h 680"/>
                <a:gd name="T56" fmla="*/ 549 w 634"/>
                <a:gd name="T57" fmla="*/ 252 h 680"/>
                <a:gd name="T58" fmla="*/ 549 w 634"/>
                <a:gd name="T59" fmla="*/ 368 h 680"/>
                <a:gd name="T60" fmla="*/ 592 w 634"/>
                <a:gd name="T61" fmla="*/ 368 h 680"/>
                <a:gd name="T62" fmla="*/ 592 w 634"/>
                <a:gd name="T63" fmla="*/ 252 h 680"/>
                <a:gd name="T64" fmla="*/ 634 w 634"/>
                <a:gd name="T65" fmla="*/ 252 h 680"/>
                <a:gd name="T66" fmla="*/ 634 w 634"/>
                <a:gd name="T67" fmla="*/ 214 h 680"/>
                <a:gd name="T68" fmla="*/ 532 w 634"/>
                <a:gd name="T69" fmla="*/ 214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4" h="680">
                  <a:moveTo>
                    <a:pt x="325" y="215"/>
                  </a:moveTo>
                  <a:lnTo>
                    <a:pt x="282" y="215"/>
                  </a:lnTo>
                  <a:lnTo>
                    <a:pt x="282" y="366"/>
                  </a:lnTo>
                  <a:lnTo>
                    <a:pt x="325" y="366"/>
                  </a:lnTo>
                  <a:lnTo>
                    <a:pt x="325" y="215"/>
                  </a:lnTo>
                  <a:close/>
                  <a:moveTo>
                    <a:pt x="532" y="214"/>
                  </a:moveTo>
                  <a:lnTo>
                    <a:pt x="631" y="0"/>
                  </a:lnTo>
                  <a:lnTo>
                    <a:pt x="0" y="0"/>
                  </a:lnTo>
                  <a:lnTo>
                    <a:pt x="100" y="215"/>
                  </a:lnTo>
                  <a:lnTo>
                    <a:pt x="147" y="215"/>
                  </a:lnTo>
                  <a:lnTo>
                    <a:pt x="185" y="298"/>
                  </a:lnTo>
                  <a:lnTo>
                    <a:pt x="223" y="215"/>
                  </a:lnTo>
                  <a:lnTo>
                    <a:pt x="270" y="215"/>
                  </a:lnTo>
                  <a:lnTo>
                    <a:pt x="200" y="366"/>
                  </a:lnTo>
                  <a:lnTo>
                    <a:pt x="170" y="366"/>
                  </a:lnTo>
                  <a:lnTo>
                    <a:pt x="316" y="680"/>
                  </a:lnTo>
                  <a:lnTo>
                    <a:pt x="465" y="359"/>
                  </a:lnTo>
                  <a:cubicBezTo>
                    <a:pt x="453" y="366"/>
                    <a:pt x="440" y="369"/>
                    <a:pt x="425" y="369"/>
                  </a:cubicBezTo>
                  <a:cubicBezTo>
                    <a:pt x="380" y="369"/>
                    <a:pt x="345" y="336"/>
                    <a:pt x="345" y="291"/>
                  </a:cubicBezTo>
                  <a:cubicBezTo>
                    <a:pt x="345" y="246"/>
                    <a:pt x="380" y="212"/>
                    <a:pt x="425" y="212"/>
                  </a:cubicBezTo>
                  <a:cubicBezTo>
                    <a:pt x="454" y="212"/>
                    <a:pt x="479" y="227"/>
                    <a:pt x="493" y="250"/>
                  </a:cubicBezTo>
                  <a:lnTo>
                    <a:pt x="458" y="271"/>
                  </a:lnTo>
                  <a:cubicBezTo>
                    <a:pt x="451" y="261"/>
                    <a:pt x="439" y="253"/>
                    <a:pt x="425" y="253"/>
                  </a:cubicBezTo>
                  <a:cubicBezTo>
                    <a:pt x="405" y="253"/>
                    <a:pt x="388" y="270"/>
                    <a:pt x="388" y="291"/>
                  </a:cubicBezTo>
                  <a:cubicBezTo>
                    <a:pt x="388" y="311"/>
                    <a:pt x="405" y="329"/>
                    <a:pt x="425" y="329"/>
                  </a:cubicBezTo>
                  <a:cubicBezTo>
                    <a:pt x="439" y="329"/>
                    <a:pt x="451" y="321"/>
                    <a:pt x="458" y="310"/>
                  </a:cubicBezTo>
                  <a:lnTo>
                    <a:pt x="481" y="324"/>
                  </a:lnTo>
                  <a:lnTo>
                    <a:pt x="514" y="252"/>
                  </a:lnTo>
                  <a:lnTo>
                    <a:pt x="549" y="252"/>
                  </a:lnTo>
                  <a:lnTo>
                    <a:pt x="549" y="368"/>
                  </a:lnTo>
                  <a:lnTo>
                    <a:pt x="592" y="368"/>
                  </a:lnTo>
                  <a:lnTo>
                    <a:pt x="592" y="252"/>
                  </a:lnTo>
                  <a:lnTo>
                    <a:pt x="634" y="252"/>
                  </a:lnTo>
                  <a:lnTo>
                    <a:pt x="634" y="214"/>
                  </a:lnTo>
                  <a:lnTo>
                    <a:pt x="532" y="214"/>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53" name="Freeform 52"/>
            <p:cNvSpPr>
              <a:spLocks/>
            </p:cNvSpPr>
            <p:nvPr userDrawn="1"/>
          </p:nvSpPr>
          <p:spPr bwMode="auto">
            <a:xfrm>
              <a:off x="1804988" y="6481763"/>
              <a:ext cx="33338" cy="41275"/>
            </a:xfrm>
            <a:custGeom>
              <a:avLst/>
              <a:gdLst>
                <a:gd name="T0" fmla="*/ 56 w 64"/>
                <a:gd name="T1" fmla="*/ 21 h 79"/>
                <a:gd name="T2" fmla="*/ 34 w 64"/>
                <a:gd name="T3" fmla="*/ 14 h 79"/>
                <a:gd name="T4" fmla="*/ 19 w 64"/>
                <a:gd name="T5" fmla="*/ 23 h 79"/>
                <a:gd name="T6" fmla="*/ 35 w 64"/>
                <a:gd name="T7" fmla="*/ 32 h 79"/>
                <a:gd name="T8" fmla="*/ 39 w 64"/>
                <a:gd name="T9" fmla="*/ 33 h 79"/>
                <a:gd name="T10" fmla="*/ 64 w 64"/>
                <a:gd name="T11" fmla="*/ 54 h 79"/>
                <a:gd name="T12" fmla="*/ 32 w 64"/>
                <a:gd name="T13" fmla="*/ 79 h 79"/>
                <a:gd name="T14" fmla="*/ 0 w 64"/>
                <a:gd name="T15" fmla="*/ 69 h 79"/>
                <a:gd name="T16" fmla="*/ 8 w 64"/>
                <a:gd name="T17" fmla="*/ 57 h 79"/>
                <a:gd name="T18" fmla="*/ 32 w 64"/>
                <a:gd name="T19" fmla="*/ 65 h 79"/>
                <a:gd name="T20" fmla="*/ 47 w 64"/>
                <a:gd name="T21" fmla="*/ 56 h 79"/>
                <a:gd name="T22" fmla="*/ 31 w 64"/>
                <a:gd name="T23" fmla="*/ 47 h 79"/>
                <a:gd name="T24" fmla="*/ 26 w 64"/>
                <a:gd name="T25" fmla="*/ 46 h 79"/>
                <a:gd name="T26" fmla="*/ 3 w 64"/>
                <a:gd name="T27" fmla="*/ 24 h 79"/>
                <a:gd name="T28" fmla="*/ 33 w 64"/>
                <a:gd name="T29" fmla="*/ 0 h 79"/>
                <a:gd name="T30" fmla="*/ 63 w 64"/>
                <a:gd name="T31" fmla="*/ 8 h 79"/>
                <a:gd name="T32" fmla="*/ 56 w 64"/>
                <a:gd name="T33" fmla="*/ 2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79">
                  <a:moveTo>
                    <a:pt x="56" y="21"/>
                  </a:moveTo>
                  <a:cubicBezTo>
                    <a:pt x="50" y="17"/>
                    <a:pt x="42" y="14"/>
                    <a:pt x="34" y="14"/>
                  </a:cubicBezTo>
                  <a:cubicBezTo>
                    <a:pt x="25" y="14"/>
                    <a:pt x="19" y="17"/>
                    <a:pt x="19" y="23"/>
                  </a:cubicBezTo>
                  <a:cubicBezTo>
                    <a:pt x="19" y="29"/>
                    <a:pt x="26" y="31"/>
                    <a:pt x="35" y="32"/>
                  </a:cubicBezTo>
                  <a:lnTo>
                    <a:pt x="39" y="33"/>
                  </a:lnTo>
                  <a:cubicBezTo>
                    <a:pt x="53" y="35"/>
                    <a:pt x="64" y="41"/>
                    <a:pt x="64" y="54"/>
                  </a:cubicBezTo>
                  <a:cubicBezTo>
                    <a:pt x="64" y="71"/>
                    <a:pt x="49" y="79"/>
                    <a:pt x="32" y="79"/>
                  </a:cubicBezTo>
                  <a:cubicBezTo>
                    <a:pt x="21" y="79"/>
                    <a:pt x="8" y="76"/>
                    <a:pt x="0" y="69"/>
                  </a:cubicBezTo>
                  <a:lnTo>
                    <a:pt x="8" y="57"/>
                  </a:lnTo>
                  <a:cubicBezTo>
                    <a:pt x="13" y="61"/>
                    <a:pt x="22" y="65"/>
                    <a:pt x="32" y="65"/>
                  </a:cubicBezTo>
                  <a:cubicBezTo>
                    <a:pt x="41" y="65"/>
                    <a:pt x="47" y="62"/>
                    <a:pt x="47" y="56"/>
                  </a:cubicBezTo>
                  <a:cubicBezTo>
                    <a:pt x="47" y="51"/>
                    <a:pt x="42" y="49"/>
                    <a:pt x="31" y="47"/>
                  </a:cubicBezTo>
                  <a:lnTo>
                    <a:pt x="26" y="46"/>
                  </a:lnTo>
                  <a:cubicBezTo>
                    <a:pt x="13" y="44"/>
                    <a:pt x="3" y="38"/>
                    <a:pt x="3" y="24"/>
                  </a:cubicBezTo>
                  <a:cubicBezTo>
                    <a:pt x="3" y="8"/>
                    <a:pt x="17" y="0"/>
                    <a:pt x="33" y="0"/>
                  </a:cubicBezTo>
                  <a:cubicBezTo>
                    <a:pt x="44" y="0"/>
                    <a:pt x="53" y="2"/>
                    <a:pt x="63" y="8"/>
                  </a:cubicBezTo>
                  <a:lnTo>
                    <a:pt x="56" y="21"/>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54" name="Freeform 53"/>
            <p:cNvSpPr>
              <a:spLocks/>
            </p:cNvSpPr>
            <p:nvPr userDrawn="1"/>
          </p:nvSpPr>
          <p:spPr bwMode="auto">
            <a:xfrm>
              <a:off x="1841500" y="6486525"/>
              <a:ext cx="25400" cy="36513"/>
            </a:xfrm>
            <a:custGeom>
              <a:avLst/>
              <a:gdLst>
                <a:gd name="T0" fmla="*/ 44 w 48"/>
                <a:gd name="T1" fmla="*/ 29 h 70"/>
                <a:gd name="T2" fmla="*/ 24 w 48"/>
                <a:gd name="T3" fmla="*/ 29 h 70"/>
                <a:gd name="T4" fmla="*/ 24 w 48"/>
                <a:gd name="T5" fmla="*/ 48 h 70"/>
                <a:gd name="T6" fmla="*/ 32 w 48"/>
                <a:gd name="T7" fmla="*/ 57 h 70"/>
                <a:gd name="T8" fmla="*/ 42 w 48"/>
                <a:gd name="T9" fmla="*/ 54 h 70"/>
                <a:gd name="T10" fmla="*/ 48 w 48"/>
                <a:gd name="T11" fmla="*/ 65 h 70"/>
                <a:gd name="T12" fmla="*/ 30 w 48"/>
                <a:gd name="T13" fmla="*/ 70 h 70"/>
                <a:gd name="T14" fmla="*/ 10 w 48"/>
                <a:gd name="T15" fmla="*/ 49 h 70"/>
                <a:gd name="T16" fmla="*/ 10 w 48"/>
                <a:gd name="T17" fmla="*/ 29 h 70"/>
                <a:gd name="T18" fmla="*/ 0 w 48"/>
                <a:gd name="T19" fmla="*/ 29 h 70"/>
                <a:gd name="T20" fmla="*/ 0 w 48"/>
                <a:gd name="T21" fmla="*/ 16 h 70"/>
                <a:gd name="T22" fmla="*/ 10 w 48"/>
                <a:gd name="T23" fmla="*/ 16 h 70"/>
                <a:gd name="T24" fmla="*/ 10 w 48"/>
                <a:gd name="T25" fmla="*/ 0 h 70"/>
                <a:gd name="T26" fmla="*/ 24 w 48"/>
                <a:gd name="T27" fmla="*/ 0 h 70"/>
                <a:gd name="T28" fmla="*/ 24 w 48"/>
                <a:gd name="T29" fmla="*/ 16 h 70"/>
                <a:gd name="T30" fmla="*/ 44 w 48"/>
                <a:gd name="T31" fmla="*/ 16 h 70"/>
                <a:gd name="T32" fmla="*/ 44 w 48"/>
                <a:gd name="T33" fmla="*/ 2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70">
                  <a:moveTo>
                    <a:pt x="44" y="29"/>
                  </a:moveTo>
                  <a:lnTo>
                    <a:pt x="24" y="29"/>
                  </a:lnTo>
                  <a:lnTo>
                    <a:pt x="24" y="48"/>
                  </a:lnTo>
                  <a:cubicBezTo>
                    <a:pt x="24" y="55"/>
                    <a:pt x="28" y="57"/>
                    <a:pt x="32" y="57"/>
                  </a:cubicBezTo>
                  <a:cubicBezTo>
                    <a:pt x="36" y="57"/>
                    <a:pt x="40" y="55"/>
                    <a:pt x="42" y="54"/>
                  </a:cubicBezTo>
                  <a:lnTo>
                    <a:pt x="48" y="65"/>
                  </a:lnTo>
                  <a:cubicBezTo>
                    <a:pt x="43" y="68"/>
                    <a:pt x="38" y="70"/>
                    <a:pt x="30" y="70"/>
                  </a:cubicBezTo>
                  <a:cubicBezTo>
                    <a:pt x="17" y="70"/>
                    <a:pt x="10" y="63"/>
                    <a:pt x="10" y="49"/>
                  </a:cubicBezTo>
                  <a:lnTo>
                    <a:pt x="10" y="29"/>
                  </a:lnTo>
                  <a:lnTo>
                    <a:pt x="0" y="29"/>
                  </a:lnTo>
                  <a:lnTo>
                    <a:pt x="0" y="16"/>
                  </a:lnTo>
                  <a:lnTo>
                    <a:pt x="10" y="16"/>
                  </a:lnTo>
                  <a:lnTo>
                    <a:pt x="10" y="0"/>
                  </a:lnTo>
                  <a:lnTo>
                    <a:pt x="24" y="0"/>
                  </a:lnTo>
                  <a:lnTo>
                    <a:pt x="24" y="16"/>
                  </a:lnTo>
                  <a:lnTo>
                    <a:pt x="44" y="16"/>
                  </a:lnTo>
                  <a:lnTo>
                    <a:pt x="44" y="29"/>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55" name="Freeform 54"/>
            <p:cNvSpPr>
              <a:spLocks noEditPoints="1"/>
            </p:cNvSpPr>
            <p:nvPr userDrawn="1"/>
          </p:nvSpPr>
          <p:spPr bwMode="auto">
            <a:xfrm>
              <a:off x="1866900" y="6494463"/>
              <a:ext cx="30163" cy="28575"/>
            </a:xfrm>
            <a:custGeom>
              <a:avLst/>
              <a:gdLst>
                <a:gd name="T0" fmla="*/ 56 w 56"/>
                <a:gd name="T1" fmla="*/ 55 h 56"/>
                <a:gd name="T2" fmla="*/ 42 w 56"/>
                <a:gd name="T3" fmla="*/ 55 h 56"/>
                <a:gd name="T4" fmla="*/ 42 w 56"/>
                <a:gd name="T5" fmla="*/ 49 h 56"/>
                <a:gd name="T6" fmla="*/ 26 w 56"/>
                <a:gd name="T7" fmla="*/ 56 h 56"/>
                <a:gd name="T8" fmla="*/ 0 w 56"/>
                <a:gd name="T9" fmla="*/ 28 h 56"/>
                <a:gd name="T10" fmla="*/ 26 w 56"/>
                <a:gd name="T11" fmla="*/ 0 h 56"/>
                <a:gd name="T12" fmla="*/ 42 w 56"/>
                <a:gd name="T13" fmla="*/ 8 h 56"/>
                <a:gd name="T14" fmla="*/ 42 w 56"/>
                <a:gd name="T15" fmla="*/ 2 h 56"/>
                <a:gd name="T16" fmla="*/ 56 w 56"/>
                <a:gd name="T17" fmla="*/ 2 h 56"/>
                <a:gd name="T18" fmla="*/ 56 w 56"/>
                <a:gd name="T19" fmla="*/ 55 h 56"/>
                <a:gd name="T20" fmla="*/ 15 w 56"/>
                <a:gd name="T21" fmla="*/ 28 h 56"/>
                <a:gd name="T22" fmla="*/ 29 w 56"/>
                <a:gd name="T23" fmla="*/ 43 h 56"/>
                <a:gd name="T24" fmla="*/ 42 w 56"/>
                <a:gd name="T25" fmla="*/ 28 h 56"/>
                <a:gd name="T26" fmla="*/ 29 w 56"/>
                <a:gd name="T27" fmla="*/ 14 h 56"/>
                <a:gd name="T28" fmla="*/ 15 w 56"/>
                <a:gd name="T29" fmla="*/ 2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56">
                  <a:moveTo>
                    <a:pt x="56" y="55"/>
                  </a:moveTo>
                  <a:lnTo>
                    <a:pt x="42" y="55"/>
                  </a:lnTo>
                  <a:lnTo>
                    <a:pt x="42" y="49"/>
                  </a:lnTo>
                  <a:cubicBezTo>
                    <a:pt x="38" y="53"/>
                    <a:pt x="33" y="56"/>
                    <a:pt x="26" y="56"/>
                  </a:cubicBezTo>
                  <a:cubicBezTo>
                    <a:pt x="11" y="56"/>
                    <a:pt x="0" y="44"/>
                    <a:pt x="0" y="28"/>
                  </a:cubicBezTo>
                  <a:cubicBezTo>
                    <a:pt x="0" y="12"/>
                    <a:pt x="11" y="0"/>
                    <a:pt x="26" y="0"/>
                  </a:cubicBezTo>
                  <a:cubicBezTo>
                    <a:pt x="33" y="0"/>
                    <a:pt x="38" y="3"/>
                    <a:pt x="42" y="8"/>
                  </a:cubicBezTo>
                  <a:lnTo>
                    <a:pt x="42" y="2"/>
                  </a:lnTo>
                  <a:lnTo>
                    <a:pt x="56" y="2"/>
                  </a:lnTo>
                  <a:lnTo>
                    <a:pt x="56" y="55"/>
                  </a:lnTo>
                  <a:close/>
                  <a:moveTo>
                    <a:pt x="15" y="28"/>
                  </a:moveTo>
                  <a:cubicBezTo>
                    <a:pt x="15" y="37"/>
                    <a:pt x="20" y="43"/>
                    <a:pt x="29" y="43"/>
                  </a:cubicBezTo>
                  <a:cubicBezTo>
                    <a:pt x="37" y="43"/>
                    <a:pt x="42" y="37"/>
                    <a:pt x="42" y="28"/>
                  </a:cubicBezTo>
                  <a:cubicBezTo>
                    <a:pt x="42" y="20"/>
                    <a:pt x="37" y="14"/>
                    <a:pt x="29" y="14"/>
                  </a:cubicBezTo>
                  <a:cubicBezTo>
                    <a:pt x="20" y="14"/>
                    <a:pt x="15" y="20"/>
                    <a:pt x="15" y="28"/>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56" name="Freeform 55"/>
            <p:cNvSpPr>
              <a:spLocks/>
            </p:cNvSpPr>
            <p:nvPr userDrawn="1"/>
          </p:nvSpPr>
          <p:spPr bwMode="auto">
            <a:xfrm>
              <a:off x="1900238" y="6486525"/>
              <a:ext cx="25400" cy="36513"/>
            </a:xfrm>
            <a:custGeom>
              <a:avLst/>
              <a:gdLst>
                <a:gd name="T0" fmla="*/ 44 w 48"/>
                <a:gd name="T1" fmla="*/ 29 h 70"/>
                <a:gd name="T2" fmla="*/ 25 w 48"/>
                <a:gd name="T3" fmla="*/ 29 h 70"/>
                <a:gd name="T4" fmla="*/ 25 w 48"/>
                <a:gd name="T5" fmla="*/ 48 h 70"/>
                <a:gd name="T6" fmla="*/ 33 w 48"/>
                <a:gd name="T7" fmla="*/ 57 h 70"/>
                <a:gd name="T8" fmla="*/ 43 w 48"/>
                <a:gd name="T9" fmla="*/ 54 h 70"/>
                <a:gd name="T10" fmla="*/ 48 w 48"/>
                <a:gd name="T11" fmla="*/ 65 h 70"/>
                <a:gd name="T12" fmla="*/ 31 w 48"/>
                <a:gd name="T13" fmla="*/ 70 h 70"/>
                <a:gd name="T14" fmla="*/ 11 w 48"/>
                <a:gd name="T15" fmla="*/ 49 h 70"/>
                <a:gd name="T16" fmla="*/ 11 w 48"/>
                <a:gd name="T17" fmla="*/ 29 h 70"/>
                <a:gd name="T18" fmla="*/ 0 w 48"/>
                <a:gd name="T19" fmla="*/ 29 h 70"/>
                <a:gd name="T20" fmla="*/ 0 w 48"/>
                <a:gd name="T21" fmla="*/ 16 h 70"/>
                <a:gd name="T22" fmla="*/ 11 w 48"/>
                <a:gd name="T23" fmla="*/ 16 h 70"/>
                <a:gd name="T24" fmla="*/ 11 w 48"/>
                <a:gd name="T25" fmla="*/ 0 h 70"/>
                <a:gd name="T26" fmla="*/ 25 w 48"/>
                <a:gd name="T27" fmla="*/ 0 h 70"/>
                <a:gd name="T28" fmla="*/ 25 w 48"/>
                <a:gd name="T29" fmla="*/ 16 h 70"/>
                <a:gd name="T30" fmla="*/ 44 w 48"/>
                <a:gd name="T31" fmla="*/ 16 h 70"/>
                <a:gd name="T32" fmla="*/ 44 w 48"/>
                <a:gd name="T33" fmla="*/ 2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70">
                  <a:moveTo>
                    <a:pt x="44" y="29"/>
                  </a:moveTo>
                  <a:lnTo>
                    <a:pt x="25" y="29"/>
                  </a:lnTo>
                  <a:lnTo>
                    <a:pt x="25" y="48"/>
                  </a:lnTo>
                  <a:cubicBezTo>
                    <a:pt x="25" y="55"/>
                    <a:pt x="28" y="57"/>
                    <a:pt x="33" y="57"/>
                  </a:cubicBezTo>
                  <a:cubicBezTo>
                    <a:pt x="36" y="57"/>
                    <a:pt x="40" y="55"/>
                    <a:pt x="43" y="54"/>
                  </a:cubicBezTo>
                  <a:lnTo>
                    <a:pt x="48" y="65"/>
                  </a:lnTo>
                  <a:cubicBezTo>
                    <a:pt x="43" y="68"/>
                    <a:pt x="38" y="70"/>
                    <a:pt x="31" y="70"/>
                  </a:cubicBezTo>
                  <a:cubicBezTo>
                    <a:pt x="17" y="70"/>
                    <a:pt x="11" y="63"/>
                    <a:pt x="11" y="49"/>
                  </a:cubicBezTo>
                  <a:lnTo>
                    <a:pt x="11" y="29"/>
                  </a:lnTo>
                  <a:lnTo>
                    <a:pt x="0" y="29"/>
                  </a:lnTo>
                  <a:lnTo>
                    <a:pt x="0" y="16"/>
                  </a:lnTo>
                  <a:lnTo>
                    <a:pt x="11" y="16"/>
                  </a:lnTo>
                  <a:lnTo>
                    <a:pt x="11" y="0"/>
                  </a:lnTo>
                  <a:lnTo>
                    <a:pt x="25" y="0"/>
                  </a:lnTo>
                  <a:lnTo>
                    <a:pt x="25" y="16"/>
                  </a:lnTo>
                  <a:lnTo>
                    <a:pt x="44" y="16"/>
                  </a:lnTo>
                  <a:lnTo>
                    <a:pt x="44" y="29"/>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57" name="Freeform 56"/>
            <p:cNvSpPr>
              <a:spLocks noEditPoints="1"/>
            </p:cNvSpPr>
            <p:nvPr userDrawn="1"/>
          </p:nvSpPr>
          <p:spPr bwMode="auto">
            <a:xfrm>
              <a:off x="1927225" y="6494463"/>
              <a:ext cx="26988" cy="28575"/>
            </a:xfrm>
            <a:custGeom>
              <a:avLst/>
              <a:gdLst>
                <a:gd name="T0" fmla="*/ 52 w 52"/>
                <a:gd name="T1" fmla="*/ 28 h 56"/>
                <a:gd name="T2" fmla="*/ 52 w 52"/>
                <a:gd name="T3" fmla="*/ 33 h 56"/>
                <a:gd name="T4" fmla="*/ 14 w 52"/>
                <a:gd name="T5" fmla="*/ 33 h 56"/>
                <a:gd name="T6" fmla="*/ 28 w 52"/>
                <a:gd name="T7" fmla="*/ 44 h 56"/>
                <a:gd name="T8" fmla="*/ 41 w 52"/>
                <a:gd name="T9" fmla="*/ 39 h 56"/>
                <a:gd name="T10" fmla="*/ 50 w 52"/>
                <a:gd name="T11" fmla="*/ 48 h 56"/>
                <a:gd name="T12" fmla="*/ 27 w 52"/>
                <a:gd name="T13" fmla="*/ 56 h 56"/>
                <a:gd name="T14" fmla="*/ 0 w 52"/>
                <a:gd name="T15" fmla="*/ 29 h 56"/>
                <a:gd name="T16" fmla="*/ 26 w 52"/>
                <a:gd name="T17" fmla="*/ 0 h 56"/>
                <a:gd name="T18" fmla="*/ 52 w 52"/>
                <a:gd name="T19" fmla="*/ 28 h 56"/>
                <a:gd name="T20" fmla="*/ 14 w 52"/>
                <a:gd name="T21" fmla="*/ 23 h 56"/>
                <a:gd name="T22" fmla="*/ 38 w 52"/>
                <a:gd name="T23" fmla="*/ 23 h 56"/>
                <a:gd name="T24" fmla="*/ 26 w 52"/>
                <a:gd name="T25" fmla="*/ 13 h 56"/>
                <a:gd name="T26" fmla="*/ 14 w 52"/>
                <a:gd name="T27" fmla="*/ 2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56">
                  <a:moveTo>
                    <a:pt x="52" y="28"/>
                  </a:moveTo>
                  <a:cubicBezTo>
                    <a:pt x="52" y="30"/>
                    <a:pt x="52" y="32"/>
                    <a:pt x="52" y="33"/>
                  </a:cubicBezTo>
                  <a:lnTo>
                    <a:pt x="14" y="33"/>
                  </a:lnTo>
                  <a:cubicBezTo>
                    <a:pt x="16" y="41"/>
                    <a:pt x="21" y="44"/>
                    <a:pt x="28" y="44"/>
                  </a:cubicBezTo>
                  <a:cubicBezTo>
                    <a:pt x="33" y="44"/>
                    <a:pt x="38" y="42"/>
                    <a:pt x="41" y="39"/>
                  </a:cubicBezTo>
                  <a:lnTo>
                    <a:pt x="50" y="48"/>
                  </a:lnTo>
                  <a:cubicBezTo>
                    <a:pt x="44" y="54"/>
                    <a:pt x="36" y="56"/>
                    <a:pt x="27" y="56"/>
                  </a:cubicBezTo>
                  <a:cubicBezTo>
                    <a:pt x="11" y="56"/>
                    <a:pt x="0" y="45"/>
                    <a:pt x="0" y="29"/>
                  </a:cubicBezTo>
                  <a:cubicBezTo>
                    <a:pt x="0" y="12"/>
                    <a:pt x="11" y="0"/>
                    <a:pt x="26" y="0"/>
                  </a:cubicBezTo>
                  <a:cubicBezTo>
                    <a:pt x="42" y="0"/>
                    <a:pt x="52" y="12"/>
                    <a:pt x="52" y="28"/>
                  </a:cubicBezTo>
                  <a:moveTo>
                    <a:pt x="14" y="23"/>
                  </a:moveTo>
                  <a:lnTo>
                    <a:pt x="38" y="23"/>
                  </a:lnTo>
                  <a:cubicBezTo>
                    <a:pt x="37" y="17"/>
                    <a:pt x="33" y="13"/>
                    <a:pt x="26" y="13"/>
                  </a:cubicBezTo>
                  <a:cubicBezTo>
                    <a:pt x="20" y="13"/>
                    <a:pt x="16" y="17"/>
                    <a:pt x="14" y="23"/>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58" name="Freeform 57"/>
            <p:cNvSpPr>
              <a:spLocks/>
            </p:cNvSpPr>
            <p:nvPr userDrawn="1"/>
          </p:nvSpPr>
          <p:spPr bwMode="auto">
            <a:xfrm>
              <a:off x="1804988" y="6532563"/>
              <a:ext cx="41275" cy="42863"/>
            </a:xfrm>
            <a:custGeom>
              <a:avLst/>
              <a:gdLst>
                <a:gd name="T0" fmla="*/ 69 w 77"/>
                <a:gd name="T1" fmla="*/ 12 h 80"/>
                <a:gd name="T2" fmla="*/ 58 w 77"/>
                <a:gd name="T3" fmla="*/ 23 h 80"/>
                <a:gd name="T4" fmla="*/ 40 w 77"/>
                <a:gd name="T5" fmla="*/ 15 h 80"/>
                <a:gd name="T6" fmla="*/ 16 w 77"/>
                <a:gd name="T7" fmla="*/ 40 h 80"/>
                <a:gd name="T8" fmla="*/ 40 w 77"/>
                <a:gd name="T9" fmla="*/ 66 h 80"/>
                <a:gd name="T10" fmla="*/ 61 w 77"/>
                <a:gd name="T11" fmla="*/ 49 h 80"/>
                <a:gd name="T12" fmla="*/ 42 w 77"/>
                <a:gd name="T13" fmla="*/ 49 h 80"/>
                <a:gd name="T14" fmla="*/ 42 w 77"/>
                <a:gd name="T15" fmla="*/ 36 h 80"/>
                <a:gd name="T16" fmla="*/ 77 w 77"/>
                <a:gd name="T17" fmla="*/ 36 h 80"/>
                <a:gd name="T18" fmla="*/ 77 w 77"/>
                <a:gd name="T19" fmla="*/ 40 h 80"/>
                <a:gd name="T20" fmla="*/ 40 w 77"/>
                <a:gd name="T21" fmla="*/ 80 h 80"/>
                <a:gd name="T22" fmla="*/ 0 w 77"/>
                <a:gd name="T23" fmla="*/ 40 h 80"/>
                <a:gd name="T24" fmla="*/ 40 w 77"/>
                <a:gd name="T25" fmla="*/ 0 h 80"/>
                <a:gd name="T26" fmla="*/ 69 w 77"/>
                <a:gd name="T27" fmla="*/ 1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80">
                  <a:moveTo>
                    <a:pt x="69" y="12"/>
                  </a:moveTo>
                  <a:lnTo>
                    <a:pt x="58" y="23"/>
                  </a:lnTo>
                  <a:cubicBezTo>
                    <a:pt x="54" y="18"/>
                    <a:pt x="48" y="15"/>
                    <a:pt x="40" y="15"/>
                  </a:cubicBezTo>
                  <a:cubicBezTo>
                    <a:pt x="26" y="15"/>
                    <a:pt x="16" y="25"/>
                    <a:pt x="16" y="40"/>
                  </a:cubicBezTo>
                  <a:cubicBezTo>
                    <a:pt x="16" y="56"/>
                    <a:pt x="26" y="66"/>
                    <a:pt x="40" y="66"/>
                  </a:cubicBezTo>
                  <a:cubicBezTo>
                    <a:pt x="52" y="66"/>
                    <a:pt x="59" y="60"/>
                    <a:pt x="61" y="49"/>
                  </a:cubicBezTo>
                  <a:lnTo>
                    <a:pt x="42" y="49"/>
                  </a:lnTo>
                  <a:lnTo>
                    <a:pt x="42" y="36"/>
                  </a:lnTo>
                  <a:lnTo>
                    <a:pt x="77" y="36"/>
                  </a:lnTo>
                  <a:cubicBezTo>
                    <a:pt x="77" y="38"/>
                    <a:pt x="77" y="39"/>
                    <a:pt x="77" y="40"/>
                  </a:cubicBezTo>
                  <a:cubicBezTo>
                    <a:pt x="77" y="64"/>
                    <a:pt x="62" y="80"/>
                    <a:pt x="40" y="80"/>
                  </a:cubicBezTo>
                  <a:cubicBezTo>
                    <a:pt x="19" y="80"/>
                    <a:pt x="0" y="65"/>
                    <a:pt x="0" y="40"/>
                  </a:cubicBezTo>
                  <a:cubicBezTo>
                    <a:pt x="0" y="17"/>
                    <a:pt x="17" y="0"/>
                    <a:pt x="40" y="0"/>
                  </a:cubicBezTo>
                  <a:cubicBezTo>
                    <a:pt x="52" y="0"/>
                    <a:pt x="63" y="5"/>
                    <a:pt x="69" y="12"/>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59" name="Freeform 58"/>
            <p:cNvSpPr>
              <a:spLocks noEditPoints="1"/>
            </p:cNvSpPr>
            <p:nvPr userDrawn="1"/>
          </p:nvSpPr>
          <p:spPr bwMode="auto">
            <a:xfrm>
              <a:off x="1849438" y="6545263"/>
              <a:ext cx="30163" cy="30163"/>
            </a:xfrm>
            <a:custGeom>
              <a:avLst/>
              <a:gdLst>
                <a:gd name="T0" fmla="*/ 57 w 57"/>
                <a:gd name="T1" fmla="*/ 28 h 56"/>
                <a:gd name="T2" fmla="*/ 28 w 57"/>
                <a:gd name="T3" fmla="*/ 56 h 56"/>
                <a:gd name="T4" fmla="*/ 0 w 57"/>
                <a:gd name="T5" fmla="*/ 28 h 56"/>
                <a:gd name="T6" fmla="*/ 28 w 57"/>
                <a:gd name="T7" fmla="*/ 0 h 56"/>
                <a:gd name="T8" fmla="*/ 57 w 57"/>
                <a:gd name="T9" fmla="*/ 28 h 56"/>
                <a:gd name="T10" fmla="*/ 14 w 57"/>
                <a:gd name="T11" fmla="*/ 28 h 56"/>
                <a:gd name="T12" fmla="*/ 28 w 57"/>
                <a:gd name="T13" fmla="*/ 43 h 56"/>
                <a:gd name="T14" fmla="*/ 42 w 57"/>
                <a:gd name="T15" fmla="*/ 28 h 56"/>
                <a:gd name="T16" fmla="*/ 28 w 57"/>
                <a:gd name="T17" fmla="*/ 13 h 56"/>
                <a:gd name="T18" fmla="*/ 14 w 57"/>
                <a:gd name="T19" fmla="*/ 2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56">
                  <a:moveTo>
                    <a:pt x="57" y="28"/>
                  </a:moveTo>
                  <a:cubicBezTo>
                    <a:pt x="57" y="44"/>
                    <a:pt x="45" y="56"/>
                    <a:pt x="28" y="56"/>
                  </a:cubicBezTo>
                  <a:cubicBezTo>
                    <a:pt x="12" y="56"/>
                    <a:pt x="0" y="44"/>
                    <a:pt x="0" y="28"/>
                  </a:cubicBezTo>
                  <a:cubicBezTo>
                    <a:pt x="0" y="12"/>
                    <a:pt x="12" y="0"/>
                    <a:pt x="28" y="0"/>
                  </a:cubicBezTo>
                  <a:cubicBezTo>
                    <a:pt x="45" y="0"/>
                    <a:pt x="57" y="12"/>
                    <a:pt x="57" y="28"/>
                  </a:cubicBezTo>
                  <a:moveTo>
                    <a:pt x="14" y="28"/>
                  </a:moveTo>
                  <a:cubicBezTo>
                    <a:pt x="14" y="37"/>
                    <a:pt x="20" y="43"/>
                    <a:pt x="28" y="43"/>
                  </a:cubicBezTo>
                  <a:cubicBezTo>
                    <a:pt x="36" y="43"/>
                    <a:pt x="42" y="37"/>
                    <a:pt x="42" y="28"/>
                  </a:cubicBezTo>
                  <a:cubicBezTo>
                    <a:pt x="42" y="19"/>
                    <a:pt x="36" y="13"/>
                    <a:pt x="28" y="13"/>
                  </a:cubicBezTo>
                  <a:cubicBezTo>
                    <a:pt x="20" y="13"/>
                    <a:pt x="14" y="19"/>
                    <a:pt x="14" y="28"/>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60" name="Freeform 59"/>
            <p:cNvSpPr>
              <a:spLocks/>
            </p:cNvSpPr>
            <p:nvPr userDrawn="1"/>
          </p:nvSpPr>
          <p:spPr bwMode="auto">
            <a:xfrm>
              <a:off x="1881188" y="6546850"/>
              <a:ext cx="30163" cy="28575"/>
            </a:xfrm>
            <a:custGeom>
              <a:avLst/>
              <a:gdLst>
                <a:gd name="T0" fmla="*/ 12 w 19"/>
                <a:gd name="T1" fmla="*/ 18 h 18"/>
                <a:gd name="T2" fmla="*/ 7 w 19"/>
                <a:gd name="T3" fmla="*/ 18 h 18"/>
                <a:gd name="T4" fmla="*/ 0 w 19"/>
                <a:gd name="T5" fmla="*/ 0 h 18"/>
                <a:gd name="T6" fmla="*/ 5 w 19"/>
                <a:gd name="T7" fmla="*/ 0 h 18"/>
                <a:gd name="T8" fmla="*/ 9 w 19"/>
                <a:gd name="T9" fmla="*/ 13 h 18"/>
                <a:gd name="T10" fmla="*/ 14 w 19"/>
                <a:gd name="T11" fmla="*/ 0 h 18"/>
                <a:gd name="T12" fmla="*/ 19 w 19"/>
                <a:gd name="T13" fmla="*/ 0 h 18"/>
                <a:gd name="T14" fmla="*/ 12 w 19"/>
                <a:gd name="T15" fmla="*/ 18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8">
                  <a:moveTo>
                    <a:pt x="12" y="18"/>
                  </a:moveTo>
                  <a:lnTo>
                    <a:pt x="7" y="18"/>
                  </a:lnTo>
                  <a:lnTo>
                    <a:pt x="0" y="0"/>
                  </a:lnTo>
                  <a:lnTo>
                    <a:pt x="5" y="0"/>
                  </a:lnTo>
                  <a:lnTo>
                    <a:pt x="9" y="13"/>
                  </a:lnTo>
                  <a:lnTo>
                    <a:pt x="14" y="0"/>
                  </a:lnTo>
                  <a:lnTo>
                    <a:pt x="19" y="0"/>
                  </a:lnTo>
                  <a:lnTo>
                    <a:pt x="12" y="1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61" name="Freeform 60"/>
            <p:cNvSpPr>
              <a:spLocks noEditPoints="1"/>
            </p:cNvSpPr>
            <p:nvPr userDrawn="1"/>
          </p:nvSpPr>
          <p:spPr bwMode="auto">
            <a:xfrm>
              <a:off x="1911350" y="6545263"/>
              <a:ext cx="28575" cy="30163"/>
            </a:xfrm>
            <a:custGeom>
              <a:avLst/>
              <a:gdLst>
                <a:gd name="T0" fmla="*/ 53 w 53"/>
                <a:gd name="T1" fmla="*/ 28 h 56"/>
                <a:gd name="T2" fmla="*/ 53 w 53"/>
                <a:gd name="T3" fmla="*/ 33 h 56"/>
                <a:gd name="T4" fmla="*/ 15 w 53"/>
                <a:gd name="T5" fmla="*/ 33 h 56"/>
                <a:gd name="T6" fmla="*/ 29 w 53"/>
                <a:gd name="T7" fmla="*/ 44 h 56"/>
                <a:gd name="T8" fmla="*/ 42 w 53"/>
                <a:gd name="T9" fmla="*/ 39 h 56"/>
                <a:gd name="T10" fmla="*/ 50 w 53"/>
                <a:gd name="T11" fmla="*/ 48 h 56"/>
                <a:gd name="T12" fmla="*/ 28 w 53"/>
                <a:gd name="T13" fmla="*/ 56 h 56"/>
                <a:gd name="T14" fmla="*/ 0 w 53"/>
                <a:gd name="T15" fmla="*/ 28 h 56"/>
                <a:gd name="T16" fmla="*/ 27 w 53"/>
                <a:gd name="T17" fmla="*/ 0 h 56"/>
                <a:gd name="T18" fmla="*/ 53 w 53"/>
                <a:gd name="T19" fmla="*/ 28 h 56"/>
                <a:gd name="T20" fmla="*/ 15 w 53"/>
                <a:gd name="T21" fmla="*/ 23 h 56"/>
                <a:gd name="T22" fmla="*/ 39 w 53"/>
                <a:gd name="T23" fmla="*/ 23 h 56"/>
                <a:gd name="T24" fmla="*/ 27 w 53"/>
                <a:gd name="T25" fmla="*/ 12 h 56"/>
                <a:gd name="T26" fmla="*/ 15 w 53"/>
                <a:gd name="T27" fmla="*/ 2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 h="56">
                  <a:moveTo>
                    <a:pt x="53" y="28"/>
                  </a:moveTo>
                  <a:cubicBezTo>
                    <a:pt x="53" y="30"/>
                    <a:pt x="53" y="32"/>
                    <a:pt x="53" y="33"/>
                  </a:cubicBezTo>
                  <a:lnTo>
                    <a:pt x="15" y="33"/>
                  </a:lnTo>
                  <a:cubicBezTo>
                    <a:pt x="17" y="41"/>
                    <a:pt x="22" y="44"/>
                    <a:pt x="29" y="44"/>
                  </a:cubicBezTo>
                  <a:cubicBezTo>
                    <a:pt x="33" y="44"/>
                    <a:pt x="38" y="42"/>
                    <a:pt x="42" y="39"/>
                  </a:cubicBezTo>
                  <a:lnTo>
                    <a:pt x="50" y="48"/>
                  </a:lnTo>
                  <a:cubicBezTo>
                    <a:pt x="44" y="54"/>
                    <a:pt x="37" y="56"/>
                    <a:pt x="28" y="56"/>
                  </a:cubicBezTo>
                  <a:cubicBezTo>
                    <a:pt x="12" y="56"/>
                    <a:pt x="0" y="45"/>
                    <a:pt x="0" y="28"/>
                  </a:cubicBezTo>
                  <a:cubicBezTo>
                    <a:pt x="0" y="12"/>
                    <a:pt x="11" y="0"/>
                    <a:pt x="27" y="0"/>
                  </a:cubicBezTo>
                  <a:cubicBezTo>
                    <a:pt x="42" y="0"/>
                    <a:pt x="53" y="11"/>
                    <a:pt x="53" y="28"/>
                  </a:cubicBezTo>
                  <a:moveTo>
                    <a:pt x="15" y="23"/>
                  </a:moveTo>
                  <a:lnTo>
                    <a:pt x="39" y="23"/>
                  </a:lnTo>
                  <a:cubicBezTo>
                    <a:pt x="37" y="16"/>
                    <a:pt x="33" y="12"/>
                    <a:pt x="27" y="12"/>
                  </a:cubicBezTo>
                  <a:cubicBezTo>
                    <a:pt x="20" y="12"/>
                    <a:pt x="16" y="17"/>
                    <a:pt x="15" y="23"/>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62" name="Freeform 61"/>
            <p:cNvSpPr>
              <a:spLocks/>
            </p:cNvSpPr>
            <p:nvPr userDrawn="1"/>
          </p:nvSpPr>
          <p:spPr bwMode="auto">
            <a:xfrm>
              <a:off x="1944688" y="6545263"/>
              <a:ext cx="19050" cy="30163"/>
            </a:xfrm>
            <a:custGeom>
              <a:avLst/>
              <a:gdLst>
                <a:gd name="T0" fmla="*/ 37 w 37"/>
                <a:gd name="T1" fmla="*/ 1 h 55"/>
                <a:gd name="T2" fmla="*/ 35 w 37"/>
                <a:gd name="T3" fmla="*/ 15 h 55"/>
                <a:gd name="T4" fmla="*/ 26 w 37"/>
                <a:gd name="T5" fmla="*/ 14 h 55"/>
                <a:gd name="T6" fmla="*/ 15 w 37"/>
                <a:gd name="T7" fmla="*/ 26 h 55"/>
                <a:gd name="T8" fmla="*/ 15 w 37"/>
                <a:gd name="T9" fmla="*/ 55 h 55"/>
                <a:gd name="T10" fmla="*/ 0 w 37"/>
                <a:gd name="T11" fmla="*/ 55 h 55"/>
                <a:gd name="T12" fmla="*/ 0 w 37"/>
                <a:gd name="T13" fmla="*/ 2 h 55"/>
                <a:gd name="T14" fmla="*/ 14 w 37"/>
                <a:gd name="T15" fmla="*/ 2 h 55"/>
                <a:gd name="T16" fmla="*/ 14 w 37"/>
                <a:gd name="T17" fmla="*/ 7 h 55"/>
                <a:gd name="T18" fmla="*/ 29 w 37"/>
                <a:gd name="T19" fmla="*/ 0 h 55"/>
                <a:gd name="T20" fmla="*/ 37 w 37"/>
                <a:gd name="T21"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5">
                  <a:moveTo>
                    <a:pt x="37" y="1"/>
                  </a:moveTo>
                  <a:lnTo>
                    <a:pt x="35" y="15"/>
                  </a:lnTo>
                  <a:cubicBezTo>
                    <a:pt x="32" y="14"/>
                    <a:pt x="29" y="14"/>
                    <a:pt x="26" y="14"/>
                  </a:cubicBezTo>
                  <a:cubicBezTo>
                    <a:pt x="19" y="14"/>
                    <a:pt x="15" y="18"/>
                    <a:pt x="15" y="26"/>
                  </a:cubicBezTo>
                  <a:lnTo>
                    <a:pt x="15" y="55"/>
                  </a:lnTo>
                  <a:lnTo>
                    <a:pt x="0" y="55"/>
                  </a:lnTo>
                  <a:lnTo>
                    <a:pt x="0" y="2"/>
                  </a:lnTo>
                  <a:lnTo>
                    <a:pt x="14" y="2"/>
                  </a:lnTo>
                  <a:lnTo>
                    <a:pt x="14" y="7"/>
                  </a:lnTo>
                  <a:cubicBezTo>
                    <a:pt x="18" y="2"/>
                    <a:pt x="23" y="0"/>
                    <a:pt x="29" y="0"/>
                  </a:cubicBezTo>
                  <a:cubicBezTo>
                    <a:pt x="32" y="0"/>
                    <a:pt x="35" y="1"/>
                    <a:pt x="37" y="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63" name="Freeform 62"/>
            <p:cNvSpPr>
              <a:spLocks/>
            </p:cNvSpPr>
            <p:nvPr userDrawn="1"/>
          </p:nvSpPr>
          <p:spPr bwMode="auto">
            <a:xfrm>
              <a:off x="1966913" y="6545263"/>
              <a:ext cx="26988" cy="30163"/>
            </a:xfrm>
            <a:custGeom>
              <a:avLst/>
              <a:gdLst>
                <a:gd name="T0" fmla="*/ 51 w 51"/>
                <a:gd name="T1" fmla="*/ 21 h 55"/>
                <a:gd name="T2" fmla="*/ 51 w 51"/>
                <a:gd name="T3" fmla="*/ 55 h 55"/>
                <a:gd name="T4" fmla="*/ 36 w 51"/>
                <a:gd name="T5" fmla="*/ 55 h 55"/>
                <a:gd name="T6" fmla="*/ 36 w 51"/>
                <a:gd name="T7" fmla="*/ 25 h 55"/>
                <a:gd name="T8" fmla="*/ 26 w 51"/>
                <a:gd name="T9" fmla="*/ 14 h 55"/>
                <a:gd name="T10" fmla="*/ 15 w 51"/>
                <a:gd name="T11" fmla="*/ 26 h 55"/>
                <a:gd name="T12" fmla="*/ 15 w 51"/>
                <a:gd name="T13" fmla="*/ 55 h 55"/>
                <a:gd name="T14" fmla="*/ 0 w 51"/>
                <a:gd name="T15" fmla="*/ 55 h 55"/>
                <a:gd name="T16" fmla="*/ 0 w 51"/>
                <a:gd name="T17" fmla="*/ 2 h 55"/>
                <a:gd name="T18" fmla="*/ 14 w 51"/>
                <a:gd name="T19" fmla="*/ 2 h 55"/>
                <a:gd name="T20" fmla="*/ 14 w 51"/>
                <a:gd name="T21" fmla="*/ 8 h 55"/>
                <a:gd name="T22" fmla="*/ 30 w 51"/>
                <a:gd name="T23" fmla="*/ 0 h 55"/>
                <a:gd name="T24" fmla="*/ 51 w 51"/>
                <a:gd name="T25"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 h="55">
                  <a:moveTo>
                    <a:pt x="51" y="21"/>
                  </a:moveTo>
                  <a:lnTo>
                    <a:pt x="51" y="55"/>
                  </a:lnTo>
                  <a:lnTo>
                    <a:pt x="36" y="55"/>
                  </a:lnTo>
                  <a:lnTo>
                    <a:pt x="36" y="25"/>
                  </a:lnTo>
                  <a:cubicBezTo>
                    <a:pt x="36" y="18"/>
                    <a:pt x="32" y="14"/>
                    <a:pt x="26" y="14"/>
                  </a:cubicBezTo>
                  <a:cubicBezTo>
                    <a:pt x="20" y="14"/>
                    <a:pt x="15" y="18"/>
                    <a:pt x="15" y="26"/>
                  </a:cubicBezTo>
                  <a:lnTo>
                    <a:pt x="15" y="55"/>
                  </a:lnTo>
                  <a:lnTo>
                    <a:pt x="0" y="55"/>
                  </a:lnTo>
                  <a:lnTo>
                    <a:pt x="0" y="2"/>
                  </a:lnTo>
                  <a:lnTo>
                    <a:pt x="14" y="2"/>
                  </a:lnTo>
                  <a:lnTo>
                    <a:pt x="14" y="8"/>
                  </a:lnTo>
                  <a:cubicBezTo>
                    <a:pt x="18" y="2"/>
                    <a:pt x="24" y="0"/>
                    <a:pt x="30" y="0"/>
                  </a:cubicBezTo>
                  <a:cubicBezTo>
                    <a:pt x="42" y="0"/>
                    <a:pt x="51" y="9"/>
                    <a:pt x="51" y="2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64" name="Freeform 63"/>
            <p:cNvSpPr>
              <a:spLocks/>
            </p:cNvSpPr>
            <p:nvPr userDrawn="1"/>
          </p:nvSpPr>
          <p:spPr bwMode="auto">
            <a:xfrm>
              <a:off x="2000250" y="6545263"/>
              <a:ext cx="46038" cy="30163"/>
            </a:xfrm>
            <a:custGeom>
              <a:avLst/>
              <a:gdLst>
                <a:gd name="T0" fmla="*/ 86 w 86"/>
                <a:gd name="T1" fmla="*/ 21 h 55"/>
                <a:gd name="T2" fmla="*/ 86 w 86"/>
                <a:gd name="T3" fmla="*/ 55 h 55"/>
                <a:gd name="T4" fmla="*/ 72 w 86"/>
                <a:gd name="T5" fmla="*/ 55 h 55"/>
                <a:gd name="T6" fmla="*/ 72 w 86"/>
                <a:gd name="T7" fmla="*/ 25 h 55"/>
                <a:gd name="T8" fmla="*/ 61 w 86"/>
                <a:gd name="T9" fmla="*/ 14 h 55"/>
                <a:gd name="T10" fmla="*/ 50 w 86"/>
                <a:gd name="T11" fmla="*/ 26 h 55"/>
                <a:gd name="T12" fmla="*/ 50 w 86"/>
                <a:gd name="T13" fmla="*/ 55 h 55"/>
                <a:gd name="T14" fmla="*/ 36 w 86"/>
                <a:gd name="T15" fmla="*/ 55 h 55"/>
                <a:gd name="T16" fmla="*/ 36 w 86"/>
                <a:gd name="T17" fmla="*/ 25 h 55"/>
                <a:gd name="T18" fmla="*/ 25 w 86"/>
                <a:gd name="T19" fmla="*/ 14 h 55"/>
                <a:gd name="T20" fmla="*/ 14 w 86"/>
                <a:gd name="T21" fmla="*/ 26 h 55"/>
                <a:gd name="T22" fmla="*/ 14 w 86"/>
                <a:gd name="T23" fmla="*/ 55 h 55"/>
                <a:gd name="T24" fmla="*/ 0 w 86"/>
                <a:gd name="T25" fmla="*/ 55 h 55"/>
                <a:gd name="T26" fmla="*/ 0 w 86"/>
                <a:gd name="T27" fmla="*/ 2 h 55"/>
                <a:gd name="T28" fmla="*/ 14 w 86"/>
                <a:gd name="T29" fmla="*/ 2 h 55"/>
                <a:gd name="T30" fmla="*/ 14 w 86"/>
                <a:gd name="T31" fmla="*/ 8 h 55"/>
                <a:gd name="T32" fmla="*/ 29 w 86"/>
                <a:gd name="T33" fmla="*/ 0 h 55"/>
                <a:gd name="T34" fmla="*/ 47 w 86"/>
                <a:gd name="T35" fmla="*/ 9 h 55"/>
                <a:gd name="T36" fmla="*/ 65 w 86"/>
                <a:gd name="T37" fmla="*/ 0 h 55"/>
                <a:gd name="T38" fmla="*/ 86 w 86"/>
                <a:gd name="T39"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55">
                  <a:moveTo>
                    <a:pt x="86" y="21"/>
                  </a:moveTo>
                  <a:lnTo>
                    <a:pt x="86" y="55"/>
                  </a:lnTo>
                  <a:lnTo>
                    <a:pt x="72" y="55"/>
                  </a:lnTo>
                  <a:lnTo>
                    <a:pt x="72" y="25"/>
                  </a:lnTo>
                  <a:cubicBezTo>
                    <a:pt x="72" y="18"/>
                    <a:pt x="68" y="14"/>
                    <a:pt x="61" y="14"/>
                  </a:cubicBezTo>
                  <a:cubicBezTo>
                    <a:pt x="55" y="14"/>
                    <a:pt x="50" y="18"/>
                    <a:pt x="50" y="26"/>
                  </a:cubicBezTo>
                  <a:lnTo>
                    <a:pt x="50" y="55"/>
                  </a:lnTo>
                  <a:lnTo>
                    <a:pt x="36" y="55"/>
                  </a:lnTo>
                  <a:lnTo>
                    <a:pt x="36" y="25"/>
                  </a:lnTo>
                  <a:cubicBezTo>
                    <a:pt x="36" y="18"/>
                    <a:pt x="32" y="14"/>
                    <a:pt x="25" y="14"/>
                  </a:cubicBezTo>
                  <a:cubicBezTo>
                    <a:pt x="19" y="14"/>
                    <a:pt x="14" y="18"/>
                    <a:pt x="14" y="26"/>
                  </a:cubicBezTo>
                  <a:lnTo>
                    <a:pt x="14" y="55"/>
                  </a:lnTo>
                  <a:lnTo>
                    <a:pt x="0" y="55"/>
                  </a:lnTo>
                  <a:lnTo>
                    <a:pt x="0" y="2"/>
                  </a:lnTo>
                  <a:lnTo>
                    <a:pt x="14" y="2"/>
                  </a:lnTo>
                  <a:lnTo>
                    <a:pt x="14" y="8"/>
                  </a:lnTo>
                  <a:cubicBezTo>
                    <a:pt x="18" y="2"/>
                    <a:pt x="23" y="0"/>
                    <a:pt x="29" y="0"/>
                  </a:cubicBezTo>
                  <a:cubicBezTo>
                    <a:pt x="37" y="0"/>
                    <a:pt x="43" y="4"/>
                    <a:pt x="47" y="9"/>
                  </a:cubicBezTo>
                  <a:cubicBezTo>
                    <a:pt x="51" y="2"/>
                    <a:pt x="58" y="0"/>
                    <a:pt x="65" y="0"/>
                  </a:cubicBezTo>
                  <a:cubicBezTo>
                    <a:pt x="78" y="0"/>
                    <a:pt x="86" y="9"/>
                    <a:pt x="86" y="2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65" name="Freeform 64"/>
            <p:cNvSpPr>
              <a:spLocks noEditPoints="1"/>
            </p:cNvSpPr>
            <p:nvPr userDrawn="1"/>
          </p:nvSpPr>
          <p:spPr bwMode="auto">
            <a:xfrm>
              <a:off x="2051050" y="6545263"/>
              <a:ext cx="26988" cy="30163"/>
            </a:xfrm>
            <a:custGeom>
              <a:avLst/>
              <a:gdLst>
                <a:gd name="T0" fmla="*/ 53 w 53"/>
                <a:gd name="T1" fmla="*/ 28 h 56"/>
                <a:gd name="T2" fmla="*/ 52 w 53"/>
                <a:gd name="T3" fmla="*/ 33 h 56"/>
                <a:gd name="T4" fmla="*/ 15 w 53"/>
                <a:gd name="T5" fmla="*/ 33 h 56"/>
                <a:gd name="T6" fmla="*/ 28 w 53"/>
                <a:gd name="T7" fmla="*/ 44 h 56"/>
                <a:gd name="T8" fmla="*/ 42 w 53"/>
                <a:gd name="T9" fmla="*/ 39 h 56"/>
                <a:gd name="T10" fmla="*/ 50 w 53"/>
                <a:gd name="T11" fmla="*/ 48 h 56"/>
                <a:gd name="T12" fmla="*/ 28 w 53"/>
                <a:gd name="T13" fmla="*/ 56 h 56"/>
                <a:gd name="T14" fmla="*/ 0 w 53"/>
                <a:gd name="T15" fmla="*/ 28 h 56"/>
                <a:gd name="T16" fmla="*/ 27 w 53"/>
                <a:gd name="T17" fmla="*/ 0 h 56"/>
                <a:gd name="T18" fmla="*/ 53 w 53"/>
                <a:gd name="T19" fmla="*/ 28 h 56"/>
                <a:gd name="T20" fmla="*/ 15 w 53"/>
                <a:gd name="T21" fmla="*/ 23 h 56"/>
                <a:gd name="T22" fmla="*/ 38 w 53"/>
                <a:gd name="T23" fmla="*/ 23 h 56"/>
                <a:gd name="T24" fmla="*/ 27 w 53"/>
                <a:gd name="T25" fmla="*/ 12 h 56"/>
                <a:gd name="T26" fmla="*/ 15 w 53"/>
                <a:gd name="T27" fmla="*/ 2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 h="56">
                  <a:moveTo>
                    <a:pt x="53" y="28"/>
                  </a:moveTo>
                  <a:cubicBezTo>
                    <a:pt x="53" y="30"/>
                    <a:pt x="53" y="32"/>
                    <a:pt x="52" y="33"/>
                  </a:cubicBezTo>
                  <a:lnTo>
                    <a:pt x="15" y="33"/>
                  </a:lnTo>
                  <a:cubicBezTo>
                    <a:pt x="16" y="41"/>
                    <a:pt x="22" y="44"/>
                    <a:pt x="28" y="44"/>
                  </a:cubicBezTo>
                  <a:cubicBezTo>
                    <a:pt x="33" y="44"/>
                    <a:pt x="38" y="42"/>
                    <a:pt x="42" y="39"/>
                  </a:cubicBezTo>
                  <a:lnTo>
                    <a:pt x="50" y="48"/>
                  </a:lnTo>
                  <a:cubicBezTo>
                    <a:pt x="44" y="54"/>
                    <a:pt x="37" y="56"/>
                    <a:pt x="28" y="56"/>
                  </a:cubicBezTo>
                  <a:cubicBezTo>
                    <a:pt x="11" y="56"/>
                    <a:pt x="0" y="45"/>
                    <a:pt x="0" y="28"/>
                  </a:cubicBezTo>
                  <a:cubicBezTo>
                    <a:pt x="0" y="12"/>
                    <a:pt x="11" y="0"/>
                    <a:pt x="27" y="0"/>
                  </a:cubicBezTo>
                  <a:cubicBezTo>
                    <a:pt x="42" y="0"/>
                    <a:pt x="53" y="11"/>
                    <a:pt x="53" y="28"/>
                  </a:cubicBezTo>
                  <a:moveTo>
                    <a:pt x="15" y="23"/>
                  </a:moveTo>
                  <a:lnTo>
                    <a:pt x="38" y="23"/>
                  </a:lnTo>
                  <a:cubicBezTo>
                    <a:pt x="37" y="16"/>
                    <a:pt x="33" y="12"/>
                    <a:pt x="27" y="12"/>
                  </a:cubicBezTo>
                  <a:cubicBezTo>
                    <a:pt x="20" y="12"/>
                    <a:pt x="16" y="17"/>
                    <a:pt x="15" y="23"/>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66" name="Freeform 65"/>
            <p:cNvSpPr>
              <a:spLocks/>
            </p:cNvSpPr>
            <p:nvPr userDrawn="1"/>
          </p:nvSpPr>
          <p:spPr bwMode="auto">
            <a:xfrm>
              <a:off x="2082800" y="6545263"/>
              <a:ext cx="26988" cy="30163"/>
            </a:xfrm>
            <a:custGeom>
              <a:avLst/>
              <a:gdLst>
                <a:gd name="T0" fmla="*/ 50 w 50"/>
                <a:gd name="T1" fmla="*/ 21 h 55"/>
                <a:gd name="T2" fmla="*/ 50 w 50"/>
                <a:gd name="T3" fmla="*/ 55 h 55"/>
                <a:gd name="T4" fmla="*/ 36 w 50"/>
                <a:gd name="T5" fmla="*/ 55 h 55"/>
                <a:gd name="T6" fmla="*/ 36 w 50"/>
                <a:gd name="T7" fmla="*/ 25 h 55"/>
                <a:gd name="T8" fmla="*/ 26 w 50"/>
                <a:gd name="T9" fmla="*/ 14 h 55"/>
                <a:gd name="T10" fmla="*/ 15 w 50"/>
                <a:gd name="T11" fmla="*/ 26 h 55"/>
                <a:gd name="T12" fmla="*/ 15 w 50"/>
                <a:gd name="T13" fmla="*/ 55 h 55"/>
                <a:gd name="T14" fmla="*/ 0 w 50"/>
                <a:gd name="T15" fmla="*/ 55 h 55"/>
                <a:gd name="T16" fmla="*/ 0 w 50"/>
                <a:gd name="T17" fmla="*/ 2 h 55"/>
                <a:gd name="T18" fmla="*/ 14 w 50"/>
                <a:gd name="T19" fmla="*/ 2 h 55"/>
                <a:gd name="T20" fmla="*/ 14 w 50"/>
                <a:gd name="T21" fmla="*/ 8 h 55"/>
                <a:gd name="T22" fmla="*/ 30 w 50"/>
                <a:gd name="T23" fmla="*/ 0 h 55"/>
                <a:gd name="T24" fmla="*/ 50 w 50"/>
                <a:gd name="T25"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55">
                  <a:moveTo>
                    <a:pt x="50" y="21"/>
                  </a:moveTo>
                  <a:lnTo>
                    <a:pt x="50" y="55"/>
                  </a:lnTo>
                  <a:lnTo>
                    <a:pt x="36" y="55"/>
                  </a:lnTo>
                  <a:lnTo>
                    <a:pt x="36" y="25"/>
                  </a:lnTo>
                  <a:cubicBezTo>
                    <a:pt x="36" y="18"/>
                    <a:pt x="32" y="14"/>
                    <a:pt x="26" y="14"/>
                  </a:cubicBezTo>
                  <a:cubicBezTo>
                    <a:pt x="20" y="14"/>
                    <a:pt x="15" y="18"/>
                    <a:pt x="15" y="26"/>
                  </a:cubicBezTo>
                  <a:lnTo>
                    <a:pt x="15" y="55"/>
                  </a:lnTo>
                  <a:lnTo>
                    <a:pt x="0" y="55"/>
                  </a:lnTo>
                  <a:lnTo>
                    <a:pt x="0" y="2"/>
                  </a:lnTo>
                  <a:lnTo>
                    <a:pt x="14" y="2"/>
                  </a:lnTo>
                  <a:lnTo>
                    <a:pt x="14" y="8"/>
                  </a:lnTo>
                  <a:cubicBezTo>
                    <a:pt x="18" y="2"/>
                    <a:pt x="24" y="0"/>
                    <a:pt x="30" y="0"/>
                  </a:cubicBezTo>
                  <a:cubicBezTo>
                    <a:pt x="42" y="0"/>
                    <a:pt x="50" y="9"/>
                    <a:pt x="50" y="2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67" name="Freeform 66"/>
            <p:cNvSpPr>
              <a:spLocks/>
            </p:cNvSpPr>
            <p:nvPr userDrawn="1"/>
          </p:nvSpPr>
          <p:spPr bwMode="auto">
            <a:xfrm>
              <a:off x="2112963" y="6538913"/>
              <a:ext cx="25400" cy="36513"/>
            </a:xfrm>
            <a:custGeom>
              <a:avLst/>
              <a:gdLst>
                <a:gd name="T0" fmla="*/ 44 w 48"/>
                <a:gd name="T1" fmla="*/ 28 h 70"/>
                <a:gd name="T2" fmla="*/ 25 w 48"/>
                <a:gd name="T3" fmla="*/ 28 h 70"/>
                <a:gd name="T4" fmla="*/ 25 w 48"/>
                <a:gd name="T5" fmla="*/ 48 h 70"/>
                <a:gd name="T6" fmla="*/ 33 w 48"/>
                <a:gd name="T7" fmla="*/ 57 h 70"/>
                <a:gd name="T8" fmla="*/ 43 w 48"/>
                <a:gd name="T9" fmla="*/ 53 h 70"/>
                <a:gd name="T10" fmla="*/ 48 w 48"/>
                <a:gd name="T11" fmla="*/ 64 h 70"/>
                <a:gd name="T12" fmla="*/ 30 w 48"/>
                <a:gd name="T13" fmla="*/ 70 h 70"/>
                <a:gd name="T14" fmla="*/ 10 w 48"/>
                <a:gd name="T15" fmla="*/ 49 h 70"/>
                <a:gd name="T16" fmla="*/ 10 w 48"/>
                <a:gd name="T17" fmla="*/ 28 h 70"/>
                <a:gd name="T18" fmla="*/ 0 w 48"/>
                <a:gd name="T19" fmla="*/ 28 h 70"/>
                <a:gd name="T20" fmla="*/ 0 w 48"/>
                <a:gd name="T21" fmla="*/ 16 h 70"/>
                <a:gd name="T22" fmla="*/ 10 w 48"/>
                <a:gd name="T23" fmla="*/ 16 h 70"/>
                <a:gd name="T24" fmla="*/ 10 w 48"/>
                <a:gd name="T25" fmla="*/ 0 h 70"/>
                <a:gd name="T26" fmla="*/ 25 w 48"/>
                <a:gd name="T27" fmla="*/ 0 h 70"/>
                <a:gd name="T28" fmla="*/ 25 w 48"/>
                <a:gd name="T29" fmla="*/ 16 h 70"/>
                <a:gd name="T30" fmla="*/ 44 w 48"/>
                <a:gd name="T31" fmla="*/ 16 h 70"/>
                <a:gd name="T32" fmla="*/ 44 w 48"/>
                <a:gd name="T33" fmla="*/ 28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70">
                  <a:moveTo>
                    <a:pt x="44" y="28"/>
                  </a:moveTo>
                  <a:lnTo>
                    <a:pt x="25" y="28"/>
                  </a:lnTo>
                  <a:lnTo>
                    <a:pt x="25" y="48"/>
                  </a:lnTo>
                  <a:cubicBezTo>
                    <a:pt x="25" y="54"/>
                    <a:pt x="28" y="57"/>
                    <a:pt x="33" y="57"/>
                  </a:cubicBezTo>
                  <a:cubicBezTo>
                    <a:pt x="36" y="57"/>
                    <a:pt x="40" y="55"/>
                    <a:pt x="43" y="53"/>
                  </a:cubicBezTo>
                  <a:lnTo>
                    <a:pt x="48" y="64"/>
                  </a:lnTo>
                  <a:cubicBezTo>
                    <a:pt x="43" y="68"/>
                    <a:pt x="38" y="70"/>
                    <a:pt x="30" y="70"/>
                  </a:cubicBezTo>
                  <a:cubicBezTo>
                    <a:pt x="17" y="70"/>
                    <a:pt x="10" y="63"/>
                    <a:pt x="10" y="49"/>
                  </a:cubicBezTo>
                  <a:lnTo>
                    <a:pt x="10" y="28"/>
                  </a:lnTo>
                  <a:lnTo>
                    <a:pt x="0" y="28"/>
                  </a:lnTo>
                  <a:lnTo>
                    <a:pt x="0" y="16"/>
                  </a:lnTo>
                  <a:lnTo>
                    <a:pt x="10" y="16"/>
                  </a:lnTo>
                  <a:lnTo>
                    <a:pt x="10" y="0"/>
                  </a:lnTo>
                  <a:lnTo>
                    <a:pt x="25" y="0"/>
                  </a:lnTo>
                  <a:lnTo>
                    <a:pt x="25" y="16"/>
                  </a:lnTo>
                  <a:lnTo>
                    <a:pt x="44" y="16"/>
                  </a:lnTo>
                  <a:lnTo>
                    <a:pt x="44" y="28"/>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grpSp>
      <p:grpSp>
        <p:nvGrpSpPr>
          <p:cNvPr id="68" name="logo_brand_vic_right" descr="&lt;mode=4x3&gt;&#10;&lt;size&gt;h=30.15764;w=52.81488&lt;size/&gt;&#10;&lt;pos&gt;top=493.9158;left=464.4977&lt;pos/&gt;&#10;&lt;mode/&gt;&#10;&lt;mode=16x9&gt;&#10;&lt;size&gt;h=22.61827;w=39.11811&lt;size/&gt;&#10;&lt;pos&gt;top=366.2362;left=534.5255&lt;pos/&gt;&#10;&lt;mode/&gt;" hidden="1"/>
          <p:cNvGrpSpPr>
            <a:grpSpLocks/>
          </p:cNvGrpSpPr>
          <p:nvPr userDrawn="1"/>
        </p:nvGrpSpPr>
        <p:grpSpPr>
          <a:xfrm>
            <a:off x="9051299" y="6201600"/>
            <a:ext cx="662400" cy="383003"/>
            <a:chOff x="1520825" y="6256338"/>
            <a:chExt cx="630238" cy="357188"/>
          </a:xfrm>
          <a:solidFill>
            <a:srgbClr val="004EA8"/>
          </a:solidFill>
        </p:grpSpPr>
        <p:sp>
          <p:nvSpPr>
            <p:cNvPr id="69" name="Freeform 68" hidden="1"/>
            <p:cNvSpPr>
              <a:spLocks noEditPoints="1"/>
            </p:cNvSpPr>
            <p:nvPr userDrawn="1"/>
          </p:nvSpPr>
          <p:spPr bwMode="auto">
            <a:xfrm>
              <a:off x="1858963" y="6367463"/>
              <a:ext cx="87313" cy="84138"/>
            </a:xfrm>
            <a:custGeom>
              <a:avLst/>
              <a:gdLst>
                <a:gd name="T0" fmla="*/ 83 w 166"/>
                <a:gd name="T1" fmla="*/ 118 h 160"/>
                <a:gd name="T2" fmla="*/ 44 w 166"/>
                <a:gd name="T3" fmla="*/ 80 h 160"/>
                <a:gd name="T4" fmla="*/ 83 w 166"/>
                <a:gd name="T5" fmla="*/ 41 h 160"/>
                <a:gd name="T6" fmla="*/ 122 w 166"/>
                <a:gd name="T7" fmla="*/ 80 h 160"/>
                <a:gd name="T8" fmla="*/ 83 w 166"/>
                <a:gd name="T9" fmla="*/ 118 h 160"/>
                <a:gd name="T10" fmla="*/ 83 w 166"/>
                <a:gd name="T11" fmla="*/ 0 h 160"/>
                <a:gd name="T12" fmla="*/ 0 w 166"/>
                <a:gd name="T13" fmla="*/ 80 h 160"/>
                <a:gd name="T14" fmla="*/ 83 w 166"/>
                <a:gd name="T15" fmla="*/ 160 h 160"/>
                <a:gd name="T16" fmla="*/ 166 w 166"/>
                <a:gd name="T17" fmla="*/ 80 h 160"/>
                <a:gd name="T18" fmla="*/ 83 w 166"/>
                <a:gd name="T1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160">
                  <a:moveTo>
                    <a:pt x="83" y="118"/>
                  </a:moveTo>
                  <a:cubicBezTo>
                    <a:pt x="62" y="118"/>
                    <a:pt x="44" y="101"/>
                    <a:pt x="44" y="80"/>
                  </a:cubicBezTo>
                  <a:cubicBezTo>
                    <a:pt x="44" y="59"/>
                    <a:pt x="62" y="41"/>
                    <a:pt x="83" y="41"/>
                  </a:cubicBezTo>
                  <a:cubicBezTo>
                    <a:pt x="104" y="41"/>
                    <a:pt x="122" y="59"/>
                    <a:pt x="122" y="80"/>
                  </a:cubicBezTo>
                  <a:cubicBezTo>
                    <a:pt x="122" y="101"/>
                    <a:pt x="104" y="118"/>
                    <a:pt x="83" y="118"/>
                  </a:cubicBezTo>
                  <a:close/>
                  <a:moveTo>
                    <a:pt x="83" y="0"/>
                  </a:moveTo>
                  <a:cubicBezTo>
                    <a:pt x="37" y="0"/>
                    <a:pt x="0" y="34"/>
                    <a:pt x="0" y="80"/>
                  </a:cubicBezTo>
                  <a:cubicBezTo>
                    <a:pt x="0" y="125"/>
                    <a:pt x="37" y="160"/>
                    <a:pt x="83" y="160"/>
                  </a:cubicBezTo>
                  <a:cubicBezTo>
                    <a:pt x="129" y="160"/>
                    <a:pt x="166" y="125"/>
                    <a:pt x="166" y="80"/>
                  </a:cubicBezTo>
                  <a:cubicBezTo>
                    <a:pt x="166" y="34"/>
                    <a:pt x="129" y="0"/>
                    <a:pt x="83" y="0"/>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0" name="Freeform 69" hidden="1"/>
            <p:cNvSpPr>
              <a:spLocks noEditPoints="1"/>
            </p:cNvSpPr>
            <p:nvPr userDrawn="1"/>
          </p:nvSpPr>
          <p:spPr bwMode="auto">
            <a:xfrm>
              <a:off x="1957388" y="6369050"/>
              <a:ext cx="66675" cy="80963"/>
            </a:xfrm>
            <a:custGeom>
              <a:avLst/>
              <a:gdLst>
                <a:gd name="T0" fmla="*/ 71 w 129"/>
                <a:gd name="T1" fmla="*/ 74 h 154"/>
                <a:gd name="T2" fmla="*/ 42 w 129"/>
                <a:gd name="T3" fmla="*/ 74 h 154"/>
                <a:gd name="T4" fmla="*/ 42 w 129"/>
                <a:gd name="T5" fmla="*/ 38 h 154"/>
                <a:gd name="T6" fmla="*/ 71 w 129"/>
                <a:gd name="T7" fmla="*/ 38 h 154"/>
                <a:gd name="T8" fmla="*/ 86 w 129"/>
                <a:gd name="T9" fmla="*/ 56 h 154"/>
                <a:gd name="T10" fmla="*/ 71 w 129"/>
                <a:gd name="T11" fmla="*/ 74 h 154"/>
                <a:gd name="T12" fmla="*/ 129 w 129"/>
                <a:gd name="T13" fmla="*/ 56 h 154"/>
                <a:gd name="T14" fmla="*/ 71 w 129"/>
                <a:gd name="T15" fmla="*/ 0 h 154"/>
                <a:gd name="T16" fmla="*/ 0 w 129"/>
                <a:gd name="T17" fmla="*/ 0 h 154"/>
                <a:gd name="T18" fmla="*/ 0 w 129"/>
                <a:gd name="T19" fmla="*/ 154 h 154"/>
                <a:gd name="T20" fmla="*/ 42 w 129"/>
                <a:gd name="T21" fmla="*/ 154 h 154"/>
                <a:gd name="T22" fmla="*/ 42 w 129"/>
                <a:gd name="T23" fmla="*/ 112 h 154"/>
                <a:gd name="T24" fmla="*/ 62 w 129"/>
                <a:gd name="T25" fmla="*/ 112 h 154"/>
                <a:gd name="T26" fmla="*/ 81 w 129"/>
                <a:gd name="T27" fmla="*/ 154 h 154"/>
                <a:gd name="T28" fmla="*/ 129 w 129"/>
                <a:gd name="T29" fmla="*/ 154 h 154"/>
                <a:gd name="T30" fmla="*/ 102 w 129"/>
                <a:gd name="T31" fmla="*/ 102 h 154"/>
                <a:gd name="T32" fmla="*/ 129 w 129"/>
                <a:gd name="T33" fmla="*/ 5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9" h="154">
                  <a:moveTo>
                    <a:pt x="71" y="74"/>
                  </a:moveTo>
                  <a:lnTo>
                    <a:pt x="42" y="74"/>
                  </a:lnTo>
                  <a:lnTo>
                    <a:pt x="42" y="38"/>
                  </a:lnTo>
                  <a:lnTo>
                    <a:pt x="71" y="38"/>
                  </a:lnTo>
                  <a:cubicBezTo>
                    <a:pt x="80" y="38"/>
                    <a:pt x="86" y="48"/>
                    <a:pt x="86" y="56"/>
                  </a:cubicBezTo>
                  <a:cubicBezTo>
                    <a:pt x="86" y="64"/>
                    <a:pt x="80" y="74"/>
                    <a:pt x="71" y="74"/>
                  </a:cubicBezTo>
                  <a:close/>
                  <a:moveTo>
                    <a:pt x="129" y="56"/>
                  </a:moveTo>
                  <a:cubicBezTo>
                    <a:pt x="129" y="24"/>
                    <a:pt x="103" y="0"/>
                    <a:pt x="71" y="0"/>
                  </a:cubicBezTo>
                  <a:lnTo>
                    <a:pt x="0" y="0"/>
                  </a:lnTo>
                  <a:lnTo>
                    <a:pt x="0" y="154"/>
                  </a:lnTo>
                  <a:lnTo>
                    <a:pt x="42" y="154"/>
                  </a:lnTo>
                  <a:lnTo>
                    <a:pt x="42" y="112"/>
                  </a:lnTo>
                  <a:lnTo>
                    <a:pt x="62" y="112"/>
                  </a:lnTo>
                  <a:lnTo>
                    <a:pt x="81" y="154"/>
                  </a:lnTo>
                  <a:lnTo>
                    <a:pt x="129" y="154"/>
                  </a:lnTo>
                  <a:lnTo>
                    <a:pt x="102" y="102"/>
                  </a:lnTo>
                  <a:cubicBezTo>
                    <a:pt x="117" y="92"/>
                    <a:pt x="129" y="77"/>
                    <a:pt x="129" y="56"/>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1" name="Rectangle 70" hidden="1"/>
            <p:cNvSpPr>
              <a:spLocks noChangeArrowheads="1"/>
            </p:cNvSpPr>
            <p:nvPr userDrawn="1"/>
          </p:nvSpPr>
          <p:spPr bwMode="auto">
            <a:xfrm>
              <a:off x="2038350" y="6369050"/>
              <a:ext cx="22225" cy="8096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GB" sz="2400"/>
            </a:p>
          </p:txBody>
        </p:sp>
        <p:sp>
          <p:nvSpPr>
            <p:cNvPr id="72" name="Freeform 71" hidden="1"/>
            <p:cNvSpPr>
              <a:spLocks noEditPoints="1"/>
            </p:cNvSpPr>
            <p:nvPr userDrawn="1"/>
          </p:nvSpPr>
          <p:spPr bwMode="auto">
            <a:xfrm>
              <a:off x="2068513" y="6369050"/>
              <a:ext cx="82550" cy="80963"/>
            </a:xfrm>
            <a:custGeom>
              <a:avLst/>
              <a:gdLst>
                <a:gd name="T0" fmla="*/ 22 w 52"/>
                <a:gd name="T1" fmla="*/ 33 h 51"/>
                <a:gd name="T2" fmla="*/ 26 w 52"/>
                <a:gd name="T3" fmla="*/ 23 h 51"/>
                <a:gd name="T4" fmla="*/ 26 w 52"/>
                <a:gd name="T5" fmla="*/ 23 h 51"/>
                <a:gd name="T6" fmla="*/ 31 w 52"/>
                <a:gd name="T7" fmla="*/ 33 h 51"/>
                <a:gd name="T8" fmla="*/ 22 w 52"/>
                <a:gd name="T9" fmla="*/ 33 h 51"/>
                <a:gd name="T10" fmla="*/ 29 w 52"/>
                <a:gd name="T11" fmla="*/ 0 h 51"/>
                <a:gd name="T12" fmla="*/ 23 w 52"/>
                <a:gd name="T13" fmla="*/ 0 h 51"/>
                <a:gd name="T14" fmla="*/ 0 w 52"/>
                <a:gd name="T15" fmla="*/ 51 h 51"/>
                <a:gd name="T16" fmla="*/ 15 w 52"/>
                <a:gd name="T17" fmla="*/ 51 h 51"/>
                <a:gd name="T18" fmla="*/ 17 w 52"/>
                <a:gd name="T19" fmla="*/ 45 h 51"/>
                <a:gd name="T20" fmla="*/ 35 w 52"/>
                <a:gd name="T21" fmla="*/ 45 h 51"/>
                <a:gd name="T22" fmla="*/ 37 w 52"/>
                <a:gd name="T23" fmla="*/ 51 h 51"/>
                <a:gd name="T24" fmla="*/ 52 w 52"/>
                <a:gd name="T25" fmla="*/ 51 h 51"/>
                <a:gd name="T26" fmla="*/ 29 w 52"/>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51">
                  <a:moveTo>
                    <a:pt x="22" y="33"/>
                  </a:moveTo>
                  <a:lnTo>
                    <a:pt x="26" y="23"/>
                  </a:lnTo>
                  <a:lnTo>
                    <a:pt x="26" y="23"/>
                  </a:lnTo>
                  <a:lnTo>
                    <a:pt x="31" y="33"/>
                  </a:lnTo>
                  <a:lnTo>
                    <a:pt x="22" y="33"/>
                  </a:lnTo>
                  <a:close/>
                  <a:moveTo>
                    <a:pt x="29" y="0"/>
                  </a:moveTo>
                  <a:lnTo>
                    <a:pt x="23" y="0"/>
                  </a:lnTo>
                  <a:lnTo>
                    <a:pt x="0" y="51"/>
                  </a:lnTo>
                  <a:lnTo>
                    <a:pt x="15" y="51"/>
                  </a:lnTo>
                  <a:lnTo>
                    <a:pt x="17" y="45"/>
                  </a:lnTo>
                  <a:lnTo>
                    <a:pt x="35" y="45"/>
                  </a:lnTo>
                  <a:lnTo>
                    <a:pt x="37" y="51"/>
                  </a:lnTo>
                  <a:lnTo>
                    <a:pt x="52" y="51"/>
                  </a:lnTo>
                  <a:lnTo>
                    <a:pt x="29"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3" name="Freeform 72" hidden="1"/>
            <p:cNvSpPr>
              <a:spLocks noEditPoints="1"/>
            </p:cNvSpPr>
            <p:nvPr userDrawn="1"/>
          </p:nvSpPr>
          <p:spPr bwMode="auto">
            <a:xfrm>
              <a:off x="1520825" y="6256338"/>
              <a:ext cx="333375" cy="357188"/>
            </a:xfrm>
            <a:custGeom>
              <a:avLst/>
              <a:gdLst>
                <a:gd name="T0" fmla="*/ 325 w 634"/>
                <a:gd name="T1" fmla="*/ 215 h 680"/>
                <a:gd name="T2" fmla="*/ 282 w 634"/>
                <a:gd name="T3" fmla="*/ 215 h 680"/>
                <a:gd name="T4" fmla="*/ 282 w 634"/>
                <a:gd name="T5" fmla="*/ 366 h 680"/>
                <a:gd name="T6" fmla="*/ 325 w 634"/>
                <a:gd name="T7" fmla="*/ 366 h 680"/>
                <a:gd name="T8" fmla="*/ 325 w 634"/>
                <a:gd name="T9" fmla="*/ 215 h 680"/>
                <a:gd name="T10" fmla="*/ 532 w 634"/>
                <a:gd name="T11" fmla="*/ 214 h 680"/>
                <a:gd name="T12" fmla="*/ 631 w 634"/>
                <a:gd name="T13" fmla="*/ 0 h 680"/>
                <a:gd name="T14" fmla="*/ 0 w 634"/>
                <a:gd name="T15" fmla="*/ 0 h 680"/>
                <a:gd name="T16" fmla="*/ 100 w 634"/>
                <a:gd name="T17" fmla="*/ 215 h 680"/>
                <a:gd name="T18" fmla="*/ 147 w 634"/>
                <a:gd name="T19" fmla="*/ 215 h 680"/>
                <a:gd name="T20" fmla="*/ 185 w 634"/>
                <a:gd name="T21" fmla="*/ 298 h 680"/>
                <a:gd name="T22" fmla="*/ 223 w 634"/>
                <a:gd name="T23" fmla="*/ 215 h 680"/>
                <a:gd name="T24" fmla="*/ 270 w 634"/>
                <a:gd name="T25" fmla="*/ 215 h 680"/>
                <a:gd name="T26" fmla="*/ 200 w 634"/>
                <a:gd name="T27" fmla="*/ 366 h 680"/>
                <a:gd name="T28" fmla="*/ 170 w 634"/>
                <a:gd name="T29" fmla="*/ 366 h 680"/>
                <a:gd name="T30" fmla="*/ 316 w 634"/>
                <a:gd name="T31" fmla="*/ 680 h 680"/>
                <a:gd name="T32" fmla="*/ 465 w 634"/>
                <a:gd name="T33" fmla="*/ 359 h 680"/>
                <a:gd name="T34" fmla="*/ 425 w 634"/>
                <a:gd name="T35" fmla="*/ 369 h 680"/>
                <a:gd name="T36" fmla="*/ 345 w 634"/>
                <a:gd name="T37" fmla="*/ 291 h 680"/>
                <a:gd name="T38" fmla="*/ 425 w 634"/>
                <a:gd name="T39" fmla="*/ 212 h 680"/>
                <a:gd name="T40" fmla="*/ 493 w 634"/>
                <a:gd name="T41" fmla="*/ 250 h 680"/>
                <a:gd name="T42" fmla="*/ 458 w 634"/>
                <a:gd name="T43" fmla="*/ 271 h 680"/>
                <a:gd name="T44" fmla="*/ 425 w 634"/>
                <a:gd name="T45" fmla="*/ 253 h 680"/>
                <a:gd name="T46" fmla="*/ 388 w 634"/>
                <a:gd name="T47" fmla="*/ 291 h 680"/>
                <a:gd name="T48" fmla="*/ 425 w 634"/>
                <a:gd name="T49" fmla="*/ 329 h 680"/>
                <a:gd name="T50" fmla="*/ 458 w 634"/>
                <a:gd name="T51" fmla="*/ 310 h 680"/>
                <a:gd name="T52" fmla="*/ 481 w 634"/>
                <a:gd name="T53" fmla="*/ 324 h 680"/>
                <a:gd name="T54" fmla="*/ 514 w 634"/>
                <a:gd name="T55" fmla="*/ 252 h 680"/>
                <a:gd name="T56" fmla="*/ 549 w 634"/>
                <a:gd name="T57" fmla="*/ 252 h 680"/>
                <a:gd name="T58" fmla="*/ 549 w 634"/>
                <a:gd name="T59" fmla="*/ 368 h 680"/>
                <a:gd name="T60" fmla="*/ 592 w 634"/>
                <a:gd name="T61" fmla="*/ 368 h 680"/>
                <a:gd name="T62" fmla="*/ 592 w 634"/>
                <a:gd name="T63" fmla="*/ 252 h 680"/>
                <a:gd name="T64" fmla="*/ 634 w 634"/>
                <a:gd name="T65" fmla="*/ 252 h 680"/>
                <a:gd name="T66" fmla="*/ 634 w 634"/>
                <a:gd name="T67" fmla="*/ 214 h 680"/>
                <a:gd name="T68" fmla="*/ 532 w 634"/>
                <a:gd name="T69" fmla="*/ 214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4" h="680">
                  <a:moveTo>
                    <a:pt x="325" y="215"/>
                  </a:moveTo>
                  <a:lnTo>
                    <a:pt x="282" y="215"/>
                  </a:lnTo>
                  <a:lnTo>
                    <a:pt x="282" y="366"/>
                  </a:lnTo>
                  <a:lnTo>
                    <a:pt x="325" y="366"/>
                  </a:lnTo>
                  <a:lnTo>
                    <a:pt x="325" y="215"/>
                  </a:lnTo>
                  <a:close/>
                  <a:moveTo>
                    <a:pt x="532" y="214"/>
                  </a:moveTo>
                  <a:lnTo>
                    <a:pt x="631" y="0"/>
                  </a:lnTo>
                  <a:lnTo>
                    <a:pt x="0" y="0"/>
                  </a:lnTo>
                  <a:lnTo>
                    <a:pt x="100" y="215"/>
                  </a:lnTo>
                  <a:lnTo>
                    <a:pt x="147" y="215"/>
                  </a:lnTo>
                  <a:lnTo>
                    <a:pt x="185" y="298"/>
                  </a:lnTo>
                  <a:lnTo>
                    <a:pt x="223" y="215"/>
                  </a:lnTo>
                  <a:lnTo>
                    <a:pt x="270" y="215"/>
                  </a:lnTo>
                  <a:lnTo>
                    <a:pt x="200" y="366"/>
                  </a:lnTo>
                  <a:lnTo>
                    <a:pt x="170" y="366"/>
                  </a:lnTo>
                  <a:lnTo>
                    <a:pt x="316" y="680"/>
                  </a:lnTo>
                  <a:lnTo>
                    <a:pt x="465" y="359"/>
                  </a:lnTo>
                  <a:cubicBezTo>
                    <a:pt x="453" y="366"/>
                    <a:pt x="440" y="369"/>
                    <a:pt x="425" y="369"/>
                  </a:cubicBezTo>
                  <a:cubicBezTo>
                    <a:pt x="380" y="369"/>
                    <a:pt x="345" y="336"/>
                    <a:pt x="345" y="291"/>
                  </a:cubicBezTo>
                  <a:cubicBezTo>
                    <a:pt x="345" y="246"/>
                    <a:pt x="380" y="212"/>
                    <a:pt x="425" y="212"/>
                  </a:cubicBezTo>
                  <a:cubicBezTo>
                    <a:pt x="454" y="212"/>
                    <a:pt x="479" y="227"/>
                    <a:pt x="493" y="250"/>
                  </a:cubicBezTo>
                  <a:lnTo>
                    <a:pt x="458" y="271"/>
                  </a:lnTo>
                  <a:cubicBezTo>
                    <a:pt x="451" y="261"/>
                    <a:pt x="439" y="253"/>
                    <a:pt x="425" y="253"/>
                  </a:cubicBezTo>
                  <a:cubicBezTo>
                    <a:pt x="405" y="253"/>
                    <a:pt x="388" y="270"/>
                    <a:pt x="388" y="291"/>
                  </a:cubicBezTo>
                  <a:cubicBezTo>
                    <a:pt x="388" y="311"/>
                    <a:pt x="405" y="329"/>
                    <a:pt x="425" y="329"/>
                  </a:cubicBezTo>
                  <a:cubicBezTo>
                    <a:pt x="439" y="329"/>
                    <a:pt x="451" y="321"/>
                    <a:pt x="458" y="310"/>
                  </a:cubicBezTo>
                  <a:lnTo>
                    <a:pt x="481" y="324"/>
                  </a:lnTo>
                  <a:lnTo>
                    <a:pt x="514" y="252"/>
                  </a:lnTo>
                  <a:lnTo>
                    <a:pt x="549" y="252"/>
                  </a:lnTo>
                  <a:lnTo>
                    <a:pt x="549" y="368"/>
                  </a:lnTo>
                  <a:lnTo>
                    <a:pt x="592" y="368"/>
                  </a:lnTo>
                  <a:lnTo>
                    <a:pt x="592" y="252"/>
                  </a:lnTo>
                  <a:lnTo>
                    <a:pt x="634" y="252"/>
                  </a:lnTo>
                  <a:lnTo>
                    <a:pt x="634" y="214"/>
                  </a:lnTo>
                  <a:lnTo>
                    <a:pt x="532" y="214"/>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4" name="Freeform 73" hidden="1"/>
            <p:cNvSpPr>
              <a:spLocks/>
            </p:cNvSpPr>
            <p:nvPr userDrawn="1"/>
          </p:nvSpPr>
          <p:spPr bwMode="auto">
            <a:xfrm>
              <a:off x="1804988" y="6481763"/>
              <a:ext cx="33338" cy="41275"/>
            </a:xfrm>
            <a:custGeom>
              <a:avLst/>
              <a:gdLst>
                <a:gd name="T0" fmla="*/ 56 w 64"/>
                <a:gd name="T1" fmla="*/ 21 h 79"/>
                <a:gd name="T2" fmla="*/ 34 w 64"/>
                <a:gd name="T3" fmla="*/ 14 h 79"/>
                <a:gd name="T4" fmla="*/ 19 w 64"/>
                <a:gd name="T5" fmla="*/ 23 h 79"/>
                <a:gd name="T6" fmla="*/ 35 w 64"/>
                <a:gd name="T7" fmla="*/ 32 h 79"/>
                <a:gd name="T8" fmla="*/ 39 w 64"/>
                <a:gd name="T9" fmla="*/ 33 h 79"/>
                <a:gd name="T10" fmla="*/ 64 w 64"/>
                <a:gd name="T11" fmla="*/ 54 h 79"/>
                <a:gd name="T12" fmla="*/ 32 w 64"/>
                <a:gd name="T13" fmla="*/ 79 h 79"/>
                <a:gd name="T14" fmla="*/ 0 w 64"/>
                <a:gd name="T15" fmla="*/ 69 h 79"/>
                <a:gd name="T16" fmla="*/ 8 w 64"/>
                <a:gd name="T17" fmla="*/ 57 h 79"/>
                <a:gd name="T18" fmla="*/ 32 w 64"/>
                <a:gd name="T19" fmla="*/ 65 h 79"/>
                <a:gd name="T20" fmla="*/ 47 w 64"/>
                <a:gd name="T21" fmla="*/ 56 h 79"/>
                <a:gd name="T22" fmla="*/ 31 w 64"/>
                <a:gd name="T23" fmla="*/ 47 h 79"/>
                <a:gd name="T24" fmla="*/ 26 w 64"/>
                <a:gd name="T25" fmla="*/ 46 h 79"/>
                <a:gd name="T26" fmla="*/ 3 w 64"/>
                <a:gd name="T27" fmla="*/ 24 h 79"/>
                <a:gd name="T28" fmla="*/ 33 w 64"/>
                <a:gd name="T29" fmla="*/ 0 h 79"/>
                <a:gd name="T30" fmla="*/ 63 w 64"/>
                <a:gd name="T31" fmla="*/ 8 h 79"/>
                <a:gd name="T32" fmla="*/ 56 w 64"/>
                <a:gd name="T33" fmla="*/ 2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79">
                  <a:moveTo>
                    <a:pt x="56" y="21"/>
                  </a:moveTo>
                  <a:cubicBezTo>
                    <a:pt x="50" y="17"/>
                    <a:pt x="42" y="14"/>
                    <a:pt x="34" y="14"/>
                  </a:cubicBezTo>
                  <a:cubicBezTo>
                    <a:pt x="25" y="14"/>
                    <a:pt x="19" y="17"/>
                    <a:pt x="19" y="23"/>
                  </a:cubicBezTo>
                  <a:cubicBezTo>
                    <a:pt x="19" y="29"/>
                    <a:pt x="26" y="31"/>
                    <a:pt x="35" y="32"/>
                  </a:cubicBezTo>
                  <a:lnTo>
                    <a:pt x="39" y="33"/>
                  </a:lnTo>
                  <a:cubicBezTo>
                    <a:pt x="53" y="35"/>
                    <a:pt x="64" y="41"/>
                    <a:pt x="64" y="54"/>
                  </a:cubicBezTo>
                  <a:cubicBezTo>
                    <a:pt x="64" y="71"/>
                    <a:pt x="49" y="79"/>
                    <a:pt x="32" y="79"/>
                  </a:cubicBezTo>
                  <a:cubicBezTo>
                    <a:pt x="21" y="79"/>
                    <a:pt x="8" y="76"/>
                    <a:pt x="0" y="69"/>
                  </a:cubicBezTo>
                  <a:lnTo>
                    <a:pt x="8" y="57"/>
                  </a:lnTo>
                  <a:cubicBezTo>
                    <a:pt x="13" y="61"/>
                    <a:pt x="22" y="65"/>
                    <a:pt x="32" y="65"/>
                  </a:cubicBezTo>
                  <a:cubicBezTo>
                    <a:pt x="41" y="65"/>
                    <a:pt x="47" y="62"/>
                    <a:pt x="47" y="56"/>
                  </a:cubicBezTo>
                  <a:cubicBezTo>
                    <a:pt x="47" y="51"/>
                    <a:pt x="42" y="49"/>
                    <a:pt x="31" y="47"/>
                  </a:cubicBezTo>
                  <a:lnTo>
                    <a:pt x="26" y="46"/>
                  </a:lnTo>
                  <a:cubicBezTo>
                    <a:pt x="13" y="44"/>
                    <a:pt x="3" y="38"/>
                    <a:pt x="3" y="24"/>
                  </a:cubicBezTo>
                  <a:cubicBezTo>
                    <a:pt x="3" y="8"/>
                    <a:pt x="17" y="0"/>
                    <a:pt x="33" y="0"/>
                  </a:cubicBezTo>
                  <a:cubicBezTo>
                    <a:pt x="44" y="0"/>
                    <a:pt x="53" y="2"/>
                    <a:pt x="63" y="8"/>
                  </a:cubicBezTo>
                  <a:lnTo>
                    <a:pt x="56" y="21"/>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5" name="Freeform 74" hidden="1"/>
            <p:cNvSpPr>
              <a:spLocks/>
            </p:cNvSpPr>
            <p:nvPr userDrawn="1"/>
          </p:nvSpPr>
          <p:spPr bwMode="auto">
            <a:xfrm>
              <a:off x="1841500" y="6486525"/>
              <a:ext cx="25400" cy="36513"/>
            </a:xfrm>
            <a:custGeom>
              <a:avLst/>
              <a:gdLst>
                <a:gd name="T0" fmla="*/ 44 w 48"/>
                <a:gd name="T1" fmla="*/ 29 h 70"/>
                <a:gd name="T2" fmla="*/ 24 w 48"/>
                <a:gd name="T3" fmla="*/ 29 h 70"/>
                <a:gd name="T4" fmla="*/ 24 w 48"/>
                <a:gd name="T5" fmla="*/ 48 h 70"/>
                <a:gd name="T6" fmla="*/ 32 w 48"/>
                <a:gd name="T7" fmla="*/ 57 h 70"/>
                <a:gd name="T8" fmla="*/ 42 w 48"/>
                <a:gd name="T9" fmla="*/ 54 h 70"/>
                <a:gd name="T10" fmla="*/ 48 w 48"/>
                <a:gd name="T11" fmla="*/ 65 h 70"/>
                <a:gd name="T12" fmla="*/ 30 w 48"/>
                <a:gd name="T13" fmla="*/ 70 h 70"/>
                <a:gd name="T14" fmla="*/ 10 w 48"/>
                <a:gd name="T15" fmla="*/ 49 h 70"/>
                <a:gd name="T16" fmla="*/ 10 w 48"/>
                <a:gd name="T17" fmla="*/ 29 h 70"/>
                <a:gd name="T18" fmla="*/ 0 w 48"/>
                <a:gd name="T19" fmla="*/ 29 h 70"/>
                <a:gd name="T20" fmla="*/ 0 w 48"/>
                <a:gd name="T21" fmla="*/ 16 h 70"/>
                <a:gd name="T22" fmla="*/ 10 w 48"/>
                <a:gd name="T23" fmla="*/ 16 h 70"/>
                <a:gd name="T24" fmla="*/ 10 w 48"/>
                <a:gd name="T25" fmla="*/ 0 h 70"/>
                <a:gd name="T26" fmla="*/ 24 w 48"/>
                <a:gd name="T27" fmla="*/ 0 h 70"/>
                <a:gd name="T28" fmla="*/ 24 w 48"/>
                <a:gd name="T29" fmla="*/ 16 h 70"/>
                <a:gd name="T30" fmla="*/ 44 w 48"/>
                <a:gd name="T31" fmla="*/ 16 h 70"/>
                <a:gd name="T32" fmla="*/ 44 w 48"/>
                <a:gd name="T33" fmla="*/ 2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70">
                  <a:moveTo>
                    <a:pt x="44" y="29"/>
                  </a:moveTo>
                  <a:lnTo>
                    <a:pt x="24" y="29"/>
                  </a:lnTo>
                  <a:lnTo>
                    <a:pt x="24" y="48"/>
                  </a:lnTo>
                  <a:cubicBezTo>
                    <a:pt x="24" y="55"/>
                    <a:pt x="28" y="57"/>
                    <a:pt x="32" y="57"/>
                  </a:cubicBezTo>
                  <a:cubicBezTo>
                    <a:pt x="36" y="57"/>
                    <a:pt x="40" y="55"/>
                    <a:pt x="42" y="54"/>
                  </a:cubicBezTo>
                  <a:lnTo>
                    <a:pt x="48" y="65"/>
                  </a:lnTo>
                  <a:cubicBezTo>
                    <a:pt x="43" y="68"/>
                    <a:pt x="38" y="70"/>
                    <a:pt x="30" y="70"/>
                  </a:cubicBezTo>
                  <a:cubicBezTo>
                    <a:pt x="17" y="70"/>
                    <a:pt x="10" y="63"/>
                    <a:pt x="10" y="49"/>
                  </a:cubicBezTo>
                  <a:lnTo>
                    <a:pt x="10" y="29"/>
                  </a:lnTo>
                  <a:lnTo>
                    <a:pt x="0" y="29"/>
                  </a:lnTo>
                  <a:lnTo>
                    <a:pt x="0" y="16"/>
                  </a:lnTo>
                  <a:lnTo>
                    <a:pt x="10" y="16"/>
                  </a:lnTo>
                  <a:lnTo>
                    <a:pt x="10" y="0"/>
                  </a:lnTo>
                  <a:lnTo>
                    <a:pt x="24" y="0"/>
                  </a:lnTo>
                  <a:lnTo>
                    <a:pt x="24" y="16"/>
                  </a:lnTo>
                  <a:lnTo>
                    <a:pt x="44" y="16"/>
                  </a:lnTo>
                  <a:lnTo>
                    <a:pt x="44" y="29"/>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6" name="Freeform 75" hidden="1"/>
            <p:cNvSpPr>
              <a:spLocks noEditPoints="1"/>
            </p:cNvSpPr>
            <p:nvPr userDrawn="1"/>
          </p:nvSpPr>
          <p:spPr bwMode="auto">
            <a:xfrm>
              <a:off x="1866900" y="6494463"/>
              <a:ext cx="30163" cy="28575"/>
            </a:xfrm>
            <a:custGeom>
              <a:avLst/>
              <a:gdLst>
                <a:gd name="T0" fmla="*/ 56 w 56"/>
                <a:gd name="T1" fmla="*/ 55 h 56"/>
                <a:gd name="T2" fmla="*/ 42 w 56"/>
                <a:gd name="T3" fmla="*/ 55 h 56"/>
                <a:gd name="T4" fmla="*/ 42 w 56"/>
                <a:gd name="T5" fmla="*/ 49 h 56"/>
                <a:gd name="T6" fmla="*/ 26 w 56"/>
                <a:gd name="T7" fmla="*/ 56 h 56"/>
                <a:gd name="T8" fmla="*/ 0 w 56"/>
                <a:gd name="T9" fmla="*/ 28 h 56"/>
                <a:gd name="T10" fmla="*/ 26 w 56"/>
                <a:gd name="T11" fmla="*/ 0 h 56"/>
                <a:gd name="T12" fmla="*/ 42 w 56"/>
                <a:gd name="T13" fmla="*/ 8 h 56"/>
                <a:gd name="T14" fmla="*/ 42 w 56"/>
                <a:gd name="T15" fmla="*/ 2 h 56"/>
                <a:gd name="T16" fmla="*/ 56 w 56"/>
                <a:gd name="T17" fmla="*/ 2 h 56"/>
                <a:gd name="T18" fmla="*/ 56 w 56"/>
                <a:gd name="T19" fmla="*/ 55 h 56"/>
                <a:gd name="T20" fmla="*/ 15 w 56"/>
                <a:gd name="T21" fmla="*/ 28 h 56"/>
                <a:gd name="T22" fmla="*/ 29 w 56"/>
                <a:gd name="T23" fmla="*/ 43 h 56"/>
                <a:gd name="T24" fmla="*/ 42 w 56"/>
                <a:gd name="T25" fmla="*/ 28 h 56"/>
                <a:gd name="T26" fmla="*/ 29 w 56"/>
                <a:gd name="T27" fmla="*/ 14 h 56"/>
                <a:gd name="T28" fmla="*/ 15 w 56"/>
                <a:gd name="T29" fmla="*/ 2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56">
                  <a:moveTo>
                    <a:pt x="56" y="55"/>
                  </a:moveTo>
                  <a:lnTo>
                    <a:pt x="42" y="55"/>
                  </a:lnTo>
                  <a:lnTo>
                    <a:pt x="42" y="49"/>
                  </a:lnTo>
                  <a:cubicBezTo>
                    <a:pt x="38" y="53"/>
                    <a:pt x="33" y="56"/>
                    <a:pt x="26" y="56"/>
                  </a:cubicBezTo>
                  <a:cubicBezTo>
                    <a:pt x="11" y="56"/>
                    <a:pt x="0" y="44"/>
                    <a:pt x="0" y="28"/>
                  </a:cubicBezTo>
                  <a:cubicBezTo>
                    <a:pt x="0" y="12"/>
                    <a:pt x="11" y="0"/>
                    <a:pt x="26" y="0"/>
                  </a:cubicBezTo>
                  <a:cubicBezTo>
                    <a:pt x="33" y="0"/>
                    <a:pt x="38" y="3"/>
                    <a:pt x="42" y="8"/>
                  </a:cubicBezTo>
                  <a:lnTo>
                    <a:pt x="42" y="2"/>
                  </a:lnTo>
                  <a:lnTo>
                    <a:pt x="56" y="2"/>
                  </a:lnTo>
                  <a:lnTo>
                    <a:pt x="56" y="55"/>
                  </a:lnTo>
                  <a:close/>
                  <a:moveTo>
                    <a:pt x="15" y="28"/>
                  </a:moveTo>
                  <a:cubicBezTo>
                    <a:pt x="15" y="37"/>
                    <a:pt x="20" y="43"/>
                    <a:pt x="29" y="43"/>
                  </a:cubicBezTo>
                  <a:cubicBezTo>
                    <a:pt x="37" y="43"/>
                    <a:pt x="42" y="37"/>
                    <a:pt x="42" y="28"/>
                  </a:cubicBezTo>
                  <a:cubicBezTo>
                    <a:pt x="42" y="20"/>
                    <a:pt x="37" y="14"/>
                    <a:pt x="29" y="14"/>
                  </a:cubicBezTo>
                  <a:cubicBezTo>
                    <a:pt x="20" y="14"/>
                    <a:pt x="15" y="20"/>
                    <a:pt x="15" y="28"/>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7" name="Freeform 76" hidden="1"/>
            <p:cNvSpPr>
              <a:spLocks/>
            </p:cNvSpPr>
            <p:nvPr userDrawn="1"/>
          </p:nvSpPr>
          <p:spPr bwMode="auto">
            <a:xfrm>
              <a:off x="1900238" y="6486525"/>
              <a:ext cx="25400" cy="36513"/>
            </a:xfrm>
            <a:custGeom>
              <a:avLst/>
              <a:gdLst>
                <a:gd name="T0" fmla="*/ 44 w 48"/>
                <a:gd name="T1" fmla="*/ 29 h 70"/>
                <a:gd name="T2" fmla="*/ 25 w 48"/>
                <a:gd name="T3" fmla="*/ 29 h 70"/>
                <a:gd name="T4" fmla="*/ 25 w 48"/>
                <a:gd name="T5" fmla="*/ 48 h 70"/>
                <a:gd name="T6" fmla="*/ 33 w 48"/>
                <a:gd name="T7" fmla="*/ 57 h 70"/>
                <a:gd name="T8" fmla="*/ 43 w 48"/>
                <a:gd name="T9" fmla="*/ 54 h 70"/>
                <a:gd name="T10" fmla="*/ 48 w 48"/>
                <a:gd name="T11" fmla="*/ 65 h 70"/>
                <a:gd name="T12" fmla="*/ 31 w 48"/>
                <a:gd name="T13" fmla="*/ 70 h 70"/>
                <a:gd name="T14" fmla="*/ 11 w 48"/>
                <a:gd name="T15" fmla="*/ 49 h 70"/>
                <a:gd name="T16" fmla="*/ 11 w 48"/>
                <a:gd name="T17" fmla="*/ 29 h 70"/>
                <a:gd name="T18" fmla="*/ 0 w 48"/>
                <a:gd name="T19" fmla="*/ 29 h 70"/>
                <a:gd name="T20" fmla="*/ 0 w 48"/>
                <a:gd name="T21" fmla="*/ 16 h 70"/>
                <a:gd name="T22" fmla="*/ 11 w 48"/>
                <a:gd name="T23" fmla="*/ 16 h 70"/>
                <a:gd name="T24" fmla="*/ 11 w 48"/>
                <a:gd name="T25" fmla="*/ 0 h 70"/>
                <a:gd name="T26" fmla="*/ 25 w 48"/>
                <a:gd name="T27" fmla="*/ 0 h 70"/>
                <a:gd name="T28" fmla="*/ 25 w 48"/>
                <a:gd name="T29" fmla="*/ 16 h 70"/>
                <a:gd name="T30" fmla="*/ 44 w 48"/>
                <a:gd name="T31" fmla="*/ 16 h 70"/>
                <a:gd name="T32" fmla="*/ 44 w 48"/>
                <a:gd name="T33" fmla="*/ 2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70">
                  <a:moveTo>
                    <a:pt x="44" y="29"/>
                  </a:moveTo>
                  <a:lnTo>
                    <a:pt x="25" y="29"/>
                  </a:lnTo>
                  <a:lnTo>
                    <a:pt x="25" y="48"/>
                  </a:lnTo>
                  <a:cubicBezTo>
                    <a:pt x="25" y="55"/>
                    <a:pt x="28" y="57"/>
                    <a:pt x="33" y="57"/>
                  </a:cubicBezTo>
                  <a:cubicBezTo>
                    <a:pt x="36" y="57"/>
                    <a:pt x="40" y="55"/>
                    <a:pt x="43" y="54"/>
                  </a:cubicBezTo>
                  <a:lnTo>
                    <a:pt x="48" y="65"/>
                  </a:lnTo>
                  <a:cubicBezTo>
                    <a:pt x="43" y="68"/>
                    <a:pt x="38" y="70"/>
                    <a:pt x="31" y="70"/>
                  </a:cubicBezTo>
                  <a:cubicBezTo>
                    <a:pt x="17" y="70"/>
                    <a:pt x="11" y="63"/>
                    <a:pt x="11" y="49"/>
                  </a:cubicBezTo>
                  <a:lnTo>
                    <a:pt x="11" y="29"/>
                  </a:lnTo>
                  <a:lnTo>
                    <a:pt x="0" y="29"/>
                  </a:lnTo>
                  <a:lnTo>
                    <a:pt x="0" y="16"/>
                  </a:lnTo>
                  <a:lnTo>
                    <a:pt x="11" y="16"/>
                  </a:lnTo>
                  <a:lnTo>
                    <a:pt x="11" y="0"/>
                  </a:lnTo>
                  <a:lnTo>
                    <a:pt x="25" y="0"/>
                  </a:lnTo>
                  <a:lnTo>
                    <a:pt x="25" y="16"/>
                  </a:lnTo>
                  <a:lnTo>
                    <a:pt x="44" y="16"/>
                  </a:lnTo>
                  <a:lnTo>
                    <a:pt x="44" y="29"/>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8" name="Freeform 77" hidden="1"/>
            <p:cNvSpPr>
              <a:spLocks noEditPoints="1"/>
            </p:cNvSpPr>
            <p:nvPr userDrawn="1"/>
          </p:nvSpPr>
          <p:spPr bwMode="auto">
            <a:xfrm>
              <a:off x="1927225" y="6494463"/>
              <a:ext cx="26988" cy="28575"/>
            </a:xfrm>
            <a:custGeom>
              <a:avLst/>
              <a:gdLst>
                <a:gd name="T0" fmla="*/ 52 w 52"/>
                <a:gd name="T1" fmla="*/ 28 h 56"/>
                <a:gd name="T2" fmla="*/ 52 w 52"/>
                <a:gd name="T3" fmla="*/ 33 h 56"/>
                <a:gd name="T4" fmla="*/ 14 w 52"/>
                <a:gd name="T5" fmla="*/ 33 h 56"/>
                <a:gd name="T6" fmla="*/ 28 w 52"/>
                <a:gd name="T7" fmla="*/ 44 h 56"/>
                <a:gd name="T8" fmla="*/ 41 w 52"/>
                <a:gd name="T9" fmla="*/ 39 h 56"/>
                <a:gd name="T10" fmla="*/ 50 w 52"/>
                <a:gd name="T11" fmla="*/ 48 h 56"/>
                <a:gd name="T12" fmla="*/ 27 w 52"/>
                <a:gd name="T13" fmla="*/ 56 h 56"/>
                <a:gd name="T14" fmla="*/ 0 w 52"/>
                <a:gd name="T15" fmla="*/ 29 h 56"/>
                <a:gd name="T16" fmla="*/ 26 w 52"/>
                <a:gd name="T17" fmla="*/ 0 h 56"/>
                <a:gd name="T18" fmla="*/ 52 w 52"/>
                <a:gd name="T19" fmla="*/ 28 h 56"/>
                <a:gd name="T20" fmla="*/ 14 w 52"/>
                <a:gd name="T21" fmla="*/ 23 h 56"/>
                <a:gd name="T22" fmla="*/ 38 w 52"/>
                <a:gd name="T23" fmla="*/ 23 h 56"/>
                <a:gd name="T24" fmla="*/ 26 w 52"/>
                <a:gd name="T25" fmla="*/ 13 h 56"/>
                <a:gd name="T26" fmla="*/ 14 w 52"/>
                <a:gd name="T27" fmla="*/ 2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56">
                  <a:moveTo>
                    <a:pt x="52" y="28"/>
                  </a:moveTo>
                  <a:cubicBezTo>
                    <a:pt x="52" y="30"/>
                    <a:pt x="52" y="32"/>
                    <a:pt x="52" y="33"/>
                  </a:cubicBezTo>
                  <a:lnTo>
                    <a:pt x="14" y="33"/>
                  </a:lnTo>
                  <a:cubicBezTo>
                    <a:pt x="16" y="41"/>
                    <a:pt x="21" y="44"/>
                    <a:pt x="28" y="44"/>
                  </a:cubicBezTo>
                  <a:cubicBezTo>
                    <a:pt x="33" y="44"/>
                    <a:pt x="38" y="42"/>
                    <a:pt x="41" y="39"/>
                  </a:cubicBezTo>
                  <a:lnTo>
                    <a:pt x="50" y="48"/>
                  </a:lnTo>
                  <a:cubicBezTo>
                    <a:pt x="44" y="54"/>
                    <a:pt x="36" y="56"/>
                    <a:pt x="27" y="56"/>
                  </a:cubicBezTo>
                  <a:cubicBezTo>
                    <a:pt x="11" y="56"/>
                    <a:pt x="0" y="45"/>
                    <a:pt x="0" y="29"/>
                  </a:cubicBezTo>
                  <a:cubicBezTo>
                    <a:pt x="0" y="12"/>
                    <a:pt x="11" y="0"/>
                    <a:pt x="26" y="0"/>
                  </a:cubicBezTo>
                  <a:cubicBezTo>
                    <a:pt x="42" y="0"/>
                    <a:pt x="52" y="12"/>
                    <a:pt x="52" y="28"/>
                  </a:cubicBezTo>
                  <a:moveTo>
                    <a:pt x="14" y="23"/>
                  </a:moveTo>
                  <a:lnTo>
                    <a:pt x="38" y="23"/>
                  </a:lnTo>
                  <a:cubicBezTo>
                    <a:pt x="37" y="17"/>
                    <a:pt x="33" y="13"/>
                    <a:pt x="26" y="13"/>
                  </a:cubicBezTo>
                  <a:cubicBezTo>
                    <a:pt x="20" y="13"/>
                    <a:pt x="16" y="17"/>
                    <a:pt x="14" y="23"/>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79" name="Freeform 78" hidden="1"/>
            <p:cNvSpPr>
              <a:spLocks/>
            </p:cNvSpPr>
            <p:nvPr userDrawn="1"/>
          </p:nvSpPr>
          <p:spPr bwMode="auto">
            <a:xfrm>
              <a:off x="1804988" y="6532563"/>
              <a:ext cx="41275" cy="42863"/>
            </a:xfrm>
            <a:custGeom>
              <a:avLst/>
              <a:gdLst>
                <a:gd name="T0" fmla="*/ 69 w 77"/>
                <a:gd name="T1" fmla="*/ 12 h 80"/>
                <a:gd name="T2" fmla="*/ 58 w 77"/>
                <a:gd name="T3" fmla="*/ 23 h 80"/>
                <a:gd name="T4" fmla="*/ 40 w 77"/>
                <a:gd name="T5" fmla="*/ 15 h 80"/>
                <a:gd name="T6" fmla="*/ 16 w 77"/>
                <a:gd name="T7" fmla="*/ 40 h 80"/>
                <a:gd name="T8" fmla="*/ 40 w 77"/>
                <a:gd name="T9" fmla="*/ 66 h 80"/>
                <a:gd name="T10" fmla="*/ 61 w 77"/>
                <a:gd name="T11" fmla="*/ 49 h 80"/>
                <a:gd name="T12" fmla="*/ 42 w 77"/>
                <a:gd name="T13" fmla="*/ 49 h 80"/>
                <a:gd name="T14" fmla="*/ 42 w 77"/>
                <a:gd name="T15" fmla="*/ 36 h 80"/>
                <a:gd name="T16" fmla="*/ 77 w 77"/>
                <a:gd name="T17" fmla="*/ 36 h 80"/>
                <a:gd name="T18" fmla="*/ 77 w 77"/>
                <a:gd name="T19" fmla="*/ 40 h 80"/>
                <a:gd name="T20" fmla="*/ 40 w 77"/>
                <a:gd name="T21" fmla="*/ 80 h 80"/>
                <a:gd name="T22" fmla="*/ 0 w 77"/>
                <a:gd name="T23" fmla="*/ 40 h 80"/>
                <a:gd name="T24" fmla="*/ 40 w 77"/>
                <a:gd name="T25" fmla="*/ 0 h 80"/>
                <a:gd name="T26" fmla="*/ 69 w 77"/>
                <a:gd name="T27" fmla="*/ 1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80">
                  <a:moveTo>
                    <a:pt x="69" y="12"/>
                  </a:moveTo>
                  <a:lnTo>
                    <a:pt x="58" y="23"/>
                  </a:lnTo>
                  <a:cubicBezTo>
                    <a:pt x="54" y="18"/>
                    <a:pt x="48" y="15"/>
                    <a:pt x="40" y="15"/>
                  </a:cubicBezTo>
                  <a:cubicBezTo>
                    <a:pt x="26" y="15"/>
                    <a:pt x="16" y="25"/>
                    <a:pt x="16" y="40"/>
                  </a:cubicBezTo>
                  <a:cubicBezTo>
                    <a:pt x="16" y="56"/>
                    <a:pt x="26" y="66"/>
                    <a:pt x="40" y="66"/>
                  </a:cubicBezTo>
                  <a:cubicBezTo>
                    <a:pt x="52" y="66"/>
                    <a:pt x="59" y="60"/>
                    <a:pt x="61" y="49"/>
                  </a:cubicBezTo>
                  <a:lnTo>
                    <a:pt x="42" y="49"/>
                  </a:lnTo>
                  <a:lnTo>
                    <a:pt x="42" y="36"/>
                  </a:lnTo>
                  <a:lnTo>
                    <a:pt x="77" y="36"/>
                  </a:lnTo>
                  <a:cubicBezTo>
                    <a:pt x="77" y="38"/>
                    <a:pt x="77" y="39"/>
                    <a:pt x="77" y="40"/>
                  </a:cubicBezTo>
                  <a:cubicBezTo>
                    <a:pt x="77" y="64"/>
                    <a:pt x="62" y="80"/>
                    <a:pt x="40" y="80"/>
                  </a:cubicBezTo>
                  <a:cubicBezTo>
                    <a:pt x="19" y="80"/>
                    <a:pt x="0" y="65"/>
                    <a:pt x="0" y="40"/>
                  </a:cubicBezTo>
                  <a:cubicBezTo>
                    <a:pt x="0" y="17"/>
                    <a:pt x="17" y="0"/>
                    <a:pt x="40" y="0"/>
                  </a:cubicBezTo>
                  <a:cubicBezTo>
                    <a:pt x="52" y="0"/>
                    <a:pt x="63" y="5"/>
                    <a:pt x="69" y="12"/>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80" name="Freeform 79" hidden="1"/>
            <p:cNvSpPr>
              <a:spLocks noEditPoints="1"/>
            </p:cNvSpPr>
            <p:nvPr userDrawn="1"/>
          </p:nvSpPr>
          <p:spPr bwMode="auto">
            <a:xfrm>
              <a:off x="1849438" y="6545263"/>
              <a:ext cx="30163" cy="30163"/>
            </a:xfrm>
            <a:custGeom>
              <a:avLst/>
              <a:gdLst>
                <a:gd name="T0" fmla="*/ 57 w 57"/>
                <a:gd name="T1" fmla="*/ 28 h 56"/>
                <a:gd name="T2" fmla="*/ 28 w 57"/>
                <a:gd name="T3" fmla="*/ 56 h 56"/>
                <a:gd name="T4" fmla="*/ 0 w 57"/>
                <a:gd name="T5" fmla="*/ 28 h 56"/>
                <a:gd name="T6" fmla="*/ 28 w 57"/>
                <a:gd name="T7" fmla="*/ 0 h 56"/>
                <a:gd name="T8" fmla="*/ 57 w 57"/>
                <a:gd name="T9" fmla="*/ 28 h 56"/>
                <a:gd name="T10" fmla="*/ 14 w 57"/>
                <a:gd name="T11" fmla="*/ 28 h 56"/>
                <a:gd name="T12" fmla="*/ 28 w 57"/>
                <a:gd name="T13" fmla="*/ 43 h 56"/>
                <a:gd name="T14" fmla="*/ 42 w 57"/>
                <a:gd name="T15" fmla="*/ 28 h 56"/>
                <a:gd name="T16" fmla="*/ 28 w 57"/>
                <a:gd name="T17" fmla="*/ 13 h 56"/>
                <a:gd name="T18" fmla="*/ 14 w 57"/>
                <a:gd name="T19" fmla="*/ 2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56">
                  <a:moveTo>
                    <a:pt x="57" y="28"/>
                  </a:moveTo>
                  <a:cubicBezTo>
                    <a:pt x="57" y="44"/>
                    <a:pt x="45" y="56"/>
                    <a:pt x="28" y="56"/>
                  </a:cubicBezTo>
                  <a:cubicBezTo>
                    <a:pt x="12" y="56"/>
                    <a:pt x="0" y="44"/>
                    <a:pt x="0" y="28"/>
                  </a:cubicBezTo>
                  <a:cubicBezTo>
                    <a:pt x="0" y="12"/>
                    <a:pt x="12" y="0"/>
                    <a:pt x="28" y="0"/>
                  </a:cubicBezTo>
                  <a:cubicBezTo>
                    <a:pt x="45" y="0"/>
                    <a:pt x="57" y="12"/>
                    <a:pt x="57" y="28"/>
                  </a:cubicBezTo>
                  <a:moveTo>
                    <a:pt x="14" y="28"/>
                  </a:moveTo>
                  <a:cubicBezTo>
                    <a:pt x="14" y="37"/>
                    <a:pt x="20" y="43"/>
                    <a:pt x="28" y="43"/>
                  </a:cubicBezTo>
                  <a:cubicBezTo>
                    <a:pt x="36" y="43"/>
                    <a:pt x="42" y="37"/>
                    <a:pt x="42" y="28"/>
                  </a:cubicBezTo>
                  <a:cubicBezTo>
                    <a:pt x="42" y="19"/>
                    <a:pt x="36" y="13"/>
                    <a:pt x="28" y="13"/>
                  </a:cubicBezTo>
                  <a:cubicBezTo>
                    <a:pt x="20" y="13"/>
                    <a:pt x="14" y="19"/>
                    <a:pt x="14" y="28"/>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81" name="Freeform 80" hidden="1"/>
            <p:cNvSpPr>
              <a:spLocks/>
            </p:cNvSpPr>
            <p:nvPr userDrawn="1"/>
          </p:nvSpPr>
          <p:spPr bwMode="auto">
            <a:xfrm>
              <a:off x="1881188" y="6546850"/>
              <a:ext cx="30163" cy="28575"/>
            </a:xfrm>
            <a:custGeom>
              <a:avLst/>
              <a:gdLst>
                <a:gd name="T0" fmla="*/ 12 w 19"/>
                <a:gd name="T1" fmla="*/ 18 h 18"/>
                <a:gd name="T2" fmla="*/ 7 w 19"/>
                <a:gd name="T3" fmla="*/ 18 h 18"/>
                <a:gd name="T4" fmla="*/ 0 w 19"/>
                <a:gd name="T5" fmla="*/ 0 h 18"/>
                <a:gd name="T6" fmla="*/ 5 w 19"/>
                <a:gd name="T7" fmla="*/ 0 h 18"/>
                <a:gd name="T8" fmla="*/ 9 w 19"/>
                <a:gd name="T9" fmla="*/ 13 h 18"/>
                <a:gd name="T10" fmla="*/ 14 w 19"/>
                <a:gd name="T11" fmla="*/ 0 h 18"/>
                <a:gd name="T12" fmla="*/ 19 w 19"/>
                <a:gd name="T13" fmla="*/ 0 h 18"/>
                <a:gd name="T14" fmla="*/ 12 w 19"/>
                <a:gd name="T15" fmla="*/ 18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8">
                  <a:moveTo>
                    <a:pt x="12" y="18"/>
                  </a:moveTo>
                  <a:lnTo>
                    <a:pt x="7" y="18"/>
                  </a:lnTo>
                  <a:lnTo>
                    <a:pt x="0" y="0"/>
                  </a:lnTo>
                  <a:lnTo>
                    <a:pt x="5" y="0"/>
                  </a:lnTo>
                  <a:lnTo>
                    <a:pt x="9" y="13"/>
                  </a:lnTo>
                  <a:lnTo>
                    <a:pt x="14" y="0"/>
                  </a:lnTo>
                  <a:lnTo>
                    <a:pt x="19" y="0"/>
                  </a:lnTo>
                  <a:lnTo>
                    <a:pt x="12" y="1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82" name="Freeform 81" hidden="1"/>
            <p:cNvSpPr>
              <a:spLocks noEditPoints="1"/>
            </p:cNvSpPr>
            <p:nvPr userDrawn="1"/>
          </p:nvSpPr>
          <p:spPr bwMode="auto">
            <a:xfrm>
              <a:off x="1911350" y="6545263"/>
              <a:ext cx="28575" cy="30163"/>
            </a:xfrm>
            <a:custGeom>
              <a:avLst/>
              <a:gdLst>
                <a:gd name="T0" fmla="*/ 53 w 53"/>
                <a:gd name="T1" fmla="*/ 28 h 56"/>
                <a:gd name="T2" fmla="*/ 53 w 53"/>
                <a:gd name="T3" fmla="*/ 33 h 56"/>
                <a:gd name="T4" fmla="*/ 15 w 53"/>
                <a:gd name="T5" fmla="*/ 33 h 56"/>
                <a:gd name="T6" fmla="*/ 29 w 53"/>
                <a:gd name="T7" fmla="*/ 44 h 56"/>
                <a:gd name="T8" fmla="*/ 42 w 53"/>
                <a:gd name="T9" fmla="*/ 39 h 56"/>
                <a:gd name="T10" fmla="*/ 50 w 53"/>
                <a:gd name="T11" fmla="*/ 48 h 56"/>
                <a:gd name="T12" fmla="*/ 28 w 53"/>
                <a:gd name="T13" fmla="*/ 56 h 56"/>
                <a:gd name="T14" fmla="*/ 0 w 53"/>
                <a:gd name="T15" fmla="*/ 28 h 56"/>
                <a:gd name="T16" fmla="*/ 27 w 53"/>
                <a:gd name="T17" fmla="*/ 0 h 56"/>
                <a:gd name="T18" fmla="*/ 53 w 53"/>
                <a:gd name="T19" fmla="*/ 28 h 56"/>
                <a:gd name="T20" fmla="*/ 15 w 53"/>
                <a:gd name="T21" fmla="*/ 23 h 56"/>
                <a:gd name="T22" fmla="*/ 39 w 53"/>
                <a:gd name="T23" fmla="*/ 23 h 56"/>
                <a:gd name="T24" fmla="*/ 27 w 53"/>
                <a:gd name="T25" fmla="*/ 12 h 56"/>
                <a:gd name="T26" fmla="*/ 15 w 53"/>
                <a:gd name="T27" fmla="*/ 2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 h="56">
                  <a:moveTo>
                    <a:pt x="53" y="28"/>
                  </a:moveTo>
                  <a:cubicBezTo>
                    <a:pt x="53" y="30"/>
                    <a:pt x="53" y="32"/>
                    <a:pt x="53" y="33"/>
                  </a:cubicBezTo>
                  <a:lnTo>
                    <a:pt x="15" y="33"/>
                  </a:lnTo>
                  <a:cubicBezTo>
                    <a:pt x="17" y="41"/>
                    <a:pt x="22" y="44"/>
                    <a:pt x="29" y="44"/>
                  </a:cubicBezTo>
                  <a:cubicBezTo>
                    <a:pt x="33" y="44"/>
                    <a:pt x="38" y="42"/>
                    <a:pt x="42" y="39"/>
                  </a:cubicBezTo>
                  <a:lnTo>
                    <a:pt x="50" y="48"/>
                  </a:lnTo>
                  <a:cubicBezTo>
                    <a:pt x="44" y="54"/>
                    <a:pt x="37" y="56"/>
                    <a:pt x="28" y="56"/>
                  </a:cubicBezTo>
                  <a:cubicBezTo>
                    <a:pt x="12" y="56"/>
                    <a:pt x="0" y="45"/>
                    <a:pt x="0" y="28"/>
                  </a:cubicBezTo>
                  <a:cubicBezTo>
                    <a:pt x="0" y="12"/>
                    <a:pt x="11" y="0"/>
                    <a:pt x="27" y="0"/>
                  </a:cubicBezTo>
                  <a:cubicBezTo>
                    <a:pt x="42" y="0"/>
                    <a:pt x="53" y="11"/>
                    <a:pt x="53" y="28"/>
                  </a:cubicBezTo>
                  <a:moveTo>
                    <a:pt x="15" y="23"/>
                  </a:moveTo>
                  <a:lnTo>
                    <a:pt x="39" y="23"/>
                  </a:lnTo>
                  <a:cubicBezTo>
                    <a:pt x="37" y="16"/>
                    <a:pt x="33" y="12"/>
                    <a:pt x="27" y="12"/>
                  </a:cubicBezTo>
                  <a:cubicBezTo>
                    <a:pt x="20" y="12"/>
                    <a:pt x="16" y="17"/>
                    <a:pt x="15" y="23"/>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83" name="Freeform 82" hidden="1"/>
            <p:cNvSpPr>
              <a:spLocks/>
            </p:cNvSpPr>
            <p:nvPr userDrawn="1"/>
          </p:nvSpPr>
          <p:spPr bwMode="auto">
            <a:xfrm>
              <a:off x="1944688" y="6545263"/>
              <a:ext cx="19050" cy="30163"/>
            </a:xfrm>
            <a:custGeom>
              <a:avLst/>
              <a:gdLst>
                <a:gd name="T0" fmla="*/ 37 w 37"/>
                <a:gd name="T1" fmla="*/ 1 h 55"/>
                <a:gd name="T2" fmla="*/ 35 w 37"/>
                <a:gd name="T3" fmla="*/ 15 h 55"/>
                <a:gd name="T4" fmla="*/ 26 w 37"/>
                <a:gd name="T5" fmla="*/ 14 h 55"/>
                <a:gd name="T6" fmla="*/ 15 w 37"/>
                <a:gd name="T7" fmla="*/ 26 h 55"/>
                <a:gd name="T8" fmla="*/ 15 w 37"/>
                <a:gd name="T9" fmla="*/ 55 h 55"/>
                <a:gd name="T10" fmla="*/ 0 w 37"/>
                <a:gd name="T11" fmla="*/ 55 h 55"/>
                <a:gd name="T12" fmla="*/ 0 w 37"/>
                <a:gd name="T13" fmla="*/ 2 h 55"/>
                <a:gd name="T14" fmla="*/ 14 w 37"/>
                <a:gd name="T15" fmla="*/ 2 h 55"/>
                <a:gd name="T16" fmla="*/ 14 w 37"/>
                <a:gd name="T17" fmla="*/ 7 h 55"/>
                <a:gd name="T18" fmla="*/ 29 w 37"/>
                <a:gd name="T19" fmla="*/ 0 h 55"/>
                <a:gd name="T20" fmla="*/ 37 w 37"/>
                <a:gd name="T21"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5">
                  <a:moveTo>
                    <a:pt x="37" y="1"/>
                  </a:moveTo>
                  <a:lnTo>
                    <a:pt x="35" y="15"/>
                  </a:lnTo>
                  <a:cubicBezTo>
                    <a:pt x="32" y="14"/>
                    <a:pt x="29" y="14"/>
                    <a:pt x="26" y="14"/>
                  </a:cubicBezTo>
                  <a:cubicBezTo>
                    <a:pt x="19" y="14"/>
                    <a:pt x="15" y="18"/>
                    <a:pt x="15" y="26"/>
                  </a:cubicBezTo>
                  <a:lnTo>
                    <a:pt x="15" y="55"/>
                  </a:lnTo>
                  <a:lnTo>
                    <a:pt x="0" y="55"/>
                  </a:lnTo>
                  <a:lnTo>
                    <a:pt x="0" y="2"/>
                  </a:lnTo>
                  <a:lnTo>
                    <a:pt x="14" y="2"/>
                  </a:lnTo>
                  <a:lnTo>
                    <a:pt x="14" y="7"/>
                  </a:lnTo>
                  <a:cubicBezTo>
                    <a:pt x="18" y="2"/>
                    <a:pt x="23" y="0"/>
                    <a:pt x="29" y="0"/>
                  </a:cubicBezTo>
                  <a:cubicBezTo>
                    <a:pt x="32" y="0"/>
                    <a:pt x="35" y="1"/>
                    <a:pt x="37" y="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84" name="Freeform 83" hidden="1"/>
            <p:cNvSpPr>
              <a:spLocks/>
            </p:cNvSpPr>
            <p:nvPr userDrawn="1"/>
          </p:nvSpPr>
          <p:spPr bwMode="auto">
            <a:xfrm>
              <a:off x="1966913" y="6545263"/>
              <a:ext cx="26988" cy="30163"/>
            </a:xfrm>
            <a:custGeom>
              <a:avLst/>
              <a:gdLst>
                <a:gd name="T0" fmla="*/ 51 w 51"/>
                <a:gd name="T1" fmla="*/ 21 h 55"/>
                <a:gd name="T2" fmla="*/ 51 w 51"/>
                <a:gd name="T3" fmla="*/ 55 h 55"/>
                <a:gd name="T4" fmla="*/ 36 w 51"/>
                <a:gd name="T5" fmla="*/ 55 h 55"/>
                <a:gd name="T6" fmla="*/ 36 w 51"/>
                <a:gd name="T7" fmla="*/ 25 h 55"/>
                <a:gd name="T8" fmla="*/ 26 w 51"/>
                <a:gd name="T9" fmla="*/ 14 h 55"/>
                <a:gd name="T10" fmla="*/ 15 w 51"/>
                <a:gd name="T11" fmla="*/ 26 h 55"/>
                <a:gd name="T12" fmla="*/ 15 w 51"/>
                <a:gd name="T13" fmla="*/ 55 h 55"/>
                <a:gd name="T14" fmla="*/ 0 w 51"/>
                <a:gd name="T15" fmla="*/ 55 h 55"/>
                <a:gd name="T16" fmla="*/ 0 w 51"/>
                <a:gd name="T17" fmla="*/ 2 h 55"/>
                <a:gd name="T18" fmla="*/ 14 w 51"/>
                <a:gd name="T19" fmla="*/ 2 h 55"/>
                <a:gd name="T20" fmla="*/ 14 w 51"/>
                <a:gd name="T21" fmla="*/ 8 h 55"/>
                <a:gd name="T22" fmla="*/ 30 w 51"/>
                <a:gd name="T23" fmla="*/ 0 h 55"/>
                <a:gd name="T24" fmla="*/ 51 w 51"/>
                <a:gd name="T25"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 h="55">
                  <a:moveTo>
                    <a:pt x="51" y="21"/>
                  </a:moveTo>
                  <a:lnTo>
                    <a:pt x="51" y="55"/>
                  </a:lnTo>
                  <a:lnTo>
                    <a:pt x="36" y="55"/>
                  </a:lnTo>
                  <a:lnTo>
                    <a:pt x="36" y="25"/>
                  </a:lnTo>
                  <a:cubicBezTo>
                    <a:pt x="36" y="18"/>
                    <a:pt x="32" y="14"/>
                    <a:pt x="26" y="14"/>
                  </a:cubicBezTo>
                  <a:cubicBezTo>
                    <a:pt x="20" y="14"/>
                    <a:pt x="15" y="18"/>
                    <a:pt x="15" y="26"/>
                  </a:cubicBezTo>
                  <a:lnTo>
                    <a:pt x="15" y="55"/>
                  </a:lnTo>
                  <a:lnTo>
                    <a:pt x="0" y="55"/>
                  </a:lnTo>
                  <a:lnTo>
                    <a:pt x="0" y="2"/>
                  </a:lnTo>
                  <a:lnTo>
                    <a:pt x="14" y="2"/>
                  </a:lnTo>
                  <a:lnTo>
                    <a:pt x="14" y="8"/>
                  </a:lnTo>
                  <a:cubicBezTo>
                    <a:pt x="18" y="2"/>
                    <a:pt x="24" y="0"/>
                    <a:pt x="30" y="0"/>
                  </a:cubicBezTo>
                  <a:cubicBezTo>
                    <a:pt x="42" y="0"/>
                    <a:pt x="51" y="9"/>
                    <a:pt x="51" y="2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85" name="Freeform 84" hidden="1"/>
            <p:cNvSpPr>
              <a:spLocks/>
            </p:cNvSpPr>
            <p:nvPr userDrawn="1"/>
          </p:nvSpPr>
          <p:spPr bwMode="auto">
            <a:xfrm>
              <a:off x="2000250" y="6545263"/>
              <a:ext cx="46038" cy="30163"/>
            </a:xfrm>
            <a:custGeom>
              <a:avLst/>
              <a:gdLst>
                <a:gd name="T0" fmla="*/ 86 w 86"/>
                <a:gd name="T1" fmla="*/ 21 h 55"/>
                <a:gd name="T2" fmla="*/ 86 w 86"/>
                <a:gd name="T3" fmla="*/ 55 h 55"/>
                <a:gd name="T4" fmla="*/ 72 w 86"/>
                <a:gd name="T5" fmla="*/ 55 h 55"/>
                <a:gd name="T6" fmla="*/ 72 w 86"/>
                <a:gd name="T7" fmla="*/ 25 h 55"/>
                <a:gd name="T8" fmla="*/ 61 w 86"/>
                <a:gd name="T9" fmla="*/ 14 h 55"/>
                <a:gd name="T10" fmla="*/ 50 w 86"/>
                <a:gd name="T11" fmla="*/ 26 h 55"/>
                <a:gd name="T12" fmla="*/ 50 w 86"/>
                <a:gd name="T13" fmla="*/ 55 h 55"/>
                <a:gd name="T14" fmla="*/ 36 w 86"/>
                <a:gd name="T15" fmla="*/ 55 h 55"/>
                <a:gd name="T16" fmla="*/ 36 w 86"/>
                <a:gd name="T17" fmla="*/ 25 h 55"/>
                <a:gd name="T18" fmla="*/ 25 w 86"/>
                <a:gd name="T19" fmla="*/ 14 h 55"/>
                <a:gd name="T20" fmla="*/ 14 w 86"/>
                <a:gd name="T21" fmla="*/ 26 h 55"/>
                <a:gd name="T22" fmla="*/ 14 w 86"/>
                <a:gd name="T23" fmla="*/ 55 h 55"/>
                <a:gd name="T24" fmla="*/ 0 w 86"/>
                <a:gd name="T25" fmla="*/ 55 h 55"/>
                <a:gd name="T26" fmla="*/ 0 w 86"/>
                <a:gd name="T27" fmla="*/ 2 h 55"/>
                <a:gd name="T28" fmla="*/ 14 w 86"/>
                <a:gd name="T29" fmla="*/ 2 h 55"/>
                <a:gd name="T30" fmla="*/ 14 w 86"/>
                <a:gd name="T31" fmla="*/ 8 h 55"/>
                <a:gd name="T32" fmla="*/ 29 w 86"/>
                <a:gd name="T33" fmla="*/ 0 h 55"/>
                <a:gd name="T34" fmla="*/ 47 w 86"/>
                <a:gd name="T35" fmla="*/ 9 h 55"/>
                <a:gd name="T36" fmla="*/ 65 w 86"/>
                <a:gd name="T37" fmla="*/ 0 h 55"/>
                <a:gd name="T38" fmla="*/ 86 w 86"/>
                <a:gd name="T39"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55">
                  <a:moveTo>
                    <a:pt x="86" y="21"/>
                  </a:moveTo>
                  <a:lnTo>
                    <a:pt x="86" y="55"/>
                  </a:lnTo>
                  <a:lnTo>
                    <a:pt x="72" y="55"/>
                  </a:lnTo>
                  <a:lnTo>
                    <a:pt x="72" y="25"/>
                  </a:lnTo>
                  <a:cubicBezTo>
                    <a:pt x="72" y="18"/>
                    <a:pt x="68" y="14"/>
                    <a:pt x="61" y="14"/>
                  </a:cubicBezTo>
                  <a:cubicBezTo>
                    <a:pt x="55" y="14"/>
                    <a:pt x="50" y="18"/>
                    <a:pt x="50" y="26"/>
                  </a:cubicBezTo>
                  <a:lnTo>
                    <a:pt x="50" y="55"/>
                  </a:lnTo>
                  <a:lnTo>
                    <a:pt x="36" y="55"/>
                  </a:lnTo>
                  <a:lnTo>
                    <a:pt x="36" y="25"/>
                  </a:lnTo>
                  <a:cubicBezTo>
                    <a:pt x="36" y="18"/>
                    <a:pt x="32" y="14"/>
                    <a:pt x="25" y="14"/>
                  </a:cubicBezTo>
                  <a:cubicBezTo>
                    <a:pt x="19" y="14"/>
                    <a:pt x="14" y="18"/>
                    <a:pt x="14" y="26"/>
                  </a:cubicBezTo>
                  <a:lnTo>
                    <a:pt x="14" y="55"/>
                  </a:lnTo>
                  <a:lnTo>
                    <a:pt x="0" y="55"/>
                  </a:lnTo>
                  <a:lnTo>
                    <a:pt x="0" y="2"/>
                  </a:lnTo>
                  <a:lnTo>
                    <a:pt x="14" y="2"/>
                  </a:lnTo>
                  <a:lnTo>
                    <a:pt x="14" y="8"/>
                  </a:lnTo>
                  <a:cubicBezTo>
                    <a:pt x="18" y="2"/>
                    <a:pt x="23" y="0"/>
                    <a:pt x="29" y="0"/>
                  </a:cubicBezTo>
                  <a:cubicBezTo>
                    <a:pt x="37" y="0"/>
                    <a:pt x="43" y="4"/>
                    <a:pt x="47" y="9"/>
                  </a:cubicBezTo>
                  <a:cubicBezTo>
                    <a:pt x="51" y="2"/>
                    <a:pt x="58" y="0"/>
                    <a:pt x="65" y="0"/>
                  </a:cubicBezTo>
                  <a:cubicBezTo>
                    <a:pt x="78" y="0"/>
                    <a:pt x="86" y="9"/>
                    <a:pt x="86" y="2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86" name="Freeform 85" hidden="1"/>
            <p:cNvSpPr>
              <a:spLocks noEditPoints="1"/>
            </p:cNvSpPr>
            <p:nvPr userDrawn="1"/>
          </p:nvSpPr>
          <p:spPr bwMode="auto">
            <a:xfrm>
              <a:off x="2051050" y="6545263"/>
              <a:ext cx="26988" cy="30163"/>
            </a:xfrm>
            <a:custGeom>
              <a:avLst/>
              <a:gdLst>
                <a:gd name="T0" fmla="*/ 53 w 53"/>
                <a:gd name="T1" fmla="*/ 28 h 56"/>
                <a:gd name="T2" fmla="*/ 52 w 53"/>
                <a:gd name="T3" fmla="*/ 33 h 56"/>
                <a:gd name="T4" fmla="*/ 15 w 53"/>
                <a:gd name="T5" fmla="*/ 33 h 56"/>
                <a:gd name="T6" fmla="*/ 28 w 53"/>
                <a:gd name="T7" fmla="*/ 44 h 56"/>
                <a:gd name="T8" fmla="*/ 42 w 53"/>
                <a:gd name="T9" fmla="*/ 39 h 56"/>
                <a:gd name="T10" fmla="*/ 50 w 53"/>
                <a:gd name="T11" fmla="*/ 48 h 56"/>
                <a:gd name="T12" fmla="*/ 28 w 53"/>
                <a:gd name="T13" fmla="*/ 56 h 56"/>
                <a:gd name="T14" fmla="*/ 0 w 53"/>
                <a:gd name="T15" fmla="*/ 28 h 56"/>
                <a:gd name="T16" fmla="*/ 27 w 53"/>
                <a:gd name="T17" fmla="*/ 0 h 56"/>
                <a:gd name="T18" fmla="*/ 53 w 53"/>
                <a:gd name="T19" fmla="*/ 28 h 56"/>
                <a:gd name="T20" fmla="*/ 15 w 53"/>
                <a:gd name="T21" fmla="*/ 23 h 56"/>
                <a:gd name="T22" fmla="*/ 38 w 53"/>
                <a:gd name="T23" fmla="*/ 23 h 56"/>
                <a:gd name="T24" fmla="*/ 27 w 53"/>
                <a:gd name="T25" fmla="*/ 12 h 56"/>
                <a:gd name="T26" fmla="*/ 15 w 53"/>
                <a:gd name="T27" fmla="*/ 2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 h="56">
                  <a:moveTo>
                    <a:pt x="53" y="28"/>
                  </a:moveTo>
                  <a:cubicBezTo>
                    <a:pt x="53" y="30"/>
                    <a:pt x="53" y="32"/>
                    <a:pt x="52" y="33"/>
                  </a:cubicBezTo>
                  <a:lnTo>
                    <a:pt x="15" y="33"/>
                  </a:lnTo>
                  <a:cubicBezTo>
                    <a:pt x="16" y="41"/>
                    <a:pt x="22" y="44"/>
                    <a:pt x="28" y="44"/>
                  </a:cubicBezTo>
                  <a:cubicBezTo>
                    <a:pt x="33" y="44"/>
                    <a:pt x="38" y="42"/>
                    <a:pt x="42" y="39"/>
                  </a:cubicBezTo>
                  <a:lnTo>
                    <a:pt x="50" y="48"/>
                  </a:lnTo>
                  <a:cubicBezTo>
                    <a:pt x="44" y="54"/>
                    <a:pt x="37" y="56"/>
                    <a:pt x="28" y="56"/>
                  </a:cubicBezTo>
                  <a:cubicBezTo>
                    <a:pt x="11" y="56"/>
                    <a:pt x="0" y="45"/>
                    <a:pt x="0" y="28"/>
                  </a:cubicBezTo>
                  <a:cubicBezTo>
                    <a:pt x="0" y="12"/>
                    <a:pt x="11" y="0"/>
                    <a:pt x="27" y="0"/>
                  </a:cubicBezTo>
                  <a:cubicBezTo>
                    <a:pt x="42" y="0"/>
                    <a:pt x="53" y="11"/>
                    <a:pt x="53" y="28"/>
                  </a:cubicBezTo>
                  <a:moveTo>
                    <a:pt x="15" y="23"/>
                  </a:moveTo>
                  <a:lnTo>
                    <a:pt x="38" y="23"/>
                  </a:lnTo>
                  <a:cubicBezTo>
                    <a:pt x="37" y="16"/>
                    <a:pt x="33" y="12"/>
                    <a:pt x="27" y="12"/>
                  </a:cubicBezTo>
                  <a:cubicBezTo>
                    <a:pt x="20" y="12"/>
                    <a:pt x="16" y="17"/>
                    <a:pt x="15" y="23"/>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87" name="Freeform 86" hidden="1"/>
            <p:cNvSpPr>
              <a:spLocks/>
            </p:cNvSpPr>
            <p:nvPr userDrawn="1"/>
          </p:nvSpPr>
          <p:spPr bwMode="auto">
            <a:xfrm>
              <a:off x="2082800" y="6545263"/>
              <a:ext cx="26988" cy="30163"/>
            </a:xfrm>
            <a:custGeom>
              <a:avLst/>
              <a:gdLst>
                <a:gd name="T0" fmla="*/ 50 w 50"/>
                <a:gd name="T1" fmla="*/ 21 h 55"/>
                <a:gd name="T2" fmla="*/ 50 w 50"/>
                <a:gd name="T3" fmla="*/ 55 h 55"/>
                <a:gd name="T4" fmla="*/ 36 w 50"/>
                <a:gd name="T5" fmla="*/ 55 h 55"/>
                <a:gd name="T6" fmla="*/ 36 w 50"/>
                <a:gd name="T7" fmla="*/ 25 h 55"/>
                <a:gd name="T8" fmla="*/ 26 w 50"/>
                <a:gd name="T9" fmla="*/ 14 h 55"/>
                <a:gd name="T10" fmla="*/ 15 w 50"/>
                <a:gd name="T11" fmla="*/ 26 h 55"/>
                <a:gd name="T12" fmla="*/ 15 w 50"/>
                <a:gd name="T13" fmla="*/ 55 h 55"/>
                <a:gd name="T14" fmla="*/ 0 w 50"/>
                <a:gd name="T15" fmla="*/ 55 h 55"/>
                <a:gd name="T16" fmla="*/ 0 w 50"/>
                <a:gd name="T17" fmla="*/ 2 h 55"/>
                <a:gd name="T18" fmla="*/ 14 w 50"/>
                <a:gd name="T19" fmla="*/ 2 h 55"/>
                <a:gd name="T20" fmla="*/ 14 w 50"/>
                <a:gd name="T21" fmla="*/ 8 h 55"/>
                <a:gd name="T22" fmla="*/ 30 w 50"/>
                <a:gd name="T23" fmla="*/ 0 h 55"/>
                <a:gd name="T24" fmla="*/ 50 w 50"/>
                <a:gd name="T25"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55">
                  <a:moveTo>
                    <a:pt x="50" y="21"/>
                  </a:moveTo>
                  <a:lnTo>
                    <a:pt x="50" y="55"/>
                  </a:lnTo>
                  <a:lnTo>
                    <a:pt x="36" y="55"/>
                  </a:lnTo>
                  <a:lnTo>
                    <a:pt x="36" y="25"/>
                  </a:lnTo>
                  <a:cubicBezTo>
                    <a:pt x="36" y="18"/>
                    <a:pt x="32" y="14"/>
                    <a:pt x="26" y="14"/>
                  </a:cubicBezTo>
                  <a:cubicBezTo>
                    <a:pt x="20" y="14"/>
                    <a:pt x="15" y="18"/>
                    <a:pt x="15" y="26"/>
                  </a:cubicBezTo>
                  <a:lnTo>
                    <a:pt x="15" y="55"/>
                  </a:lnTo>
                  <a:lnTo>
                    <a:pt x="0" y="55"/>
                  </a:lnTo>
                  <a:lnTo>
                    <a:pt x="0" y="2"/>
                  </a:lnTo>
                  <a:lnTo>
                    <a:pt x="14" y="2"/>
                  </a:lnTo>
                  <a:lnTo>
                    <a:pt x="14" y="8"/>
                  </a:lnTo>
                  <a:cubicBezTo>
                    <a:pt x="18" y="2"/>
                    <a:pt x="24" y="0"/>
                    <a:pt x="30" y="0"/>
                  </a:cubicBezTo>
                  <a:cubicBezTo>
                    <a:pt x="42" y="0"/>
                    <a:pt x="50" y="9"/>
                    <a:pt x="50" y="21"/>
                  </a:cubicBez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sp>
          <p:nvSpPr>
            <p:cNvPr id="88" name="Freeform 87" hidden="1"/>
            <p:cNvSpPr>
              <a:spLocks/>
            </p:cNvSpPr>
            <p:nvPr userDrawn="1"/>
          </p:nvSpPr>
          <p:spPr bwMode="auto">
            <a:xfrm>
              <a:off x="2112963" y="6538913"/>
              <a:ext cx="25400" cy="36513"/>
            </a:xfrm>
            <a:custGeom>
              <a:avLst/>
              <a:gdLst>
                <a:gd name="T0" fmla="*/ 44 w 48"/>
                <a:gd name="T1" fmla="*/ 28 h 70"/>
                <a:gd name="T2" fmla="*/ 25 w 48"/>
                <a:gd name="T3" fmla="*/ 28 h 70"/>
                <a:gd name="T4" fmla="*/ 25 w 48"/>
                <a:gd name="T5" fmla="*/ 48 h 70"/>
                <a:gd name="T6" fmla="*/ 33 w 48"/>
                <a:gd name="T7" fmla="*/ 57 h 70"/>
                <a:gd name="T8" fmla="*/ 43 w 48"/>
                <a:gd name="T9" fmla="*/ 53 h 70"/>
                <a:gd name="T10" fmla="*/ 48 w 48"/>
                <a:gd name="T11" fmla="*/ 64 h 70"/>
                <a:gd name="T12" fmla="*/ 30 w 48"/>
                <a:gd name="T13" fmla="*/ 70 h 70"/>
                <a:gd name="T14" fmla="*/ 10 w 48"/>
                <a:gd name="T15" fmla="*/ 49 h 70"/>
                <a:gd name="T16" fmla="*/ 10 w 48"/>
                <a:gd name="T17" fmla="*/ 28 h 70"/>
                <a:gd name="T18" fmla="*/ 0 w 48"/>
                <a:gd name="T19" fmla="*/ 28 h 70"/>
                <a:gd name="T20" fmla="*/ 0 w 48"/>
                <a:gd name="T21" fmla="*/ 16 h 70"/>
                <a:gd name="T22" fmla="*/ 10 w 48"/>
                <a:gd name="T23" fmla="*/ 16 h 70"/>
                <a:gd name="T24" fmla="*/ 10 w 48"/>
                <a:gd name="T25" fmla="*/ 0 h 70"/>
                <a:gd name="T26" fmla="*/ 25 w 48"/>
                <a:gd name="T27" fmla="*/ 0 h 70"/>
                <a:gd name="T28" fmla="*/ 25 w 48"/>
                <a:gd name="T29" fmla="*/ 16 h 70"/>
                <a:gd name="T30" fmla="*/ 44 w 48"/>
                <a:gd name="T31" fmla="*/ 16 h 70"/>
                <a:gd name="T32" fmla="*/ 44 w 48"/>
                <a:gd name="T33" fmla="*/ 28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70">
                  <a:moveTo>
                    <a:pt x="44" y="28"/>
                  </a:moveTo>
                  <a:lnTo>
                    <a:pt x="25" y="28"/>
                  </a:lnTo>
                  <a:lnTo>
                    <a:pt x="25" y="48"/>
                  </a:lnTo>
                  <a:cubicBezTo>
                    <a:pt x="25" y="54"/>
                    <a:pt x="28" y="57"/>
                    <a:pt x="33" y="57"/>
                  </a:cubicBezTo>
                  <a:cubicBezTo>
                    <a:pt x="36" y="57"/>
                    <a:pt x="40" y="55"/>
                    <a:pt x="43" y="53"/>
                  </a:cubicBezTo>
                  <a:lnTo>
                    <a:pt x="48" y="64"/>
                  </a:lnTo>
                  <a:cubicBezTo>
                    <a:pt x="43" y="68"/>
                    <a:pt x="38" y="70"/>
                    <a:pt x="30" y="70"/>
                  </a:cubicBezTo>
                  <a:cubicBezTo>
                    <a:pt x="17" y="70"/>
                    <a:pt x="10" y="63"/>
                    <a:pt x="10" y="49"/>
                  </a:cubicBezTo>
                  <a:lnTo>
                    <a:pt x="10" y="28"/>
                  </a:lnTo>
                  <a:lnTo>
                    <a:pt x="0" y="28"/>
                  </a:lnTo>
                  <a:lnTo>
                    <a:pt x="0" y="16"/>
                  </a:lnTo>
                  <a:lnTo>
                    <a:pt x="10" y="16"/>
                  </a:lnTo>
                  <a:lnTo>
                    <a:pt x="10" y="0"/>
                  </a:lnTo>
                  <a:lnTo>
                    <a:pt x="25" y="0"/>
                  </a:lnTo>
                  <a:lnTo>
                    <a:pt x="25" y="16"/>
                  </a:lnTo>
                  <a:lnTo>
                    <a:pt x="44" y="16"/>
                  </a:lnTo>
                  <a:lnTo>
                    <a:pt x="44" y="28"/>
                  </a:lnTo>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2400"/>
            </a:p>
          </p:txBody>
        </p:sp>
      </p:grpSp>
    </p:spTree>
    <p:extLst>
      <p:ext uri="{BB962C8B-B14F-4D97-AF65-F5344CB8AC3E}">
        <p14:creationId xmlns:p14="http://schemas.microsoft.com/office/powerpoint/2010/main" val="1183476515"/>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A">
    <p:bg bwMode="ltGray">
      <p:bgPr>
        <a:solidFill>
          <a:schemeClr val="bg2">
            <a:lumMod val="40000"/>
            <a:lumOff val="60000"/>
          </a:schemeClr>
        </a:solidFill>
        <a:effectLst/>
      </p:bgPr>
    </p:bg>
    <p:spTree>
      <p:nvGrpSpPr>
        <p:cNvPr id="1" name=""/>
        <p:cNvGrpSpPr/>
        <p:nvPr/>
      </p:nvGrpSpPr>
      <p:grpSpPr>
        <a:xfrm>
          <a:off x="0" y="0"/>
          <a:ext cx="0" cy="0"/>
          <a:chOff x="0" y="0"/>
          <a:chExt cx="0" cy="0"/>
        </a:xfrm>
      </p:grpSpPr>
      <p:grpSp>
        <p:nvGrpSpPr>
          <p:cNvPr id="10" name="logo_ripples_bar_small-16x9" descr="&lt;mode=16x9&gt;&#10;&lt;size&gt;h=119.2087;w=720&lt;size/&gt;&#10;&lt;pos&gt;top=235.2639;left=0&lt;pos/&gt;&#10;&lt;mode/&gt;" hidden="1"/>
          <p:cNvGrpSpPr/>
          <p:nvPr userDrawn="1"/>
        </p:nvGrpSpPr>
        <p:grpSpPr>
          <a:xfrm>
            <a:off x="0" y="3983804"/>
            <a:ext cx="12192000" cy="2018601"/>
            <a:chOff x="0" y="2987851"/>
            <a:chExt cx="9144000" cy="1513951"/>
          </a:xfrm>
        </p:grpSpPr>
        <p:sp>
          <p:nvSpPr>
            <p:cNvPr id="12" name="base_bar" hidden="1"/>
            <p:cNvSpPr>
              <a:spLocks noChangeAspect="1"/>
            </p:cNvSpPr>
            <p:nvPr userDrawn="1"/>
          </p:nvSpPr>
          <p:spPr bwMode="ltGray">
            <a:xfrm>
              <a:off x="0" y="3447702"/>
              <a:ext cx="9144000" cy="1054100"/>
            </a:xfrm>
            <a:custGeom>
              <a:avLst/>
              <a:gdLst>
                <a:gd name="T0" fmla="*/ 0 w 2880"/>
                <a:gd name="T1" fmla="*/ 332 h 332"/>
                <a:gd name="T2" fmla="*/ 0 w 2880"/>
                <a:gd name="T3" fmla="*/ 0 h 332"/>
                <a:gd name="T4" fmla="*/ 2417 w 2880"/>
                <a:gd name="T5" fmla="*/ 0 h 332"/>
                <a:gd name="T6" fmla="*/ 2419 w 2880"/>
                <a:gd name="T7" fmla="*/ 3 h 332"/>
                <a:gd name="T8" fmla="*/ 2480 w 2880"/>
                <a:gd name="T9" fmla="*/ 43 h 332"/>
                <a:gd name="T10" fmla="*/ 2483 w 2880"/>
                <a:gd name="T11" fmla="*/ 43 h 332"/>
                <a:gd name="T12" fmla="*/ 2625 w 2880"/>
                <a:gd name="T13" fmla="*/ 150 h 332"/>
                <a:gd name="T14" fmla="*/ 2773 w 2880"/>
                <a:gd name="T15" fmla="*/ 2 h 332"/>
                <a:gd name="T16" fmla="*/ 2773 w 2880"/>
                <a:gd name="T17" fmla="*/ 0 h 332"/>
                <a:gd name="T18" fmla="*/ 2880 w 2880"/>
                <a:gd name="T19" fmla="*/ 0 h 332"/>
                <a:gd name="T20" fmla="*/ 2880 w 2880"/>
                <a:gd name="T21" fmla="*/ 332 h 332"/>
                <a:gd name="T22" fmla="*/ 0 w 2880"/>
                <a:gd name="T23" fmla="*/ 33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0" h="332">
                  <a:moveTo>
                    <a:pt x="0" y="332"/>
                  </a:moveTo>
                  <a:cubicBezTo>
                    <a:pt x="0" y="0"/>
                    <a:pt x="0" y="0"/>
                    <a:pt x="0" y="0"/>
                  </a:cubicBezTo>
                  <a:cubicBezTo>
                    <a:pt x="2417" y="0"/>
                    <a:pt x="2417" y="0"/>
                    <a:pt x="2417" y="0"/>
                  </a:cubicBezTo>
                  <a:cubicBezTo>
                    <a:pt x="2419" y="3"/>
                    <a:pt x="2419" y="3"/>
                    <a:pt x="2419" y="3"/>
                  </a:cubicBezTo>
                  <a:cubicBezTo>
                    <a:pt x="2429" y="27"/>
                    <a:pt x="2454" y="43"/>
                    <a:pt x="2480" y="43"/>
                  </a:cubicBezTo>
                  <a:cubicBezTo>
                    <a:pt x="2481" y="43"/>
                    <a:pt x="2482" y="43"/>
                    <a:pt x="2483" y="43"/>
                  </a:cubicBezTo>
                  <a:cubicBezTo>
                    <a:pt x="2501" y="106"/>
                    <a:pt x="2559" y="150"/>
                    <a:pt x="2625" y="150"/>
                  </a:cubicBezTo>
                  <a:cubicBezTo>
                    <a:pt x="2707" y="150"/>
                    <a:pt x="2773" y="83"/>
                    <a:pt x="2773" y="2"/>
                  </a:cubicBezTo>
                  <a:cubicBezTo>
                    <a:pt x="2773" y="0"/>
                    <a:pt x="2773" y="0"/>
                    <a:pt x="2773" y="0"/>
                  </a:cubicBezTo>
                  <a:cubicBezTo>
                    <a:pt x="2880" y="0"/>
                    <a:pt x="2880" y="0"/>
                    <a:pt x="2880" y="0"/>
                  </a:cubicBezTo>
                  <a:cubicBezTo>
                    <a:pt x="2880" y="332"/>
                    <a:pt x="2880" y="332"/>
                    <a:pt x="2880" y="332"/>
                  </a:cubicBezTo>
                  <a:cubicBezTo>
                    <a:pt x="0" y="332"/>
                    <a:pt x="0" y="332"/>
                    <a:pt x="0" y="332"/>
                  </a:cubicBezTo>
                </a:path>
              </a:pathLst>
            </a:custGeom>
            <a:solidFill>
              <a:srgbClr val="0092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p>
          </p:txBody>
        </p:sp>
        <p:sp>
          <p:nvSpPr>
            <p:cNvPr id="13" name="circle_mid3" hidden="1"/>
            <p:cNvSpPr>
              <a:spLocks noEditPoints="1"/>
            </p:cNvSpPr>
            <p:nvPr userDrawn="1"/>
          </p:nvSpPr>
          <p:spPr bwMode="ltGray">
            <a:xfrm>
              <a:off x="7870678" y="2987851"/>
              <a:ext cx="930673" cy="929225"/>
            </a:xfrm>
            <a:custGeom>
              <a:avLst/>
              <a:gdLst>
                <a:gd name="T0" fmla="*/ 770 w 1540"/>
                <a:gd name="T1" fmla="*/ 1539 h 1539"/>
                <a:gd name="T2" fmla="*/ 1540 w 1540"/>
                <a:gd name="T3" fmla="*/ 770 h 1539"/>
                <a:gd name="T4" fmla="*/ 770 w 1540"/>
                <a:gd name="T5" fmla="*/ 0 h 1539"/>
                <a:gd name="T6" fmla="*/ 0 w 1540"/>
                <a:gd name="T7" fmla="*/ 770 h 1539"/>
                <a:gd name="T8" fmla="*/ 770 w 1540"/>
                <a:gd name="T9" fmla="*/ 1539 h 1539"/>
                <a:gd name="T10" fmla="*/ 770 w 1540"/>
                <a:gd name="T11" fmla="*/ 10 h 1539"/>
                <a:gd name="T12" fmla="*/ 1529 w 1540"/>
                <a:gd name="T13" fmla="*/ 770 h 1539"/>
                <a:gd name="T14" fmla="*/ 770 w 1540"/>
                <a:gd name="T15" fmla="*/ 1529 h 1539"/>
                <a:gd name="T16" fmla="*/ 11 w 1540"/>
                <a:gd name="T17" fmla="*/ 770 h 1539"/>
                <a:gd name="T18" fmla="*/ 770 w 1540"/>
                <a:gd name="T19" fmla="*/ 10 h 1539"/>
                <a:gd name="T20" fmla="*/ 770 w 1540"/>
                <a:gd name="T21" fmla="*/ 1494 h 1539"/>
                <a:gd name="T22" fmla="*/ 1495 w 1540"/>
                <a:gd name="T23" fmla="*/ 770 h 1539"/>
                <a:gd name="T24" fmla="*/ 770 w 1540"/>
                <a:gd name="T25" fmla="*/ 45 h 1539"/>
                <a:gd name="T26" fmla="*/ 45 w 1540"/>
                <a:gd name="T27" fmla="*/ 770 h 1539"/>
                <a:gd name="T28" fmla="*/ 770 w 1540"/>
                <a:gd name="T29" fmla="*/ 1494 h 1539"/>
                <a:gd name="T30" fmla="*/ 770 w 1540"/>
                <a:gd name="T31" fmla="*/ 63 h 1539"/>
                <a:gd name="T32" fmla="*/ 1476 w 1540"/>
                <a:gd name="T33" fmla="*/ 770 h 1539"/>
                <a:gd name="T34" fmla="*/ 770 w 1540"/>
                <a:gd name="T35" fmla="*/ 1476 h 1539"/>
                <a:gd name="T36" fmla="*/ 64 w 1540"/>
                <a:gd name="T37" fmla="*/ 770 h 1539"/>
                <a:gd name="T38" fmla="*/ 770 w 1540"/>
                <a:gd name="T39" fmla="*/ 63 h 1539"/>
                <a:gd name="T40" fmla="*/ 770 w 1540"/>
                <a:gd name="T41" fmla="*/ 1449 h 1539"/>
                <a:gd name="T42" fmla="*/ 1450 w 1540"/>
                <a:gd name="T43" fmla="*/ 770 h 1539"/>
                <a:gd name="T44" fmla="*/ 770 w 1540"/>
                <a:gd name="T45" fmla="*/ 90 h 1539"/>
                <a:gd name="T46" fmla="*/ 90 w 1540"/>
                <a:gd name="T47" fmla="*/ 770 h 1539"/>
                <a:gd name="T48" fmla="*/ 770 w 1540"/>
                <a:gd name="T49" fmla="*/ 1449 h 1539"/>
                <a:gd name="T50" fmla="*/ 770 w 1540"/>
                <a:gd name="T51" fmla="*/ 116 h 1539"/>
                <a:gd name="T52" fmla="*/ 1423 w 1540"/>
                <a:gd name="T53" fmla="*/ 770 h 1539"/>
                <a:gd name="T54" fmla="*/ 770 w 1540"/>
                <a:gd name="T55" fmla="*/ 1423 h 1539"/>
                <a:gd name="T56" fmla="*/ 117 w 1540"/>
                <a:gd name="T57" fmla="*/ 770 h 1539"/>
                <a:gd name="T58" fmla="*/ 770 w 1540"/>
                <a:gd name="T59" fmla="*/ 116 h 1539"/>
                <a:gd name="T60" fmla="*/ 770 w 1540"/>
                <a:gd name="T61" fmla="*/ 1405 h 1539"/>
                <a:gd name="T62" fmla="*/ 1405 w 1540"/>
                <a:gd name="T63" fmla="*/ 770 h 1539"/>
                <a:gd name="T64" fmla="*/ 770 w 1540"/>
                <a:gd name="T65" fmla="*/ 135 h 1539"/>
                <a:gd name="T66" fmla="*/ 135 w 1540"/>
                <a:gd name="T67" fmla="*/ 770 h 1539"/>
                <a:gd name="T68" fmla="*/ 770 w 1540"/>
                <a:gd name="T69" fmla="*/ 1405 h 1539"/>
                <a:gd name="T70" fmla="*/ 770 w 1540"/>
                <a:gd name="T71" fmla="*/ 169 h 1539"/>
                <a:gd name="T72" fmla="*/ 1370 w 1540"/>
                <a:gd name="T73" fmla="*/ 770 h 1539"/>
                <a:gd name="T74" fmla="*/ 770 w 1540"/>
                <a:gd name="T75" fmla="*/ 1370 h 1539"/>
                <a:gd name="T76" fmla="*/ 170 w 1540"/>
                <a:gd name="T77" fmla="*/ 770 h 1539"/>
                <a:gd name="T78" fmla="*/ 770 w 1540"/>
                <a:gd name="T79" fmla="*/ 169 h 1539"/>
                <a:gd name="T80" fmla="*/ 770 w 1540"/>
                <a:gd name="T81" fmla="*/ 180 h 1539"/>
                <a:gd name="T82" fmla="*/ 1360 w 1540"/>
                <a:gd name="T83" fmla="*/ 770 h 1539"/>
                <a:gd name="T84" fmla="*/ 770 w 1540"/>
                <a:gd name="T85" fmla="*/ 1360 h 1539"/>
                <a:gd name="T86" fmla="*/ 180 w 1540"/>
                <a:gd name="T87" fmla="*/ 770 h 1539"/>
                <a:gd name="T88" fmla="*/ 770 w 1540"/>
                <a:gd name="T89" fmla="*/ 180 h 1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40" h="1539">
                  <a:moveTo>
                    <a:pt x="770" y="1539"/>
                  </a:moveTo>
                  <a:cubicBezTo>
                    <a:pt x="1194" y="1539"/>
                    <a:pt x="1540" y="1194"/>
                    <a:pt x="1540" y="770"/>
                  </a:cubicBezTo>
                  <a:cubicBezTo>
                    <a:pt x="1540" y="345"/>
                    <a:pt x="1194" y="0"/>
                    <a:pt x="770" y="0"/>
                  </a:cubicBezTo>
                  <a:cubicBezTo>
                    <a:pt x="346" y="0"/>
                    <a:pt x="0" y="345"/>
                    <a:pt x="0" y="770"/>
                  </a:cubicBezTo>
                  <a:cubicBezTo>
                    <a:pt x="0" y="1194"/>
                    <a:pt x="346" y="1539"/>
                    <a:pt x="770" y="1539"/>
                  </a:cubicBezTo>
                  <a:close/>
                  <a:moveTo>
                    <a:pt x="770" y="10"/>
                  </a:moveTo>
                  <a:cubicBezTo>
                    <a:pt x="1189" y="10"/>
                    <a:pt x="1529" y="351"/>
                    <a:pt x="1529" y="770"/>
                  </a:cubicBezTo>
                  <a:cubicBezTo>
                    <a:pt x="1529" y="1188"/>
                    <a:pt x="1189" y="1529"/>
                    <a:pt x="770" y="1529"/>
                  </a:cubicBezTo>
                  <a:cubicBezTo>
                    <a:pt x="351" y="1529"/>
                    <a:pt x="11" y="1188"/>
                    <a:pt x="11" y="770"/>
                  </a:cubicBezTo>
                  <a:cubicBezTo>
                    <a:pt x="11" y="351"/>
                    <a:pt x="351" y="10"/>
                    <a:pt x="770" y="10"/>
                  </a:cubicBezTo>
                  <a:close/>
                  <a:moveTo>
                    <a:pt x="770" y="1494"/>
                  </a:moveTo>
                  <a:cubicBezTo>
                    <a:pt x="1170" y="1494"/>
                    <a:pt x="1495" y="1169"/>
                    <a:pt x="1495" y="770"/>
                  </a:cubicBezTo>
                  <a:cubicBezTo>
                    <a:pt x="1495" y="370"/>
                    <a:pt x="1170" y="45"/>
                    <a:pt x="770" y="45"/>
                  </a:cubicBezTo>
                  <a:cubicBezTo>
                    <a:pt x="370" y="45"/>
                    <a:pt x="45" y="370"/>
                    <a:pt x="45" y="770"/>
                  </a:cubicBezTo>
                  <a:cubicBezTo>
                    <a:pt x="45" y="1169"/>
                    <a:pt x="370" y="1494"/>
                    <a:pt x="770" y="1494"/>
                  </a:cubicBezTo>
                  <a:close/>
                  <a:moveTo>
                    <a:pt x="770" y="63"/>
                  </a:moveTo>
                  <a:cubicBezTo>
                    <a:pt x="1160" y="63"/>
                    <a:pt x="1476" y="380"/>
                    <a:pt x="1476" y="770"/>
                  </a:cubicBezTo>
                  <a:cubicBezTo>
                    <a:pt x="1476" y="1159"/>
                    <a:pt x="1160" y="1476"/>
                    <a:pt x="770" y="1476"/>
                  </a:cubicBezTo>
                  <a:cubicBezTo>
                    <a:pt x="381" y="1476"/>
                    <a:pt x="64" y="1159"/>
                    <a:pt x="64" y="770"/>
                  </a:cubicBezTo>
                  <a:cubicBezTo>
                    <a:pt x="64" y="380"/>
                    <a:pt x="381" y="63"/>
                    <a:pt x="770" y="63"/>
                  </a:cubicBezTo>
                  <a:close/>
                  <a:moveTo>
                    <a:pt x="770" y="1449"/>
                  </a:moveTo>
                  <a:cubicBezTo>
                    <a:pt x="1145" y="1449"/>
                    <a:pt x="1450" y="1144"/>
                    <a:pt x="1450" y="770"/>
                  </a:cubicBezTo>
                  <a:cubicBezTo>
                    <a:pt x="1450" y="395"/>
                    <a:pt x="1145" y="90"/>
                    <a:pt x="770" y="90"/>
                  </a:cubicBezTo>
                  <a:cubicBezTo>
                    <a:pt x="395" y="90"/>
                    <a:pt x="90" y="395"/>
                    <a:pt x="90" y="770"/>
                  </a:cubicBezTo>
                  <a:cubicBezTo>
                    <a:pt x="90" y="1144"/>
                    <a:pt x="395" y="1449"/>
                    <a:pt x="770" y="1449"/>
                  </a:cubicBezTo>
                  <a:close/>
                  <a:moveTo>
                    <a:pt x="770" y="116"/>
                  </a:moveTo>
                  <a:cubicBezTo>
                    <a:pt x="1130" y="116"/>
                    <a:pt x="1423" y="409"/>
                    <a:pt x="1423" y="770"/>
                  </a:cubicBezTo>
                  <a:cubicBezTo>
                    <a:pt x="1423" y="1130"/>
                    <a:pt x="1130" y="1423"/>
                    <a:pt x="770" y="1423"/>
                  </a:cubicBezTo>
                  <a:cubicBezTo>
                    <a:pt x="410" y="1423"/>
                    <a:pt x="117" y="1130"/>
                    <a:pt x="117" y="770"/>
                  </a:cubicBezTo>
                  <a:cubicBezTo>
                    <a:pt x="117" y="409"/>
                    <a:pt x="410" y="116"/>
                    <a:pt x="770" y="116"/>
                  </a:cubicBezTo>
                  <a:close/>
                  <a:moveTo>
                    <a:pt x="770" y="1405"/>
                  </a:moveTo>
                  <a:cubicBezTo>
                    <a:pt x="1120" y="1405"/>
                    <a:pt x="1405" y="1120"/>
                    <a:pt x="1405" y="770"/>
                  </a:cubicBezTo>
                  <a:cubicBezTo>
                    <a:pt x="1405" y="420"/>
                    <a:pt x="1120" y="135"/>
                    <a:pt x="770" y="135"/>
                  </a:cubicBezTo>
                  <a:cubicBezTo>
                    <a:pt x="420" y="135"/>
                    <a:pt x="135" y="420"/>
                    <a:pt x="135" y="770"/>
                  </a:cubicBezTo>
                  <a:cubicBezTo>
                    <a:pt x="135" y="1120"/>
                    <a:pt x="420" y="1405"/>
                    <a:pt x="770" y="1405"/>
                  </a:cubicBezTo>
                  <a:close/>
                  <a:moveTo>
                    <a:pt x="770" y="169"/>
                  </a:moveTo>
                  <a:cubicBezTo>
                    <a:pt x="1101" y="169"/>
                    <a:pt x="1370" y="439"/>
                    <a:pt x="1370" y="770"/>
                  </a:cubicBezTo>
                  <a:cubicBezTo>
                    <a:pt x="1370" y="1101"/>
                    <a:pt x="1101" y="1370"/>
                    <a:pt x="770" y="1370"/>
                  </a:cubicBezTo>
                  <a:cubicBezTo>
                    <a:pt x="439" y="1370"/>
                    <a:pt x="170" y="1101"/>
                    <a:pt x="170" y="770"/>
                  </a:cubicBezTo>
                  <a:cubicBezTo>
                    <a:pt x="170" y="439"/>
                    <a:pt x="439" y="169"/>
                    <a:pt x="770" y="169"/>
                  </a:cubicBezTo>
                  <a:close/>
                  <a:moveTo>
                    <a:pt x="770" y="180"/>
                  </a:moveTo>
                  <a:cubicBezTo>
                    <a:pt x="1095" y="180"/>
                    <a:pt x="1360" y="444"/>
                    <a:pt x="1360" y="770"/>
                  </a:cubicBezTo>
                  <a:cubicBezTo>
                    <a:pt x="1360" y="1095"/>
                    <a:pt x="1095" y="1360"/>
                    <a:pt x="770" y="1360"/>
                  </a:cubicBezTo>
                  <a:cubicBezTo>
                    <a:pt x="445" y="1360"/>
                    <a:pt x="180" y="1095"/>
                    <a:pt x="180" y="770"/>
                  </a:cubicBezTo>
                  <a:cubicBezTo>
                    <a:pt x="180" y="444"/>
                    <a:pt x="445" y="180"/>
                    <a:pt x="770" y="180"/>
                  </a:cubicBezTo>
                  <a:close/>
                </a:path>
              </a:pathLst>
            </a:custGeom>
            <a:solidFill>
              <a:srgbClr val="40AD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14" name="circle_light3" hidden="1"/>
            <p:cNvSpPr>
              <a:spLocks noEditPoints="1"/>
            </p:cNvSpPr>
            <p:nvPr userDrawn="1"/>
          </p:nvSpPr>
          <p:spPr bwMode="ltGray">
            <a:xfrm>
              <a:off x="7665766" y="3163678"/>
              <a:ext cx="410335" cy="410433"/>
            </a:xfrm>
            <a:custGeom>
              <a:avLst/>
              <a:gdLst>
                <a:gd name="T0" fmla="*/ 339 w 679"/>
                <a:gd name="T1" fmla="*/ 680 h 680"/>
                <a:gd name="T2" fmla="*/ 679 w 679"/>
                <a:gd name="T3" fmla="*/ 340 h 680"/>
                <a:gd name="T4" fmla="*/ 339 w 679"/>
                <a:gd name="T5" fmla="*/ 0 h 680"/>
                <a:gd name="T6" fmla="*/ 0 w 679"/>
                <a:gd name="T7" fmla="*/ 340 h 680"/>
                <a:gd name="T8" fmla="*/ 339 w 679"/>
                <a:gd name="T9" fmla="*/ 680 h 680"/>
                <a:gd name="T10" fmla="*/ 339 w 679"/>
                <a:gd name="T11" fmla="*/ 21 h 680"/>
                <a:gd name="T12" fmla="*/ 659 w 679"/>
                <a:gd name="T13" fmla="*/ 340 h 680"/>
                <a:gd name="T14" fmla="*/ 339 w 679"/>
                <a:gd name="T15" fmla="*/ 660 h 680"/>
                <a:gd name="T16" fmla="*/ 20 w 679"/>
                <a:gd name="T17" fmla="*/ 340 h 680"/>
                <a:gd name="T18" fmla="*/ 339 w 679"/>
                <a:gd name="T19" fmla="*/ 21 h 680"/>
                <a:gd name="T20" fmla="*/ 339 w 679"/>
                <a:gd name="T21" fmla="*/ 649 h 680"/>
                <a:gd name="T22" fmla="*/ 648 w 679"/>
                <a:gd name="T23" fmla="*/ 340 h 680"/>
                <a:gd name="T24" fmla="*/ 339 w 679"/>
                <a:gd name="T25" fmla="*/ 32 h 680"/>
                <a:gd name="T26" fmla="*/ 31 w 679"/>
                <a:gd name="T27" fmla="*/ 340 h 680"/>
                <a:gd name="T28" fmla="*/ 339 w 679"/>
                <a:gd name="T29" fmla="*/ 649 h 680"/>
                <a:gd name="T30" fmla="*/ 339 w 679"/>
                <a:gd name="T31" fmla="*/ 47 h 680"/>
                <a:gd name="T32" fmla="*/ 632 w 679"/>
                <a:gd name="T33" fmla="*/ 340 h 680"/>
                <a:gd name="T34" fmla="*/ 339 w 679"/>
                <a:gd name="T35" fmla="*/ 633 h 680"/>
                <a:gd name="T36" fmla="*/ 46 w 679"/>
                <a:gd name="T37" fmla="*/ 340 h 680"/>
                <a:gd name="T38" fmla="*/ 339 w 679"/>
                <a:gd name="T39" fmla="*/ 47 h 680"/>
                <a:gd name="T40" fmla="*/ 339 w 679"/>
                <a:gd name="T41" fmla="*/ 618 h 680"/>
                <a:gd name="T42" fmla="*/ 617 w 679"/>
                <a:gd name="T43" fmla="*/ 340 h 680"/>
                <a:gd name="T44" fmla="*/ 339 w 679"/>
                <a:gd name="T45" fmla="*/ 63 h 680"/>
                <a:gd name="T46" fmla="*/ 62 w 679"/>
                <a:gd name="T47" fmla="*/ 340 h 680"/>
                <a:gd name="T48" fmla="*/ 339 w 679"/>
                <a:gd name="T49" fmla="*/ 618 h 680"/>
                <a:gd name="T50" fmla="*/ 339 w 679"/>
                <a:gd name="T51" fmla="*/ 74 h 680"/>
                <a:gd name="T52" fmla="*/ 606 w 679"/>
                <a:gd name="T53" fmla="*/ 340 h 680"/>
                <a:gd name="T54" fmla="*/ 339 w 679"/>
                <a:gd name="T55" fmla="*/ 607 h 680"/>
                <a:gd name="T56" fmla="*/ 73 w 679"/>
                <a:gd name="T57" fmla="*/ 340 h 680"/>
                <a:gd name="T58" fmla="*/ 339 w 679"/>
                <a:gd name="T59" fmla="*/ 74 h 680"/>
                <a:gd name="T60" fmla="*/ 339 w 679"/>
                <a:gd name="T61" fmla="*/ 587 h 680"/>
                <a:gd name="T62" fmla="*/ 586 w 679"/>
                <a:gd name="T63" fmla="*/ 340 h 680"/>
                <a:gd name="T64" fmla="*/ 339 w 679"/>
                <a:gd name="T65" fmla="*/ 94 h 680"/>
                <a:gd name="T66" fmla="*/ 93 w 679"/>
                <a:gd name="T67" fmla="*/ 340 h 680"/>
                <a:gd name="T68" fmla="*/ 339 w 679"/>
                <a:gd name="T69" fmla="*/ 587 h 680"/>
                <a:gd name="T70" fmla="*/ 339 w 679"/>
                <a:gd name="T71" fmla="*/ 100 h 680"/>
                <a:gd name="T72" fmla="*/ 580 w 679"/>
                <a:gd name="T73" fmla="*/ 340 h 680"/>
                <a:gd name="T74" fmla="*/ 339 w 679"/>
                <a:gd name="T75" fmla="*/ 580 h 680"/>
                <a:gd name="T76" fmla="*/ 99 w 679"/>
                <a:gd name="T77" fmla="*/ 340 h 680"/>
                <a:gd name="T78" fmla="*/ 339 w 679"/>
                <a:gd name="T79" fmla="*/ 100 h 680"/>
                <a:gd name="T80" fmla="*/ 339 w 679"/>
                <a:gd name="T81" fmla="*/ 126 h 680"/>
                <a:gd name="T82" fmla="*/ 554 w 679"/>
                <a:gd name="T83" fmla="*/ 340 h 680"/>
                <a:gd name="T84" fmla="*/ 339 w 679"/>
                <a:gd name="T85" fmla="*/ 555 h 680"/>
                <a:gd name="T86" fmla="*/ 125 w 679"/>
                <a:gd name="T87" fmla="*/ 340 h 680"/>
                <a:gd name="T88" fmla="*/ 339 w 679"/>
                <a:gd name="T89" fmla="*/ 126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79" h="680">
                  <a:moveTo>
                    <a:pt x="339" y="680"/>
                  </a:moveTo>
                  <a:cubicBezTo>
                    <a:pt x="527" y="680"/>
                    <a:pt x="679" y="528"/>
                    <a:pt x="679" y="340"/>
                  </a:cubicBezTo>
                  <a:cubicBezTo>
                    <a:pt x="679" y="153"/>
                    <a:pt x="527" y="0"/>
                    <a:pt x="339" y="0"/>
                  </a:cubicBezTo>
                  <a:cubicBezTo>
                    <a:pt x="152" y="0"/>
                    <a:pt x="0" y="153"/>
                    <a:pt x="0" y="340"/>
                  </a:cubicBezTo>
                  <a:cubicBezTo>
                    <a:pt x="0" y="528"/>
                    <a:pt x="152" y="680"/>
                    <a:pt x="339" y="680"/>
                  </a:cubicBezTo>
                  <a:close/>
                  <a:moveTo>
                    <a:pt x="339" y="21"/>
                  </a:moveTo>
                  <a:cubicBezTo>
                    <a:pt x="516" y="21"/>
                    <a:pt x="659" y="164"/>
                    <a:pt x="659" y="340"/>
                  </a:cubicBezTo>
                  <a:cubicBezTo>
                    <a:pt x="659" y="516"/>
                    <a:pt x="516" y="660"/>
                    <a:pt x="339" y="660"/>
                  </a:cubicBezTo>
                  <a:cubicBezTo>
                    <a:pt x="163" y="660"/>
                    <a:pt x="20" y="516"/>
                    <a:pt x="20" y="340"/>
                  </a:cubicBezTo>
                  <a:cubicBezTo>
                    <a:pt x="20" y="164"/>
                    <a:pt x="163" y="21"/>
                    <a:pt x="339" y="21"/>
                  </a:cubicBezTo>
                  <a:close/>
                  <a:moveTo>
                    <a:pt x="339" y="649"/>
                  </a:moveTo>
                  <a:cubicBezTo>
                    <a:pt x="510" y="649"/>
                    <a:pt x="648" y="510"/>
                    <a:pt x="648" y="340"/>
                  </a:cubicBezTo>
                  <a:cubicBezTo>
                    <a:pt x="648" y="170"/>
                    <a:pt x="510" y="32"/>
                    <a:pt x="339" y="32"/>
                  </a:cubicBezTo>
                  <a:cubicBezTo>
                    <a:pt x="169" y="32"/>
                    <a:pt x="31" y="170"/>
                    <a:pt x="31" y="340"/>
                  </a:cubicBezTo>
                  <a:cubicBezTo>
                    <a:pt x="31" y="510"/>
                    <a:pt x="169" y="649"/>
                    <a:pt x="339" y="649"/>
                  </a:cubicBezTo>
                  <a:close/>
                  <a:moveTo>
                    <a:pt x="339" y="47"/>
                  </a:moveTo>
                  <a:cubicBezTo>
                    <a:pt x="501" y="47"/>
                    <a:pt x="632" y="179"/>
                    <a:pt x="632" y="340"/>
                  </a:cubicBezTo>
                  <a:cubicBezTo>
                    <a:pt x="632" y="502"/>
                    <a:pt x="501" y="633"/>
                    <a:pt x="339" y="633"/>
                  </a:cubicBezTo>
                  <a:cubicBezTo>
                    <a:pt x="178" y="633"/>
                    <a:pt x="46" y="502"/>
                    <a:pt x="46" y="340"/>
                  </a:cubicBezTo>
                  <a:cubicBezTo>
                    <a:pt x="46" y="179"/>
                    <a:pt x="178" y="47"/>
                    <a:pt x="339" y="47"/>
                  </a:cubicBezTo>
                  <a:close/>
                  <a:moveTo>
                    <a:pt x="339" y="618"/>
                  </a:moveTo>
                  <a:cubicBezTo>
                    <a:pt x="492" y="618"/>
                    <a:pt x="617" y="493"/>
                    <a:pt x="617" y="340"/>
                  </a:cubicBezTo>
                  <a:cubicBezTo>
                    <a:pt x="617" y="187"/>
                    <a:pt x="492" y="63"/>
                    <a:pt x="339" y="63"/>
                  </a:cubicBezTo>
                  <a:cubicBezTo>
                    <a:pt x="186" y="63"/>
                    <a:pt x="62" y="187"/>
                    <a:pt x="62" y="340"/>
                  </a:cubicBezTo>
                  <a:cubicBezTo>
                    <a:pt x="62" y="493"/>
                    <a:pt x="186" y="618"/>
                    <a:pt x="339" y="618"/>
                  </a:cubicBezTo>
                  <a:close/>
                  <a:moveTo>
                    <a:pt x="339" y="74"/>
                  </a:moveTo>
                  <a:cubicBezTo>
                    <a:pt x="486" y="74"/>
                    <a:pt x="606" y="193"/>
                    <a:pt x="606" y="340"/>
                  </a:cubicBezTo>
                  <a:cubicBezTo>
                    <a:pt x="606" y="487"/>
                    <a:pt x="486" y="607"/>
                    <a:pt x="339" y="607"/>
                  </a:cubicBezTo>
                  <a:cubicBezTo>
                    <a:pt x="192" y="607"/>
                    <a:pt x="73" y="487"/>
                    <a:pt x="73" y="340"/>
                  </a:cubicBezTo>
                  <a:cubicBezTo>
                    <a:pt x="73" y="193"/>
                    <a:pt x="192" y="74"/>
                    <a:pt x="339" y="74"/>
                  </a:cubicBezTo>
                  <a:close/>
                  <a:moveTo>
                    <a:pt x="339" y="587"/>
                  </a:moveTo>
                  <a:cubicBezTo>
                    <a:pt x="475" y="587"/>
                    <a:pt x="586" y="476"/>
                    <a:pt x="586" y="340"/>
                  </a:cubicBezTo>
                  <a:cubicBezTo>
                    <a:pt x="586" y="204"/>
                    <a:pt x="475" y="94"/>
                    <a:pt x="339" y="94"/>
                  </a:cubicBezTo>
                  <a:cubicBezTo>
                    <a:pt x="204" y="94"/>
                    <a:pt x="93" y="204"/>
                    <a:pt x="93" y="340"/>
                  </a:cubicBezTo>
                  <a:cubicBezTo>
                    <a:pt x="93" y="476"/>
                    <a:pt x="204" y="587"/>
                    <a:pt x="339" y="587"/>
                  </a:cubicBezTo>
                  <a:close/>
                  <a:moveTo>
                    <a:pt x="339" y="100"/>
                  </a:moveTo>
                  <a:cubicBezTo>
                    <a:pt x="472" y="100"/>
                    <a:pt x="580" y="208"/>
                    <a:pt x="580" y="340"/>
                  </a:cubicBezTo>
                  <a:cubicBezTo>
                    <a:pt x="580" y="473"/>
                    <a:pt x="472" y="580"/>
                    <a:pt x="339" y="580"/>
                  </a:cubicBezTo>
                  <a:cubicBezTo>
                    <a:pt x="207" y="580"/>
                    <a:pt x="99" y="473"/>
                    <a:pt x="99" y="340"/>
                  </a:cubicBezTo>
                  <a:cubicBezTo>
                    <a:pt x="99" y="208"/>
                    <a:pt x="207" y="100"/>
                    <a:pt x="339" y="100"/>
                  </a:cubicBezTo>
                  <a:close/>
                  <a:moveTo>
                    <a:pt x="339" y="126"/>
                  </a:moveTo>
                  <a:cubicBezTo>
                    <a:pt x="458" y="126"/>
                    <a:pt x="554" y="222"/>
                    <a:pt x="554" y="340"/>
                  </a:cubicBezTo>
                  <a:cubicBezTo>
                    <a:pt x="554" y="459"/>
                    <a:pt x="458" y="555"/>
                    <a:pt x="339" y="555"/>
                  </a:cubicBezTo>
                  <a:cubicBezTo>
                    <a:pt x="221" y="555"/>
                    <a:pt x="125" y="459"/>
                    <a:pt x="125" y="340"/>
                  </a:cubicBezTo>
                  <a:cubicBezTo>
                    <a:pt x="125" y="222"/>
                    <a:pt x="221" y="126"/>
                    <a:pt x="339" y="126"/>
                  </a:cubicBezTo>
                  <a:close/>
                </a:path>
              </a:pathLst>
            </a:custGeom>
            <a:solidFill>
              <a:srgbClr val="80C8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grpSp>
      <p:grpSp>
        <p:nvGrpSpPr>
          <p:cNvPr id="6" name="logo_ripples_bar_small-4x3" descr="&lt;mode=4x3&gt;&#10;&lt;size&gt;h=158;w=720&lt;size/&gt;&#10;&lt;pos&gt;top=319.3506;left=0&lt;pos/&gt;&#10;&lt;mode/&gt;&#10;&lt;mode=16x9&gt;&#10;&lt;size&gt;h=118.5;w=720&lt;size/&gt;&#10;&lt;pos&gt;top=239.5129;left=0&lt;pos/&gt;&#10;&lt;mode/&gt;" hidden="1"/>
          <p:cNvGrpSpPr/>
          <p:nvPr userDrawn="1"/>
        </p:nvGrpSpPr>
        <p:grpSpPr>
          <a:xfrm>
            <a:off x="0" y="4055752"/>
            <a:ext cx="12192000" cy="2006600"/>
            <a:chOff x="0" y="4055752"/>
            <a:chExt cx="9144000" cy="2006600"/>
          </a:xfrm>
        </p:grpSpPr>
        <p:sp>
          <p:nvSpPr>
            <p:cNvPr id="7" name="base_bar" hidden="1"/>
            <p:cNvSpPr>
              <a:spLocks/>
            </p:cNvSpPr>
            <p:nvPr userDrawn="1"/>
          </p:nvSpPr>
          <p:spPr bwMode="ltGray">
            <a:xfrm>
              <a:off x="0" y="4662177"/>
              <a:ext cx="9144000" cy="1400175"/>
            </a:xfrm>
            <a:custGeom>
              <a:avLst/>
              <a:gdLst>
                <a:gd name="T0" fmla="*/ 0 w 2879"/>
                <a:gd name="T1" fmla="*/ 441 h 441"/>
                <a:gd name="T2" fmla="*/ 0 w 2879"/>
                <a:gd name="T3" fmla="*/ 0 h 441"/>
                <a:gd name="T4" fmla="*/ 2265 w 2879"/>
                <a:gd name="T5" fmla="*/ 0 h 441"/>
                <a:gd name="T6" fmla="*/ 2266 w 2879"/>
                <a:gd name="T7" fmla="*/ 3 h 441"/>
                <a:gd name="T8" fmla="*/ 2348 w 2879"/>
                <a:gd name="T9" fmla="*/ 57 h 441"/>
                <a:gd name="T10" fmla="*/ 2351 w 2879"/>
                <a:gd name="T11" fmla="*/ 56 h 441"/>
                <a:gd name="T12" fmla="*/ 2541 w 2879"/>
                <a:gd name="T13" fmla="*/ 199 h 441"/>
                <a:gd name="T14" fmla="*/ 2738 w 2879"/>
                <a:gd name="T15" fmla="*/ 3 h 441"/>
                <a:gd name="T16" fmla="*/ 2738 w 2879"/>
                <a:gd name="T17" fmla="*/ 0 h 441"/>
                <a:gd name="T18" fmla="*/ 2879 w 2879"/>
                <a:gd name="T19" fmla="*/ 0 h 441"/>
                <a:gd name="T20" fmla="*/ 2879 w 2879"/>
                <a:gd name="T21" fmla="*/ 441 h 441"/>
                <a:gd name="T22" fmla="*/ 0 w 2879"/>
                <a:gd name="T23" fmla="*/ 441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79" h="441">
                  <a:moveTo>
                    <a:pt x="0" y="441"/>
                  </a:moveTo>
                  <a:cubicBezTo>
                    <a:pt x="0" y="0"/>
                    <a:pt x="0" y="0"/>
                    <a:pt x="0" y="0"/>
                  </a:cubicBezTo>
                  <a:cubicBezTo>
                    <a:pt x="2265" y="0"/>
                    <a:pt x="2265" y="0"/>
                    <a:pt x="2265" y="0"/>
                  </a:cubicBezTo>
                  <a:cubicBezTo>
                    <a:pt x="2266" y="3"/>
                    <a:pt x="2266" y="3"/>
                    <a:pt x="2266" y="3"/>
                  </a:cubicBezTo>
                  <a:cubicBezTo>
                    <a:pt x="2281" y="36"/>
                    <a:pt x="2313" y="57"/>
                    <a:pt x="2348" y="57"/>
                  </a:cubicBezTo>
                  <a:cubicBezTo>
                    <a:pt x="2349" y="57"/>
                    <a:pt x="2350" y="56"/>
                    <a:pt x="2351" y="56"/>
                  </a:cubicBezTo>
                  <a:cubicBezTo>
                    <a:pt x="2376" y="140"/>
                    <a:pt x="2453" y="199"/>
                    <a:pt x="2541" y="199"/>
                  </a:cubicBezTo>
                  <a:cubicBezTo>
                    <a:pt x="2649" y="199"/>
                    <a:pt x="2737" y="111"/>
                    <a:pt x="2738" y="3"/>
                  </a:cubicBezTo>
                  <a:cubicBezTo>
                    <a:pt x="2738" y="0"/>
                    <a:pt x="2738" y="0"/>
                    <a:pt x="2738" y="0"/>
                  </a:cubicBezTo>
                  <a:cubicBezTo>
                    <a:pt x="2879" y="0"/>
                    <a:pt x="2879" y="0"/>
                    <a:pt x="2879" y="0"/>
                  </a:cubicBezTo>
                  <a:cubicBezTo>
                    <a:pt x="2879" y="441"/>
                    <a:pt x="2879" y="441"/>
                    <a:pt x="2879" y="441"/>
                  </a:cubicBezTo>
                  <a:lnTo>
                    <a:pt x="0" y="441"/>
                  </a:lnTo>
                  <a:close/>
                </a:path>
              </a:pathLst>
            </a:custGeom>
            <a:solidFill>
              <a:srgbClr val="0092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8" name="circle_mid3" hidden="1"/>
            <p:cNvSpPr>
              <a:spLocks noEditPoints="1"/>
            </p:cNvSpPr>
            <p:nvPr userDrawn="1"/>
          </p:nvSpPr>
          <p:spPr bwMode="ltGray">
            <a:xfrm>
              <a:off x="7456170" y="4055752"/>
              <a:ext cx="1224280" cy="1222375"/>
            </a:xfrm>
            <a:custGeom>
              <a:avLst/>
              <a:gdLst>
                <a:gd name="T0" fmla="*/ 770 w 1540"/>
                <a:gd name="T1" fmla="*/ 1539 h 1539"/>
                <a:gd name="T2" fmla="*/ 1540 w 1540"/>
                <a:gd name="T3" fmla="*/ 770 h 1539"/>
                <a:gd name="T4" fmla="*/ 770 w 1540"/>
                <a:gd name="T5" fmla="*/ 0 h 1539"/>
                <a:gd name="T6" fmla="*/ 0 w 1540"/>
                <a:gd name="T7" fmla="*/ 770 h 1539"/>
                <a:gd name="T8" fmla="*/ 770 w 1540"/>
                <a:gd name="T9" fmla="*/ 1539 h 1539"/>
                <a:gd name="T10" fmla="*/ 770 w 1540"/>
                <a:gd name="T11" fmla="*/ 10 h 1539"/>
                <a:gd name="T12" fmla="*/ 1529 w 1540"/>
                <a:gd name="T13" fmla="*/ 770 h 1539"/>
                <a:gd name="T14" fmla="*/ 770 w 1540"/>
                <a:gd name="T15" fmla="*/ 1529 h 1539"/>
                <a:gd name="T16" fmla="*/ 11 w 1540"/>
                <a:gd name="T17" fmla="*/ 770 h 1539"/>
                <a:gd name="T18" fmla="*/ 770 w 1540"/>
                <a:gd name="T19" fmla="*/ 10 h 1539"/>
                <a:gd name="T20" fmla="*/ 770 w 1540"/>
                <a:gd name="T21" fmla="*/ 1494 h 1539"/>
                <a:gd name="T22" fmla="*/ 1495 w 1540"/>
                <a:gd name="T23" fmla="*/ 770 h 1539"/>
                <a:gd name="T24" fmla="*/ 770 w 1540"/>
                <a:gd name="T25" fmla="*/ 45 h 1539"/>
                <a:gd name="T26" fmla="*/ 45 w 1540"/>
                <a:gd name="T27" fmla="*/ 770 h 1539"/>
                <a:gd name="T28" fmla="*/ 770 w 1540"/>
                <a:gd name="T29" fmla="*/ 1494 h 1539"/>
                <a:gd name="T30" fmla="*/ 770 w 1540"/>
                <a:gd name="T31" fmla="*/ 63 h 1539"/>
                <a:gd name="T32" fmla="*/ 1476 w 1540"/>
                <a:gd name="T33" fmla="*/ 770 h 1539"/>
                <a:gd name="T34" fmla="*/ 770 w 1540"/>
                <a:gd name="T35" fmla="*/ 1476 h 1539"/>
                <a:gd name="T36" fmla="*/ 64 w 1540"/>
                <a:gd name="T37" fmla="*/ 770 h 1539"/>
                <a:gd name="T38" fmla="*/ 770 w 1540"/>
                <a:gd name="T39" fmla="*/ 63 h 1539"/>
                <a:gd name="T40" fmla="*/ 770 w 1540"/>
                <a:gd name="T41" fmla="*/ 1449 h 1539"/>
                <a:gd name="T42" fmla="*/ 1450 w 1540"/>
                <a:gd name="T43" fmla="*/ 770 h 1539"/>
                <a:gd name="T44" fmla="*/ 770 w 1540"/>
                <a:gd name="T45" fmla="*/ 90 h 1539"/>
                <a:gd name="T46" fmla="*/ 90 w 1540"/>
                <a:gd name="T47" fmla="*/ 770 h 1539"/>
                <a:gd name="T48" fmla="*/ 770 w 1540"/>
                <a:gd name="T49" fmla="*/ 1449 h 1539"/>
                <a:gd name="T50" fmla="*/ 770 w 1540"/>
                <a:gd name="T51" fmla="*/ 116 h 1539"/>
                <a:gd name="T52" fmla="*/ 1423 w 1540"/>
                <a:gd name="T53" fmla="*/ 770 h 1539"/>
                <a:gd name="T54" fmla="*/ 770 w 1540"/>
                <a:gd name="T55" fmla="*/ 1423 h 1539"/>
                <a:gd name="T56" fmla="*/ 117 w 1540"/>
                <a:gd name="T57" fmla="*/ 770 h 1539"/>
                <a:gd name="T58" fmla="*/ 770 w 1540"/>
                <a:gd name="T59" fmla="*/ 116 h 1539"/>
                <a:gd name="T60" fmla="*/ 770 w 1540"/>
                <a:gd name="T61" fmla="*/ 1405 h 1539"/>
                <a:gd name="T62" fmla="*/ 1405 w 1540"/>
                <a:gd name="T63" fmla="*/ 770 h 1539"/>
                <a:gd name="T64" fmla="*/ 770 w 1540"/>
                <a:gd name="T65" fmla="*/ 135 h 1539"/>
                <a:gd name="T66" fmla="*/ 135 w 1540"/>
                <a:gd name="T67" fmla="*/ 770 h 1539"/>
                <a:gd name="T68" fmla="*/ 770 w 1540"/>
                <a:gd name="T69" fmla="*/ 1405 h 1539"/>
                <a:gd name="T70" fmla="*/ 770 w 1540"/>
                <a:gd name="T71" fmla="*/ 169 h 1539"/>
                <a:gd name="T72" fmla="*/ 1370 w 1540"/>
                <a:gd name="T73" fmla="*/ 770 h 1539"/>
                <a:gd name="T74" fmla="*/ 770 w 1540"/>
                <a:gd name="T75" fmla="*/ 1370 h 1539"/>
                <a:gd name="T76" fmla="*/ 170 w 1540"/>
                <a:gd name="T77" fmla="*/ 770 h 1539"/>
                <a:gd name="T78" fmla="*/ 770 w 1540"/>
                <a:gd name="T79" fmla="*/ 169 h 1539"/>
                <a:gd name="T80" fmla="*/ 770 w 1540"/>
                <a:gd name="T81" fmla="*/ 180 h 1539"/>
                <a:gd name="T82" fmla="*/ 1360 w 1540"/>
                <a:gd name="T83" fmla="*/ 770 h 1539"/>
                <a:gd name="T84" fmla="*/ 770 w 1540"/>
                <a:gd name="T85" fmla="*/ 1360 h 1539"/>
                <a:gd name="T86" fmla="*/ 180 w 1540"/>
                <a:gd name="T87" fmla="*/ 770 h 1539"/>
                <a:gd name="T88" fmla="*/ 770 w 1540"/>
                <a:gd name="T89" fmla="*/ 180 h 1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40" h="1539">
                  <a:moveTo>
                    <a:pt x="770" y="1539"/>
                  </a:moveTo>
                  <a:cubicBezTo>
                    <a:pt x="1194" y="1539"/>
                    <a:pt x="1540" y="1194"/>
                    <a:pt x="1540" y="770"/>
                  </a:cubicBezTo>
                  <a:cubicBezTo>
                    <a:pt x="1540" y="345"/>
                    <a:pt x="1194" y="0"/>
                    <a:pt x="770" y="0"/>
                  </a:cubicBezTo>
                  <a:cubicBezTo>
                    <a:pt x="346" y="0"/>
                    <a:pt x="0" y="345"/>
                    <a:pt x="0" y="770"/>
                  </a:cubicBezTo>
                  <a:cubicBezTo>
                    <a:pt x="0" y="1194"/>
                    <a:pt x="346" y="1539"/>
                    <a:pt x="770" y="1539"/>
                  </a:cubicBezTo>
                  <a:close/>
                  <a:moveTo>
                    <a:pt x="770" y="10"/>
                  </a:moveTo>
                  <a:cubicBezTo>
                    <a:pt x="1189" y="10"/>
                    <a:pt x="1529" y="351"/>
                    <a:pt x="1529" y="770"/>
                  </a:cubicBezTo>
                  <a:cubicBezTo>
                    <a:pt x="1529" y="1188"/>
                    <a:pt x="1189" y="1529"/>
                    <a:pt x="770" y="1529"/>
                  </a:cubicBezTo>
                  <a:cubicBezTo>
                    <a:pt x="351" y="1529"/>
                    <a:pt x="11" y="1188"/>
                    <a:pt x="11" y="770"/>
                  </a:cubicBezTo>
                  <a:cubicBezTo>
                    <a:pt x="11" y="351"/>
                    <a:pt x="351" y="10"/>
                    <a:pt x="770" y="10"/>
                  </a:cubicBezTo>
                  <a:close/>
                  <a:moveTo>
                    <a:pt x="770" y="1494"/>
                  </a:moveTo>
                  <a:cubicBezTo>
                    <a:pt x="1170" y="1494"/>
                    <a:pt x="1495" y="1169"/>
                    <a:pt x="1495" y="770"/>
                  </a:cubicBezTo>
                  <a:cubicBezTo>
                    <a:pt x="1495" y="370"/>
                    <a:pt x="1170" y="45"/>
                    <a:pt x="770" y="45"/>
                  </a:cubicBezTo>
                  <a:cubicBezTo>
                    <a:pt x="370" y="45"/>
                    <a:pt x="45" y="370"/>
                    <a:pt x="45" y="770"/>
                  </a:cubicBezTo>
                  <a:cubicBezTo>
                    <a:pt x="45" y="1169"/>
                    <a:pt x="370" y="1494"/>
                    <a:pt x="770" y="1494"/>
                  </a:cubicBezTo>
                  <a:close/>
                  <a:moveTo>
                    <a:pt x="770" y="63"/>
                  </a:moveTo>
                  <a:cubicBezTo>
                    <a:pt x="1160" y="63"/>
                    <a:pt x="1476" y="380"/>
                    <a:pt x="1476" y="770"/>
                  </a:cubicBezTo>
                  <a:cubicBezTo>
                    <a:pt x="1476" y="1159"/>
                    <a:pt x="1160" y="1476"/>
                    <a:pt x="770" y="1476"/>
                  </a:cubicBezTo>
                  <a:cubicBezTo>
                    <a:pt x="381" y="1476"/>
                    <a:pt x="64" y="1159"/>
                    <a:pt x="64" y="770"/>
                  </a:cubicBezTo>
                  <a:cubicBezTo>
                    <a:pt x="64" y="380"/>
                    <a:pt x="381" y="63"/>
                    <a:pt x="770" y="63"/>
                  </a:cubicBezTo>
                  <a:close/>
                  <a:moveTo>
                    <a:pt x="770" y="1449"/>
                  </a:moveTo>
                  <a:cubicBezTo>
                    <a:pt x="1145" y="1449"/>
                    <a:pt x="1450" y="1144"/>
                    <a:pt x="1450" y="770"/>
                  </a:cubicBezTo>
                  <a:cubicBezTo>
                    <a:pt x="1450" y="395"/>
                    <a:pt x="1145" y="90"/>
                    <a:pt x="770" y="90"/>
                  </a:cubicBezTo>
                  <a:cubicBezTo>
                    <a:pt x="395" y="90"/>
                    <a:pt x="90" y="395"/>
                    <a:pt x="90" y="770"/>
                  </a:cubicBezTo>
                  <a:cubicBezTo>
                    <a:pt x="90" y="1144"/>
                    <a:pt x="395" y="1449"/>
                    <a:pt x="770" y="1449"/>
                  </a:cubicBezTo>
                  <a:close/>
                  <a:moveTo>
                    <a:pt x="770" y="116"/>
                  </a:moveTo>
                  <a:cubicBezTo>
                    <a:pt x="1130" y="116"/>
                    <a:pt x="1423" y="409"/>
                    <a:pt x="1423" y="770"/>
                  </a:cubicBezTo>
                  <a:cubicBezTo>
                    <a:pt x="1423" y="1130"/>
                    <a:pt x="1130" y="1423"/>
                    <a:pt x="770" y="1423"/>
                  </a:cubicBezTo>
                  <a:cubicBezTo>
                    <a:pt x="410" y="1423"/>
                    <a:pt x="117" y="1130"/>
                    <a:pt x="117" y="770"/>
                  </a:cubicBezTo>
                  <a:cubicBezTo>
                    <a:pt x="117" y="409"/>
                    <a:pt x="410" y="116"/>
                    <a:pt x="770" y="116"/>
                  </a:cubicBezTo>
                  <a:close/>
                  <a:moveTo>
                    <a:pt x="770" y="1405"/>
                  </a:moveTo>
                  <a:cubicBezTo>
                    <a:pt x="1120" y="1405"/>
                    <a:pt x="1405" y="1120"/>
                    <a:pt x="1405" y="770"/>
                  </a:cubicBezTo>
                  <a:cubicBezTo>
                    <a:pt x="1405" y="420"/>
                    <a:pt x="1120" y="135"/>
                    <a:pt x="770" y="135"/>
                  </a:cubicBezTo>
                  <a:cubicBezTo>
                    <a:pt x="420" y="135"/>
                    <a:pt x="135" y="420"/>
                    <a:pt x="135" y="770"/>
                  </a:cubicBezTo>
                  <a:cubicBezTo>
                    <a:pt x="135" y="1120"/>
                    <a:pt x="420" y="1405"/>
                    <a:pt x="770" y="1405"/>
                  </a:cubicBezTo>
                  <a:close/>
                  <a:moveTo>
                    <a:pt x="770" y="169"/>
                  </a:moveTo>
                  <a:cubicBezTo>
                    <a:pt x="1101" y="169"/>
                    <a:pt x="1370" y="439"/>
                    <a:pt x="1370" y="770"/>
                  </a:cubicBezTo>
                  <a:cubicBezTo>
                    <a:pt x="1370" y="1101"/>
                    <a:pt x="1101" y="1370"/>
                    <a:pt x="770" y="1370"/>
                  </a:cubicBezTo>
                  <a:cubicBezTo>
                    <a:pt x="439" y="1370"/>
                    <a:pt x="170" y="1101"/>
                    <a:pt x="170" y="770"/>
                  </a:cubicBezTo>
                  <a:cubicBezTo>
                    <a:pt x="170" y="439"/>
                    <a:pt x="439" y="169"/>
                    <a:pt x="770" y="169"/>
                  </a:cubicBezTo>
                  <a:close/>
                  <a:moveTo>
                    <a:pt x="770" y="180"/>
                  </a:moveTo>
                  <a:cubicBezTo>
                    <a:pt x="1095" y="180"/>
                    <a:pt x="1360" y="444"/>
                    <a:pt x="1360" y="770"/>
                  </a:cubicBezTo>
                  <a:cubicBezTo>
                    <a:pt x="1360" y="1095"/>
                    <a:pt x="1095" y="1360"/>
                    <a:pt x="770" y="1360"/>
                  </a:cubicBezTo>
                  <a:cubicBezTo>
                    <a:pt x="445" y="1360"/>
                    <a:pt x="180" y="1095"/>
                    <a:pt x="180" y="770"/>
                  </a:cubicBezTo>
                  <a:cubicBezTo>
                    <a:pt x="180" y="444"/>
                    <a:pt x="445" y="180"/>
                    <a:pt x="770" y="180"/>
                  </a:cubicBezTo>
                  <a:close/>
                </a:path>
              </a:pathLst>
            </a:custGeom>
            <a:solidFill>
              <a:srgbClr val="40AD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9" name="circle_light3" hidden="1"/>
            <p:cNvSpPr>
              <a:spLocks noEditPoints="1"/>
            </p:cNvSpPr>
            <p:nvPr userDrawn="1"/>
          </p:nvSpPr>
          <p:spPr bwMode="ltGray">
            <a:xfrm>
              <a:off x="7186613" y="4287048"/>
              <a:ext cx="539787" cy="539916"/>
            </a:xfrm>
            <a:custGeom>
              <a:avLst/>
              <a:gdLst>
                <a:gd name="T0" fmla="*/ 339 w 679"/>
                <a:gd name="T1" fmla="*/ 680 h 680"/>
                <a:gd name="T2" fmla="*/ 679 w 679"/>
                <a:gd name="T3" fmla="*/ 340 h 680"/>
                <a:gd name="T4" fmla="*/ 339 w 679"/>
                <a:gd name="T5" fmla="*/ 0 h 680"/>
                <a:gd name="T6" fmla="*/ 0 w 679"/>
                <a:gd name="T7" fmla="*/ 340 h 680"/>
                <a:gd name="T8" fmla="*/ 339 w 679"/>
                <a:gd name="T9" fmla="*/ 680 h 680"/>
                <a:gd name="T10" fmla="*/ 339 w 679"/>
                <a:gd name="T11" fmla="*/ 21 h 680"/>
                <a:gd name="T12" fmla="*/ 659 w 679"/>
                <a:gd name="T13" fmla="*/ 340 h 680"/>
                <a:gd name="T14" fmla="*/ 339 w 679"/>
                <a:gd name="T15" fmla="*/ 660 h 680"/>
                <a:gd name="T16" fmla="*/ 20 w 679"/>
                <a:gd name="T17" fmla="*/ 340 h 680"/>
                <a:gd name="T18" fmla="*/ 339 w 679"/>
                <a:gd name="T19" fmla="*/ 21 h 680"/>
                <a:gd name="T20" fmla="*/ 339 w 679"/>
                <a:gd name="T21" fmla="*/ 649 h 680"/>
                <a:gd name="T22" fmla="*/ 648 w 679"/>
                <a:gd name="T23" fmla="*/ 340 h 680"/>
                <a:gd name="T24" fmla="*/ 339 w 679"/>
                <a:gd name="T25" fmla="*/ 32 h 680"/>
                <a:gd name="T26" fmla="*/ 31 w 679"/>
                <a:gd name="T27" fmla="*/ 340 h 680"/>
                <a:gd name="T28" fmla="*/ 339 w 679"/>
                <a:gd name="T29" fmla="*/ 649 h 680"/>
                <a:gd name="T30" fmla="*/ 339 w 679"/>
                <a:gd name="T31" fmla="*/ 47 h 680"/>
                <a:gd name="T32" fmla="*/ 632 w 679"/>
                <a:gd name="T33" fmla="*/ 340 h 680"/>
                <a:gd name="T34" fmla="*/ 339 w 679"/>
                <a:gd name="T35" fmla="*/ 633 h 680"/>
                <a:gd name="T36" fmla="*/ 46 w 679"/>
                <a:gd name="T37" fmla="*/ 340 h 680"/>
                <a:gd name="T38" fmla="*/ 339 w 679"/>
                <a:gd name="T39" fmla="*/ 47 h 680"/>
                <a:gd name="T40" fmla="*/ 339 w 679"/>
                <a:gd name="T41" fmla="*/ 618 h 680"/>
                <a:gd name="T42" fmla="*/ 617 w 679"/>
                <a:gd name="T43" fmla="*/ 340 h 680"/>
                <a:gd name="T44" fmla="*/ 339 w 679"/>
                <a:gd name="T45" fmla="*/ 63 h 680"/>
                <a:gd name="T46" fmla="*/ 62 w 679"/>
                <a:gd name="T47" fmla="*/ 340 h 680"/>
                <a:gd name="T48" fmla="*/ 339 w 679"/>
                <a:gd name="T49" fmla="*/ 618 h 680"/>
                <a:gd name="T50" fmla="*/ 339 w 679"/>
                <a:gd name="T51" fmla="*/ 74 h 680"/>
                <a:gd name="T52" fmla="*/ 606 w 679"/>
                <a:gd name="T53" fmla="*/ 340 h 680"/>
                <a:gd name="T54" fmla="*/ 339 w 679"/>
                <a:gd name="T55" fmla="*/ 607 h 680"/>
                <a:gd name="T56" fmla="*/ 73 w 679"/>
                <a:gd name="T57" fmla="*/ 340 h 680"/>
                <a:gd name="T58" fmla="*/ 339 w 679"/>
                <a:gd name="T59" fmla="*/ 74 h 680"/>
                <a:gd name="T60" fmla="*/ 339 w 679"/>
                <a:gd name="T61" fmla="*/ 587 h 680"/>
                <a:gd name="T62" fmla="*/ 586 w 679"/>
                <a:gd name="T63" fmla="*/ 340 h 680"/>
                <a:gd name="T64" fmla="*/ 339 w 679"/>
                <a:gd name="T65" fmla="*/ 94 h 680"/>
                <a:gd name="T66" fmla="*/ 93 w 679"/>
                <a:gd name="T67" fmla="*/ 340 h 680"/>
                <a:gd name="T68" fmla="*/ 339 w 679"/>
                <a:gd name="T69" fmla="*/ 587 h 680"/>
                <a:gd name="T70" fmla="*/ 339 w 679"/>
                <a:gd name="T71" fmla="*/ 100 h 680"/>
                <a:gd name="T72" fmla="*/ 580 w 679"/>
                <a:gd name="T73" fmla="*/ 340 h 680"/>
                <a:gd name="T74" fmla="*/ 339 w 679"/>
                <a:gd name="T75" fmla="*/ 580 h 680"/>
                <a:gd name="T76" fmla="*/ 99 w 679"/>
                <a:gd name="T77" fmla="*/ 340 h 680"/>
                <a:gd name="T78" fmla="*/ 339 w 679"/>
                <a:gd name="T79" fmla="*/ 100 h 680"/>
                <a:gd name="T80" fmla="*/ 339 w 679"/>
                <a:gd name="T81" fmla="*/ 126 h 680"/>
                <a:gd name="T82" fmla="*/ 554 w 679"/>
                <a:gd name="T83" fmla="*/ 340 h 680"/>
                <a:gd name="T84" fmla="*/ 339 w 679"/>
                <a:gd name="T85" fmla="*/ 555 h 680"/>
                <a:gd name="T86" fmla="*/ 125 w 679"/>
                <a:gd name="T87" fmla="*/ 340 h 680"/>
                <a:gd name="T88" fmla="*/ 339 w 679"/>
                <a:gd name="T89" fmla="*/ 126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79" h="680">
                  <a:moveTo>
                    <a:pt x="339" y="680"/>
                  </a:moveTo>
                  <a:cubicBezTo>
                    <a:pt x="527" y="680"/>
                    <a:pt x="679" y="528"/>
                    <a:pt x="679" y="340"/>
                  </a:cubicBezTo>
                  <a:cubicBezTo>
                    <a:pt x="679" y="153"/>
                    <a:pt x="527" y="0"/>
                    <a:pt x="339" y="0"/>
                  </a:cubicBezTo>
                  <a:cubicBezTo>
                    <a:pt x="152" y="0"/>
                    <a:pt x="0" y="153"/>
                    <a:pt x="0" y="340"/>
                  </a:cubicBezTo>
                  <a:cubicBezTo>
                    <a:pt x="0" y="528"/>
                    <a:pt x="152" y="680"/>
                    <a:pt x="339" y="680"/>
                  </a:cubicBezTo>
                  <a:close/>
                  <a:moveTo>
                    <a:pt x="339" y="21"/>
                  </a:moveTo>
                  <a:cubicBezTo>
                    <a:pt x="516" y="21"/>
                    <a:pt x="659" y="164"/>
                    <a:pt x="659" y="340"/>
                  </a:cubicBezTo>
                  <a:cubicBezTo>
                    <a:pt x="659" y="516"/>
                    <a:pt x="516" y="660"/>
                    <a:pt x="339" y="660"/>
                  </a:cubicBezTo>
                  <a:cubicBezTo>
                    <a:pt x="163" y="660"/>
                    <a:pt x="20" y="516"/>
                    <a:pt x="20" y="340"/>
                  </a:cubicBezTo>
                  <a:cubicBezTo>
                    <a:pt x="20" y="164"/>
                    <a:pt x="163" y="21"/>
                    <a:pt x="339" y="21"/>
                  </a:cubicBezTo>
                  <a:close/>
                  <a:moveTo>
                    <a:pt x="339" y="649"/>
                  </a:moveTo>
                  <a:cubicBezTo>
                    <a:pt x="510" y="649"/>
                    <a:pt x="648" y="510"/>
                    <a:pt x="648" y="340"/>
                  </a:cubicBezTo>
                  <a:cubicBezTo>
                    <a:pt x="648" y="170"/>
                    <a:pt x="510" y="32"/>
                    <a:pt x="339" y="32"/>
                  </a:cubicBezTo>
                  <a:cubicBezTo>
                    <a:pt x="169" y="32"/>
                    <a:pt x="31" y="170"/>
                    <a:pt x="31" y="340"/>
                  </a:cubicBezTo>
                  <a:cubicBezTo>
                    <a:pt x="31" y="510"/>
                    <a:pt x="169" y="649"/>
                    <a:pt x="339" y="649"/>
                  </a:cubicBezTo>
                  <a:close/>
                  <a:moveTo>
                    <a:pt x="339" y="47"/>
                  </a:moveTo>
                  <a:cubicBezTo>
                    <a:pt x="501" y="47"/>
                    <a:pt x="632" y="179"/>
                    <a:pt x="632" y="340"/>
                  </a:cubicBezTo>
                  <a:cubicBezTo>
                    <a:pt x="632" y="502"/>
                    <a:pt x="501" y="633"/>
                    <a:pt x="339" y="633"/>
                  </a:cubicBezTo>
                  <a:cubicBezTo>
                    <a:pt x="178" y="633"/>
                    <a:pt x="46" y="502"/>
                    <a:pt x="46" y="340"/>
                  </a:cubicBezTo>
                  <a:cubicBezTo>
                    <a:pt x="46" y="179"/>
                    <a:pt x="178" y="47"/>
                    <a:pt x="339" y="47"/>
                  </a:cubicBezTo>
                  <a:close/>
                  <a:moveTo>
                    <a:pt x="339" y="618"/>
                  </a:moveTo>
                  <a:cubicBezTo>
                    <a:pt x="492" y="618"/>
                    <a:pt x="617" y="493"/>
                    <a:pt x="617" y="340"/>
                  </a:cubicBezTo>
                  <a:cubicBezTo>
                    <a:pt x="617" y="187"/>
                    <a:pt x="492" y="63"/>
                    <a:pt x="339" y="63"/>
                  </a:cubicBezTo>
                  <a:cubicBezTo>
                    <a:pt x="186" y="63"/>
                    <a:pt x="62" y="187"/>
                    <a:pt x="62" y="340"/>
                  </a:cubicBezTo>
                  <a:cubicBezTo>
                    <a:pt x="62" y="493"/>
                    <a:pt x="186" y="618"/>
                    <a:pt x="339" y="618"/>
                  </a:cubicBezTo>
                  <a:close/>
                  <a:moveTo>
                    <a:pt x="339" y="74"/>
                  </a:moveTo>
                  <a:cubicBezTo>
                    <a:pt x="486" y="74"/>
                    <a:pt x="606" y="193"/>
                    <a:pt x="606" y="340"/>
                  </a:cubicBezTo>
                  <a:cubicBezTo>
                    <a:pt x="606" y="487"/>
                    <a:pt x="486" y="607"/>
                    <a:pt x="339" y="607"/>
                  </a:cubicBezTo>
                  <a:cubicBezTo>
                    <a:pt x="192" y="607"/>
                    <a:pt x="73" y="487"/>
                    <a:pt x="73" y="340"/>
                  </a:cubicBezTo>
                  <a:cubicBezTo>
                    <a:pt x="73" y="193"/>
                    <a:pt x="192" y="74"/>
                    <a:pt x="339" y="74"/>
                  </a:cubicBezTo>
                  <a:close/>
                  <a:moveTo>
                    <a:pt x="339" y="587"/>
                  </a:moveTo>
                  <a:cubicBezTo>
                    <a:pt x="475" y="587"/>
                    <a:pt x="586" y="476"/>
                    <a:pt x="586" y="340"/>
                  </a:cubicBezTo>
                  <a:cubicBezTo>
                    <a:pt x="586" y="204"/>
                    <a:pt x="475" y="94"/>
                    <a:pt x="339" y="94"/>
                  </a:cubicBezTo>
                  <a:cubicBezTo>
                    <a:pt x="204" y="94"/>
                    <a:pt x="93" y="204"/>
                    <a:pt x="93" y="340"/>
                  </a:cubicBezTo>
                  <a:cubicBezTo>
                    <a:pt x="93" y="476"/>
                    <a:pt x="204" y="587"/>
                    <a:pt x="339" y="587"/>
                  </a:cubicBezTo>
                  <a:close/>
                  <a:moveTo>
                    <a:pt x="339" y="100"/>
                  </a:moveTo>
                  <a:cubicBezTo>
                    <a:pt x="472" y="100"/>
                    <a:pt x="580" y="208"/>
                    <a:pt x="580" y="340"/>
                  </a:cubicBezTo>
                  <a:cubicBezTo>
                    <a:pt x="580" y="473"/>
                    <a:pt x="472" y="580"/>
                    <a:pt x="339" y="580"/>
                  </a:cubicBezTo>
                  <a:cubicBezTo>
                    <a:pt x="207" y="580"/>
                    <a:pt x="99" y="473"/>
                    <a:pt x="99" y="340"/>
                  </a:cubicBezTo>
                  <a:cubicBezTo>
                    <a:pt x="99" y="208"/>
                    <a:pt x="207" y="100"/>
                    <a:pt x="339" y="100"/>
                  </a:cubicBezTo>
                  <a:close/>
                  <a:moveTo>
                    <a:pt x="339" y="126"/>
                  </a:moveTo>
                  <a:cubicBezTo>
                    <a:pt x="458" y="126"/>
                    <a:pt x="554" y="222"/>
                    <a:pt x="554" y="340"/>
                  </a:cubicBezTo>
                  <a:cubicBezTo>
                    <a:pt x="554" y="459"/>
                    <a:pt x="458" y="555"/>
                    <a:pt x="339" y="555"/>
                  </a:cubicBezTo>
                  <a:cubicBezTo>
                    <a:pt x="221" y="555"/>
                    <a:pt x="125" y="459"/>
                    <a:pt x="125" y="340"/>
                  </a:cubicBezTo>
                  <a:cubicBezTo>
                    <a:pt x="125" y="222"/>
                    <a:pt x="221" y="126"/>
                    <a:pt x="339" y="126"/>
                  </a:cubicBezTo>
                  <a:close/>
                </a:path>
              </a:pathLst>
            </a:custGeom>
            <a:solidFill>
              <a:srgbClr val="80C8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grpSp>
      <p:sp>
        <p:nvSpPr>
          <p:cNvPr id="11" name="logo_reflections_bar_small" descr="&lt;mode=4x3&gt;&#10;&lt;size&gt;h=79.25;w=720&lt;size/&gt;&#10;&lt;pos&gt;top=398.3796;left=0&lt;pos/&gt;&#10;&lt;mode/&gt;&#10;&lt;mode=16x9&gt;&#10;&lt;size&gt;h=59.43748;w=720&lt;size/&gt;&#10;&lt;pos&gt;top=295.1509;left=0&lt;pos/&gt;&#10;&lt;mode/&gt;"/>
          <p:cNvSpPr>
            <a:spLocks noChangeAspect="1" noEditPoints="1"/>
          </p:cNvSpPr>
          <p:nvPr userDrawn="1"/>
        </p:nvSpPr>
        <p:spPr bwMode="ltGray">
          <a:xfrm>
            <a:off x="0" y="4997889"/>
            <a:ext cx="12192000" cy="1006475"/>
          </a:xfrm>
          <a:custGeom>
            <a:avLst/>
            <a:gdLst>
              <a:gd name="T0" fmla="*/ 0 w 40176"/>
              <a:gd name="T1" fmla="*/ 730 h 4420"/>
              <a:gd name="T2" fmla="*/ 40176 w 40176"/>
              <a:gd name="T3" fmla="*/ 730 h 4420"/>
              <a:gd name="T4" fmla="*/ 40176 w 40176"/>
              <a:gd name="T5" fmla="*/ 640 h 4420"/>
              <a:gd name="T6" fmla="*/ 0 w 40176"/>
              <a:gd name="T7" fmla="*/ 640 h 4420"/>
              <a:gd name="T8" fmla="*/ 0 w 40176"/>
              <a:gd name="T9" fmla="*/ 730 h 4420"/>
              <a:gd name="T10" fmla="*/ 0 w 40176"/>
              <a:gd name="T11" fmla="*/ 553 h 4420"/>
              <a:gd name="T12" fmla="*/ 40176 w 40176"/>
              <a:gd name="T13" fmla="*/ 553 h 4420"/>
              <a:gd name="T14" fmla="*/ 40176 w 40176"/>
              <a:gd name="T15" fmla="*/ 482 h 4420"/>
              <a:gd name="T16" fmla="*/ 0 w 40176"/>
              <a:gd name="T17" fmla="*/ 482 h 4420"/>
              <a:gd name="T18" fmla="*/ 0 w 40176"/>
              <a:gd name="T19" fmla="*/ 553 h 4420"/>
              <a:gd name="T20" fmla="*/ 0 w 40176"/>
              <a:gd name="T21" fmla="*/ 203 h 4420"/>
              <a:gd name="T22" fmla="*/ 40176 w 40176"/>
              <a:gd name="T23" fmla="*/ 203 h 4420"/>
              <a:gd name="T24" fmla="*/ 40176 w 40176"/>
              <a:gd name="T25" fmla="*/ 161 h 4420"/>
              <a:gd name="T26" fmla="*/ 0 w 40176"/>
              <a:gd name="T27" fmla="*/ 161 h 4420"/>
              <a:gd name="T28" fmla="*/ 0 w 40176"/>
              <a:gd name="T29" fmla="*/ 203 h 4420"/>
              <a:gd name="T30" fmla="*/ 0 w 40176"/>
              <a:gd name="T31" fmla="*/ 378 h 4420"/>
              <a:gd name="T32" fmla="*/ 40176 w 40176"/>
              <a:gd name="T33" fmla="*/ 378 h 4420"/>
              <a:gd name="T34" fmla="*/ 40176 w 40176"/>
              <a:gd name="T35" fmla="*/ 322 h 4420"/>
              <a:gd name="T36" fmla="*/ 0 w 40176"/>
              <a:gd name="T37" fmla="*/ 322 h 4420"/>
              <a:gd name="T38" fmla="*/ 0 w 40176"/>
              <a:gd name="T39" fmla="*/ 378 h 4420"/>
              <a:gd name="T40" fmla="*/ 0 w 40176"/>
              <a:gd name="T41" fmla="*/ 905 h 4420"/>
              <a:gd name="T42" fmla="*/ 40176 w 40176"/>
              <a:gd name="T43" fmla="*/ 905 h 4420"/>
              <a:gd name="T44" fmla="*/ 40176 w 40176"/>
              <a:gd name="T45" fmla="*/ 801 h 4420"/>
              <a:gd name="T46" fmla="*/ 0 w 40176"/>
              <a:gd name="T47" fmla="*/ 801 h 4420"/>
              <a:gd name="T48" fmla="*/ 0 w 40176"/>
              <a:gd name="T49" fmla="*/ 905 h 4420"/>
              <a:gd name="T50" fmla="*/ 40176 w 40176"/>
              <a:gd name="T51" fmla="*/ 26 h 4420"/>
              <a:gd name="T52" fmla="*/ 40176 w 40176"/>
              <a:gd name="T53" fmla="*/ 0 h 4420"/>
              <a:gd name="T54" fmla="*/ 0 w 40176"/>
              <a:gd name="T55" fmla="*/ 0 h 4420"/>
              <a:gd name="T56" fmla="*/ 0 w 40176"/>
              <a:gd name="T57" fmla="*/ 26 h 4420"/>
              <a:gd name="T58" fmla="*/ 40176 w 40176"/>
              <a:gd name="T59" fmla="*/ 26 h 4420"/>
              <a:gd name="T60" fmla="*/ 0 w 40176"/>
              <a:gd name="T61" fmla="*/ 1281 h 4420"/>
              <a:gd name="T62" fmla="*/ 0 w 40176"/>
              <a:gd name="T63" fmla="*/ 4420 h 4420"/>
              <a:gd name="T64" fmla="*/ 40176 w 40176"/>
              <a:gd name="T65" fmla="*/ 4420 h 4420"/>
              <a:gd name="T66" fmla="*/ 40176 w 40176"/>
              <a:gd name="T67" fmla="*/ 1281 h 4420"/>
              <a:gd name="T68" fmla="*/ 0 w 40176"/>
              <a:gd name="T69" fmla="*/ 1281 h 4420"/>
              <a:gd name="T70" fmla="*/ 0 w 40176"/>
              <a:gd name="T71" fmla="*/ 1255 h 4420"/>
              <a:gd name="T72" fmla="*/ 40176 w 40176"/>
              <a:gd name="T73" fmla="*/ 1255 h 4420"/>
              <a:gd name="T74" fmla="*/ 40176 w 40176"/>
              <a:gd name="T75" fmla="*/ 1120 h 4420"/>
              <a:gd name="T76" fmla="*/ 0 w 40176"/>
              <a:gd name="T77" fmla="*/ 1120 h 4420"/>
              <a:gd name="T78" fmla="*/ 0 w 40176"/>
              <a:gd name="T79" fmla="*/ 1255 h 4420"/>
              <a:gd name="T80" fmla="*/ 0 w 40176"/>
              <a:gd name="T81" fmla="*/ 1080 h 4420"/>
              <a:gd name="T82" fmla="*/ 40176 w 40176"/>
              <a:gd name="T83" fmla="*/ 1080 h 4420"/>
              <a:gd name="T84" fmla="*/ 40176 w 40176"/>
              <a:gd name="T85" fmla="*/ 962 h 4420"/>
              <a:gd name="T86" fmla="*/ 0 w 40176"/>
              <a:gd name="T87" fmla="*/ 962 h 4420"/>
              <a:gd name="T88" fmla="*/ 0 w 40176"/>
              <a:gd name="T89" fmla="*/ 1080 h 4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0176" h="4420">
                <a:moveTo>
                  <a:pt x="0" y="730"/>
                </a:moveTo>
                <a:lnTo>
                  <a:pt x="40176" y="730"/>
                </a:lnTo>
                <a:lnTo>
                  <a:pt x="40176" y="640"/>
                </a:lnTo>
                <a:lnTo>
                  <a:pt x="0" y="640"/>
                </a:lnTo>
                <a:lnTo>
                  <a:pt x="0" y="730"/>
                </a:lnTo>
                <a:close/>
                <a:moveTo>
                  <a:pt x="0" y="553"/>
                </a:moveTo>
                <a:lnTo>
                  <a:pt x="40176" y="553"/>
                </a:lnTo>
                <a:lnTo>
                  <a:pt x="40176" y="482"/>
                </a:lnTo>
                <a:lnTo>
                  <a:pt x="0" y="482"/>
                </a:lnTo>
                <a:lnTo>
                  <a:pt x="0" y="553"/>
                </a:lnTo>
                <a:close/>
                <a:moveTo>
                  <a:pt x="0" y="203"/>
                </a:moveTo>
                <a:lnTo>
                  <a:pt x="40176" y="203"/>
                </a:lnTo>
                <a:lnTo>
                  <a:pt x="40176" y="161"/>
                </a:lnTo>
                <a:lnTo>
                  <a:pt x="0" y="161"/>
                </a:lnTo>
                <a:lnTo>
                  <a:pt x="0" y="203"/>
                </a:lnTo>
                <a:close/>
                <a:moveTo>
                  <a:pt x="0" y="378"/>
                </a:moveTo>
                <a:lnTo>
                  <a:pt x="40176" y="378"/>
                </a:lnTo>
                <a:lnTo>
                  <a:pt x="40176" y="322"/>
                </a:lnTo>
                <a:lnTo>
                  <a:pt x="0" y="322"/>
                </a:lnTo>
                <a:lnTo>
                  <a:pt x="0" y="378"/>
                </a:lnTo>
                <a:close/>
                <a:moveTo>
                  <a:pt x="0" y="905"/>
                </a:moveTo>
                <a:lnTo>
                  <a:pt x="40176" y="905"/>
                </a:lnTo>
                <a:lnTo>
                  <a:pt x="40176" y="801"/>
                </a:lnTo>
                <a:lnTo>
                  <a:pt x="0" y="801"/>
                </a:lnTo>
                <a:lnTo>
                  <a:pt x="0" y="905"/>
                </a:lnTo>
                <a:close/>
                <a:moveTo>
                  <a:pt x="40176" y="26"/>
                </a:moveTo>
                <a:lnTo>
                  <a:pt x="40176" y="0"/>
                </a:lnTo>
                <a:lnTo>
                  <a:pt x="0" y="0"/>
                </a:lnTo>
                <a:lnTo>
                  <a:pt x="0" y="26"/>
                </a:lnTo>
                <a:lnTo>
                  <a:pt x="40176" y="26"/>
                </a:lnTo>
                <a:close/>
                <a:moveTo>
                  <a:pt x="0" y="1281"/>
                </a:moveTo>
                <a:lnTo>
                  <a:pt x="0" y="4420"/>
                </a:lnTo>
                <a:lnTo>
                  <a:pt x="40176" y="4420"/>
                </a:lnTo>
                <a:lnTo>
                  <a:pt x="40176" y="1281"/>
                </a:lnTo>
                <a:lnTo>
                  <a:pt x="0" y="1281"/>
                </a:lnTo>
                <a:close/>
                <a:moveTo>
                  <a:pt x="0" y="1255"/>
                </a:moveTo>
                <a:lnTo>
                  <a:pt x="40176" y="1255"/>
                </a:lnTo>
                <a:lnTo>
                  <a:pt x="40176" y="1120"/>
                </a:lnTo>
                <a:lnTo>
                  <a:pt x="0" y="1120"/>
                </a:lnTo>
                <a:lnTo>
                  <a:pt x="0" y="1255"/>
                </a:lnTo>
                <a:close/>
                <a:moveTo>
                  <a:pt x="0" y="1080"/>
                </a:moveTo>
                <a:lnTo>
                  <a:pt x="40176" y="1080"/>
                </a:lnTo>
                <a:lnTo>
                  <a:pt x="40176" y="962"/>
                </a:lnTo>
                <a:lnTo>
                  <a:pt x="0" y="962"/>
                </a:lnTo>
                <a:lnTo>
                  <a:pt x="0" y="1080"/>
                </a:lnTo>
                <a:close/>
              </a:path>
            </a:pathLst>
          </a:custGeom>
          <a:solidFill>
            <a:srgbClr val="009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AU" sz="2400"/>
          </a:p>
        </p:txBody>
      </p:sp>
      <p:sp>
        <p:nvSpPr>
          <p:cNvPr id="2" name="Title 1" descr="&lt;mode=4x3&gt;&#10;&lt;size&gt;h=59.25;w=654.1598&lt;size/&gt;&#10;&lt;pos&gt;top=418.3124;left=41.84024&lt;pos/&gt;&#10;&lt;mode/&gt;&#10;&lt;mode=16x9&gt;&#10;&lt;size&gt;h=44.43748;w=654.1598&lt;size/&gt;&#10;&lt;pos&gt;top=309.945;left=32.59071&lt;pos/&gt;&#10;&lt;mode/&gt;"/>
          <p:cNvSpPr>
            <a:spLocks noGrp="1"/>
          </p:cNvSpPr>
          <p:nvPr>
            <p:ph type="ctrTitle" hasCustomPrompt="1"/>
          </p:nvPr>
        </p:nvSpPr>
        <p:spPr>
          <a:xfrm>
            <a:off x="551870" y="5248403"/>
            <a:ext cx="11077105" cy="752475"/>
          </a:xfrm>
        </p:spPr>
        <p:txBody>
          <a:bodyPr anchor="ctr" anchorCtr="0"/>
          <a:lstStyle>
            <a:lvl1pPr algn="l">
              <a:lnSpc>
                <a:spcPct val="102000"/>
              </a:lnSpc>
              <a:defRPr sz="2067" b="1">
                <a:solidFill>
                  <a:schemeClr val="bg1"/>
                </a:solidFill>
              </a:defRPr>
            </a:lvl1pPr>
          </a:lstStyle>
          <a:p>
            <a:r>
              <a:rPr lang="en-US"/>
              <a:t>Click </a:t>
            </a:r>
            <a:r>
              <a:rPr lang="en-US" dirty="0"/>
              <a:t>to enter heading</a:t>
            </a:r>
            <a:endParaRPr lang="en-AU" dirty="0"/>
          </a:p>
        </p:txBody>
      </p:sp>
    </p:spTree>
    <p:extLst>
      <p:ext uri="{BB962C8B-B14F-4D97-AF65-F5344CB8AC3E}">
        <p14:creationId xmlns:p14="http://schemas.microsoft.com/office/powerpoint/2010/main" val="2480799028"/>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B">
    <p:bg bwMode="ltGray">
      <p:bgPr>
        <a:solidFill>
          <a:schemeClr val="bg2">
            <a:lumMod val="40000"/>
            <a:lumOff val="60000"/>
          </a:schemeClr>
        </a:solidFill>
        <a:effectLst/>
      </p:bgPr>
    </p:bg>
    <p:spTree>
      <p:nvGrpSpPr>
        <p:cNvPr id="1" name=""/>
        <p:cNvGrpSpPr/>
        <p:nvPr/>
      </p:nvGrpSpPr>
      <p:grpSpPr>
        <a:xfrm>
          <a:off x="0" y="0"/>
          <a:ext cx="0" cy="0"/>
          <a:chOff x="0" y="0"/>
          <a:chExt cx="0" cy="0"/>
        </a:xfrm>
      </p:grpSpPr>
      <p:grpSp>
        <p:nvGrpSpPr>
          <p:cNvPr id="5" name="logo_ripples_bar_bottom-16x9" descr="&lt;mode=16x9&gt;&#10;&lt;size&gt;h=152.4142;w=720&lt;size/&gt;&#10;&lt;pos&gt;top=252.375;left=0.1066142&lt;pos/&gt;&#10;&lt;mode/&gt;" hidden="1"/>
          <p:cNvGrpSpPr/>
          <p:nvPr userDrawn="1"/>
        </p:nvGrpSpPr>
        <p:grpSpPr>
          <a:xfrm>
            <a:off x="1805" y="4273551"/>
            <a:ext cx="12192000" cy="2580880"/>
            <a:chOff x="1354" y="3205163"/>
            <a:chExt cx="9144000" cy="1935661"/>
          </a:xfrm>
        </p:grpSpPr>
        <p:sp>
          <p:nvSpPr>
            <p:cNvPr id="13" name="base_bar" hidden="1"/>
            <p:cNvSpPr/>
            <p:nvPr userDrawn="1"/>
          </p:nvSpPr>
          <p:spPr bwMode="ltGray">
            <a:xfrm>
              <a:off x="1354" y="3257551"/>
              <a:ext cx="9144000" cy="1882074"/>
            </a:xfrm>
            <a:prstGeom prst="rect">
              <a:avLst/>
            </a:prstGeom>
            <a:solidFill>
              <a:srgbClr val="0092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solidFill>
                  <a:srgbClr val="FFFFFF"/>
                </a:solidFill>
              </a:endParaRPr>
            </a:p>
          </p:txBody>
        </p:sp>
        <p:sp>
          <p:nvSpPr>
            <p:cNvPr id="15" name="circle_dark" hidden="1"/>
            <p:cNvSpPr>
              <a:spLocks noEditPoints="1"/>
            </p:cNvSpPr>
            <p:nvPr userDrawn="1"/>
          </p:nvSpPr>
          <p:spPr bwMode="ltGray">
            <a:xfrm>
              <a:off x="7360673" y="3205163"/>
              <a:ext cx="1596025" cy="1589354"/>
            </a:xfrm>
            <a:custGeom>
              <a:avLst/>
              <a:gdLst>
                <a:gd name="T0" fmla="*/ 282 w 671"/>
                <a:gd name="T1" fmla="*/ 29 h 671"/>
                <a:gd name="T2" fmla="*/ 29 w 671"/>
                <a:gd name="T3" fmla="*/ 388 h 671"/>
                <a:gd name="T4" fmla="*/ 388 w 671"/>
                <a:gd name="T5" fmla="*/ 642 h 671"/>
                <a:gd name="T6" fmla="*/ 642 w 671"/>
                <a:gd name="T7" fmla="*/ 283 h 671"/>
                <a:gd name="T8" fmla="*/ 282 w 671"/>
                <a:gd name="T9" fmla="*/ 29 h 671"/>
                <a:gd name="T10" fmla="*/ 387 w 671"/>
                <a:gd name="T11" fmla="*/ 638 h 671"/>
                <a:gd name="T12" fmla="*/ 33 w 671"/>
                <a:gd name="T13" fmla="*/ 388 h 671"/>
                <a:gd name="T14" fmla="*/ 283 w 671"/>
                <a:gd name="T15" fmla="*/ 33 h 671"/>
                <a:gd name="T16" fmla="*/ 638 w 671"/>
                <a:gd name="T17" fmla="*/ 283 h 671"/>
                <a:gd name="T18" fmla="*/ 387 w 671"/>
                <a:gd name="T19" fmla="*/ 638 h 671"/>
                <a:gd name="T20" fmla="*/ 285 w 671"/>
                <a:gd name="T21" fmla="*/ 47 h 671"/>
                <a:gd name="T22" fmla="*/ 47 w 671"/>
                <a:gd name="T23" fmla="*/ 385 h 671"/>
                <a:gd name="T24" fmla="*/ 385 w 671"/>
                <a:gd name="T25" fmla="*/ 624 h 671"/>
                <a:gd name="T26" fmla="*/ 624 w 671"/>
                <a:gd name="T27" fmla="*/ 286 h 671"/>
                <a:gd name="T28" fmla="*/ 285 w 671"/>
                <a:gd name="T29" fmla="*/ 47 h 671"/>
                <a:gd name="T30" fmla="*/ 384 w 671"/>
                <a:gd name="T31" fmla="*/ 617 h 671"/>
                <a:gd name="T32" fmla="*/ 54 w 671"/>
                <a:gd name="T33" fmla="*/ 384 h 671"/>
                <a:gd name="T34" fmla="*/ 287 w 671"/>
                <a:gd name="T35" fmla="*/ 54 h 671"/>
                <a:gd name="T36" fmla="*/ 616 w 671"/>
                <a:gd name="T37" fmla="*/ 287 h 671"/>
                <a:gd name="T38" fmla="*/ 384 w 671"/>
                <a:gd name="T39" fmla="*/ 617 h 671"/>
                <a:gd name="T40" fmla="*/ 289 w 671"/>
                <a:gd name="T41" fmla="*/ 65 h 671"/>
                <a:gd name="T42" fmla="*/ 65 w 671"/>
                <a:gd name="T43" fmla="*/ 382 h 671"/>
                <a:gd name="T44" fmla="*/ 382 w 671"/>
                <a:gd name="T45" fmla="*/ 606 h 671"/>
                <a:gd name="T46" fmla="*/ 606 w 671"/>
                <a:gd name="T47" fmla="*/ 289 h 671"/>
                <a:gd name="T48" fmla="*/ 289 w 671"/>
                <a:gd name="T49" fmla="*/ 65 h 671"/>
                <a:gd name="T50" fmla="*/ 380 w 671"/>
                <a:gd name="T51" fmla="*/ 596 h 671"/>
                <a:gd name="T52" fmla="*/ 75 w 671"/>
                <a:gd name="T53" fmla="*/ 380 h 671"/>
                <a:gd name="T54" fmla="*/ 290 w 671"/>
                <a:gd name="T55" fmla="*/ 75 h 671"/>
                <a:gd name="T56" fmla="*/ 595 w 671"/>
                <a:gd name="T57" fmla="*/ 291 h 671"/>
                <a:gd name="T58" fmla="*/ 380 w 671"/>
                <a:gd name="T59" fmla="*/ 596 h 671"/>
                <a:gd name="T60" fmla="*/ 292 w 671"/>
                <a:gd name="T61" fmla="*/ 83 h 671"/>
                <a:gd name="T62" fmla="*/ 83 w 671"/>
                <a:gd name="T63" fmla="*/ 379 h 671"/>
                <a:gd name="T64" fmla="*/ 379 w 671"/>
                <a:gd name="T65" fmla="*/ 588 h 671"/>
                <a:gd name="T66" fmla="*/ 588 w 671"/>
                <a:gd name="T67" fmla="*/ 292 h 671"/>
                <a:gd name="T68" fmla="*/ 292 w 671"/>
                <a:gd name="T69" fmla="*/ 83 h 671"/>
                <a:gd name="T70" fmla="*/ 376 w 671"/>
                <a:gd name="T71" fmla="*/ 575 h 671"/>
                <a:gd name="T72" fmla="*/ 96 w 671"/>
                <a:gd name="T73" fmla="*/ 377 h 671"/>
                <a:gd name="T74" fmla="*/ 294 w 671"/>
                <a:gd name="T75" fmla="*/ 97 h 671"/>
                <a:gd name="T76" fmla="*/ 574 w 671"/>
                <a:gd name="T77" fmla="*/ 294 h 671"/>
                <a:gd name="T78" fmla="*/ 376 w 671"/>
                <a:gd name="T79" fmla="*/ 575 h 671"/>
                <a:gd name="T80" fmla="*/ 376 w 671"/>
                <a:gd name="T81" fmla="*/ 570 h 671"/>
                <a:gd name="T82" fmla="*/ 100 w 671"/>
                <a:gd name="T83" fmla="*/ 376 h 671"/>
                <a:gd name="T84" fmla="*/ 295 w 671"/>
                <a:gd name="T85" fmla="*/ 101 h 671"/>
                <a:gd name="T86" fmla="*/ 570 w 671"/>
                <a:gd name="T87" fmla="*/ 295 h 671"/>
                <a:gd name="T88" fmla="*/ 376 w 671"/>
                <a:gd name="T89" fmla="*/ 570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71" h="671">
                  <a:moveTo>
                    <a:pt x="282" y="29"/>
                  </a:moveTo>
                  <a:cubicBezTo>
                    <a:pt x="113" y="58"/>
                    <a:pt x="0" y="219"/>
                    <a:pt x="29" y="388"/>
                  </a:cubicBezTo>
                  <a:cubicBezTo>
                    <a:pt x="58" y="557"/>
                    <a:pt x="219" y="671"/>
                    <a:pt x="388" y="642"/>
                  </a:cubicBezTo>
                  <a:cubicBezTo>
                    <a:pt x="557" y="613"/>
                    <a:pt x="671" y="452"/>
                    <a:pt x="642" y="283"/>
                  </a:cubicBezTo>
                  <a:cubicBezTo>
                    <a:pt x="612" y="114"/>
                    <a:pt x="451" y="0"/>
                    <a:pt x="282" y="29"/>
                  </a:cubicBezTo>
                  <a:close/>
                  <a:moveTo>
                    <a:pt x="387" y="638"/>
                  </a:moveTo>
                  <a:cubicBezTo>
                    <a:pt x="221" y="667"/>
                    <a:pt x="62" y="554"/>
                    <a:pt x="33" y="388"/>
                  </a:cubicBezTo>
                  <a:cubicBezTo>
                    <a:pt x="4" y="221"/>
                    <a:pt x="116" y="62"/>
                    <a:pt x="283" y="33"/>
                  </a:cubicBezTo>
                  <a:cubicBezTo>
                    <a:pt x="450" y="5"/>
                    <a:pt x="609" y="117"/>
                    <a:pt x="638" y="283"/>
                  </a:cubicBezTo>
                  <a:cubicBezTo>
                    <a:pt x="666" y="450"/>
                    <a:pt x="554" y="609"/>
                    <a:pt x="387" y="638"/>
                  </a:cubicBezTo>
                  <a:close/>
                  <a:moveTo>
                    <a:pt x="285" y="47"/>
                  </a:moveTo>
                  <a:cubicBezTo>
                    <a:pt x="126" y="74"/>
                    <a:pt x="19" y="226"/>
                    <a:pt x="47" y="385"/>
                  </a:cubicBezTo>
                  <a:cubicBezTo>
                    <a:pt x="74" y="544"/>
                    <a:pt x="226" y="652"/>
                    <a:pt x="385" y="624"/>
                  </a:cubicBezTo>
                  <a:cubicBezTo>
                    <a:pt x="544" y="597"/>
                    <a:pt x="651" y="445"/>
                    <a:pt x="624" y="286"/>
                  </a:cubicBezTo>
                  <a:cubicBezTo>
                    <a:pt x="596" y="127"/>
                    <a:pt x="445" y="20"/>
                    <a:pt x="285" y="47"/>
                  </a:cubicBezTo>
                  <a:close/>
                  <a:moveTo>
                    <a:pt x="384" y="617"/>
                  </a:moveTo>
                  <a:cubicBezTo>
                    <a:pt x="229" y="644"/>
                    <a:pt x="81" y="539"/>
                    <a:pt x="54" y="384"/>
                  </a:cubicBezTo>
                  <a:cubicBezTo>
                    <a:pt x="27" y="229"/>
                    <a:pt x="132" y="81"/>
                    <a:pt x="287" y="54"/>
                  </a:cubicBezTo>
                  <a:cubicBezTo>
                    <a:pt x="442" y="28"/>
                    <a:pt x="590" y="132"/>
                    <a:pt x="616" y="287"/>
                  </a:cubicBezTo>
                  <a:cubicBezTo>
                    <a:pt x="643" y="442"/>
                    <a:pt x="539" y="590"/>
                    <a:pt x="384" y="617"/>
                  </a:cubicBezTo>
                  <a:close/>
                  <a:moveTo>
                    <a:pt x="289" y="65"/>
                  </a:moveTo>
                  <a:cubicBezTo>
                    <a:pt x="139" y="91"/>
                    <a:pt x="39" y="233"/>
                    <a:pt x="65" y="382"/>
                  </a:cubicBezTo>
                  <a:cubicBezTo>
                    <a:pt x="90" y="531"/>
                    <a:pt x="233" y="632"/>
                    <a:pt x="382" y="606"/>
                  </a:cubicBezTo>
                  <a:cubicBezTo>
                    <a:pt x="531" y="580"/>
                    <a:pt x="632" y="438"/>
                    <a:pt x="606" y="289"/>
                  </a:cubicBezTo>
                  <a:cubicBezTo>
                    <a:pt x="580" y="140"/>
                    <a:pt x="438" y="39"/>
                    <a:pt x="289" y="65"/>
                  </a:cubicBezTo>
                  <a:close/>
                  <a:moveTo>
                    <a:pt x="380" y="596"/>
                  </a:moveTo>
                  <a:cubicBezTo>
                    <a:pt x="237" y="620"/>
                    <a:pt x="100" y="524"/>
                    <a:pt x="75" y="380"/>
                  </a:cubicBezTo>
                  <a:cubicBezTo>
                    <a:pt x="50" y="237"/>
                    <a:pt x="147" y="100"/>
                    <a:pt x="290" y="75"/>
                  </a:cubicBezTo>
                  <a:cubicBezTo>
                    <a:pt x="434" y="51"/>
                    <a:pt x="571" y="147"/>
                    <a:pt x="595" y="291"/>
                  </a:cubicBezTo>
                  <a:cubicBezTo>
                    <a:pt x="620" y="434"/>
                    <a:pt x="523" y="571"/>
                    <a:pt x="380" y="596"/>
                  </a:cubicBezTo>
                  <a:close/>
                  <a:moveTo>
                    <a:pt x="292" y="83"/>
                  </a:moveTo>
                  <a:cubicBezTo>
                    <a:pt x="152" y="107"/>
                    <a:pt x="58" y="240"/>
                    <a:pt x="83" y="379"/>
                  </a:cubicBezTo>
                  <a:cubicBezTo>
                    <a:pt x="107" y="519"/>
                    <a:pt x="239" y="612"/>
                    <a:pt x="379" y="588"/>
                  </a:cubicBezTo>
                  <a:cubicBezTo>
                    <a:pt x="518" y="564"/>
                    <a:pt x="612" y="431"/>
                    <a:pt x="588" y="292"/>
                  </a:cubicBezTo>
                  <a:cubicBezTo>
                    <a:pt x="564" y="153"/>
                    <a:pt x="431" y="59"/>
                    <a:pt x="292" y="83"/>
                  </a:cubicBezTo>
                  <a:close/>
                  <a:moveTo>
                    <a:pt x="376" y="575"/>
                  </a:moveTo>
                  <a:cubicBezTo>
                    <a:pt x="245" y="597"/>
                    <a:pt x="119" y="509"/>
                    <a:pt x="96" y="377"/>
                  </a:cubicBezTo>
                  <a:cubicBezTo>
                    <a:pt x="73" y="245"/>
                    <a:pt x="162" y="119"/>
                    <a:pt x="294" y="97"/>
                  </a:cubicBezTo>
                  <a:cubicBezTo>
                    <a:pt x="426" y="74"/>
                    <a:pt x="551" y="163"/>
                    <a:pt x="574" y="294"/>
                  </a:cubicBezTo>
                  <a:cubicBezTo>
                    <a:pt x="597" y="426"/>
                    <a:pt x="508" y="552"/>
                    <a:pt x="376" y="575"/>
                  </a:cubicBezTo>
                  <a:close/>
                  <a:moveTo>
                    <a:pt x="376" y="570"/>
                  </a:moveTo>
                  <a:cubicBezTo>
                    <a:pt x="246" y="593"/>
                    <a:pt x="123" y="506"/>
                    <a:pt x="100" y="376"/>
                  </a:cubicBezTo>
                  <a:cubicBezTo>
                    <a:pt x="78" y="247"/>
                    <a:pt x="165" y="123"/>
                    <a:pt x="295" y="101"/>
                  </a:cubicBezTo>
                  <a:cubicBezTo>
                    <a:pt x="424" y="78"/>
                    <a:pt x="548" y="166"/>
                    <a:pt x="570" y="295"/>
                  </a:cubicBezTo>
                  <a:cubicBezTo>
                    <a:pt x="592" y="425"/>
                    <a:pt x="505" y="548"/>
                    <a:pt x="376" y="570"/>
                  </a:cubicBezTo>
                  <a:close/>
                </a:path>
              </a:pathLst>
            </a:custGeom>
            <a:solidFill>
              <a:srgbClr val="40AD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16" name="circle_mid" hidden="1"/>
            <p:cNvSpPr>
              <a:spLocks noEditPoints="1"/>
            </p:cNvSpPr>
            <p:nvPr userDrawn="1"/>
          </p:nvSpPr>
          <p:spPr bwMode="ltGray">
            <a:xfrm>
              <a:off x="8461360" y="4245883"/>
              <a:ext cx="681284" cy="894941"/>
            </a:xfrm>
            <a:custGeom>
              <a:avLst/>
              <a:gdLst>
                <a:gd name="T0" fmla="*/ 286 w 286"/>
                <a:gd name="T1" fmla="*/ 4 h 376"/>
                <a:gd name="T2" fmla="*/ 286 w 286"/>
                <a:gd name="T3" fmla="*/ 18 h 376"/>
                <a:gd name="T4" fmla="*/ 215 w 286"/>
                <a:gd name="T5" fmla="*/ 18 h 376"/>
                <a:gd name="T6" fmla="*/ 36 w 286"/>
                <a:gd name="T7" fmla="*/ 272 h 376"/>
                <a:gd name="T8" fmla="*/ 85 w 286"/>
                <a:gd name="T9" fmla="*/ 376 h 376"/>
                <a:gd name="T10" fmla="*/ 67 w 286"/>
                <a:gd name="T11" fmla="*/ 376 h 376"/>
                <a:gd name="T12" fmla="*/ 22 w 286"/>
                <a:gd name="T13" fmla="*/ 274 h 376"/>
                <a:gd name="T14" fmla="*/ 212 w 286"/>
                <a:gd name="T15" fmla="*/ 4 h 376"/>
                <a:gd name="T16" fmla="*/ 286 w 286"/>
                <a:gd name="T17" fmla="*/ 4 h 376"/>
                <a:gd name="T18" fmla="*/ 227 w 286"/>
                <a:gd name="T19" fmla="*/ 89 h 376"/>
                <a:gd name="T20" fmla="*/ 107 w 286"/>
                <a:gd name="T21" fmla="*/ 259 h 376"/>
                <a:gd name="T22" fmla="*/ 212 w 286"/>
                <a:gd name="T23" fmla="*/ 376 h 376"/>
                <a:gd name="T24" fmla="*/ 286 w 286"/>
                <a:gd name="T25" fmla="*/ 376 h 376"/>
                <a:gd name="T26" fmla="*/ 286 w 286"/>
                <a:gd name="T27" fmla="*/ 91 h 376"/>
                <a:gd name="T28" fmla="*/ 227 w 286"/>
                <a:gd name="T29" fmla="*/ 89 h 376"/>
                <a:gd name="T30" fmla="*/ 223 w 286"/>
                <a:gd name="T31" fmla="*/ 68 h 376"/>
                <a:gd name="T32" fmla="*/ 85 w 286"/>
                <a:gd name="T33" fmla="*/ 263 h 376"/>
                <a:gd name="T34" fmla="*/ 160 w 286"/>
                <a:gd name="T35" fmla="*/ 376 h 376"/>
                <a:gd name="T36" fmla="*/ 168 w 286"/>
                <a:gd name="T37" fmla="*/ 376 h 376"/>
                <a:gd name="T38" fmla="*/ 89 w 286"/>
                <a:gd name="T39" fmla="*/ 262 h 376"/>
                <a:gd name="T40" fmla="*/ 224 w 286"/>
                <a:gd name="T41" fmla="*/ 72 h 376"/>
                <a:gd name="T42" fmla="*/ 286 w 286"/>
                <a:gd name="T43" fmla="*/ 73 h 376"/>
                <a:gd name="T44" fmla="*/ 286 w 286"/>
                <a:gd name="T45" fmla="*/ 69 h 376"/>
                <a:gd name="T46" fmla="*/ 223 w 286"/>
                <a:gd name="T47" fmla="*/ 68 h 376"/>
                <a:gd name="T48" fmla="*/ 219 w 286"/>
                <a:gd name="T49" fmla="*/ 47 h 376"/>
                <a:gd name="T50" fmla="*/ 64 w 286"/>
                <a:gd name="T51" fmla="*/ 267 h 376"/>
                <a:gd name="T52" fmla="*/ 125 w 286"/>
                <a:gd name="T53" fmla="*/ 376 h 376"/>
                <a:gd name="T54" fmla="*/ 136 w 286"/>
                <a:gd name="T55" fmla="*/ 376 h 376"/>
                <a:gd name="T56" fmla="*/ 71 w 286"/>
                <a:gd name="T57" fmla="*/ 265 h 376"/>
                <a:gd name="T58" fmla="*/ 221 w 286"/>
                <a:gd name="T59" fmla="*/ 54 h 376"/>
                <a:gd name="T60" fmla="*/ 286 w 286"/>
                <a:gd name="T61" fmla="*/ 55 h 376"/>
                <a:gd name="T62" fmla="*/ 286 w 286"/>
                <a:gd name="T63" fmla="*/ 47 h 376"/>
                <a:gd name="T64" fmla="*/ 219 w 286"/>
                <a:gd name="T65" fmla="*/ 47 h 376"/>
                <a:gd name="T66" fmla="*/ 216 w 286"/>
                <a:gd name="T67" fmla="*/ 26 h 376"/>
                <a:gd name="T68" fmla="*/ 43 w 286"/>
                <a:gd name="T69" fmla="*/ 270 h 376"/>
                <a:gd name="T70" fmla="*/ 95 w 286"/>
                <a:gd name="T71" fmla="*/ 376 h 376"/>
                <a:gd name="T72" fmla="*/ 109 w 286"/>
                <a:gd name="T73" fmla="*/ 376 h 376"/>
                <a:gd name="T74" fmla="*/ 54 w 286"/>
                <a:gd name="T75" fmla="*/ 269 h 376"/>
                <a:gd name="T76" fmla="*/ 218 w 286"/>
                <a:gd name="T77" fmla="*/ 36 h 376"/>
                <a:gd name="T78" fmla="*/ 286 w 286"/>
                <a:gd name="T79" fmla="*/ 36 h 376"/>
                <a:gd name="T80" fmla="*/ 286 w 286"/>
                <a:gd name="T81" fmla="*/ 25 h 376"/>
                <a:gd name="T82" fmla="*/ 216 w 286"/>
                <a:gd name="T83" fmla="*/ 2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6" h="376">
                  <a:moveTo>
                    <a:pt x="286" y="4"/>
                  </a:moveTo>
                  <a:cubicBezTo>
                    <a:pt x="286" y="18"/>
                    <a:pt x="286" y="18"/>
                    <a:pt x="286" y="18"/>
                  </a:cubicBezTo>
                  <a:cubicBezTo>
                    <a:pt x="263" y="14"/>
                    <a:pt x="239" y="14"/>
                    <a:pt x="215" y="18"/>
                  </a:cubicBezTo>
                  <a:cubicBezTo>
                    <a:pt x="95" y="39"/>
                    <a:pt x="15" y="152"/>
                    <a:pt x="36" y="272"/>
                  </a:cubicBezTo>
                  <a:cubicBezTo>
                    <a:pt x="43" y="312"/>
                    <a:pt x="60" y="347"/>
                    <a:pt x="85" y="376"/>
                  </a:cubicBezTo>
                  <a:cubicBezTo>
                    <a:pt x="67" y="376"/>
                    <a:pt x="67" y="376"/>
                    <a:pt x="67" y="376"/>
                  </a:cubicBezTo>
                  <a:cubicBezTo>
                    <a:pt x="44" y="347"/>
                    <a:pt x="29" y="312"/>
                    <a:pt x="22" y="274"/>
                  </a:cubicBezTo>
                  <a:cubicBezTo>
                    <a:pt x="0" y="147"/>
                    <a:pt x="85" y="26"/>
                    <a:pt x="212" y="4"/>
                  </a:cubicBezTo>
                  <a:cubicBezTo>
                    <a:pt x="237" y="0"/>
                    <a:pt x="262" y="0"/>
                    <a:pt x="286" y="4"/>
                  </a:cubicBezTo>
                  <a:close/>
                  <a:moveTo>
                    <a:pt x="227" y="89"/>
                  </a:moveTo>
                  <a:cubicBezTo>
                    <a:pt x="147" y="103"/>
                    <a:pt x="93" y="179"/>
                    <a:pt x="107" y="259"/>
                  </a:cubicBezTo>
                  <a:cubicBezTo>
                    <a:pt x="117" y="317"/>
                    <a:pt x="159" y="361"/>
                    <a:pt x="212" y="376"/>
                  </a:cubicBezTo>
                  <a:cubicBezTo>
                    <a:pt x="286" y="376"/>
                    <a:pt x="286" y="376"/>
                    <a:pt x="286" y="376"/>
                  </a:cubicBezTo>
                  <a:cubicBezTo>
                    <a:pt x="286" y="91"/>
                    <a:pt x="286" y="91"/>
                    <a:pt x="286" y="91"/>
                  </a:cubicBezTo>
                  <a:cubicBezTo>
                    <a:pt x="267" y="86"/>
                    <a:pt x="247" y="86"/>
                    <a:pt x="227" y="89"/>
                  </a:cubicBezTo>
                  <a:close/>
                  <a:moveTo>
                    <a:pt x="223" y="68"/>
                  </a:moveTo>
                  <a:cubicBezTo>
                    <a:pt x="131" y="84"/>
                    <a:pt x="69" y="171"/>
                    <a:pt x="85" y="263"/>
                  </a:cubicBezTo>
                  <a:cubicBezTo>
                    <a:pt x="94" y="311"/>
                    <a:pt x="122" y="351"/>
                    <a:pt x="160" y="376"/>
                  </a:cubicBezTo>
                  <a:cubicBezTo>
                    <a:pt x="168" y="376"/>
                    <a:pt x="168" y="376"/>
                    <a:pt x="168" y="376"/>
                  </a:cubicBezTo>
                  <a:cubicBezTo>
                    <a:pt x="128" y="352"/>
                    <a:pt x="98" y="312"/>
                    <a:pt x="89" y="262"/>
                  </a:cubicBezTo>
                  <a:cubicBezTo>
                    <a:pt x="74" y="173"/>
                    <a:pt x="134" y="87"/>
                    <a:pt x="224" y="72"/>
                  </a:cubicBezTo>
                  <a:cubicBezTo>
                    <a:pt x="245" y="68"/>
                    <a:pt x="266" y="69"/>
                    <a:pt x="286" y="73"/>
                  </a:cubicBezTo>
                  <a:cubicBezTo>
                    <a:pt x="286" y="69"/>
                    <a:pt x="286" y="69"/>
                    <a:pt x="286" y="69"/>
                  </a:cubicBezTo>
                  <a:cubicBezTo>
                    <a:pt x="266" y="65"/>
                    <a:pt x="245" y="64"/>
                    <a:pt x="223" y="68"/>
                  </a:cubicBezTo>
                  <a:close/>
                  <a:moveTo>
                    <a:pt x="219" y="47"/>
                  </a:moveTo>
                  <a:cubicBezTo>
                    <a:pt x="116" y="64"/>
                    <a:pt x="46" y="163"/>
                    <a:pt x="64" y="267"/>
                  </a:cubicBezTo>
                  <a:cubicBezTo>
                    <a:pt x="72" y="311"/>
                    <a:pt x="94" y="349"/>
                    <a:pt x="125" y="376"/>
                  </a:cubicBezTo>
                  <a:cubicBezTo>
                    <a:pt x="136" y="376"/>
                    <a:pt x="136" y="376"/>
                    <a:pt x="136" y="376"/>
                  </a:cubicBezTo>
                  <a:cubicBezTo>
                    <a:pt x="103" y="349"/>
                    <a:pt x="79" y="311"/>
                    <a:pt x="71" y="265"/>
                  </a:cubicBezTo>
                  <a:cubicBezTo>
                    <a:pt x="54" y="166"/>
                    <a:pt x="121" y="71"/>
                    <a:pt x="221" y="54"/>
                  </a:cubicBezTo>
                  <a:cubicBezTo>
                    <a:pt x="243" y="50"/>
                    <a:pt x="265" y="51"/>
                    <a:pt x="286" y="55"/>
                  </a:cubicBezTo>
                  <a:cubicBezTo>
                    <a:pt x="286" y="47"/>
                    <a:pt x="286" y="47"/>
                    <a:pt x="286" y="47"/>
                  </a:cubicBezTo>
                  <a:cubicBezTo>
                    <a:pt x="264" y="43"/>
                    <a:pt x="242" y="43"/>
                    <a:pt x="219" y="47"/>
                  </a:cubicBezTo>
                  <a:close/>
                  <a:moveTo>
                    <a:pt x="216" y="26"/>
                  </a:moveTo>
                  <a:cubicBezTo>
                    <a:pt x="101" y="45"/>
                    <a:pt x="23" y="155"/>
                    <a:pt x="43" y="270"/>
                  </a:cubicBezTo>
                  <a:cubicBezTo>
                    <a:pt x="50" y="311"/>
                    <a:pt x="69" y="347"/>
                    <a:pt x="95" y="376"/>
                  </a:cubicBezTo>
                  <a:cubicBezTo>
                    <a:pt x="109" y="376"/>
                    <a:pt x="109" y="376"/>
                    <a:pt x="109" y="376"/>
                  </a:cubicBezTo>
                  <a:cubicBezTo>
                    <a:pt x="81" y="348"/>
                    <a:pt x="61" y="311"/>
                    <a:pt x="54" y="269"/>
                  </a:cubicBezTo>
                  <a:cubicBezTo>
                    <a:pt x="35" y="159"/>
                    <a:pt x="108" y="55"/>
                    <a:pt x="218" y="36"/>
                  </a:cubicBezTo>
                  <a:cubicBezTo>
                    <a:pt x="241" y="32"/>
                    <a:pt x="264" y="32"/>
                    <a:pt x="286" y="36"/>
                  </a:cubicBezTo>
                  <a:cubicBezTo>
                    <a:pt x="286" y="25"/>
                    <a:pt x="286" y="25"/>
                    <a:pt x="286" y="25"/>
                  </a:cubicBezTo>
                  <a:cubicBezTo>
                    <a:pt x="263" y="22"/>
                    <a:pt x="240" y="21"/>
                    <a:pt x="216" y="26"/>
                  </a:cubicBezTo>
                  <a:close/>
                </a:path>
              </a:pathLst>
            </a:custGeom>
            <a:solidFill>
              <a:srgbClr val="80C8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17" name="circle_light" hidden="1"/>
            <p:cNvSpPr>
              <a:spLocks noEditPoints="1"/>
            </p:cNvSpPr>
            <p:nvPr userDrawn="1"/>
          </p:nvSpPr>
          <p:spPr bwMode="ltGray">
            <a:xfrm>
              <a:off x="8783865" y="3543630"/>
              <a:ext cx="358779" cy="764529"/>
            </a:xfrm>
            <a:custGeom>
              <a:avLst/>
              <a:gdLst>
                <a:gd name="T0" fmla="*/ 152 w 152"/>
                <a:gd name="T1" fmla="*/ 74 h 324"/>
                <a:gd name="T2" fmla="*/ 152 w 152"/>
                <a:gd name="T3" fmla="*/ 250 h 324"/>
                <a:gd name="T4" fmla="*/ 87 w 152"/>
                <a:gd name="T5" fmla="*/ 177 h 324"/>
                <a:gd name="T6" fmla="*/ 152 w 152"/>
                <a:gd name="T7" fmla="*/ 74 h 324"/>
                <a:gd name="T8" fmla="*/ 15 w 152"/>
                <a:gd name="T9" fmla="*/ 190 h 324"/>
                <a:gd name="T10" fmla="*/ 152 w 152"/>
                <a:gd name="T11" fmla="*/ 324 h 324"/>
                <a:gd name="T12" fmla="*/ 152 w 152"/>
                <a:gd name="T13" fmla="*/ 320 h 324"/>
                <a:gd name="T14" fmla="*/ 19 w 152"/>
                <a:gd name="T15" fmla="*/ 189 h 324"/>
                <a:gd name="T16" fmla="*/ 150 w 152"/>
                <a:gd name="T17" fmla="*/ 4 h 324"/>
                <a:gd name="T18" fmla="*/ 152 w 152"/>
                <a:gd name="T19" fmla="*/ 4 h 324"/>
                <a:gd name="T20" fmla="*/ 152 w 152"/>
                <a:gd name="T21" fmla="*/ 0 h 324"/>
                <a:gd name="T22" fmla="*/ 149 w 152"/>
                <a:gd name="T23" fmla="*/ 0 h 324"/>
                <a:gd name="T24" fmla="*/ 15 w 152"/>
                <a:gd name="T25" fmla="*/ 190 h 324"/>
                <a:gd name="T26" fmla="*/ 33 w 152"/>
                <a:gd name="T27" fmla="*/ 187 h 324"/>
                <a:gd name="T28" fmla="*/ 152 w 152"/>
                <a:gd name="T29" fmla="*/ 306 h 324"/>
                <a:gd name="T30" fmla="*/ 152 w 152"/>
                <a:gd name="T31" fmla="*/ 298 h 324"/>
                <a:gd name="T32" fmla="*/ 41 w 152"/>
                <a:gd name="T33" fmla="*/ 185 h 324"/>
                <a:gd name="T34" fmla="*/ 152 w 152"/>
                <a:gd name="T35" fmla="*/ 26 h 324"/>
                <a:gd name="T36" fmla="*/ 152 w 152"/>
                <a:gd name="T37" fmla="*/ 18 h 324"/>
                <a:gd name="T38" fmla="*/ 33 w 152"/>
                <a:gd name="T39" fmla="*/ 187 h 324"/>
                <a:gd name="T40" fmla="*/ 69 w 152"/>
                <a:gd name="T41" fmla="*/ 180 h 324"/>
                <a:gd name="T42" fmla="*/ 152 w 152"/>
                <a:gd name="T43" fmla="*/ 269 h 324"/>
                <a:gd name="T44" fmla="*/ 152 w 152"/>
                <a:gd name="T45" fmla="*/ 254 h 324"/>
                <a:gd name="T46" fmla="*/ 83 w 152"/>
                <a:gd name="T47" fmla="*/ 178 h 324"/>
                <a:gd name="T48" fmla="*/ 152 w 152"/>
                <a:gd name="T49" fmla="*/ 70 h 324"/>
                <a:gd name="T50" fmla="*/ 152 w 152"/>
                <a:gd name="T51" fmla="*/ 55 h 324"/>
                <a:gd name="T52" fmla="*/ 69 w 152"/>
                <a:gd name="T53" fmla="*/ 180 h 324"/>
                <a:gd name="T54" fmla="*/ 51 w 152"/>
                <a:gd name="T55" fmla="*/ 184 h 324"/>
                <a:gd name="T56" fmla="*/ 152 w 152"/>
                <a:gd name="T57" fmla="*/ 287 h 324"/>
                <a:gd name="T58" fmla="*/ 152 w 152"/>
                <a:gd name="T59" fmla="*/ 276 h 324"/>
                <a:gd name="T60" fmla="*/ 62 w 152"/>
                <a:gd name="T61" fmla="*/ 182 h 324"/>
                <a:gd name="T62" fmla="*/ 152 w 152"/>
                <a:gd name="T63" fmla="*/ 48 h 324"/>
                <a:gd name="T64" fmla="*/ 152 w 152"/>
                <a:gd name="T65" fmla="*/ 37 h 324"/>
                <a:gd name="T66" fmla="*/ 51 w 152"/>
                <a:gd name="T67" fmla="*/ 18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2" h="324">
                  <a:moveTo>
                    <a:pt x="152" y="74"/>
                  </a:moveTo>
                  <a:cubicBezTo>
                    <a:pt x="152" y="250"/>
                    <a:pt x="152" y="250"/>
                    <a:pt x="152" y="250"/>
                  </a:cubicBezTo>
                  <a:cubicBezTo>
                    <a:pt x="119" y="240"/>
                    <a:pt x="93" y="213"/>
                    <a:pt x="87" y="177"/>
                  </a:cubicBezTo>
                  <a:cubicBezTo>
                    <a:pt x="79" y="131"/>
                    <a:pt x="108" y="87"/>
                    <a:pt x="152" y="74"/>
                  </a:cubicBezTo>
                  <a:close/>
                  <a:moveTo>
                    <a:pt x="15" y="190"/>
                  </a:moveTo>
                  <a:cubicBezTo>
                    <a:pt x="28" y="261"/>
                    <a:pt x="84" y="313"/>
                    <a:pt x="152" y="324"/>
                  </a:cubicBezTo>
                  <a:cubicBezTo>
                    <a:pt x="152" y="320"/>
                    <a:pt x="152" y="320"/>
                    <a:pt x="152" y="320"/>
                  </a:cubicBezTo>
                  <a:cubicBezTo>
                    <a:pt x="86" y="309"/>
                    <a:pt x="31" y="258"/>
                    <a:pt x="19" y="189"/>
                  </a:cubicBezTo>
                  <a:cubicBezTo>
                    <a:pt x="4" y="102"/>
                    <a:pt x="63" y="19"/>
                    <a:pt x="150" y="4"/>
                  </a:cubicBezTo>
                  <a:cubicBezTo>
                    <a:pt x="150" y="4"/>
                    <a:pt x="151" y="4"/>
                    <a:pt x="152" y="4"/>
                  </a:cubicBezTo>
                  <a:cubicBezTo>
                    <a:pt x="152" y="0"/>
                    <a:pt x="152" y="0"/>
                    <a:pt x="152" y="0"/>
                  </a:cubicBezTo>
                  <a:cubicBezTo>
                    <a:pt x="151" y="0"/>
                    <a:pt x="150" y="0"/>
                    <a:pt x="149" y="0"/>
                  </a:cubicBezTo>
                  <a:cubicBezTo>
                    <a:pt x="60" y="16"/>
                    <a:pt x="0" y="101"/>
                    <a:pt x="15" y="190"/>
                  </a:cubicBezTo>
                  <a:close/>
                  <a:moveTo>
                    <a:pt x="33" y="187"/>
                  </a:moveTo>
                  <a:cubicBezTo>
                    <a:pt x="44" y="249"/>
                    <a:pt x="93" y="295"/>
                    <a:pt x="152" y="306"/>
                  </a:cubicBezTo>
                  <a:cubicBezTo>
                    <a:pt x="152" y="298"/>
                    <a:pt x="152" y="298"/>
                    <a:pt x="152" y="298"/>
                  </a:cubicBezTo>
                  <a:cubicBezTo>
                    <a:pt x="97" y="288"/>
                    <a:pt x="51" y="244"/>
                    <a:pt x="41" y="185"/>
                  </a:cubicBezTo>
                  <a:cubicBezTo>
                    <a:pt x="28" y="111"/>
                    <a:pt x="78" y="39"/>
                    <a:pt x="152" y="26"/>
                  </a:cubicBezTo>
                  <a:cubicBezTo>
                    <a:pt x="152" y="18"/>
                    <a:pt x="152" y="18"/>
                    <a:pt x="152" y="18"/>
                  </a:cubicBezTo>
                  <a:cubicBezTo>
                    <a:pt x="73" y="32"/>
                    <a:pt x="20" y="107"/>
                    <a:pt x="33" y="187"/>
                  </a:cubicBezTo>
                  <a:close/>
                  <a:moveTo>
                    <a:pt x="69" y="180"/>
                  </a:moveTo>
                  <a:cubicBezTo>
                    <a:pt x="77" y="225"/>
                    <a:pt x="110" y="259"/>
                    <a:pt x="152" y="269"/>
                  </a:cubicBezTo>
                  <a:cubicBezTo>
                    <a:pt x="152" y="254"/>
                    <a:pt x="152" y="254"/>
                    <a:pt x="152" y="254"/>
                  </a:cubicBezTo>
                  <a:cubicBezTo>
                    <a:pt x="117" y="245"/>
                    <a:pt x="89" y="216"/>
                    <a:pt x="83" y="178"/>
                  </a:cubicBezTo>
                  <a:cubicBezTo>
                    <a:pt x="74" y="129"/>
                    <a:pt x="105" y="82"/>
                    <a:pt x="152" y="70"/>
                  </a:cubicBezTo>
                  <a:cubicBezTo>
                    <a:pt x="152" y="55"/>
                    <a:pt x="152" y="55"/>
                    <a:pt x="152" y="55"/>
                  </a:cubicBezTo>
                  <a:cubicBezTo>
                    <a:pt x="96" y="68"/>
                    <a:pt x="59" y="123"/>
                    <a:pt x="69" y="180"/>
                  </a:cubicBezTo>
                  <a:close/>
                  <a:moveTo>
                    <a:pt x="51" y="184"/>
                  </a:moveTo>
                  <a:cubicBezTo>
                    <a:pt x="60" y="237"/>
                    <a:pt x="102" y="277"/>
                    <a:pt x="152" y="287"/>
                  </a:cubicBezTo>
                  <a:cubicBezTo>
                    <a:pt x="152" y="276"/>
                    <a:pt x="152" y="276"/>
                    <a:pt x="152" y="276"/>
                  </a:cubicBezTo>
                  <a:cubicBezTo>
                    <a:pt x="107" y="266"/>
                    <a:pt x="70" y="230"/>
                    <a:pt x="62" y="182"/>
                  </a:cubicBezTo>
                  <a:cubicBezTo>
                    <a:pt x="51" y="120"/>
                    <a:pt x="91" y="61"/>
                    <a:pt x="152" y="48"/>
                  </a:cubicBezTo>
                  <a:cubicBezTo>
                    <a:pt x="152" y="37"/>
                    <a:pt x="152" y="37"/>
                    <a:pt x="152" y="37"/>
                  </a:cubicBezTo>
                  <a:cubicBezTo>
                    <a:pt x="84" y="50"/>
                    <a:pt x="39" y="115"/>
                    <a:pt x="51" y="18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grpSp>
      <p:grpSp>
        <p:nvGrpSpPr>
          <p:cNvPr id="8" name="logo_ripples_bar_bottom-4x3" descr="&lt;mode=4x3&gt;&#10;&lt;size&gt;h=203.8126;w=720&lt;size/&gt;&#10;&lt;pos&gt;top=336.1874;left=0.12&lt;pos/&gt;&#10;&lt;mode/&gt;&#10;&lt;mode=16x9&gt;&#10;&lt;size&gt;h=152.8595;w=720&lt;size/&gt;&#10;&lt;pos&gt;top=252.1407;left=0.12&lt;pos/&gt;&#10;&lt;mode/&gt;" hidden="1"/>
          <p:cNvGrpSpPr/>
          <p:nvPr userDrawn="1"/>
        </p:nvGrpSpPr>
        <p:grpSpPr>
          <a:xfrm>
            <a:off x="2032" y="4269583"/>
            <a:ext cx="12192000" cy="2588421"/>
            <a:chOff x="1524" y="4269580"/>
            <a:chExt cx="9144000" cy="2588420"/>
          </a:xfrm>
        </p:grpSpPr>
        <p:sp>
          <p:nvSpPr>
            <p:cNvPr id="9" name="base_bar" hidden="1"/>
            <p:cNvSpPr/>
            <p:nvPr userDrawn="1"/>
          </p:nvSpPr>
          <p:spPr bwMode="ltGray">
            <a:xfrm>
              <a:off x="1524" y="4343400"/>
              <a:ext cx="9144000" cy="2514600"/>
            </a:xfrm>
            <a:prstGeom prst="rect">
              <a:avLst/>
            </a:prstGeom>
            <a:solidFill>
              <a:srgbClr val="0092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solidFill>
                  <a:srgbClr val="FFFFFF"/>
                </a:solidFill>
              </a:endParaRPr>
            </a:p>
          </p:txBody>
        </p:sp>
        <p:sp>
          <p:nvSpPr>
            <p:cNvPr id="10" name="circle_dark" hidden="1"/>
            <p:cNvSpPr>
              <a:spLocks noEditPoints="1"/>
            </p:cNvSpPr>
            <p:nvPr userDrawn="1"/>
          </p:nvSpPr>
          <p:spPr bwMode="ltGray">
            <a:xfrm>
              <a:off x="6760977" y="4269580"/>
              <a:ext cx="2132992" cy="2124076"/>
            </a:xfrm>
            <a:custGeom>
              <a:avLst/>
              <a:gdLst>
                <a:gd name="T0" fmla="*/ 282 w 671"/>
                <a:gd name="T1" fmla="*/ 29 h 671"/>
                <a:gd name="T2" fmla="*/ 29 w 671"/>
                <a:gd name="T3" fmla="*/ 388 h 671"/>
                <a:gd name="T4" fmla="*/ 388 w 671"/>
                <a:gd name="T5" fmla="*/ 642 h 671"/>
                <a:gd name="T6" fmla="*/ 642 w 671"/>
                <a:gd name="T7" fmla="*/ 283 h 671"/>
                <a:gd name="T8" fmla="*/ 282 w 671"/>
                <a:gd name="T9" fmla="*/ 29 h 671"/>
                <a:gd name="T10" fmla="*/ 387 w 671"/>
                <a:gd name="T11" fmla="*/ 638 h 671"/>
                <a:gd name="T12" fmla="*/ 33 w 671"/>
                <a:gd name="T13" fmla="*/ 388 h 671"/>
                <a:gd name="T14" fmla="*/ 283 w 671"/>
                <a:gd name="T15" fmla="*/ 33 h 671"/>
                <a:gd name="T16" fmla="*/ 638 w 671"/>
                <a:gd name="T17" fmla="*/ 283 h 671"/>
                <a:gd name="T18" fmla="*/ 387 w 671"/>
                <a:gd name="T19" fmla="*/ 638 h 671"/>
                <a:gd name="T20" fmla="*/ 285 w 671"/>
                <a:gd name="T21" fmla="*/ 47 h 671"/>
                <a:gd name="T22" fmla="*/ 47 w 671"/>
                <a:gd name="T23" fmla="*/ 385 h 671"/>
                <a:gd name="T24" fmla="*/ 385 w 671"/>
                <a:gd name="T25" fmla="*/ 624 h 671"/>
                <a:gd name="T26" fmla="*/ 624 w 671"/>
                <a:gd name="T27" fmla="*/ 286 h 671"/>
                <a:gd name="T28" fmla="*/ 285 w 671"/>
                <a:gd name="T29" fmla="*/ 47 h 671"/>
                <a:gd name="T30" fmla="*/ 384 w 671"/>
                <a:gd name="T31" fmla="*/ 617 h 671"/>
                <a:gd name="T32" fmla="*/ 54 w 671"/>
                <a:gd name="T33" fmla="*/ 384 h 671"/>
                <a:gd name="T34" fmla="*/ 287 w 671"/>
                <a:gd name="T35" fmla="*/ 54 h 671"/>
                <a:gd name="T36" fmla="*/ 616 w 671"/>
                <a:gd name="T37" fmla="*/ 287 h 671"/>
                <a:gd name="T38" fmla="*/ 384 w 671"/>
                <a:gd name="T39" fmla="*/ 617 h 671"/>
                <a:gd name="T40" fmla="*/ 289 w 671"/>
                <a:gd name="T41" fmla="*/ 65 h 671"/>
                <a:gd name="T42" fmla="*/ 65 w 671"/>
                <a:gd name="T43" fmla="*/ 382 h 671"/>
                <a:gd name="T44" fmla="*/ 382 w 671"/>
                <a:gd name="T45" fmla="*/ 606 h 671"/>
                <a:gd name="T46" fmla="*/ 606 w 671"/>
                <a:gd name="T47" fmla="*/ 289 h 671"/>
                <a:gd name="T48" fmla="*/ 289 w 671"/>
                <a:gd name="T49" fmla="*/ 65 h 671"/>
                <a:gd name="T50" fmla="*/ 380 w 671"/>
                <a:gd name="T51" fmla="*/ 596 h 671"/>
                <a:gd name="T52" fmla="*/ 75 w 671"/>
                <a:gd name="T53" fmla="*/ 380 h 671"/>
                <a:gd name="T54" fmla="*/ 290 w 671"/>
                <a:gd name="T55" fmla="*/ 75 h 671"/>
                <a:gd name="T56" fmla="*/ 595 w 671"/>
                <a:gd name="T57" fmla="*/ 291 h 671"/>
                <a:gd name="T58" fmla="*/ 380 w 671"/>
                <a:gd name="T59" fmla="*/ 596 h 671"/>
                <a:gd name="T60" fmla="*/ 292 w 671"/>
                <a:gd name="T61" fmla="*/ 83 h 671"/>
                <a:gd name="T62" fmla="*/ 83 w 671"/>
                <a:gd name="T63" fmla="*/ 379 h 671"/>
                <a:gd name="T64" fmla="*/ 379 w 671"/>
                <a:gd name="T65" fmla="*/ 588 h 671"/>
                <a:gd name="T66" fmla="*/ 588 w 671"/>
                <a:gd name="T67" fmla="*/ 292 h 671"/>
                <a:gd name="T68" fmla="*/ 292 w 671"/>
                <a:gd name="T69" fmla="*/ 83 h 671"/>
                <a:gd name="T70" fmla="*/ 376 w 671"/>
                <a:gd name="T71" fmla="*/ 575 h 671"/>
                <a:gd name="T72" fmla="*/ 96 w 671"/>
                <a:gd name="T73" fmla="*/ 377 h 671"/>
                <a:gd name="T74" fmla="*/ 294 w 671"/>
                <a:gd name="T75" fmla="*/ 97 h 671"/>
                <a:gd name="T76" fmla="*/ 574 w 671"/>
                <a:gd name="T77" fmla="*/ 294 h 671"/>
                <a:gd name="T78" fmla="*/ 376 w 671"/>
                <a:gd name="T79" fmla="*/ 575 h 671"/>
                <a:gd name="T80" fmla="*/ 376 w 671"/>
                <a:gd name="T81" fmla="*/ 570 h 671"/>
                <a:gd name="T82" fmla="*/ 100 w 671"/>
                <a:gd name="T83" fmla="*/ 376 h 671"/>
                <a:gd name="T84" fmla="*/ 295 w 671"/>
                <a:gd name="T85" fmla="*/ 101 h 671"/>
                <a:gd name="T86" fmla="*/ 570 w 671"/>
                <a:gd name="T87" fmla="*/ 295 h 671"/>
                <a:gd name="T88" fmla="*/ 376 w 671"/>
                <a:gd name="T89" fmla="*/ 570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71" h="671">
                  <a:moveTo>
                    <a:pt x="282" y="29"/>
                  </a:moveTo>
                  <a:cubicBezTo>
                    <a:pt x="113" y="58"/>
                    <a:pt x="0" y="219"/>
                    <a:pt x="29" y="388"/>
                  </a:cubicBezTo>
                  <a:cubicBezTo>
                    <a:pt x="58" y="557"/>
                    <a:pt x="219" y="671"/>
                    <a:pt x="388" y="642"/>
                  </a:cubicBezTo>
                  <a:cubicBezTo>
                    <a:pt x="557" y="613"/>
                    <a:pt x="671" y="452"/>
                    <a:pt x="642" y="283"/>
                  </a:cubicBezTo>
                  <a:cubicBezTo>
                    <a:pt x="612" y="114"/>
                    <a:pt x="451" y="0"/>
                    <a:pt x="282" y="29"/>
                  </a:cubicBezTo>
                  <a:close/>
                  <a:moveTo>
                    <a:pt x="387" y="638"/>
                  </a:moveTo>
                  <a:cubicBezTo>
                    <a:pt x="221" y="667"/>
                    <a:pt x="62" y="554"/>
                    <a:pt x="33" y="388"/>
                  </a:cubicBezTo>
                  <a:cubicBezTo>
                    <a:pt x="4" y="221"/>
                    <a:pt x="116" y="62"/>
                    <a:pt x="283" y="33"/>
                  </a:cubicBezTo>
                  <a:cubicBezTo>
                    <a:pt x="450" y="5"/>
                    <a:pt x="609" y="117"/>
                    <a:pt x="638" y="283"/>
                  </a:cubicBezTo>
                  <a:cubicBezTo>
                    <a:pt x="666" y="450"/>
                    <a:pt x="554" y="609"/>
                    <a:pt x="387" y="638"/>
                  </a:cubicBezTo>
                  <a:close/>
                  <a:moveTo>
                    <a:pt x="285" y="47"/>
                  </a:moveTo>
                  <a:cubicBezTo>
                    <a:pt x="126" y="74"/>
                    <a:pt x="19" y="226"/>
                    <a:pt x="47" y="385"/>
                  </a:cubicBezTo>
                  <a:cubicBezTo>
                    <a:pt x="74" y="544"/>
                    <a:pt x="226" y="652"/>
                    <a:pt x="385" y="624"/>
                  </a:cubicBezTo>
                  <a:cubicBezTo>
                    <a:pt x="544" y="597"/>
                    <a:pt x="651" y="445"/>
                    <a:pt x="624" y="286"/>
                  </a:cubicBezTo>
                  <a:cubicBezTo>
                    <a:pt x="596" y="127"/>
                    <a:pt x="445" y="20"/>
                    <a:pt x="285" y="47"/>
                  </a:cubicBezTo>
                  <a:close/>
                  <a:moveTo>
                    <a:pt x="384" y="617"/>
                  </a:moveTo>
                  <a:cubicBezTo>
                    <a:pt x="229" y="644"/>
                    <a:pt x="81" y="539"/>
                    <a:pt x="54" y="384"/>
                  </a:cubicBezTo>
                  <a:cubicBezTo>
                    <a:pt x="27" y="229"/>
                    <a:pt x="132" y="81"/>
                    <a:pt x="287" y="54"/>
                  </a:cubicBezTo>
                  <a:cubicBezTo>
                    <a:pt x="442" y="28"/>
                    <a:pt x="590" y="132"/>
                    <a:pt x="616" y="287"/>
                  </a:cubicBezTo>
                  <a:cubicBezTo>
                    <a:pt x="643" y="442"/>
                    <a:pt x="539" y="590"/>
                    <a:pt x="384" y="617"/>
                  </a:cubicBezTo>
                  <a:close/>
                  <a:moveTo>
                    <a:pt x="289" y="65"/>
                  </a:moveTo>
                  <a:cubicBezTo>
                    <a:pt x="139" y="91"/>
                    <a:pt x="39" y="233"/>
                    <a:pt x="65" y="382"/>
                  </a:cubicBezTo>
                  <a:cubicBezTo>
                    <a:pt x="90" y="531"/>
                    <a:pt x="233" y="632"/>
                    <a:pt x="382" y="606"/>
                  </a:cubicBezTo>
                  <a:cubicBezTo>
                    <a:pt x="531" y="580"/>
                    <a:pt x="632" y="438"/>
                    <a:pt x="606" y="289"/>
                  </a:cubicBezTo>
                  <a:cubicBezTo>
                    <a:pt x="580" y="140"/>
                    <a:pt x="438" y="39"/>
                    <a:pt x="289" y="65"/>
                  </a:cubicBezTo>
                  <a:close/>
                  <a:moveTo>
                    <a:pt x="380" y="596"/>
                  </a:moveTo>
                  <a:cubicBezTo>
                    <a:pt x="237" y="620"/>
                    <a:pt x="100" y="524"/>
                    <a:pt x="75" y="380"/>
                  </a:cubicBezTo>
                  <a:cubicBezTo>
                    <a:pt x="50" y="237"/>
                    <a:pt x="147" y="100"/>
                    <a:pt x="290" y="75"/>
                  </a:cubicBezTo>
                  <a:cubicBezTo>
                    <a:pt x="434" y="51"/>
                    <a:pt x="571" y="147"/>
                    <a:pt x="595" y="291"/>
                  </a:cubicBezTo>
                  <a:cubicBezTo>
                    <a:pt x="620" y="434"/>
                    <a:pt x="523" y="571"/>
                    <a:pt x="380" y="596"/>
                  </a:cubicBezTo>
                  <a:close/>
                  <a:moveTo>
                    <a:pt x="292" y="83"/>
                  </a:moveTo>
                  <a:cubicBezTo>
                    <a:pt x="152" y="107"/>
                    <a:pt x="58" y="240"/>
                    <a:pt x="83" y="379"/>
                  </a:cubicBezTo>
                  <a:cubicBezTo>
                    <a:pt x="107" y="519"/>
                    <a:pt x="239" y="612"/>
                    <a:pt x="379" y="588"/>
                  </a:cubicBezTo>
                  <a:cubicBezTo>
                    <a:pt x="518" y="564"/>
                    <a:pt x="612" y="431"/>
                    <a:pt x="588" y="292"/>
                  </a:cubicBezTo>
                  <a:cubicBezTo>
                    <a:pt x="564" y="153"/>
                    <a:pt x="431" y="59"/>
                    <a:pt x="292" y="83"/>
                  </a:cubicBezTo>
                  <a:close/>
                  <a:moveTo>
                    <a:pt x="376" y="575"/>
                  </a:moveTo>
                  <a:cubicBezTo>
                    <a:pt x="245" y="597"/>
                    <a:pt x="119" y="509"/>
                    <a:pt x="96" y="377"/>
                  </a:cubicBezTo>
                  <a:cubicBezTo>
                    <a:pt x="73" y="245"/>
                    <a:pt x="162" y="119"/>
                    <a:pt x="294" y="97"/>
                  </a:cubicBezTo>
                  <a:cubicBezTo>
                    <a:pt x="426" y="74"/>
                    <a:pt x="551" y="163"/>
                    <a:pt x="574" y="294"/>
                  </a:cubicBezTo>
                  <a:cubicBezTo>
                    <a:pt x="597" y="426"/>
                    <a:pt x="508" y="552"/>
                    <a:pt x="376" y="575"/>
                  </a:cubicBezTo>
                  <a:close/>
                  <a:moveTo>
                    <a:pt x="376" y="570"/>
                  </a:moveTo>
                  <a:cubicBezTo>
                    <a:pt x="246" y="593"/>
                    <a:pt x="123" y="506"/>
                    <a:pt x="100" y="376"/>
                  </a:cubicBezTo>
                  <a:cubicBezTo>
                    <a:pt x="78" y="247"/>
                    <a:pt x="165" y="123"/>
                    <a:pt x="295" y="101"/>
                  </a:cubicBezTo>
                  <a:cubicBezTo>
                    <a:pt x="424" y="78"/>
                    <a:pt x="548" y="166"/>
                    <a:pt x="570" y="295"/>
                  </a:cubicBezTo>
                  <a:cubicBezTo>
                    <a:pt x="592" y="425"/>
                    <a:pt x="505" y="548"/>
                    <a:pt x="376" y="570"/>
                  </a:cubicBezTo>
                  <a:close/>
                </a:path>
              </a:pathLst>
            </a:custGeom>
            <a:solidFill>
              <a:srgbClr val="40AD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11" name="circle_mid" hidden="1"/>
            <p:cNvSpPr>
              <a:spLocks noEditPoints="1"/>
            </p:cNvSpPr>
            <p:nvPr userDrawn="1"/>
          </p:nvSpPr>
          <p:spPr bwMode="ltGray">
            <a:xfrm>
              <a:off x="8231980" y="5660440"/>
              <a:ext cx="910495" cy="1196035"/>
            </a:xfrm>
            <a:custGeom>
              <a:avLst/>
              <a:gdLst>
                <a:gd name="T0" fmla="*/ 286 w 286"/>
                <a:gd name="T1" fmla="*/ 4 h 376"/>
                <a:gd name="T2" fmla="*/ 286 w 286"/>
                <a:gd name="T3" fmla="*/ 18 h 376"/>
                <a:gd name="T4" fmla="*/ 215 w 286"/>
                <a:gd name="T5" fmla="*/ 18 h 376"/>
                <a:gd name="T6" fmla="*/ 36 w 286"/>
                <a:gd name="T7" fmla="*/ 272 h 376"/>
                <a:gd name="T8" fmla="*/ 85 w 286"/>
                <a:gd name="T9" fmla="*/ 376 h 376"/>
                <a:gd name="T10" fmla="*/ 67 w 286"/>
                <a:gd name="T11" fmla="*/ 376 h 376"/>
                <a:gd name="T12" fmla="*/ 22 w 286"/>
                <a:gd name="T13" fmla="*/ 274 h 376"/>
                <a:gd name="T14" fmla="*/ 212 w 286"/>
                <a:gd name="T15" fmla="*/ 4 h 376"/>
                <a:gd name="T16" fmla="*/ 286 w 286"/>
                <a:gd name="T17" fmla="*/ 4 h 376"/>
                <a:gd name="T18" fmla="*/ 227 w 286"/>
                <a:gd name="T19" fmla="*/ 89 h 376"/>
                <a:gd name="T20" fmla="*/ 107 w 286"/>
                <a:gd name="T21" fmla="*/ 259 h 376"/>
                <a:gd name="T22" fmla="*/ 212 w 286"/>
                <a:gd name="T23" fmla="*/ 376 h 376"/>
                <a:gd name="T24" fmla="*/ 286 w 286"/>
                <a:gd name="T25" fmla="*/ 376 h 376"/>
                <a:gd name="T26" fmla="*/ 286 w 286"/>
                <a:gd name="T27" fmla="*/ 91 h 376"/>
                <a:gd name="T28" fmla="*/ 227 w 286"/>
                <a:gd name="T29" fmla="*/ 89 h 376"/>
                <a:gd name="T30" fmla="*/ 223 w 286"/>
                <a:gd name="T31" fmla="*/ 68 h 376"/>
                <a:gd name="T32" fmla="*/ 85 w 286"/>
                <a:gd name="T33" fmla="*/ 263 h 376"/>
                <a:gd name="T34" fmla="*/ 160 w 286"/>
                <a:gd name="T35" fmla="*/ 376 h 376"/>
                <a:gd name="T36" fmla="*/ 168 w 286"/>
                <a:gd name="T37" fmla="*/ 376 h 376"/>
                <a:gd name="T38" fmla="*/ 89 w 286"/>
                <a:gd name="T39" fmla="*/ 262 h 376"/>
                <a:gd name="T40" fmla="*/ 224 w 286"/>
                <a:gd name="T41" fmla="*/ 72 h 376"/>
                <a:gd name="T42" fmla="*/ 286 w 286"/>
                <a:gd name="T43" fmla="*/ 73 h 376"/>
                <a:gd name="T44" fmla="*/ 286 w 286"/>
                <a:gd name="T45" fmla="*/ 69 h 376"/>
                <a:gd name="T46" fmla="*/ 223 w 286"/>
                <a:gd name="T47" fmla="*/ 68 h 376"/>
                <a:gd name="T48" fmla="*/ 219 w 286"/>
                <a:gd name="T49" fmla="*/ 47 h 376"/>
                <a:gd name="T50" fmla="*/ 64 w 286"/>
                <a:gd name="T51" fmla="*/ 267 h 376"/>
                <a:gd name="T52" fmla="*/ 125 w 286"/>
                <a:gd name="T53" fmla="*/ 376 h 376"/>
                <a:gd name="T54" fmla="*/ 136 w 286"/>
                <a:gd name="T55" fmla="*/ 376 h 376"/>
                <a:gd name="T56" fmla="*/ 71 w 286"/>
                <a:gd name="T57" fmla="*/ 265 h 376"/>
                <a:gd name="T58" fmla="*/ 221 w 286"/>
                <a:gd name="T59" fmla="*/ 54 h 376"/>
                <a:gd name="T60" fmla="*/ 286 w 286"/>
                <a:gd name="T61" fmla="*/ 55 h 376"/>
                <a:gd name="T62" fmla="*/ 286 w 286"/>
                <a:gd name="T63" fmla="*/ 47 h 376"/>
                <a:gd name="T64" fmla="*/ 219 w 286"/>
                <a:gd name="T65" fmla="*/ 47 h 376"/>
                <a:gd name="T66" fmla="*/ 216 w 286"/>
                <a:gd name="T67" fmla="*/ 26 h 376"/>
                <a:gd name="T68" fmla="*/ 43 w 286"/>
                <a:gd name="T69" fmla="*/ 270 h 376"/>
                <a:gd name="T70" fmla="*/ 95 w 286"/>
                <a:gd name="T71" fmla="*/ 376 h 376"/>
                <a:gd name="T72" fmla="*/ 109 w 286"/>
                <a:gd name="T73" fmla="*/ 376 h 376"/>
                <a:gd name="T74" fmla="*/ 54 w 286"/>
                <a:gd name="T75" fmla="*/ 269 h 376"/>
                <a:gd name="T76" fmla="*/ 218 w 286"/>
                <a:gd name="T77" fmla="*/ 36 h 376"/>
                <a:gd name="T78" fmla="*/ 286 w 286"/>
                <a:gd name="T79" fmla="*/ 36 h 376"/>
                <a:gd name="T80" fmla="*/ 286 w 286"/>
                <a:gd name="T81" fmla="*/ 25 h 376"/>
                <a:gd name="T82" fmla="*/ 216 w 286"/>
                <a:gd name="T83" fmla="*/ 2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6" h="376">
                  <a:moveTo>
                    <a:pt x="286" y="4"/>
                  </a:moveTo>
                  <a:cubicBezTo>
                    <a:pt x="286" y="18"/>
                    <a:pt x="286" y="18"/>
                    <a:pt x="286" y="18"/>
                  </a:cubicBezTo>
                  <a:cubicBezTo>
                    <a:pt x="263" y="14"/>
                    <a:pt x="239" y="14"/>
                    <a:pt x="215" y="18"/>
                  </a:cubicBezTo>
                  <a:cubicBezTo>
                    <a:pt x="95" y="39"/>
                    <a:pt x="15" y="152"/>
                    <a:pt x="36" y="272"/>
                  </a:cubicBezTo>
                  <a:cubicBezTo>
                    <a:pt x="43" y="312"/>
                    <a:pt x="60" y="347"/>
                    <a:pt x="85" y="376"/>
                  </a:cubicBezTo>
                  <a:cubicBezTo>
                    <a:pt x="67" y="376"/>
                    <a:pt x="67" y="376"/>
                    <a:pt x="67" y="376"/>
                  </a:cubicBezTo>
                  <a:cubicBezTo>
                    <a:pt x="44" y="347"/>
                    <a:pt x="29" y="312"/>
                    <a:pt x="22" y="274"/>
                  </a:cubicBezTo>
                  <a:cubicBezTo>
                    <a:pt x="0" y="147"/>
                    <a:pt x="85" y="26"/>
                    <a:pt x="212" y="4"/>
                  </a:cubicBezTo>
                  <a:cubicBezTo>
                    <a:pt x="237" y="0"/>
                    <a:pt x="262" y="0"/>
                    <a:pt x="286" y="4"/>
                  </a:cubicBezTo>
                  <a:close/>
                  <a:moveTo>
                    <a:pt x="227" y="89"/>
                  </a:moveTo>
                  <a:cubicBezTo>
                    <a:pt x="147" y="103"/>
                    <a:pt x="93" y="179"/>
                    <a:pt x="107" y="259"/>
                  </a:cubicBezTo>
                  <a:cubicBezTo>
                    <a:pt x="117" y="317"/>
                    <a:pt x="159" y="361"/>
                    <a:pt x="212" y="376"/>
                  </a:cubicBezTo>
                  <a:cubicBezTo>
                    <a:pt x="286" y="376"/>
                    <a:pt x="286" y="376"/>
                    <a:pt x="286" y="376"/>
                  </a:cubicBezTo>
                  <a:cubicBezTo>
                    <a:pt x="286" y="91"/>
                    <a:pt x="286" y="91"/>
                    <a:pt x="286" y="91"/>
                  </a:cubicBezTo>
                  <a:cubicBezTo>
                    <a:pt x="267" y="86"/>
                    <a:pt x="247" y="86"/>
                    <a:pt x="227" y="89"/>
                  </a:cubicBezTo>
                  <a:close/>
                  <a:moveTo>
                    <a:pt x="223" y="68"/>
                  </a:moveTo>
                  <a:cubicBezTo>
                    <a:pt x="131" y="84"/>
                    <a:pt x="69" y="171"/>
                    <a:pt x="85" y="263"/>
                  </a:cubicBezTo>
                  <a:cubicBezTo>
                    <a:pt x="94" y="311"/>
                    <a:pt x="122" y="351"/>
                    <a:pt x="160" y="376"/>
                  </a:cubicBezTo>
                  <a:cubicBezTo>
                    <a:pt x="168" y="376"/>
                    <a:pt x="168" y="376"/>
                    <a:pt x="168" y="376"/>
                  </a:cubicBezTo>
                  <a:cubicBezTo>
                    <a:pt x="128" y="352"/>
                    <a:pt x="98" y="312"/>
                    <a:pt x="89" y="262"/>
                  </a:cubicBezTo>
                  <a:cubicBezTo>
                    <a:pt x="74" y="173"/>
                    <a:pt x="134" y="87"/>
                    <a:pt x="224" y="72"/>
                  </a:cubicBezTo>
                  <a:cubicBezTo>
                    <a:pt x="245" y="68"/>
                    <a:pt x="266" y="69"/>
                    <a:pt x="286" y="73"/>
                  </a:cubicBezTo>
                  <a:cubicBezTo>
                    <a:pt x="286" y="69"/>
                    <a:pt x="286" y="69"/>
                    <a:pt x="286" y="69"/>
                  </a:cubicBezTo>
                  <a:cubicBezTo>
                    <a:pt x="266" y="65"/>
                    <a:pt x="245" y="64"/>
                    <a:pt x="223" y="68"/>
                  </a:cubicBezTo>
                  <a:close/>
                  <a:moveTo>
                    <a:pt x="219" y="47"/>
                  </a:moveTo>
                  <a:cubicBezTo>
                    <a:pt x="116" y="64"/>
                    <a:pt x="46" y="163"/>
                    <a:pt x="64" y="267"/>
                  </a:cubicBezTo>
                  <a:cubicBezTo>
                    <a:pt x="72" y="311"/>
                    <a:pt x="94" y="349"/>
                    <a:pt x="125" y="376"/>
                  </a:cubicBezTo>
                  <a:cubicBezTo>
                    <a:pt x="136" y="376"/>
                    <a:pt x="136" y="376"/>
                    <a:pt x="136" y="376"/>
                  </a:cubicBezTo>
                  <a:cubicBezTo>
                    <a:pt x="103" y="349"/>
                    <a:pt x="79" y="311"/>
                    <a:pt x="71" y="265"/>
                  </a:cubicBezTo>
                  <a:cubicBezTo>
                    <a:pt x="54" y="166"/>
                    <a:pt x="121" y="71"/>
                    <a:pt x="221" y="54"/>
                  </a:cubicBezTo>
                  <a:cubicBezTo>
                    <a:pt x="243" y="50"/>
                    <a:pt x="265" y="51"/>
                    <a:pt x="286" y="55"/>
                  </a:cubicBezTo>
                  <a:cubicBezTo>
                    <a:pt x="286" y="47"/>
                    <a:pt x="286" y="47"/>
                    <a:pt x="286" y="47"/>
                  </a:cubicBezTo>
                  <a:cubicBezTo>
                    <a:pt x="264" y="43"/>
                    <a:pt x="242" y="43"/>
                    <a:pt x="219" y="47"/>
                  </a:cubicBezTo>
                  <a:close/>
                  <a:moveTo>
                    <a:pt x="216" y="26"/>
                  </a:moveTo>
                  <a:cubicBezTo>
                    <a:pt x="101" y="45"/>
                    <a:pt x="23" y="155"/>
                    <a:pt x="43" y="270"/>
                  </a:cubicBezTo>
                  <a:cubicBezTo>
                    <a:pt x="50" y="311"/>
                    <a:pt x="69" y="347"/>
                    <a:pt x="95" y="376"/>
                  </a:cubicBezTo>
                  <a:cubicBezTo>
                    <a:pt x="109" y="376"/>
                    <a:pt x="109" y="376"/>
                    <a:pt x="109" y="376"/>
                  </a:cubicBezTo>
                  <a:cubicBezTo>
                    <a:pt x="81" y="348"/>
                    <a:pt x="61" y="311"/>
                    <a:pt x="54" y="269"/>
                  </a:cubicBezTo>
                  <a:cubicBezTo>
                    <a:pt x="35" y="159"/>
                    <a:pt x="108" y="55"/>
                    <a:pt x="218" y="36"/>
                  </a:cubicBezTo>
                  <a:cubicBezTo>
                    <a:pt x="241" y="32"/>
                    <a:pt x="264" y="32"/>
                    <a:pt x="286" y="36"/>
                  </a:cubicBezTo>
                  <a:cubicBezTo>
                    <a:pt x="286" y="25"/>
                    <a:pt x="286" y="25"/>
                    <a:pt x="286" y="25"/>
                  </a:cubicBezTo>
                  <a:cubicBezTo>
                    <a:pt x="263" y="22"/>
                    <a:pt x="240" y="21"/>
                    <a:pt x="216" y="26"/>
                  </a:cubicBezTo>
                  <a:close/>
                </a:path>
              </a:pathLst>
            </a:custGeom>
            <a:solidFill>
              <a:srgbClr val="80C8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12" name="circle_light" hidden="1"/>
            <p:cNvSpPr>
              <a:spLocks noEditPoints="1"/>
            </p:cNvSpPr>
            <p:nvPr userDrawn="1"/>
          </p:nvSpPr>
          <p:spPr bwMode="ltGray">
            <a:xfrm>
              <a:off x="8662988" y="4721921"/>
              <a:ext cx="479487" cy="1021747"/>
            </a:xfrm>
            <a:custGeom>
              <a:avLst/>
              <a:gdLst>
                <a:gd name="T0" fmla="*/ 152 w 152"/>
                <a:gd name="T1" fmla="*/ 74 h 324"/>
                <a:gd name="T2" fmla="*/ 152 w 152"/>
                <a:gd name="T3" fmla="*/ 250 h 324"/>
                <a:gd name="T4" fmla="*/ 87 w 152"/>
                <a:gd name="T5" fmla="*/ 177 h 324"/>
                <a:gd name="T6" fmla="*/ 152 w 152"/>
                <a:gd name="T7" fmla="*/ 74 h 324"/>
                <a:gd name="T8" fmla="*/ 15 w 152"/>
                <a:gd name="T9" fmla="*/ 190 h 324"/>
                <a:gd name="T10" fmla="*/ 152 w 152"/>
                <a:gd name="T11" fmla="*/ 324 h 324"/>
                <a:gd name="T12" fmla="*/ 152 w 152"/>
                <a:gd name="T13" fmla="*/ 320 h 324"/>
                <a:gd name="T14" fmla="*/ 19 w 152"/>
                <a:gd name="T15" fmla="*/ 189 h 324"/>
                <a:gd name="T16" fmla="*/ 150 w 152"/>
                <a:gd name="T17" fmla="*/ 4 h 324"/>
                <a:gd name="T18" fmla="*/ 152 w 152"/>
                <a:gd name="T19" fmla="*/ 4 h 324"/>
                <a:gd name="T20" fmla="*/ 152 w 152"/>
                <a:gd name="T21" fmla="*/ 0 h 324"/>
                <a:gd name="T22" fmla="*/ 149 w 152"/>
                <a:gd name="T23" fmla="*/ 0 h 324"/>
                <a:gd name="T24" fmla="*/ 15 w 152"/>
                <a:gd name="T25" fmla="*/ 190 h 324"/>
                <a:gd name="T26" fmla="*/ 33 w 152"/>
                <a:gd name="T27" fmla="*/ 187 h 324"/>
                <a:gd name="T28" fmla="*/ 152 w 152"/>
                <a:gd name="T29" fmla="*/ 306 h 324"/>
                <a:gd name="T30" fmla="*/ 152 w 152"/>
                <a:gd name="T31" fmla="*/ 298 h 324"/>
                <a:gd name="T32" fmla="*/ 41 w 152"/>
                <a:gd name="T33" fmla="*/ 185 h 324"/>
                <a:gd name="T34" fmla="*/ 152 w 152"/>
                <a:gd name="T35" fmla="*/ 26 h 324"/>
                <a:gd name="T36" fmla="*/ 152 w 152"/>
                <a:gd name="T37" fmla="*/ 18 h 324"/>
                <a:gd name="T38" fmla="*/ 33 w 152"/>
                <a:gd name="T39" fmla="*/ 187 h 324"/>
                <a:gd name="T40" fmla="*/ 69 w 152"/>
                <a:gd name="T41" fmla="*/ 180 h 324"/>
                <a:gd name="T42" fmla="*/ 152 w 152"/>
                <a:gd name="T43" fmla="*/ 269 h 324"/>
                <a:gd name="T44" fmla="*/ 152 w 152"/>
                <a:gd name="T45" fmla="*/ 254 h 324"/>
                <a:gd name="T46" fmla="*/ 83 w 152"/>
                <a:gd name="T47" fmla="*/ 178 h 324"/>
                <a:gd name="T48" fmla="*/ 152 w 152"/>
                <a:gd name="T49" fmla="*/ 70 h 324"/>
                <a:gd name="T50" fmla="*/ 152 w 152"/>
                <a:gd name="T51" fmla="*/ 55 h 324"/>
                <a:gd name="T52" fmla="*/ 69 w 152"/>
                <a:gd name="T53" fmla="*/ 180 h 324"/>
                <a:gd name="T54" fmla="*/ 51 w 152"/>
                <a:gd name="T55" fmla="*/ 184 h 324"/>
                <a:gd name="T56" fmla="*/ 152 w 152"/>
                <a:gd name="T57" fmla="*/ 287 h 324"/>
                <a:gd name="T58" fmla="*/ 152 w 152"/>
                <a:gd name="T59" fmla="*/ 276 h 324"/>
                <a:gd name="T60" fmla="*/ 62 w 152"/>
                <a:gd name="T61" fmla="*/ 182 h 324"/>
                <a:gd name="T62" fmla="*/ 152 w 152"/>
                <a:gd name="T63" fmla="*/ 48 h 324"/>
                <a:gd name="T64" fmla="*/ 152 w 152"/>
                <a:gd name="T65" fmla="*/ 37 h 324"/>
                <a:gd name="T66" fmla="*/ 51 w 152"/>
                <a:gd name="T67" fmla="*/ 18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2" h="324">
                  <a:moveTo>
                    <a:pt x="152" y="74"/>
                  </a:moveTo>
                  <a:cubicBezTo>
                    <a:pt x="152" y="250"/>
                    <a:pt x="152" y="250"/>
                    <a:pt x="152" y="250"/>
                  </a:cubicBezTo>
                  <a:cubicBezTo>
                    <a:pt x="119" y="240"/>
                    <a:pt x="93" y="213"/>
                    <a:pt x="87" y="177"/>
                  </a:cubicBezTo>
                  <a:cubicBezTo>
                    <a:pt x="79" y="131"/>
                    <a:pt x="108" y="87"/>
                    <a:pt x="152" y="74"/>
                  </a:cubicBezTo>
                  <a:close/>
                  <a:moveTo>
                    <a:pt x="15" y="190"/>
                  </a:moveTo>
                  <a:cubicBezTo>
                    <a:pt x="28" y="261"/>
                    <a:pt x="84" y="313"/>
                    <a:pt x="152" y="324"/>
                  </a:cubicBezTo>
                  <a:cubicBezTo>
                    <a:pt x="152" y="320"/>
                    <a:pt x="152" y="320"/>
                    <a:pt x="152" y="320"/>
                  </a:cubicBezTo>
                  <a:cubicBezTo>
                    <a:pt x="86" y="309"/>
                    <a:pt x="31" y="258"/>
                    <a:pt x="19" y="189"/>
                  </a:cubicBezTo>
                  <a:cubicBezTo>
                    <a:pt x="4" y="102"/>
                    <a:pt x="63" y="19"/>
                    <a:pt x="150" y="4"/>
                  </a:cubicBezTo>
                  <a:cubicBezTo>
                    <a:pt x="150" y="4"/>
                    <a:pt x="151" y="4"/>
                    <a:pt x="152" y="4"/>
                  </a:cubicBezTo>
                  <a:cubicBezTo>
                    <a:pt x="152" y="0"/>
                    <a:pt x="152" y="0"/>
                    <a:pt x="152" y="0"/>
                  </a:cubicBezTo>
                  <a:cubicBezTo>
                    <a:pt x="151" y="0"/>
                    <a:pt x="150" y="0"/>
                    <a:pt x="149" y="0"/>
                  </a:cubicBezTo>
                  <a:cubicBezTo>
                    <a:pt x="60" y="16"/>
                    <a:pt x="0" y="101"/>
                    <a:pt x="15" y="190"/>
                  </a:cubicBezTo>
                  <a:close/>
                  <a:moveTo>
                    <a:pt x="33" y="187"/>
                  </a:moveTo>
                  <a:cubicBezTo>
                    <a:pt x="44" y="249"/>
                    <a:pt x="93" y="295"/>
                    <a:pt x="152" y="306"/>
                  </a:cubicBezTo>
                  <a:cubicBezTo>
                    <a:pt x="152" y="298"/>
                    <a:pt x="152" y="298"/>
                    <a:pt x="152" y="298"/>
                  </a:cubicBezTo>
                  <a:cubicBezTo>
                    <a:pt x="97" y="288"/>
                    <a:pt x="51" y="244"/>
                    <a:pt x="41" y="185"/>
                  </a:cubicBezTo>
                  <a:cubicBezTo>
                    <a:pt x="28" y="111"/>
                    <a:pt x="78" y="39"/>
                    <a:pt x="152" y="26"/>
                  </a:cubicBezTo>
                  <a:cubicBezTo>
                    <a:pt x="152" y="18"/>
                    <a:pt x="152" y="18"/>
                    <a:pt x="152" y="18"/>
                  </a:cubicBezTo>
                  <a:cubicBezTo>
                    <a:pt x="73" y="32"/>
                    <a:pt x="20" y="107"/>
                    <a:pt x="33" y="187"/>
                  </a:cubicBezTo>
                  <a:close/>
                  <a:moveTo>
                    <a:pt x="69" y="180"/>
                  </a:moveTo>
                  <a:cubicBezTo>
                    <a:pt x="77" y="225"/>
                    <a:pt x="110" y="259"/>
                    <a:pt x="152" y="269"/>
                  </a:cubicBezTo>
                  <a:cubicBezTo>
                    <a:pt x="152" y="254"/>
                    <a:pt x="152" y="254"/>
                    <a:pt x="152" y="254"/>
                  </a:cubicBezTo>
                  <a:cubicBezTo>
                    <a:pt x="117" y="245"/>
                    <a:pt x="89" y="216"/>
                    <a:pt x="83" y="178"/>
                  </a:cubicBezTo>
                  <a:cubicBezTo>
                    <a:pt x="74" y="129"/>
                    <a:pt x="105" y="82"/>
                    <a:pt x="152" y="70"/>
                  </a:cubicBezTo>
                  <a:cubicBezTo>
                    <a:pt x="152" y="55"/>
                    <a:pt x="152" y="55"/>
                    <a:pt x="152" y="55"/>
                  </a:cubicBezTo>
                  <a:cubicBezTo>
                    <a:pt x="96" y="68"/>
                    <a:pt x="59" y="123"/>
                    <a:pt x="69" y="180"/>
                  </a:cubicBezTo>
                  <a:close/>
                  <a:moveTo>
                    <a:pt x="51" y="184"/>
                  </a:moveTo>
                  <a:cubicBezTo>
                    <a:pt x="60" y="237"/>
                    <a:pt x="102" y="277"/>
                    <a:pt x="152" y="287"/>
                  </a:cubicBezTo>
                  <a:cubicBezTo>
                    <a:pt x="152" y="276"/>
                    <a:pt x="152" y="276"/>
                    <a:pt x="152" y="276"/>
                  </a:cubicBezTo>
                  <a:cubicBezTo>
                    <a:pt x="107" y="266"/>
                    <a:pt x="70" y="230"/>
                    <a:pt x="62" y="182"/>
                  </a:cubicBezTo>
                  <a:cubicBezTo>
                    <a:pt x="51" y="120"/>
                    <a:pt x="91" y="61"/>
                    <a:pt x="152" y="48"/>
                  </a:cubicBezTo>
                  <a:cubicBezTo>
                    <a:pt x="152" y="37"/>
                    <a:pt x="152" y="37"/>
                    <a:pt x="152" y="37"/>
                  </a:cubicBezTo>
                  <a:cubicBezTo>
                    <a:pt x="84" y="50"/>
                    <a:pt x="39" y="115"/>
                    <a:pt x="51" y="18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grpSp>
      <p:sp>
        <p:nvSpPr>
          <p:cNvPr id="7" name="logo_reflections_bar_bottom" descr="&lt;mode=4x3&gt;&#10;&lt;size&gt;h=197.75;w=720&lt;size/&gt;&#10;&lt;pos&gt;top=342.25;left=0&lt;pos/&gt;&#10;&lt;mode/&gt;&#10;&#10;&lt;mode=16x9&gt;&#10;&lt;size&gt;h=148.3125;w=720&lt;size/&gt;&#10;&lt;pos&gt;top=258.8032;left=0&lt;pos/&gt;&#10;&lt;mode/&gt;"/>
          <p:cNvSpPr>
            <a:spLocks noChangeAspect="1" noEditPoints="1"/>
          </p:cNvSpPr>
          <p:nvPr userDrawn="1"/>
        </p:nvSpPr>
        <p:spPr bwMode="ltGray">
          <a:xfrm>
            <a:off x="0" y="4382402"/>
            <a:ext cx="12192000" cy="2511425"/>
          </a:xfrm>
          <a:custGeom>
            <a:avLst/>
            <a:gdLst>
              <a:gd name="T0" fmla="*/ 0 w 40176"/>
              <a:gd name="T1" fmla="*/ 727 h 11034"/>
              <a:gd name="T2" fmla="*/ 40176 w 40176"/>
              <a:gd name="T3" fmla="*/ 727 h 11034"/>
              <a:gd name="T4" fmla="*/ 40176 w 40176"/>
              <a:gd name="T5" fmla="*/ 640 h 11034"/>
              <a:gd name="T6" fmla="*/ 0 w 40176"/>
              <a:gd name="T7" fmla="*/ 640 h 11034"/>
              <a:gd name="T8" fmla="*/ 0 w 40176"/>
              <a:gd name="T9" fmla="*/ 727 h 11034"/>
              <a:gd name="T10" fmla="*/ 0 w 40176"/>
              <a:gd name="T11" fmla="*/ 552 h 11034"/>
              <a:gd name="T12" fmla="*/ 40176 w 40176"/>
              <a:gd name="T13" fmla="*/ 552 h 11034"/>
              <a:gd name="T14" fmla="*/ 40176 w 40176"/>
              <a:gd name="T15" fmla="*/ 479 h 11034"/>
              <a:gd name="T16" fmla="*/ 0 w 40176"/>
              <a:gd name="T17" fmla="*/ 479 h 11034"/>
              <a:gd name="T18" fmla="*/ 0 w 40176"/>
              <a:gd name="T19" fmla="*/ 552 h 11034"/>
              <a:gd name="T20" fmla="*/ 0 w 40176"/>
              <a:gd name="T21" fmla="*/ 200 h 11034"/>
              <a:gd name="T22" fmla="*/ 40176 w 40176"/>
              <a:gd name="T23" fmla="*/ 200 h 11034"/>
              <a:gd name="T24" fmla="*/ 40176 w 40176"/>
              <a:gd name="T25" fmla="*/ 160 h 11034"/>
              <a:gd name="T26" fmla="*/ 0 w 40176"/>
              <a:gd name="T27" fmla="*/ 160 h 11034"/>
              <a:gd name="T28" fmla="*/ 0 w 40176"/>
              <a:gd name="T29" fmla="*/ 200 h 11034"/>
              <a:gd name="T30" fmla="*/ 0 w 40176"/>
              <a:gd name="T31" fmla="*/ 378 h 11034"/>
              <a:gd name="T32" fmla="*/ 40176 w 40176"/>
              <a:gd name="T33" fmla="*/ 378 h 11034"/>
              <a:gd name="T34" fmla="*/ 40176 w 40176"/>
              <a:gd name="T35" fmla="*/ 321 h 11034"/>
              <a:gd name="T36" fmla="*/ 0 w 40176"/>
              <a:gd name="T37" fmla="*/ 321 h 11034"/>
              <a:gd name="T38" fmla="*/ 0 w 40176"/>
              <a:gd name="T39" fmla="*/ 378 h 11034"/>
              <a:gd name="T40" fmla="*/ 0 w 40176"/>
              <a:gd name="T41" fmla="*/ 902 h 11034"/>
              <a:gd name="T42" fmla="*/ 40176 w 40176"/>
              <a:gd name="T43" fmla="*/ 902 h 11034"/>
              <a:gd name="T44" fmla="*/ 40176 w 40176"/>
              <a:gd name="T45" fmla="*/ 800 h 11034"/>
              <a:gd name="T46" fmla="*/ 0 w 40176"/>
              <a:gd name="T47" fmla="*/ 800 h 11034"/>
              <a:gd name="T48" fmla="*/ 0 w 40176"/>
              <a:gd name="T49" fmla="*/ 902 h 11034"/>
              <a:gd name="T50" fmla="*/ 40176 w 40176"/>
              <a:gd name="T51" fmla="*/ 26 h 11034"/>
              <a:gd name="T52" fmla="*/ 40176 w 40176"/>
              <a:gd name="T53" fmla="*/ 0 h 11034"/>
              <a:gd name="T54" fmla="*/ 0 w 40176"/>
              <a:gd name="T55" fmla="*/ 0 h 11034"/>
              <a:gd name="T56" fmla="*/ 0 w 40176"/>
              <a:gd name="T57" fmla="*/ 26 h 11034"/>
              <a:gd name="T58" fmla="*/ 40176 w 40176"/>
              <a:gd name="T59" fmla="*/ 26 h 11034"/>
              <a:gd name="T60" fmla="*/ 0 w 40176"/>
              <a:gd name="T61" fmla="*/ 1278 h 11034"/>
              <a:gd name="T62" fmla="*/ 0 w 40176"/>
              <a:gd name="T63" fmla="*/ 11034 h 11034"/>
              <a:gd name="T64" fmla="*/ 40176 w 40176"/>
              <a:gd name="T65" fmla="*/ 11034 h 11034"/>
              <a:gd name="T66" fmla="*/ 40176 w 40176"/>
              <a:gd name="T67" fmla="*/ 1278 h 11034"/>
              <a:gd name="T68" fmla="*/ 0 w 40176"/>
              <a:gd name="T69" fmla="*/ 1278 h 11034"/>
              <a:gd name="T70" fmla="*/ 0 w 40176"/>
              <a:gd name="T71" fmla="*/ 1254 h 11034"/>
              <a:gd name="T72" fmla="*/ 40176 w 40176"/>
              <a:gd name="T73" fmla="*/ 1254 h 11034"/>
              <a:gd name="T74" fmla="*/ 40176 w 40176"/>
              <a:gd name="T75" fmla="*/ 1119 h 11034"/>
              <a:gd name="T76" fmla="*/ 0 w 40176"/>
              <a:gd name="T77" fmla="*/ 1119 h 11034"/>
              <a:gd name="T78" fmla="*/ 0 w 40176"/>
              <a:gd name="T79" fmla="*/ 1254 h 11034"/>
              <a:gd name="T80" fmla="*/ 0 w 40176"/>
              <a:gd name="T81" fmla="*/ 1077 h 11034"/>
              <a:gd name="T82" fmla="*/ 40176 w 40176"/>
              <a:gd name="T83" fmla="*/ 1077 h 11034"/>
              <a:gd name="T84" fmla="*/ 40176 w 40176"/>
              <a:gd name="T85" fmla="*/ 959 h 11034"/>
              <a:gd name="T86" fmla="*/ 0 w 40176"/>
              <a:gd name="T87" fmla="*/ 959 h 11034"/>
              <a:gd name="T88" fmla="*/ 0 w 40176"/>
              <a:gd name="T89" fmla="*/ 1077 h 1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0176" h="11034">
                <a:moveTo>
                  <a:pt x="0" y="727"/>
                </a:moveTo>
                <a:lnTo>
                  <a:pt x="40176" y="727"/>
                </a:lnTo>
                <a:lnTo>
                  <a:pt x="40176" y="640"/>
                </a:lnTo>
                <a:lnTo>
                  <a:pt x="0" y="640"/>
                </a:lnTo>
                <a:lnTo>
                  <a:pt x="0" y="727"/>
                </a:lnTo>
                <a:close/>
                <a:moveTo>
                  <a:pt x="0" y="552"/>
                </a:moveTo>
                <a:lnTo>
                  <a:pt x="40176" y="552"/>
                </a:lnTo>
                <a:lnTo>
                  <a:pt x="40176" y="479"/>
                </a:lnTo>
                <a:lnTo>
                  <a:pt x="0" y="479"/>
                </a:lnTo>
                <a:lnTo>
                  <a:pt x="0" y="552"/>
                </a:lnTo>
                <a:close/>
                <a:moveTo>
                  <a:pt x="0" y="200"/>
                </a:moveTo>
                <a:lnTo>
                  <a:pt x="40176" y="200"/>
                </a:lnTo>
                <a:lnTo>
                  <a:pt x="40176" y="160"/>
                </a:lnTo>
                <a:lnTo>
                  <a:pt x="0" y="160"/>
                </a:lnTo>
                <a:lnTo>
                  <a:pt x="0" y="200"/>
                </a:lnTo>
                <a:close/>
                <a:moveTo>
                  <a:pt x="0" y="378"/>
                </a:moveTo>
                <a:lnTo>
                  <a:pt x="40176" y="378"/>
                </a:lnTo>
                <a:lnTo>
                  <a:pt x="40176" y="321"/>
                </a:lnTo>
                <a:lnTo>
                  <a:pt x="0" y="321"/>
                </a:lnTo>
                <a:lnTo>
                  <a:pt x="0" y="378"/>
                </a:lnTo>
                <a:close/>
                <a:moveTo>
                  <a:pt x="0" y="902"/>
                </a:moveTo>
                <a:lnTo>
                  <a:pt x="40176" y="902"/>
                </a:lnTo>
                <a:lnTo>
                  <a:pt x="40176" y="800"/>
                </a:lnTo>
                <a:lnTo>
                  <a:pt x="0" y="800"/>
                </a:lnTo>
                <a:lnTo>
                  <a:pt x="0" y="902"/>
                </a:lnTo>
                <a:close/>
                <a:moveTo>
                  <a:pt x="40176" y="26"/>
                </a:moveTo>
                <a:lnTo>
                  <a:pt x="40176" y="0"/>
                </a:lnTo>
                <a:lnTo>
                  <a:pt x="0" y="0"/>
                </a:lnTo>
                <a:lnTo>
                  <a:pt x="0" y="26"/>
                </a:lnTo>
                <a:lnTo>
                  <a:pt x="40176" y="26"/>
                </a:lnTo>
                <a:close/>
                <a:moveTo>
                  <a:pt x="0" y="1278"/>
                </a:moveTo>
                <a:lnTo>
                  <a:pt x="0" y="11034"/>
                </a:lnTo>
                <a:lnTo>
                  <a:pt x="40176" y="11034"/>
                </a:lnTo>
                <a:lnTo>
                  <a:pt x="40176" y="1278"/>
                </a:lnTo>
                <a:lnTo>
                  <a:pt x="0" y="1278"/>
                </a:lnTo>
                <a:close/>
                <a:moveTo>
                  <a:pt x="0" y="1254"/>
                </a:moveTo>
                <a:lnTo>
                  <a:pt x="40176" y="1254"/>
                </a:lnTo>
                <a:lnTo>
                  <a:pt x="40176" y="1119"/>
                </a:lnTo>
                <a:lnTo>
                  <a:pt x="0" y="1119"/>
                </a:lnTo>
                <a:lnTo>
                  <a:pt x="0" y="1254"/>
                </a:lnTo>
                <a:close/>
                <a:moveTo>
                  <a:pt x="0" y="1077"/>
                </a:moveTo>
                <a:lnTo>
                  <a:pt x="40176" y="1077"/>
                </a:lnTo>
                <a:lnTo>
                  <a:pt x="40176" y="959"/>
                </a:lnTo>
                <a:lnTo>
                  <a:pt x="0" y="959"/>
                </a:lnTo>
                <a:lnTo>
                  <a:pt x="0" y="1077"/>
                </a:lnTo>
                <a:close/>
              </a:path>
            </a:pathLst>
          </a:custGeom>
          <a:solidFill>
            <a:srgbClr val="009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AU" sz="2400"/>
          </a:p>
        </p:txBody>
      </p:sp>
      <p:sp>
        <p:nvSpPr>
          <p:cNvPr id="2" name="Title 1" descr="&lt;mode=4x3&gt;&#10;&lt;size&gt;h=73.46937;w=550.4503&lt;size/&gt;&#10;&lt;pos&gt;top=378.3067;left=40.24362&lt;pos/&gt;&#10;&lt;mode/&gt;&#10;&lt;mode=16x9&gt;&#10;&lt;size&gt;h=52.64488;w=550.4503&lt;size/&gt;&#10;&lt;pos&gt;top=282.9802;left=41.55598&lt;pos/&gt;&#10;&lt;mode/&gt;"/>
          <p:cNvSpPr>
            <a:spLocks noGrp="1"/>
          </p:cNvSpPr>
          <p:nvPr userDrawn="1">
            <p:ph type="ctrTitle" hasCustomPrompt="1"/>
          </p:nvPr>
        </p:nvSpPr>
        <p:spPr>
          <a:xfrm>
            <a:off x="703682" y="4791798"/>
            <a:ext cx="9320959" cy="891453"/>
          </a:xfrm>
        </p:spPr>
        <p:txBody>
          <a:bodyPr anchor="t" anchorCtr="0"/>
          <a:lstStyle>
            <a:lvl1pPr algn="l">
              <a:lnSpc>
                <a:spcPct val="102000"/>
              </a:lnSpc>
              <a:defRPr sz="2067" b="1">
                <a:solidFill>
                  <a:schemeClr val="bg1"/>
                </a:solidFill>
              </a:defRPr>
            </a:lvl1pPr>
          </a:lstStyle>
          <a:p>
            <a:r>
              <a:rPr lang="en-US"/>
              <a:t>Click </a:t>
            </a:r>
            <a:r>
              <a:rPr lang="en-US" dirty="0"/>
              <a:t>to enter heading</a:t>
            </a:r>
            <a:endParaRPr lang="en-AU" dirty="0"/>
          </a:p>
        </p:txBody>
      </p:sp>
      <p:sp>
        <p:nvSpPr>
          <p:cNvPr id="3" name="Subtitle 2" descr="&lt;mode=4x3&gt;&#10;&lt;size&gt;h=82.04567;w=550.2856&lt;size/&gt;&#10;&lt;pos&gt;top=456.9643;left=41.14291&lt;pos/&gt;&#10;&lt;mode/&gt;&#10;&lt;mode=16x9&gt;&#10;&lt;size&gt;h=61.53425;w=550.2856&lt;size/&gt;&#10;&lt;pos&gt;top=336.3489;left=43.01772&lt;pos/&gt;&#10;&lt;mode/&gt;"/>
          <p:cNvSpPr>
            <a:spLocks noGrp="1"/>
          </p:cNvSpPr>
          <p:nvPr userDrawn="1">
            <p:ph type="subTitle" idx="1" hasCustomPrompt="1"/>
          </p:nvPr>
        </p:nvSpPr>
        <p:spPr>
          <a:xfrm>
            <a:off x="728434" y="5695509"/>
            <a:ext cx="9318169" cy="1041980"/>
          </a:xfrm>
        </p:spPr>
        <p:txBody>
          <a:bodyPr anchor="t" anchorCtr="0"/>
          <a:lstStyle>
            <a:lvl1pPr marL="0" indent="0" algn="l">
              <a:lnSpc>
                <a:spcPct val="113000"/>
              </a:lnSpc>
              <a:spcBef>
                <a:spcPts val="0"/>
              </a:spcBef>
              <a:spcAft>
                <a:spcPts val="0"/>
              </a:spcAft>
              <a:buNone/>
              <a:defRPr sz="1600" b="0" spc="27" baseline="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a:t>
            </a:r>
            <a:r>
              <a:rPr lang="en-US" dirty="0"/>
              <a:t>to enter subheading</a:t>
            </a:r>
            <a:endParaRPr lang="en-AU" dirty="0"/>
          </a:p>
        </p:txBody>
      </p:sp>
    </p:spTree>
    <p:extLst>
      <p:ext uri="{BB962C8B-B14F-4D97-AF65-F5344CB8AC3E}">
        <p14:creationId xmlns:p14="http://schemas.microsoft.com/office/powerpoint/2010/main" val="3141471847"/>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3" name="Title 2" descr="&lt;mode=4x3&gt;&#10;&lt;size&gt;h=55.27275;w=648&lt;size/&gt;&#10;&lt;pos&gt;top=0;left=40.59591&lt;pos/&gt;&#10;&lt;mode/&gt;&lt;mode=16x9&gt;&#10;&lt;size&gt;h=47.06252;w=613.7008&lt;size/&gt;&#10;&lt;pos&gt;top=0;left=29.25&lt;pos/&gt;&#10;&lt;mode/&gt;"/>
          <p:cNvSpPr>
            <a:spLocks noGrp="1"/>
          </p:cNvSpPr>
          <p:nvPr>
            <p:ph type="title"/>
          </p:nvPr>
        </p:nvSpPr>
        <p:spPr>
          <a:xfrm>
            <a:off x="495300" y="0"/>
            <a:ext cx="10392000" cy="796925"/>
          </a:xfrm>
        </p:spPr>
        <p:txBody>
          <a:bodyPr/>
          <a:lstStyle>
            <a:lvl1pPr>
              <a:defRPr sz="2067"/>
            </a:lvl1pPr>
          </a:lstStyle>
          <a:p>
            <a:r>
              <a:rPr lang="en-US" dirty="0"/>
              <a:t>Click to edit Master title style</a:t>
            </a:r>
            <a:endParaRPr lang="en-AU" dirty="0"/>
          </a:p>
        </p:txBody>
      </p:sp>
      <p:sp>
        <p:nvSpPr>
          <p:cNvPr id="5" name="Content Placeholder 4" descr="&lt;mode=4x3&gt;&#10;&lt;size&gt;h=403.0866;w=651.9685&lt;size/&gt;&#10;&lt;pos&gt;top=106.8661;left=40.25197&lt;pos/&gt;&#10;&lt;mode/&gt;&#10;&lt;mode=16x9&gt;&#10;&lt;size&gt;h=302.315;w=613.6129&lt;size/&gt;&#10;&lt;pos&gt;top=82.02433;left=29.84512&lt;pos/&gt;&#10;&lt;mode/&gt;"/>
          <p:cNvSpPr>
            <a:spLocks noGrp="1"/>
          </p:cNvSpPr>
          <p:nvPr>
            <p:ph sz="quarter" idx="10"/>
          </p:nvPr>
        </p:nvSpPr>
        <p:spPr>
          <a:xfrm>
            <a:off x="505377" y="1388946"/>
            <a:ext cx="10390512" cy="51192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951058363"/>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ext, Pullout">
    <p:spTree>
      <p:nvGrpSpPr>
        <p:cNvPr id="1" name=""/>
        <p:cNvGrpSpPr/>
        <p:nvPr/>
      </p:nvGrpSpPr>
      <p:grpSpPr>
        <a:xfrm>
          <a:off x="0" y="0"/>
          <a:ext cx="0" cy="0"/>
          <a:chOff x="0" y="0"/>
          <a:chExt cx="0" cy="0"/>
        </a:xfrm>
      </p:grpSpPr>
      <p:sp>
        <p:nvSpPr>
          <p:cNvPr id="2" name="Title 1" descr="&#10;&lt;mode=4x3&gt;&#10;&lt;size&gt;h=55.27275;w=648&lt;size/&gt;&#10;&lt;pos&gt;top=0;left=40.59591&lt;pos/&gt;&#10;&lt;mode/&gt;&lt;mode=16x9&gt;&#10;&lt;size&gt;h=47.06252;w=613.7008&lt;size/&gt;&#10;&lt;pos&gt;top=0;left=29.25&lt;pos/&gt;&#10;&lt;mode/&gt;"/>
          <p:cNvSpPr>
            <a:spLocks noGrp="1"/>
          </p:cNvSpPr>
          <p:nvPr>
            <p:ph type="title"/>
          </p:nvPr>
        </p:nvSpPr>
        <p:spPr>
          <a:xfrm>
            <a:off x="495300" y="0"/>
            <a:ext cx="10392000" cy="796925"/>
          </a:xfrm>
        </p:spPr>
        <p:txBody>
          <a:bodyPr/>
          <a:lstStyle>
            <a:lvl1pPr>
              <a:defRPr sz="2067"/>
            </a:lvl1pPr>
          </a:lstStyle>
          <a:p>
            <a:r>
              <a:rPr lang="en-US" dirty="0"/>
              <a:t>Click to edit Master title style</a:t>
            </a:r>
            <a:endParaRPr lang="en-AU" dirty="0"/>
          </a:p>
        </p:txBody>
      </p:sp>
      <p:sp>
        <p:nvSpPr>
          <p:cNvPr id="5" name="logo_placeholder_text" descr="&lt;mode=4x3&gt;&#10;&lt;size&gt;h=96.85228;w=633.4374&lt;size/&gt;&#10;&lt;pos&gt;top=312.3921;left=42.36378&lt;pos/&gt;&#10;&lt;mode/&gt;&#10;&lt;mode=16x9&gt;&#10;&lt;size&gt;h=100.6026;w=613.7008&lt;size/&gt;&#10;&lt;pos&gt;top=249.8348;left=31.37843&lt;pos/&gt;&#10;&lt;mode/&gt;"/>
          <p:cNvSpPr>
            <a:spLocks noGrp="1"/>
          </p:cNvSpPr>
          <p:nvPr>
            <p:ph type="body" sz="quarter" idx="11" hasCustomPrompt="1"/>
          </p:nvPr>
        </p:nvSpPr>
        <p:spPr bwMode="gray">
          <a:xfrm>
            <a:off x="531341" y="4230537"/>
            <a:ext cx="10392000" cy="1703537"/>
          </a:xfrm>
          <a:solidFill>
            <a:srgbClr val="CCEAE5"/>
          </a:solidFill>
          <a:ln>
            <a:noFill/>
          </a:ln>
          <a:effectLst/>
        </p:spPr>
        <p:txBody>
          <a:bodyPr lIns="216000" tIns="151200" rIns="216000" bIns="216000"/>
          <a:lstStyle>
            <a:lvl1pPr marL="0" indent="0">
              <a:buFontTx/>
              <a:buNone/>
              <a:defRPr lang="en-US" kern="1200" smtClean="0">
                <a:solidFill>
                  <a:schemeClr val="tx2"/>
                </a:solidFill>
                <a:latin typeface="Verdana" pitchFamily="34" charset="0"/>
                <a:cs typeface="Arial" charset="0"/>
              </a:defRPr>
            </a:lvl1pPr>
            <a:lvl2pPr>
              <a:defRPr lang="en-US" sz="1800" kern="1200" smtClean="0">
                <a:solidFill>
                  <a:schemeClr val="tx2"/>
                </a:solidFill>
                <a:latin typeface="Verdana" pitchFamily="34" charset="0"/>
                <a:ea typeface="+mn-ea"/>
                <a:cs typeface="Arial" charset="0"/>
              </a:defRPr>
            </a:lvl2pPr>
            <a:lvl3pPr>
              <a:defRPr lang="en-US" kern="1200" smtClean="0">
                <a:latin typeface="Verdana" pitchFamily="34" charset="0"/>
                <a:ea typeface="+mn-ea"/>
                <a:cs typeface="Arial" charset="0"/>
              </a:defRPr>
            </a:lvl3pPr>
            <a:lvl4pPr>
              <a:defRPr lang="en-US" kern="1200" smtClean="0">
                <a:latin typeface="Verdana" pitchFamily="34" charset="0"/>
                <a:ea typeface="+mn-ea"/>
                <a:cs typeface="Arial" charset="0"/>
              </a:defRPr>
            </a:lvl4pPr>
            <a:lvl5pPr>
              <a:defRPr lang="en-AU" kern="1200">
                <a:latin typeface="Verdana" pitchFamily="34" charset="0"/>
                <a:ea typeface="+mn-ea"/>
                <a:cs typeface="Arial" charset="0"/>
              </a:defRPr>
            </a:lvl5pPr>
          </a:lstStyle>
          <a:p>
            <a:pPr lvl="1">
              <a:spcBef>
                <a:spcPct val="58000"/>
              </a:spcBef>
              <a:spcAft>
                <a:spcPct val="30000"/>
              </a:spcAft>
            </a:pPr>
            <a:r>
              <a:rPr lang="en-US" dirty="0"/>
              <a:t>Click to edit Master text styles </a:t>
            </a:r>
          </a:p>
        </p:txBody>
      </p:sp>
      <p:sp>
        <p:nvSpPr>
          <p:cNvPr id="6" name="Content Placeholder 3" descr="&lt;mode=4x3&gt;&#10;&lt;size&gt;h=192.7702;w=651.9685&lt;size/&gt;&#10;&lt;pos&gt;top=106.8661;left=40.25197&lt;pos/&gt;&#10;&lt;mode/&gt;&lt;mode=16x9&gt;&#10;&lt;size&gt;h=158.375;w=613.7008&lt;size/&gt;&#10;&lt;pos&gt;top=81.87504;left=29.48031&lt;pos/&gt;&#10;&lt;mode/&gt;"/>
          <p:cNvSpPr>
            <a:spLocks noGrp="1"/>
          </p:cNvSpPr>
          <p:nvPr>
            <p:ph sz="quarter" idx="10"/>
          </p:nvPr>
        </p:nvSpPr>
        <p:spPr>
          <a:xfrm>
            <a:off x="499200" y="1386418"/>
            <a:ext cx="10392000" cy="26818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252062995"/>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Text, Chart/Picture A">
    <p:spTree>
      <p:nvGrpSpPr>
        <p:cNvPr id="1" name=""/>
        <p:cNvGrpSpPr/>
        <p:nvPr/>
      </p:nvGrpSpPr>
      <p:grpSpPr>
        <a:xfrm>
          <a:off x="0" y="0"/>
          <a:ext cx="0" cy="0"/>
          <a:chOff x="0" y="0"/>
          <a:chExt cx="0" cy="0"/>
        </a:xfrm>
      </p:grpSpPr>
      <p:sp>
        <p:nvSpPr>
          <p:cNvPr id="2" name="Title 1" descr="&lt;mode=4x3&gt;&#10;&lt;size&gt;h=55.27275;w=648&lt;size/&gt;&#10;&lt;pos&gt;top=0;left=40.59591&lt;pos/&gt;&#10;&lt;mode/&gt;&lt;mode=16x9&gt;&#10;&lt;size&gt;h=47.06252;w=613.7008&lt;size/&gt;&#10;&lt;pos&gt;top=0;left=29.25&lt;pos/&gt;&#10;&lt;mode/&gt;"/>
          <p:cNvSpPr>
            <a:spLocks noGrp="1"/>
          </p:cNvSpPr>
          <p:nvPr>
            <p:ph type="title"/>
          </p:nvPr>
        </p:nvSpPr>
        <p:spPr>
          <a:xfrm>
            <a:off x="495300" y="0"/>
            <a:ext cx="10392000" cy="796925"/>
          </a:xfrm>
        </p:spPr>
        <p:txBody>
          <a:bodyPr/>
          <a:lstStyle/>
          <a:p>
            <a:r>
              <a:rPr lang="en-US" dirty="0"/>
              <a:t>Click to edit Master title style</a:t>
            </a:r>
            <a:endParaRPr lang="en-AU" dirty="0"/>
          </a:p>
        </p:txBody>
      </p:sp>
      <p:sp>
        <p:nvSpPr>
          <p:cNvPr id="4" name="Content Placeholder 3" descr="&lt;mode=4x3&gt;&#10;&lt;size&gt;h=403.0866;w=319.748&lt;size/&gt;&#10;&lt;pos&gt;top=106.8661;left=40.25197&lt;pos/&gt;&#10;&lt;mode/&gt;&#10;&lt;mode=16x9&gt;&#10;&lt;size&gt;h=302.315;w=319.748&lt;size/&gt;&#10;&lt;pos&gt;top=81.92126;left=29.76378&lt;pos/&gt;&#10;&lt;mode/&gt;"/>
          <p:cNvSpPr>
            <a:spLocks noGrp="1"/>
          </p:cNvSpPr>
          <p:nvPr>
            <p:ph sz="quarter" idx="10"/>
          </p:nvPr>
        </p:nvSpPr>
        <p:spPr>
          <a:xfrm>
            <a:off x="504001" y="1387201"/>
            <a:ext cx="5414399" cy="5119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Picture Placeholder 5" descr="&lt;mode=4x3&gt;&#10;&lt;size&gt;h=403.3776;w=309.3469&lt;size/&gt;&#10;&lt;pos&gt;top=106.5;left=382.0001&lt;pos/&gt;&#10;&lt;mode/&gt;&#10;&lt;mode=16x9&gt;&#10;&lt;size&gt;h=302.5331;w=309.3469&lt;size/&gt;&#10;&lt;pos&gt;top=79.87559;left=382.0001&lt;pos/&gt;&#10;&lt;mode/&gt;"/>
          <p:cNvSpPr>
            <a:spLocks noGrp="1"/>
          </p:cNvSpPr>
          <p:nvPr>
            <p:ph type="pic" sz="quarter" idx="11"/>
          </p:nvPr>
        </p:nvSpPr>
        <p:spPr bwMode="gray">
          <a:xfrm>
            <a:off x="6468535" y="1352560"/>
            <a:ext cx="5238275" cy="5122895"/>
          </a:xfrm>
          <a:solidFill>
            <a:schemeClr val="bg1">
              <a:lumMod val="85000"/>
            </a:schemeClr>
          </a:solidFill>
        </p:spPr>
        <p:txBody>
          <a:bodyPr/>
          <a:lstStyle>
            <a:lvl1pPr algn="ctr">
              <a:defRPr sz="1867" b="0"/>
            </a:lvl1pPr>
          </a:lstStyle>
          <a:p>
            <a:endParaRPr lang="en-AU"/>
          </a:p>
        </p:txBody>
      </p:sp>
    </p:spTree>
    <p:extLst>
      <p:ext uri="{BB962C8B-B14F-4D97-AF65-F5344CB8AC3E}">
        <p14:creationId xmlns:p14="http://schemas.microsoft.com/office/powerpoint/2010/main" val="1253235521"/>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Text, Picture B">
    <p:spTree>
      <p:nvGrpSpPr>
        <p:cNvPr id="1" name=""/>
        <p:cNvGrpSpPr/>
        <p:nvPr/>
      </p:nvGrpSpPr>
      <p:grpSpPr>
        <a:xfrm>
          <a:off x="0" y="0"/>
          <a:ext cx="0" cy="0"/>
          <a:chOff x="0" y="0"/>
          <a:chExt cx="0" cy="0"/>
        </a:xfrm>
      </p:grpSpPr>
      <p:sp>
        <p:nvSpPr>
          <p:cNvPr id="4" name="Content Placeholder 3" descr="&lt;mode=4x3&gt;&#10;&lt;size&gt;h=403.0866;w=319.748&lt;size/&gt;&#10;&lt;pos&gt;top=106.8661;left=40.25197&lt;pos/&gt;&#10;&lt;mode/&gt;&#10;&lt;mode=16x9&gt;&#10;&lt;size&gt;h=302.315;w=319.748&lt;size/&gt;&#10;&lt;pos&gt;top=81.92126;left=29.76378&lt;pos/&gt;&#10;&lt;mode/&gt;"/>
          <p:cNvSpPr>
            <a:spLocks noGrp="1"/>
          </p:cNvSpPr>
          <p:nvPr>
            <p:ph sz="quarter" idx="10"/>
          </p:nvPr>
        </p:nvSpPr>
        <p:spPr>
          <a:xfrm>
            <a:off x="504001" y="1387201"/>
            <a:ext cx="5414399" cy="5119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Picture Placeholder 5" descr="&lt;mode=4x3&gt;&#10;&lt;size&gt;h=339.4286;w=304.8979&lt;size/&gt;&#10;&lt;pos&gt;top=112.4081;left=371.0205&lt;pos/&gt;&#10;&lt;mode/&gt;&#10;&lt;mode=16x9&gt;&#10;&lt;size&gt;h=254.5714;w=281.0551&lt;size/&gt;&#10;&lt;pos&gt;top=84.30638;left=401.6842&lt;pos/&gt;&#10;&lt;mode/&gt;"/>
          <p:cNvSpPr>
            <a:spLocks noGrp="1"/>
          </p:cNvSpPr>
          <p:nvPr>
            <p:ph type="pic" sz="quarter" idx="11"/>
          </p:nvPr>
        </p:nvSpPr>
        <p:spPr bwMode="gray">
          <a:xfrm>
            <a:off x="6801852" y="1427589"/>
            <a:ext cx="4759200" cy="4310743"/>
          </a:xfrm>
          <a:solidFill>
            <a:schemeClr val="bg1">
              <a:lumMod val="85000"/>
            </a:schemeClr>
          </a:solidFill>
        </p:spPr>
        <p:txBody>
          <a:bodyPr/>
          <a:lstStyle>
            <a:lvl1pPr algn="ctr">
              <a:defRPr sz="1867" b="0"/>
            </a:lvl1pPr>
          </a:lstStyle>
          <a:p>
            <a:endParaRPr lang="en-AU"/>
          </a:p>
        </p:txBody>
      </p:sp>
      <p:sp>
        <p:nvSpPr>
          <p:cNvPr id="3" name="Title 2" descr="&lt;mode=4x3&gt;&#10;&lt;size&gt;h=55.27275;w=648&lt;size/&gt;&#10;&lt;pos&gt;top=0;left=40.59591&lt;pos/&gt;&#10;&lt;mode/&gt;&lt;mode=16x9&gt;&#10;&lt;size&gt;h=47.06252;w=613.7008&lt;size/&gt;&#10;&lt;pos&gt;top=0;left=29.25&lt;pos/&gt;&#10;&lt;mode/&gt;"/>
          <p:cNvSpPr>
            <a:spLocks noGrp="1"/>
          </p:cNvSpPr>
          <p:nvPr>
            <p:ph type="title"/>
          </p:nvPr>
        </p:nvSpPr>
        <p:spPr>
          <a:xfrm>
            <a:off x="495300" y="0"/>
            <a:ext cx="10392000" cy="796925"/>
          </a:xfrm>
        </p:spPr>
        <p:txBody>
          <a:bodyPr/>
          <a:lstStyle>
            <a:lvl1pPr>
              <a:defRPr sz="2067"/>
            </a:lvl1pPr>
          </a:lstStyle>
          <a:p>
            <a:r>
              <a:rPr lang="en-US"/>
              <a:t>Click to edit Master title style</a:t>
            </a:r>
            <a:endParaRPr lang="en-AU"/>
          </a:p>
        </p:txBody>
      </p:sp>
    </p:spTree>
    <p:extLst>
      <p:ext uri="{BB962C8B-B14F-4D97-AF65-F5344CB8AC3E}">
        <p14:creationId xmlns:p14="http://schemas.microsoft.com/office/powerpoint/2010/main" val="2923176687"/>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2 Colums Text">
    <p:spTree>
      <p:nvGrpSpPr>
        <p:cNvPr id="1" name=""/>
        <p:cNvGrpSpPr/>
        <p:nvPr/>
      </p:nvGrpSpPr>
      <p:grpSpPr>
        <a:xfrm>
          <a:off x="0" y="0"/>
          <a:ext cx="0" cy="0"/>
          <a:chOff x="0" y="0"/>
          <a:chExt cx="0" cy="0"/>
        </a:xfrm>
      </p:grpSpPr>
      <p:sp>
        <p:nvSpPr>
          <p:cNvPr id="2" name="Title 1" descr="mode=4x3&gt;&#10;&lt;size&gt;h=55.27275;w=648&lt;size/&gt;&#10;&lt;pos&gt;top=0;left=40.59591&lt;pos/&gt;&#10;&lt;mode/&gt;&lt;mode=16x9&gt;&#10;&lt;size&gt;h=47.06252;w=613.7008&lt;size/&gt;&#10;&lt;pos&gt;top=0;left=29.25&lt;pos/&gt;&#10;&lt;mode/&gt;"/>
          <p:cNvSpPr>
            <a:spLocks noGrp="1"/>
          </p:cNvSpPr>
          <p:nvPr>
            <p:ph type="title"/>
          </p:nvPr>
        </p:nvSpPr>
        <p:spPr>
          <a:xfrm>
            <a:off x="495300" y="0"/>
            <a:ext cx="10392000" cy="796925"/>
          </a:xfrm>
        </p:spPr>
        <p:txBody>
          <a:bodyPr/>
          <a:lstStyle>
            <a:lvl1pPr>
              <a:defRPr sz="2067"/>
            </a:lvl1pPr>
          </a:lstStyle>
          <a:p>
            <a:r>
              <a:rPr lang="en-US"/>
              <a:t>Click to edit Master title style</a:t>
            </a:r>
            <a:endParaRPr lang="en-AU"/>
          </a:p>
        </p:txBody>
      </p:sp>
      <p:sp>
        <p:nvSpPr>
          <p:cNvPr id="4" name="Content Placeholder 3" descr="&lt;mode=4x3&gt;&#10;&lt;size&gt;h=403.0866;w=319.748&lt;size/&gt;&#10;&lt;pos&gt;top=106.8661;left=40.25197&lt;pos/&gt;&#10;&lt;mode/&gt;&#10;&lt;mode=16x9&gt;&#10;&lt;size&gt;h=302.315;w=319.748&lt;size/&gt;&#10;&lt;pos&gt;top=81.92126;left=29.76378&lt;pos/&gt;&#10;&lt;mode/&gt;"/>
          <p:cNvSpPr>
            <a:spLocks noGrp="1"/>
          </p:cNvSpPr>
          <p:nvPr>
            <p:ph sz="quarter" idx="10"/>
          </p:nvPr>
        </p:nvSpPr>
        <p:spPr>
          <a:xfrm>
            <a:off x="504001" y="1387201"/>
            <a:ext cx="5414399" cy="51192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Content Placeholder 5" descr="&lt;mode=4x3&gt;&#10;&lt;size&gt;h=403.0866;w=312.273&lt;size/&gt;&#10;&lt;pos&gt;top=106.8661;left=379.1021&lt;pos/&gt;&#10;&lt;mode/&gt;&#10;&lt;mode=16x9&gt;&#10;&lt;size&gt;h=302.315;w=319.748&lt;size/&gt;&#10;&lt;pos&gt;top=81.92126;left=363.9447&lt;pos/&gt;&#10;&lt;mode/&gt;"/>
          <p:cNvSpPr>
            <a:spLocks noGrp="1"/>
          </p:cNvSpPr>
          <p:nvPr>
            <p:ph sz="quarter" idx="11"/>
          </p:nvPr>
        </p:nvSpPr>
        <p:spPr>
          <a:xfrm>
            <a:off x="6162798" y="1387201"/>
            <a:ext cx="5414399" cy="5119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82817816"/>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Image, 2 Columns Text">
    <p:bg bwMode="gray">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7" name="Rectangle 6" descr="&lt;mode=4x3&gt;&#10;&lt;size&gt;h=198.3673;w=720&lt;size/&gt;&#10;&lt;pos&gt;top=341.6327;left=0&lt;pos/&gt;&#10;&lt;mode/&gt;&#10;&lt;mode=16x9&gt;&#10;&lt;size&gt;h=148.7755;w=720&lt;size/&gt;&#10;&lt;pos&gt;top=256.2276;left=0&lt;pos/&gt;&#10;&lt;mode/&gt;"/>
          <p:cNvSpPr/>
          <p:nvPr userDrawn="1"/>
        </p:nvSpPr>
        <p:spPr bwMode="white">
          <a:xfrm>
            <a:off x="0" y="4338789"/>
            <a:ext cx="12192000" cy="25192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2" name="Title 1" descr="mode=4x3&gt;&#10;&lt;size&gt;h=55.27275;w=648&lt;size/&gt;&#10;&lt;pos&gt;top=0;left=40.59591&lt;pos/&gt;&#10;&lt;mode/&gt;&lt;mode=16x9&gt;&#10;&lt;size&gt;h=47.06252;w=613.7008&lt;size/&gt;&#10;&lt;pos&gt;top=0;left=29.25&lt;pos/&gt;&#10;&lt;mode/&gt;"/>
          <p:cNvSpPr>
            <a:spLocks noGrp="1"/>
          </p:cNvSpPr>
          <p:nvPr>
            <p:ph type="title"/>
          </p:nvPr>
        </p:nvSpPr>
        <p:spPr>
          <a:xfrm>
            <a:off x="495300" y="0"/>
            <a:ext cx="10392000" cy="796925"/>
          </a:xfrm>
        </p:spPr>
        <p:txBody>
          <a:bodyPr/>
          <a:lstStyle>
            <a:lvl1pPr>
              <a:defRPr sz="2067"/>
            </a:lvl1pPr>
          </a:lstStyle>
          <a:p>
            <a:r>
              <a:rPr lang="en-US" dirty="0"/>
              <a:t>Click to edit Master title style</a:t>
            </a:r>
            <a:endParaRPr lang="en-AU" dirty="0"/>
          </a:p>
        </p:txBody>
      </p:sp>
      <p:sp>
        <p:nvSpPr>
          <p:cNvPr id="4" name="Content Placeholder 3" descr="&lt;mode=4x3&gt;&#10;&lt;size&gt;h=150.6875;w=312.378&lt;size/&gt;&#10;&lt;pos&gt;top=359.2652;left=40.25197&lt;pos/&gt;&#10;&lt;mode/&gt;&#10;&lt;mode=16x9&gt;&#10;&lt;size&gt;h=113.0156;w=319.748&lt;size/&gt;&#10;&lt;pos&gt;top=269.449;left=29.76378&lt;pos/&gt;&#10;&lt;mode/&gt;"/>
          <p:cNvSpPr>
            <a:spLocks noGrp="1"/>
          </p:cNvSpPr>
          <p:nvPr>
            <p:ph sz="quarter" idx="10"/>
          </p:nvPr>
        </p:nvSpPr>
        <p:spPr>
          <a:xfrm>
            <a:off x="504001" y="4562669"/>
            <a:ext cx="5414399" cy="191373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Content Placeholder 5" descr="&lt;mode=4x3&gt;&#10;&lt;size&gt;h=150.8031;w=312.273&lt;size/&gt;&#10;&lt;pos&gt;top=359.1496;left=379.1021&lt;pos/&gt;&#10;&lt;mode/&gt;&#10;&lt;mode=16x9&gt;&#10;&lt;size&gt;h=113.1024;w=319.748&lt;size/&gt;&#10;&lt;pos&gt;top=269.3622;left=363.9685&lt;pos/&gt;&#10;&lt;mode/&gt;"/>
          <p:cNvSpPr>
            <a:spLocks noGrp="1"/>
          </p:cNvSpPr>
          <p:nvPr>
            <p:ph sz="quarter" idx="11"/>
          </p:nvPr>
        </p:nvSpPr>
        <p:spPr>
          <a:xfrm>
            <a:off x="6163201" y="4561201"/>
            <a:ext cx="5414399" cy="1915201"/>
          </a:xfrm>
        </p:spPr>
        <p:txBody>
          <a:bodyPr/>
          <a:lstStyle>
            <a:lvl2pPr>
              <a:defRPr baseline="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007442888"/>
      </p:ext>
    </p:extLst>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descr="mode=4x3&gt;&#10;&lt;size&gt;h=55.27275;w=648&lt;size/&gt;&#10;&lt;pos&gt;top=0;left=40.59591&lt;pos/&gt;&#10;&lt;mode/&gt;&lt;mode=16x9&gt;&#10;&lt;size&gt;h=47.06252;w=613.7008&lt;size/&gt;&#10;&lt;pos&gt;top=0;left=29.25&lt;pos/&gt;&#10;&lt;mode/&gt;"/>
          <p:cNvSpPr>
            <a:spLocks noGrp="1"/>
          </p:cNvSpPr>
          <p:nvPr>
            <p:ph type="title"/>
          </p:nvPr>
        </p:nvSpPr>
        <p:spPr>
          <a:xfrm>
            <a:off x="495300" y="0"/>
            <a:ext cx="10392000" cy="796925"/>
          </a:xfrm>
        </p:spPr>
        <p:txBody>
          <a:bodyPr/>
          <a:lstStyle>
            <a:lvl1pPr>
              <a:defRPr sz="2067"/>
            </a:lvl1pPr>
          </a:lstStyle>
          <a:p>
            <a:r>
              <a:rPr lang="en-US" dirty="0"/>
              <a:t>Click to edit Master title style</a:t>
            </a:r>
            <a:endParaRPr lang="en-AU" dirty="0"/>
          </a:p>
        </p:txBody>
      </p:sp>
      <p:sp>
        <p:nvSpPr>
          <p:cNvPr id="5" name="AutoShape 3"/>
          <p:cNvSpPr>
            <a:spLocks noChangeAspect="1" noChangeArrowheads="1" noTextEdit="1"/>
          </p:cNvSpPr>
          <p:nvPr userDrawn="1"/>
        </p:nvSpPr>
        <p:spPr bwMode="auto">
          <a:xfrm>
            <a:off x="2027768" y="6251594"/>
            <a:ext cx="840317" cy="361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GB" sz="2400"/>
          </a:p>
        </p:txBody>
      </p:sp>
    </p:spTree>
    <p:extLst>
      <p:ext uri="{BB962C8B-B14F-4D97-AF65-F5344CB8AC3E}">
        <p14:creationId xmlns:p14="http://schemas.microsoft.com/office/powerpoint/2010/main" val="1981489368"/>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2" name="logo_ripples_bar_top-4x3" descr="&lt;mode=4x3&gt;&#10;&lt;size&gt;h=80.45661;w=720&lt;size/&gt;&#10;&lt;pos&gt;top=-0.5624409;left=0&lt;pos/&gt;&#10;&lt;mode/&gt;&#10;&lt;mode=16x9&gt;&#10;&lt;size&gt;h=80.45661;w=720&lt;size/&gt;&#10;&lt;pos&gt;top=-0;left=0&lt;pos/&gt;&#10;&lt;mode/&gt;" hidden="1"/>
          <p:cNvGrpSpPr/>
          <p:nvPr userDrawn="1"/>
        </p:nvGrpSpPr>
        <p:grpSpPr>
          <a:xfrm>
            <a:off x="0" y="1"/>
            <a:ext cx="12192000" cy="1362399"/>
            <a:chOff x="0" y="0"/>
            <a:chExt cx="9144000" cy="1021799"/>
          </a:xfrm>
        </p:grpSpPr>
        <p:sp>
          <p:nvSpPr>
            <p:cNvPr id="13" name="base_bar" hidden="1"/>
            <p:cNvSpPr/>
            <p:nvPr userDrawn="1"/>
          </p:nvSpPr>
          <p:spPr bwMode="ltGray">
            <a:xfrm>
              <a:off x="0" y="7810"/>
              <a:ext cx="9144000" cy="1013989"/>
            </a:xfrm>
            <a:prstGeom prst="rect">
              <a:avLst/>
            </a:prstGeom>
            <a:solidFill>
              <a:srgbClr val="0092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solidFill>
                  <a:srgbClr val="FFFFFF"/>
                </a:solidFill>
              </a:endParaRPr>
            </a:p>
          </p:txBody>
        </p:sp>
        <p:sp>
          <p:nvSpPr>
            <p:cNvPr id="14" name="circle_dark" hidden="1"/>
            <p:cNvSpPr>
              <a:spLocks noEditPoints="1"/>
            </p:cNvSpPr>
            <p:nvPr userDrawn="1"/>
          </p:nvSpPr>
          <p:spPr bwMode="ltGray">
            <a:xfrm>
              <a:off x="7263735" y="138112"/>
              <a:ext cx="1168271" cy="881011"/>
            </a:xfrm>
            <a:custGeom>
              <a:avLst/>
              <a:gdLst>
                <a:gd name="T0" fmla="*/ 309 w 366"/>
                <a:gd name="T1" fmla="*/ 278 h 278"/>
                <a:gd name="T2" fmla="*/ 300 w 366"/>
                <a:gd name="T3" fmla="*/ 278 h 278"/>
                <a:gd name="T4" fmla="*/ 296 w 366"/>
                <a:gd name="T5" fmla="*/ 94 h 278"/>
                <a:gd name="T6" fmla="*/ 91 w 366"/>
                <a:gd name="T7" fmla="*/ 78 h 278"/>
                <a:gd name="T8" fmla="*/ 72 w 366"/>
                <a:gd name="T9" fmla="*/ 278 h 278"/>
                <a:gd name="T10" fmla="*/ 62 w 366"/>
                <a:gd name="T11" fmla="*/ 278 h 278"/>
                <a:gd name="T12" fmla="*/ 86 w 366"/>
                <a:gd name="T13" fmla="*/ 72 h 278"/>
                <a:gd name="T14" fmla="*/ 302 w 366"/>
                <a:gd name="T15" fmla="*/ 89 h 278"/>
                <a:gd name="T16" fmla="*/ 309 w 366"/>
                <a:gd name="T17" fmla="*/ 278 h 278"/>
                <a:gd name="T18" fmla="*/ 83 w 366"/>
                <a:gd name="T19" fmla="*/ 68 h 278"/>
                <a:gd name="T20" fmla="*/ 306 w 366"/>
                <a:gd name="T21" fmla="*/ 86 h 278"/>
                <a:gd name="T22" fmla="*/ 316 w 366"/>
                <a:gd name="T23" fmla="*/ 278 h 278"/>
                <a:gd name="T24" fmla="*/ 328 w 366"/>
                <a:gd name="T25" fmla="*/ 278 h 278"/>
                <a:gd name="T26" fmla="*/ 313 w 366"/>
                <a:gd name="T27" fmla="*/ 79 h 278"/>
                <a:gd name="T28" fmla="*/ 76 w 366"/>
                <a:gd name="T29" fmla="*/ 61 h 278"/>
                <a:gd name="T30" fmla="*/ 43 w 366"/>
                <a:gd name="T31" fmla="*/ 278 h 278"/>
                <a:gd name="T32" fmla="*/ 55 w 366"/>
                <a:gd name="T33" fmla="*/ 278 h 278"/>
                <a:gd name="T34" fmla="*/ 83 w 366"/>
                <a:gd name="T35" fmla="*/ 68 h 278"/>
                <a:gd name="T36" fmla="*/ 255 w 366"/>
                <a:gd name="T37" fmla="*/ 269 h 278"/>
                <a:gd name="T38" fmla="*/ 266 w 366"/>
                <a:gd name="T39" fmla="*/ 119 h 278"/>
                <a:gd name="T40" fmla="*/ 117 w 366"/>
                <a:gd name="T41" fmla="*/ 108 h 278"/>
                <a:gd name="T42" fmla="*/ 105 w 366"/>
                <a:gd name="T43" fmla="*/ 257 h 278"/>
                <a:gd name="T44" fmla="*/ 128 w 366"/>
                <a:gd name="T45" fmla="*/ 278 h 278"/>
                <a:gd name="T46" fmla="*/ 243 w 366"/>
                <a:gd name="T47" fmla="*/ 278 h 278"/>
                <a:gd name="T48" fmla="*/ 255 w 366"/>
                <a:gd name="T49" fmla="*/ 269 h 278"/>
                <a:gd name="T50" fmla="*/ 85 w 366"/>
                <a:gd name="T51" fmla="*/ 274 h 278"/>
                <a:gd name="T52" fmla="*/ 100 w 366"/>
                <a:gd name="T53" fmla="*/ 88 h 278"/>
                <a:gd name="T54" fmla="*/ 286 w 366"/>
                <a:gd name="T55" fmla="*/ 103 h 278"/>
                <a:gd name="T56" fmla="*/ 282 w 366"/>
                <a:gd name="T57" fmla="*/ 278 h 278"/>
                <a:gd name="T58" fmla="*/ 290 w 366"/>
                <a:gd name="T59" fmla="*/ 278 h 278"/>
                <a:gd name="T60" fmla="*/ 290 w 366"/>
                <a:gd name="T61" fmla="*/ 99 h 278"/>
                <a:gd name="T62" fmla="*/ 97 w 366"/>
                <a:gd name="T63" fmla="*/ 84 h 278"/>
                <a:gd name="T64" fmla="*/ 81 w 366"/>
                <a:gd name="T65" fmla="*/ 277 h 278"/>
                <a:gd name="T66" fmla="*/ 82 w 366"/>
                <a:gd name="T67" fmla="*/ 278 h 278"/>
                <a:gd name="T68" fmla="*/ 89 w 366"/>
                <a:gd name="T69" fmla="*/ 278 h 278"/>
                <a:gd name="T70" fmla="*/ 85 w 366"/>
                <a:gd name="T71" fmla="*/ 274 h 278"/>
                <a:gd name="T72" fmla="*/ 278 w 366"/>
                <a:gd name="T73" fmla="*/ 109 h 278"/>
                <a:gd name="T74" fmla="*/ 107 w 366"/>
                <a:gd name="T75" fmla="*/ 96 h 278"/>
                <a:gd name="T76" fmla="*/ 93 w 366"/>
                <a:gd name="T77" fmla="*/ 267 h 278"/>
                <a:gd name="T78" fmla="*/ 103 w 366"/>
                <a:gd name="T79" fmla="*/ 278 h 278"/>
                <a:gd name="T80" fmla="*/ 107 w 366"/>
                <a:gd name="T81" fmla="*/ 278 h 278"/>
                <a:gd name="T82" fmla="*/ 95 w 366"/>
                <a:gd name="T83" fmla="*/ 265 h 278"/>
                <a:gd name="T84" fmla="*/ 108 w 366"/>
                <a:gd name="T85" fmla="*/ 98 h 278"/>
                <a:gd name="T86" fmla="*/ 276 w 366"/>
                <a:gd name="T87" fmla="*/ 111 h 278"/>
                <a:gd name="T88" fmla="*/ 264 w 366"/>
                <a:gd name="T89" fmla="*/ 278 h 278"/>
                <a:gd name="T90" fmla="*/ 268 w 366"/>
                <a:gd name="T91" fmla="*/ 278 h 278"/>
                <a:gd name="T92" fmla="*/ 278 w 366"/>
                <a:gd name="T93" fmla="*/ 109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66" h="278">
                  <a:moveTo>
                    <a:pt x="309" y="278"/>
                  </a:moveTo>
                  <a:cubicBezTo>
                    <a:pt x="300" y="278"/>
                    <a:pt x="300" y="278"/>
                    <a:pt x="300" y="278"/>
                  </a:cubicBezTo>
                  <a:cubicBezTo>
                    <a:pt x="341" y="224"/>
                    <a:pt x="341" y="147"/>
                    <a:pt x="296" y="94"/>
                  </a:cubicBezTo>
                  <a:cubicBezTo>
                    <a:pt x="244" y="33"/>
                    <a:pt x="152" y="26"/>
                    <a:pt x="91" y="78"/>
                  </a:cubicBezTo>
                  <a:cubicBezTo>
                    <a:pt x="32" y="129"/>
                    <a:pt x="24" y="217"/>
                    <a:pt x="72" y="278"/>
                  </a:cubicBezTo>
                  <a:cubicBezTo>
                    <a:pt x="62" y="278"/>
                    <a:pt x="62" y="278"/>
                    <a:pt x="62" y="278"/>
                  </a:cubicBezTo>
                  <a:cubicBezTo>
                    <a:pt x="16" y="214"/>
                    <a:pt x="26" y="124"/>
                    <a:pt x="86" y="72"/>
                  </a:cubicBezTo>
                  <a:cubicBezTo>
                    <a:pt x="150" y="18"/>
                    <a:pt x="247" y="25"/>
                    <a:pt x="302" y="89"/>
                  </a:cubicBezTo>
                  <a:cubicBezTo>
                    <a:pt x="348" y="144"/>
                    <a:pt x="350" y="222"/>
                    <a:pt x="309" y="278"/>
                  </a:cubicBezTo>
                  <a:close/>
                  <a:moveTo>
                    <a:pt x="83" y="68"/>
                  </a:moveTo>
                  <a:cubicBezTo>
                    <a:pt x="149" y="12"/>
                    <a:pt x="249" y="19"/>
                    <a:pt x="306" y="86"/>
                  </a:cubicBezTo>
                  <a:cubicBezTo>
                    <a:pt x="353" y="141"/>
                    <a:pt x="355" y="220"/>
                    <a:pt x="316" y="278"/>
                  </a:cubicBezTo>
                  <a:cubicBezTo>
                    <a:pt x="328" y="278"/>
                    <a:pt x="328" y="278"/>
                    <a:pt x="328" y="278"/>
                  </a:cubicBezTo>
                  <a:cubicBezTo>
                    <a:pt x="366" y="217"/>
                    <a:pt x="362" y="136"/>
                    <a:pt x="313" y="79"/>
                  </a:cubicBezTo>
                  <a:cubicBezTo>
                    <a:pt x="253" y="9"/>
                    <a:pt x="147" y="0"/>
                    <a:pt x="76" y="61"/>
                  </a:cubicBezTo>
                  <a:cubicBezTo>
                    <a:pt x="12" y="115"/>
                    <a:pt x="0" y="208"/>
                    <a:pt x="43" y="278"/>
                  </a:cubicBezTo>
                  <a:cubicBezTo>
                    <a:pt x="55" y="278"/>
                    <a:pt x="55" y="278"/>
                    <a:pt x="55" y="278"/>
                  </a:cubicBezTo>
                  <a:cubicBezTo>
                    <a:pt x="10" y="212"/>
                    <a:pt x="21" y="121"/>
                    <a:pt x="83" y="68"/>
                  </a:cubicBezTo>
                  <a:close/>
                  <a:moveTo>
                    <a:pt x="255" y="269"/>
                  </a:moveTo>
                  <a:cubicBezTo>
                    <a:pt x="299" y="231"/>
                    <a:pt x="304" y="164"/>
                    <a:pt x="266" y="119"/>
                  </a:cubicBezTo>
                  <a:cubicBezTo>
                    <a:pt x="228" y="75"/>
                    <a:pt x="161" y="70"/>
                    <a:pt x="117" y="108"/>
                  </a:cubicBezTo>
                  <a:cubicBezTo>
                    <a:pt x="72" y="146"/>
                    <a:pt x="67" y="213"/>
                    <a:pt x="105" y="257"/>
                  </a:cubicBezTo>
                  <a:cubicBezTo>
                    <a:pt x="112" y="265"/>
                    <a:pt x="120" y="272"/>
                    <a:pt x="128" y="278"/>
                  </a:cubicBezTo>
                  <a:cubicBezTo>
                    <a:pt x="243" y="278"/>
                    <a:pt x="243" y="278"/>
                    <a:pt x="243" y="278"/>
                  </a:cubicBezTo>
                  <a:cubicBezTo>
                    <a:pt x="247" y="275"/>
                    <a:pt x="251" y="272"/>
                    <a:pt x="255" y="269"/>
                  </a:cubicBezTo>
                  <a:close/>
                  <a:moveTo>
                    <a:pt x="85" y="274"/>
                  </a:moveTo>
                  <a:cubicBezTo>
                    <a:pt x="38" y="219"/>
                    <a:pt x="45" y="135"/>
                    <a:pt x="100" y="88"/>
                  </a:cubicBezTo>
                  <a:cubicBezTo>
                    <a:pt x="155" y="41"/>
                    <a:pt x="239" y="47"/>
                    <a:pt x="286" y="103"/>
                  </a:cubicBezTo>
                  <a:cubicBezTo>
                    <a:pt x="330" y="154"/>
                    <a:pt x="327" y="229"/>
                    <a:pt x="282" y="278"/>
                  </a:cubicBezTo>
                  <a:cubicBezTo>
                    <a:pt x="290" y="278"/>
                    <a:pt x="290" y="278"/>
                    <a:pt x="290" y="278"/>
                  </a:cubicBezTo>
                  <a:cubicBezTo>
                    <a:pt x="333" y="227"/>
                    <a:pt x="334" y="151"/>
                    <a:pt x="290" y="99"/>
                  </a:cubicBezTo>
                  <a:cubicBezTo>
                    <a:pt x="241" y="42"/>
                    <a:pt x="154" y="35"/>
                    <a:pt x="97" y="84"/>
                  </a:cubicBezTo>
                  <a:cubicBezTo>
                    <a:pt x="39" y="133"/>
                    <a:pt x="32" y="220"/>
                    <a:pt x="81" y="277"/>
                  </a:cubicBezTo>
                  <a:cubicBezTo>
                    <a:pt x="81" y="277"/>
                    <a:pt x="82" y="278"/>
                    <a:pt x="82" y="278"/>
                  </a:cubicBezTo>
                  <a:cubicBezTo>
                    <a:pt x="89" y="278"/>
                    <a:pt x="89" y="278"/>
                    <a:pt x="89" y="278"/>
                  </a:cubicBezTo>
                  <a:cubicBezTo>
                    <a:pt x="88" y="276"/>
                    <a:pt x="87" y="275"/>
                    <a:pt x="85" y="274"/>
                  </a:cubicBezTo>
                  <a:close/>
                  <a:moveTo>
                    <a:pt x="278" y="109"/>
                  </a:moveTo>
                  <a:cubicBezTo>
                    <a:pt x="235" y="58"/>
                    <a:pt x="158" y="52"/>
                    <a:pt x="107" y="96"/>
                  </a:cubicBezTo>
                  <a:cubicBezTo>
                    <a:pt x="55" y="139"/>
                    <a:pt x="49" y="216"/>
                    <a:pt x="93" y="267"/>
                  </a:cubicBezTo>
                  <a:cubicBezTo>
                    <a:pt x="96" y="271"/>
                    <a:pt x="100" y="274"/>
                    <a:pt x="103" y="278"/>
                  </a:cubicBezTo>
                  <a:cubicBezTo>
                    <a:pt x="107" y="278"/>
                    <a:pt x="107" y="278"/>
                    <a:pt x="107" y="278"/>
                  </a:cubicBezTo>
                  <a:cubicBezTo>
                    <a:pt x="103" y="274"/>
                    <a:pt x="99" y="270"/>
                    <a:pt x="95" y="265"/>
                  </a:cubicBezTo>
                  <a:cubicBezTo>
                    <a:pt x="53" y="216"/>
                    <a:pt x="59" y="141"/>
                    <a:pt x="108" y="98"/>
                  </a:cubicBezTo>
                  <a:cubicBezTo>
                    <a:pt x="158" y="55"/>
                    <a:pt x="233" y="61"/>
                    <a:pt x="276" y="111"/>
                  </a:cubicBezTo>
                  <a:cubicBezTo>
                    <a:pt x="318" y="160"/>
                    <a:pt x="313" y="235"/>
                    <a:pt x="264" y="278"/>
                  </a:cubicBezTo>
                  <a:cubicBezTo>
                    <a:pt x="268" y="278"/>
                    <a:pt x="268" y="278"/>
                    <a:pt x="268" y="278"/>
                  </a:cubicBezTo>
                  <a:cubicBezTo>
                    <a:pt x="316" y="233"/>
                    <a:pt x="321" y="159"/>
                    <a:pt x="278" y="109"/>
                  </a:cubicBezTo>
                  <a:close/>
                </a:path>
              </a:pathLst>
            </a:custGeom>
            <a:solidFill>
              <a:srgbClr val="40AD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15" name="circle_mid" hidden="1"/>
            <p:cNvSpPr>
              <a:spLocks noEditPoints="1"/>
            </p:cNvSpPr>
            <p:nvPr userDrawn="1"/>
          </p:nvSpPr>
          <p:spPr bwMode="ltGray">
            <a:xfrm>
              <a:off x="8248648" y="0"/>
              <a:ext cx="892800" cy="1021799"/>
            </a:xfrm>
            <a:custGeom>
              <a:avLst/>
              <a:gdLst>
                <a:gd name="T0" fmla="*/ 85 w 285"/>
                <a:gd name="T1" fmla="*/ 321 h 321"/>
                <a:gd name="T2" fmla="*/ 76 w 285"/>
                <a:gd name="T3" fmla="*/ 321 h 321"/>
                <a:gd name="T4" fmla="*/ 117 w 285"/>
                <a:gd name="T5" fmla="*/ 68 h 321"/>
                <a:gd name="T6" fmla="*/ 285 w 285"/>
                <a:gd name="T7" fmla="*/ 25 h 321"/>
                <a:gd name="T8" fmla="*/ 285 w 285"/>
                <a:gd name="T9" fmla="*/ 33 h 321"/>
                <a:gd name="T10" fmla="*/ 122 w 285"/>
                <a:gd name="T11" fmla="*/ 74 h 321"/>
                <a:gd name="T12" fmla="*/ 85 w 285"/>
                <a:gd name="T13" fmla="*/ 321 h 321"/>
                <a:gd name="T14" fmla="*/ 102 w 285"/>
                <a:gd name="T15" fmla="*/ 51 h 321"/>
                <a:gd name="T16" fmla="*/ 200 w 285"/>
                <a:gd name="T17" fmla="*/ 2 h 321"/>
                <a:gd name="T18" fmla="*/ 187 w 285"/>
                <a:gd name="T19" fmla="*/ 2 h 321"/>
                <a:gd name="T20" fmla="*/ 100 w 285"/>
                <a:gd name="T21" fmla="*/ 48 h 321"/>
                <a:gd name="T22" fmla="*/ 46 w 285"/>
                <a:gd name="T23" fmla="*/ 321 h 321"/>
                <a:gd name="T24" fmla="*/ 49 w 285"/>
                <a:gd name="T25" fmla="*/ 321 h 321"/>
                <a:gd name="T26" fmla="*/ 102 w 285"/>
                <a:gd name="T27" fmla="*/ 51 h 321"/>
                <a:gd name="T28" fmla="*/ 285 w 285"/>
                <a:gd name="T29" fmla="*/ 52 h 321"/>
                <a:gd name="T30" fmla="*/ 134 w 285"/>
                <a:gd name="T31" fmla="*/ 88 h 321"/>
                <a:gd name="T32" fmla="*/ 107 w 285"/>
                <a:gd name="T33" fmla="*/ 321 h 321"/>
                <a:gd name="T34" fmla="*/ 285 w 285"/>
                <a:gd name="T35" fmla="*/ 321 h 321"/>
                <a:gd name="T36" fmla="*/ 285 w 285"/>
                <a:gd name="T37" fmla="*/ 52 h 321"/>
                <a:gd name="T38" fmla="*/ 91 w 285"/>
                <a:gd name="T39" fmla="*/ 321 h 321"/>
                <a:gd name="T40" fmla="*/ 103 w 285"/>
                <a:gd name="T41" fmla="*/ 321 h 321"/>
                <a:gd name="T42" fmla="*/ 132 w 285"/>
                <a:gd name="T43" fmla="*/ 86 h 321"/>
                <a:gd name="T44" fmla="*/ 285 w 285"/>
                <a:gd name="T45" fmla="*/ 48 h 321"/>
                <a:gd name="T46" fmla="*/ 285 w 285"/>
                <a:gd name="T47" fmla="*/ 38 h 321"/>
                <a:gd name="T48" fmla="*/ 125 w 285"/>
                <a:gd name="T49" fmla="*/ 78 h 321"/>
                <a:gd name="T50" fmla="*/ 91 w 285"/>
                <a:gd name="T51" fmla="*/ 321 h 321"/>
                <a:gd name="T52" fmla="*/ 61 w 285"/>
                <a:gd name="T53" fmla="*/ 321 h 321"/>
                <a:gd name="T54" fmla="*/ 67 w 285"/>
                <a:gd name="T55" fmla="*/ 321 h 321"/>
                <a:gd name="T56" fmla="*/ 112 w 285"/>
                <a:gd name="T57" fmla="*/ 62 h 321"/>
                <a:gd name="T58" fmla="*/ 285 w 285"/>
                <a:gd name="T59" fmla="*/ 17 h 321"/>
                <a:gd name="T60" fmla="*/ 285 w 285"/>
                <a:gd name="T61" fmla="*/ 12 h 321"/>
                <a:gd name="T62" fmla="*/ 108 w 285"/>
                <a:gd name="T63" fmla="*/ 58 h 321"/>
                <a:gd name="T64" fmla="*/ 61 w 285"/>
                <a:gd name="T65" fmla="*/ 321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5" h="321">
                  <a:moveTo>
                    <a:pt x="85" y="321"/>
                  </a:moveTo>
                  <a:cubicBezTo>
                    <a:pt x="76" y="321"/>
                    <a:pt x="76" y="321"/>
                    <a:pt x="76" y="321"/>
                  </a:cubicBezTo>
                  <a:cubicBezTo>
                    <a:pt x="27" y="239"/>
                    <a:pt x="42" y="132"/>
                    <a:pt x="117" y="68"/>
                  </a:cubicBezTo>
                  <a:cubicBezTo>
                    <a:pt x="165" y="27"/>
                    <a:pt x="227" y="13"/>
                    <a:pt x="285" y="25"/>
                  </a:cubicBezTo>
                  <a:cubicBezTo>
                    <a:pt x="285" y="33"/>
                    <a:pt x="285" y="33"/>
                    <a:pt x="285" y="33"/>
                  </a:cubicBezTo>
                  <a:cubicBezTo>
                    <a:pt x="229" y="21"/>
                    <a:pt x="168" y="34"/>
                    <a:pt x="122" y="74"/>
                  </a:cubicBezTo>
                  <a:cubicBezTo>
                    <a:pt x="49" y="136"/>
                    <a:pt x="35" y="242"/>
                    <a:pt x="85" y="321"/>
                  </a:cubicBezTo>
                  <a:close/>
                  <a:moveTo>
                    <a:pt x="102" y="51"/>
                  </a:moveTo>
                  <a:cubicBezTo>
                    <a:pt x="131" y="26"/>
                    <a:pt x="165" y="10"/>
                    <a:pt x="200" y="2"/>
                  </a:cubicBezTo>
                  <a:cubicBezTo>
                    <a:pt x="187" y="2"/>
                    <a:pt x="187" y="2"/>
                    <a:pt x="187" y="2"/>
                  </a:cubicBezTo>
                  <a:cubicBezTo>
                    <a:pt x="156" y="11"/>
                    <a:pt x="126" y="26"/>
                    <a:pt x="100" y="48"/>
                  </a:cubicBezTo>
                  <a:cubicBezTo>
                    <a:pt x="19" y="117"/>
                    <a:pt x="0" y="230"/>
                    <a:pt x="46" y="321"/>
                  </a:cubicBezTo>
                  <a:cubicBezTo>
                    <a:pt x="49" y="321"/>
                    <a:pt x="49" y="321"/>
                    <a:pt x="49" y="321"/>
                  </a:cubicBezTo>
                  <a:cubicBezTo>
                    <a:pt x="3" y="231"/>
                    <a:pt x="22" y="119"/>
                    <a:pt x="102" y="51"/>
                  </a:cubicBezTo>
                  <a:close/>
                  <a:moveTo>
                    <a:pt x="285" y="52"/>
                  </a:moveTo>
                  <a:cubicBezTo>
                    <a:pt x="233" y="39"/>
                    <a:pt x="177" y="51"/>
                    <a:pt x="134" y="88"/>
                  </a:cubicBezTo>
                  <a:cubicBezTo>
                    <a:pt x="65" y="147"/>
                    <a:pt x="54" y="249"/>
                    <a:pt x="107" y="321"/>
                  </a:cubicBezTo>
                  <a:cubicBezTo>
                    <a:pt x="285" y="321"/>
                    <a:pt x="285" y="321"/>
                    <a:pt x="285" y="321"/>
                  </a:cubicBezTo>
                  <a:lnTo>
                    <a:pt x="285" y="52"/>
                  </a:lnTo>
                  <a:close/>
                  <a:moveTo>
                    <a:pt x="91" y="321"/>
                  </a:moveTo>
                  <a:cubicBezTo>
                    <a:pt x="103" y="321"/>
                    <a:pt x="103" y="321"/>
                    <a:pt x="103" y="321"/>
                  </a:cubicBezTo>
                  <a:cubicBezTo>
                    <a:pt x="51" y="248"/>
                    <a:pt x="62" y="145"/>
                    <a:pt x="132" y="86"/>
                  </a:cubicBezTo>
                  <a:cubicBezTo>
                    <a:pt x="175" y="48"/>
                    <a:pt x="232" y="36"/>
                    <a:pt x="285" y="48"/>
                  </a:cubicBezTo>
                  <a:cubicBezTo>
                    <a:pt x="285" y="38"/>
                    <a:pt x="285" y="38"/>
                    <a:pt x="285" y="38"/>
                  </a:cubicBezTo>
                  <a:cubicBezTo>
                    <a:pt x="230" y="26"/>
                    <a:pt x="171" y="39"/>
                    <a:pt x="125" y="78"/>
                  </a:cubicBezTo>
                  <a:cubicBezTo>
                    <a:pt x="53" y="139"/>
                    <a:pt x="40" y="244"/>
                    <a:pt x="91" y="321"/>
                  </a:cubicBezTo>
                  <a:close/>
                  <a:moveTo>
                    <a:pt x="61" y="321"/>
                  </a:moveTo>
                  <a:cubicBezTo>
                    <a:pt x="67" y="321"/>
                    <a:pt x="67" y="321"/>
                    <a:pt x="67" y="321"/>
                  </a:cubicBezTo>
                  <a:cubicBezTo>
                    <a:pt x="19" y="237"/>
                    <a:pt x="35" y="128"/>
                    <a:pt x="112" y="62"/>
                  </a:cubicBezTo>
                  <a:cubicBezTo>
                    <a:pt x="161" y="20"/>
                    <a:pt x="225" y="5"/>
                    <a:pt x="285" y="17"/>
                  </a:cubicBezTo>
                  <a:cubicBezTo>
                    <a:pt x="285" y="12"/>
                    <a:pt x="285" y="12"/>
                    <a:pt x="285" y="12"/>
                  </a:cubicBezTo>
                  <a:cubicBezTo>
                    <a:pt x="224" y="0"/>
                    <a:pt x="159" y="15"/>
                    <a:pt x="108" y="58"/>
                  </a:cubicBezTo>
                  <a:cubicBezTo>
                    <a:pt x="31" y="124"/>
                    <a:pt x="13" y="235"/>
                    <a:pt x="61" y="321"/>
                  </a:cubicBezTo>
                  <a:close/>
                </a:path>
              </a:pathLst>
            </a:custGeom>
            <a:solidFill>
              <a:srgbClr val="80C8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20" name="circle_light" hidden="1"/>
            <p:cNvSpPr>
              <a:spLocks noEditPoints="1"/>
            </p:cNvSpPr>
            <p:nvPr userDrawn="1"/>
          </p:nvSpPr>
          <p:spPr bwMode="ltGray">
            <a:xfrm>
              <a:off x="7920038" y="9525"/>
              <a:ext cx="748800" cy="414337"/>
            </a:xfrm>
            <a:custGeom>
              <a:avLst/>
              <a:gdLst>
                <a:gd name="T0" fmla="*/ 38 w 236"/>
                <a:gd name="T1" fmla="*/ 65 h 129"/>
                <a:gd name="T2" fmla="*/ 13 w 236"/>
                <a:gd name="T3" fmla="*/ 0 h 129"/>
                <a:gd name="T4" fmla="*/ 19 w 236"/>
                <a:gd name="T5" fmla="*/ 0 h 129"/>
                <a:gd name="T6" fmla="*/ 42 w 236"/>
                <a:gd name="T7" fmla="*/ 61 h 129"/>
                <a:gd name="T8" fmla="*/ 183 w 236"/>
                <a:gd name="T9" fmla="*/ 72 h 129"/>
                <a:gd name="T10" fmla="*/ 218 w 236"/>
                <a:gd name="T11" fmla="*/ 0 h 129"/>
                <a:gd name="T12" fmla="*/ 223 w 236"/>
                <a:gd name="T13" fmla="*/ 0 h 129"/>
                <a:gd name="T14" fmla="*/ 187 w 236"/>
                <a:gd name="T15" fmla="*/ 76 h 129"/>
                <a:gd name="T16" fmla="*/ 38 w 236"/>
                <a:gd name="T17" fmla="*/ 65 h 129"/>
                <a:gd name="T18" fmla="*/ 187 w 236"/>
                <a:gd name="T19" fmla="*/ 0 h 129"/>
                <a:gd name="T20" fmla="*/ 163 w 236"/>
                <a:gd name="T21" fmla="*/ 49 h 129"/>
                <a:gd name="T22" fmla="*/ 66 w 236"/>
                <a:gd name="T23" fmla="*/ 41 h 129"/>
                <a:gd name="T24" fmla="*/ 50 w 236"/>
                <a:gd name="T25" fmla="*/ 0 h 129"/>
                <a:gd name="T26" fmla="*/ 40 w 236"/>
                <a:gd name="T27" fmla="*/ 0 h 129"/>
                <a:gd name="T28" fmla="*/ 58 w 236"/>
                <a:gd name="T29" fmla="*/ 48 h 129"/>
                <a:gd name="T30" fmla="*/ 170 w 236"/>
                <a:gd name="T31" fmla="*/ 57 h 129"/>
                <a:gd name="T32" fmla="*/ 197 w 236"/>
                <a:gd name="T33" fmla="*/ 0 h 129"/>
                <a:gd name="T34" fmla="*/ 187 w 236"/>
                <a:gd name="T35" fmla="*/ 0 h 129"/>
                <a:gd name="T36" fmla="*/ 202 w 236"/>
                <a:gd name="T37" fmla="*/ 0 h 129"/>
                <a:gd name="T38" fmla="*/ 173 w 236"/>
                <a:gd name="T39" fmla="*/ 61 h 129"/>
                <a:gd name="T40" fmla="*/ 54 w 236"/>
                <a:gd name="T41" fmla="*/ 51 h 129"/>
                <a:gd name="T42" fmla="*/ 34 w 236"/>
                <a:gd name="T43" fmla="*/ 0 h 129"/>
                <a:gd name="T44" fmla="*/ 26 w 236"/>
                <a:gd name="T45" fmla="*/ 0 h 129"/>
                <a:gd name="T46" fmla="*/ 48 w 236"/>
                <a:gd name="T47" fmla="*/ 56 h 129"/>
                <a:gd name="T48" fmla="*/ 178 w 236"/>
                <a:gd name="T49" fmla="*/ 67 h 129"/>
                <a:gd name="T50" fmla="*/ 210 w 236"/>
                <a:gd name="T51" fmla="*/ 0 h 129"/>
                <a:gd name="T52" fmla="*/ 202 w 236"/>
                <a:gd name="T53" fmla="*/ 0 h 129"/>
                <a:gd name="T54" fmla="*/ 53 w 236"/>
                <a:gd name="T55" fmla="*/ 0 h 129"/>
                <a:gd name="T56" fmla="*/ 68 w 236"/>
                <a:gd name="T57" fmla="*/ 39 h 129"/>
                <a:gd name="T58" fmla="*/ 161 w 236"/>
                <a:gd name="T59" fmla="*/ 47 h 129"/>
                <a:gd name="T60" fmla="*/ 184 w 236"/>
                <a:gd name="T61" fmla="*/ 0 h 129"/>
                <a:gd name="T62" fmla="*/ 53 w 236"/>
                <a:gd name="T63" fmla="*/ 0 h 129"/>
                <a:gd name="T64" fmla="*/ 193 w 236"/>
                <a:gd name="T65" fmla="*/ 84 h 129"/>
                <a:gd name="T66" fmla="*/ 31 w 236"/>
                <a:gd name="T67" fmla="*/ 71 h 129"/>
                <a:gd name="T68" fmla="*/ 3 w 236"/>
                <a:gd name="T69" fmla="*/ 0 h 129"/>
                <a:gd name="T70" fmla="*/ 0 w 236"/>
                <a:gd name="T71" fmla="*/ 0 h 129"/>
                <a:gd name="T72" fmla="*/ 28 w 236"/>
                <a:gd name="T73" fmla="*/ 73 h 129"/>
                <a:gd name="T74" fmla="*/ 195 w 236"/>
                <a:gd name="T75" fmla="*/ 86 h 129"/>
                <a:gd name="T76" fmla="*/ 236 w 236"/>
                <a:gd name="T77" fmla="*/ 0 h 129"/>
                <a:gd name="T78" fmla="*/ 233 w 236"/>
                <a:gd name="T79" fmla="*/ 0 h 129"/>
                <a:gd name="T80" fmla="*/ 193 w 236"/>
                <a:gd name="T81" fmla="*/ 8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6" h="129">
                  <a:moveTo>
                    <a:pt x="38" y="65"/>
                  </a:moveTo>
                  <a:cubicBezTo>
                    <a:pt x="22" y="46"/>
                    <a:pt x="14" y="23"/>
                    <a:pt x="13" y="0"/>
                  </a:cubicBezTo>
                  <a:cubicBezTo>
                    <a:pt x="19" y="0"/>
                    <a:pt x="19" y="0"/>
                    <a:pt x="19" y="0"/>
                  </a:cubicBezTo>
                  <a:cubicBezTo>
                    <a:pt x="19" y="22"/>
                    <a:pt x="27" y="44"/>
                    <a:pt x="42" y="61"/>
                  </a:cubicBezTo>
                  <a:cubicBezTo>
                    <a:pt x="78" y="103"/>
                    <a:pt x="141" y="108"/>
                    <a:pt x="183" y="72"/>
                  </a:cubicBezTo>
                  <a:cubicBezTo>
                    <a:pt x="205" y="54"/>
                    <a:pt x="217" y="27"/>
                    <a:pt x="218" y="0"/>
                  </a:cubicBezTo>
                  <a:cubicBezTo>
                    <a:pt x="223" y="0"/>
                    <a:pt x="223" y="0"/>
                    <a:pt x="223" y="0"/>
                  </a:cubicBezTo>
                  <a:cubicBezTo>
                    <a:pt x="222" y="29"/>
                    <a:pt x="210" y="57"/>
                    <a:pt x="187" y="76"/>
                  </a:cubicBezTo>
                  <a:cubicBezTo>
                    <a:pt x="142" y="114"/>
                    <a:pt x="76" y="109"/>
                    <a:pt x="38" y="65"/>
                  </a:cubicBezTo>
                  <a:close/>
                  <a:moveTo>
                    <a:pt x="187" y="0"/>
                  </a:moveTo>
                  <a:cubicBezTo>
                    <a:pt x="186" y="19"/>
                    <a:pt x="178" y="36"/>
                    <a:pt x="163" y="49"/>
                  </a:cubicBezTo>
                  <a:cubicBezTo>
                    <a:pt x="134" y="74"/>
                    <a:pt x="91" y="70"/>
                    <a:pt x="66" y="41"/>
                  </a:cubicBezTo>
                  <a:cubicBezTo>
                    <a:pt x="56" y="29"/>
                    <a:pt x="50" y="15"/>
                    <a:pt x="50" y="0"/>
                  </a:cubicBezTo>
                  <a:cubicBezTo>
                    <a:pt x="40" y="0"/>
                    <a:pt x="40" y="0"/>
                    <a:pt x="40" y="0"/>
                  </a:cubicBezTo>
                  <a:cubicBezTo>
                    <a:pt x="40" y="17"/>
                    <a:pt x="46" y="34"/>
                    <a:pt x="58" y="48"/>
                  </a:cubicBezTo>
                  <a:cubicBezTo>
                    <a:pt x="87" y="81"/>
                    <a:pt x="136" y="85"/>
                    <a:pt x="170" y="57"/>
                  </a:cubicBezTo>
                  <a:cubicBezTo>
                    <a:pt x="187" y="42"/>
                    <a:pt x="196" y="21"/>
                    <a:pt x="197" y="0"/>
                  </a:cubicBezTo>
                  <a:lnTo>
                    <a:pt x="187" y="0"/>
                  </a:lnTo>
                  <a:close/>
                  <a:moveTo>
                    <a:pt x="202" y="0"/>
                  </a:moveTo>
                  <a:cubicBezTo>
                    <a:pt x="201" y="23"/>
                    <a:pt x="191" y="45"/>
                    <a:pt x="173" y="61"/>
                  </a:cubicBezTo>
                  <a:cubicBezTo>
                    <a:pt x="138" y="91"/>
                    <a:pt x="84" y="87"/>
                    <a:pt x="54" y="51"/>
                  </a:cubicBezTo>
                  <a:cubicBezTo>
                    <a:pt x="41" y="37"/>
                    <a:pt x="35" y="19"/>
                    <a:pt x="34" y="0"/>
                  </a:cubicBezTo>
                  <a:cubicBezTo>
                    <a:pt x="26" y="0"/>
                    <a:pt x="26" y="0"/>
                    <a:pt x="26" y="0"/>
                  </a:cubicBezTo>
                  <a:cubicBezTo>
                    <a:pt x="27" y="20"/>
                    <a:pt x="34" y="40"/>
                    <a:pt x="48" y="56"/>
                  </a:cubicBezTo>
                  <a:cubicBezTo>
                    <a:pt x="81" y="95"/>
                    <a:pt x="139" y="100"/>
                    <a:pt x="178" y="67"/>
                  </a:cubicBezTo>
                  <a:cubicBezTo>
                    <a:pt x="198" y="49"/>
                    <a:pt x="209" y="25"/>
                    <a:pt x="210" y="0"/>
                  </a:cubicBezTo>
                  <a:lnTo>
                    <a:pt x="202" y="0"/>
                  </a:lnTo>
                  <a:close/>
                  <a:moveTo>
                    <a:pt x="53" y="0"/>
                  </a:moveTo>
                  <a:cubicBezTo>
                    <a:pt x="53" y="14"/>
                    <a:pt x="58" y="28"/>
                    <a:pt x="68" y="39"/>
                  </a:cubicBezTo>
                  <a:cubicBezTo>
                    <a:pt x="92" y="67"/>
                    <a:pt x="133" y="70"/>
                    <a:pt x="161" y="47"/>
                  </a:cubicBezTo>
                  <a:cubicBezTo>
                    <a:pt x="175" y="35"/>
                    <a:pt x="183" y="18"/>
                    <a:pt x="184" y="0"/>
                  </a:cubicBezTo>
                  <a:lnTo>
                    <a:pt x="53" y="0"/>
                  </a:lnTo>
                  <a:close/>
                  <a:moveTo>
                    <a:pt x="193" y="84"/>
                  </a:moveTo>
                  <a:cubicBezTo>
                    <a:pt x="145" y="125"/>
                    <a:pt x="72" y="120"/>
                    <a:pt x="31" y="71"/>
                  </a:cubicBezTo>
                  <a:cubicBezTo>
                    <a:pt x="13" y="51"/>
                    <a:pt x="4" y="26"/>
                    <a:pt x="3" y="0"/>
                  </a:cubicBezTo>
                  <a:cubicBezTo>
                    <a:pt x="0" y="0"/>
                    <a:pt x="0" y="0"/>
                    <a:pt x="0" y="0"/>
                  </a:cubicBezTo>
                  <a:cubicBezTo>
                    <a:pt x="1" y="26"/>
                    <a:pt x="10" y="52"/>
                    <a:pt x="28" y="73"/>
                  </a:cubicBezTo>
                  <a:cubicBezTo>
                    <a:pt x="71" y="123"/>
                    <a:pt x="146" y="129"/>
                    <a:pt x="195" y="86"/>
                  </a:cubicBezTo>
                  <a:cubicBezTo>
                    <a:pt x="221" y="64"/>
                    <a:pt x="235" y="32"/>
                    <a:pt x="236" y="0"/>
                  </a:cubicBezTo>
                  <a:cubicBezTo>
                    <a:pt x="233" y="0"/>
                    <a:pt x="233" y="0"/>
                    <a:pt x="233" y="0"/>
                  </a:cubicBezTo>
                  <a:cubicBezTo>
                    <a:pt x="232" y="32"/>
                    <a:pt x="219" y="62"/>
                    <a:pt x="193" y="8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grpSp>
      <p:sp>
        <p:nvSpPr>
          <p:cNvPr id="17" name="logo_reflections_bar_top" descr="&lt;mode=4x3&gt;&#10;&lt;size&gt;h=79.25;w=720&lt;size/&gt;&#10;&lt;pos&gt;top=7.874016E-05;left=0&lt;pos/&gt;&#10;&lt;mode/&gt;&#10;&lt;mode=16x9&gt;&#10;&lt;size&gt;h=60.66142;w=720&lt;size/&gt;&#10;&lt;pos&gt;top=0;left=0&lt;pos/&gt;&#10;&lt;mode/&gt;"/>
          <p:cNvSpPr>
            <a:spLocks noChangeAspect="1" noEditPoints="1"/>
          </p:cNvSpPr>
          <p:nvPr userDrawn="1"/>
        </p:nvSpPr>
        <p:spPr bwMode="ltGray">
          <a:xfrm>
            <a:off x="0" y="0"/>
            <a:ext cx="12192000" cy="1027200"/>
          </a:xfrm>
          <a:custGeom>
            <a:avLst/>
            <a:gdLst>
              <a:gd name="T0" fmla="*/ 40177 w 40177"/>
              <a:gd name="T1" fmla="*/ 3692 h 4420"/>
              <a:gd name="T2" fmla="*/ 0 w 40177"/>
              <a:gd name="T3" fmla="*/ 3692 h 4420"/>
              <a:gd name="T4" fmla="*/ 0 w 40177"/>
              <a:gd name="T5" fmla="*/ 3780 h 4420"/>
              <a:gd name="T6" fmla="*/ 40177 w 40177"/>
              <a:gd name="T7" fmla="*/ 3780 h 4420"/>
              <a:gd name="T8" fmla="*/ 40177 w 40177"/>
              <a:gd name="T9" fmla="*/ 3692 h 4420"/>
              <a:gd name="T10" fmla="*/ 40177 w 40177"/>
              <a:gd name="T11" fmla="*/ 3867 h 4420"/>
              <a:gd name="T12" fmla="*/ 0 w 40177"/>
              <a:gd name="T13" fmla="*/ 3867 h 4420"/>
              <a:gd name="T14" fmla="*/ 0 w 40177"/>
              <a:gd name="T15" fmla="*/ 3938 h 4420"/>
              <a:gd name="T16" fmla="*/ 40177 w 40177"/>
              <a:gd name="T17" fmla="*/ 3938 h 4420"/>
              <a:gd name="T18" fmla="*/ 40177 w 40177"/>
              <a:gd name="T19" fmla="*/ 3867 h 4420"/>
              <a:gd name="T20" fmla="*/ 40177 w 40177"/>
              <a:gd name="T21" fmla="*/ 4219 h 4420"/>
              <a:gd name="T22" fmla="*/ 0 w 40177"/>
              <a:gd name="T23" fmla="*/ 4219 h 4420"/>
              <a:gd name="T24" fmla="*/ 0 w 40177"/>
              <a:gd name="T25" fmla="*/ 4259 h 4420"/>
              <a:gd name="T26" fmla="*/ 40177 w 40177"/>
              <a:gd name="T27" fmla="*/ 4259 h 4420"/>
              <a:gd name="T28" fmla="*/ 40177 w 40177"/>
              <a:gd name="T29" fmla="*/ 4219 h 4420"/>
              <a:gd name="T30" fmla="*/ 40177 w 40177"/>
              <a:gd name="T31" fmla="*/ 4042 h 4420"/>
              <a:gd name="T32" fmla="*/ 0 w 40177"/>
              <a:gd name="T33" fmla="*/ 4042 h 4420"/>
              <a:gd name="T34" fmla="*/ 0 w 40177"/>
              <a:gd name="T35" fmla="*/ 4099 h 4420"/>
              <a:gd name="T36" fmla="*/ 40177 w 40177"/>
              <a:gd name="T37" fmla="*/ 4099 h 4420"/>
              <a:gd name="T38" fmla="*/ 40177 w 40177"/>
              <a:gd name="T39" fmla="*/ 4042 h 4420"/>
              <a:gd name="T40" fmla="*/ 40177 w 40177"/>
              <a:gd name="T41" fmla="*/ 3515 h 4420"/>
              <a:gd name="T42" fmla="*/ 0 w 40177"/>
              <a:gd name="T43" fmla="*/ 3515 h 4420"/>
              <a:gd name="T44" fmla="*/ 0 w 40177"/>
              <a:gd name="T45" fmla="*/ 3619 h 4420"/>
              <a:gd name="T46" fmla="*/ 40177 w 40177"/>
              <a:gd name="T47" fmla="*/ 3619 h 4420"/>
              <a:gd name="T48" fmla="*/ 40177 w 40177"/>
              <a:gd name="T49" fmla="*/ 3515 h 4420"/>
              <a:gd name="T50" fmla="*/ 0 w 40177"/>
              <a:gd name="T51" fmla="*/ 4394 h 4420"/>
              <a:gd name="T52" fmla="*/ 0 w 40177"/>
              <a:gd name="T53" fmla="*/ 4420 h 4420"/>
              <a:gd name="T54" fmla="*/ 40177 w 40177"/>
              <a:gd name="T55" fmla="*/ 4420 h 4420"/>
              <a:gd name="T56" fmla="*/ 40177 w 40177"/>
              <a:gd name="T57" fmla="*/ 4394 h 4420"/>
              <a:gd name="T58" fmla="*/ 0 w 40177"/>
              <a:gd name="T59" fmla="*/ 4394 h 4420"/>
              <a:gd name="T60" fmla="*/ 40177 w 40177"/>
              <a:gd name="T61" fmla="*/ 3140 h 4420"/>
              <a:gd name="T62" fmla="*/ 40177 w 40177"/>
              <a:gd name="T63" fmla="*/ 0 h 4420"/>
              <a:gd name="T64" fmla="*/ 0 w 40177"/>
              <a:gd name="T65" fmla="*/ 0 h 4420"/>
              <a:gd name="T66" fmla="*/ 0 w 40177"/>
              <a:gd name="T67" fmla="*/ 3140 h 4420"/>
              <a:gd name="T68" fmla="*/ 40177 w 40177"/>
              <a:gd name="T69" fmla="*/ 3140 h 4420"/>
              <a:gd name="T70" fmla="*/ 40177 w 40177"/>
              <a:gd name="T71" fmla="*/ 3166 h 4420"/>
              <a:gd name="T72" fmla="*/ 0 w 40177"/>
              <a:gd name="T73" fmla="*/ 3166 h 4420"/>
              <a:gd name="T74" fmla="*/ 0 w 40177"/>
              <a:gd name="T75" fmla="*/ 3300 h 4420"/>
              <a:gd name="T76" fmla="*/ 40177 w 40177"/>
              <a:gd name="T77" fmla="*/ 3300 h 4420"/>
              <a:gd name="T78" fmla="*/ 40177 w 40177"/>
              <a:gd name="T79" fmla="*/ 3166 h 4420"/>
              <a:gd name="T80" fmla="*/ 40177 w 40177"/>
              <a:gd name="T81" fmla="*/ 3340 h 4420"/>
              <a:gd name="T82" fmla="*/ 0 w 40177"/>
              <a:gd name="T83" fmla="*/ 3340 h 4420"/>
              <a:gd name="T84" fmla="*/ 0 w 40177"/>
              <a:gd name="T85" fmla="*/ 3459 h 4420"/>
              <a:gd name="T86" fmla="*/ 40177 w 40177"/>
              <a:gd name="T87" fmla="*/ 3459 h 4420"/>
              <a:gd name="T88" fmla="*/ 40177 w 40177"/>
              <a:gd name="T89" fmla="*/ 3340 h 4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0177" h="4420">
                <a:moveTo>
                  <a:pt x="40177" y="3692"/>
                </a:moveTo>
                <a:lnTo>
                  <a:pt x="0" y="3692"/>
                </a:lnTo>
                <a:lnTo>
                  <a:pt x="0" y="3780"/>
                </a:lnTo>
                <a:lnTo>
                  <a:pt x="40177" y="3780"/>
                </a:lnTo>
                <a:lnTo>
                  <a:pt x="40177" y="3692"/>
                </a:lnTo>
                <a:close/>
                <a:moveTo>
                  <a:pt x="40177" y="3867"/>
                </a:moveTo>
                <a:lnTo>
                  <a:pt x="0" y="3867"/>
                </a:lnTo>
                <a:lnTo>
                  <a:pt x="0" y="3938"/>
                </a:lnTo>
                <a:lnTo>
                  <a:pt x="40177" y="3938"/>
                </a:lnTo>
                <a:lnTo>
                  <a:pt x="40177" y="3867"/>
                </a:lnTo>
                <a:close/>
                <a:moveTo>
                  <a:pt x="40177" y="4219"/>
                </a:moveTo>
                <a:lnTo>
                  <a:pt x="0" y="4219"/>
                </a:lnTo>
                <a:lnTo>
                  <a:pt x="0" y="4259"/>
                </a:lnTo>
                <a:lnTo>
                  <a:pt x="40177" y="4259"/>
                </a:lnTo>
                <a:lnTo>
                  <a:pt x="40177" y="4219"/>
                </a:lnTo>
                <a:close/>
                <a:moveTo>
                  <a:pt x="40177" y="4042"/>
                </a:moveTo>
                <a:lnTo>
                  <a:pt x="0" y="4042"/>
                </a:lnTo>
                <a:lnTo>
                  <a:pt x="0" y="4099"/>
                </a:lnTo>
                <a:lnTo>
                  <a:pt x="40177" y="4099"/>
                </a:lnTo>
                <a:lnTo>
                  <a:pt x="40177" y="4042"/>
                </a:lnTo>
                <a:close/>
                <a:moveTo>
                  <a:pt x="40177" y="3515"/>
                </a:moveTo>
                <a:lnTo>
                  <a:pt x="0" y="3515"/>
                </a:lnTo>
                <a:lnTo>
                  <a:pt x="0" y="3619"/>
                </a:lnTo>
                <a:lnTo>
                  <a:pt x="40177" y="3619"/>
                </a:lnTo>
                <a:lnTo>
                  <a:pt x="40177" y="3515"/>
                </a:lnTo>
                <a:close/>
                <a:moveTo>
                  <a:pt x="0" y="4394"/>
                </a:moveTo>
                <a:lnTo>
                  <a:pt x="0" y="4420"/>
                </a:lnTo>
                <a:lnTo>
                  <a:pt x="40177" y="4420"/>
                </a:lnTo>
                <a:lnTo>
                  <a:pt x="40177" y="4394"/>
                </a:lnTo>
                <a:lnTo>
                  <a:pt x="0" y="4394"/>
                </a:lnTo>
                <a:close/>
                <a:moveTo>
                  <a:pt x="40177" y="3140"/>
                </a:moveTo>
                <a:lnTo>
                  <a:pt x="40177" y="0"/>
                </a:lnTo>
                <a:lnTo>
                  <a:pt x="0" y="0"/>
                </a:lnTo>
                <a:lnTo>
                  <a:pt x="0" y="3140"/>
                </a:lnTo>
                <a:lnTo>
                  <a:pt x="40177" y="3140"/>
                </a:lnTo>
                <a:close/>
                <a:moveTo>
                  <a:pt x="40177" y="3166"/>
                </a:moveTo>
                <a:lnTo>
                  <a:pt x="0" y="3166"/>
                </a:lnTo>
                <a:lnTo>
                  <a:pt x="0" y="3300"/>
                </a:lnTo>
                <a:lnTo>
                  <a:pt x="40177" y="3300"/>
                </a:lnTo>
                <a:lnTo>
                  <a:pt x="40177" y="3166"/>
                </a:lnTo>
                <a:close/>
                <a:moveTo>
                  <a:pt x="40177" y="3340"/>
                </a:moveTo>
                <a:lnTo>
                  <a:pt x="0" y="3340"/>
                </a:lnTo>
                <a:lnTo>
                  <a:pt x="0" y="3459"/>
                </a:lnTo>
                <a:lnTo>
                  <a:pt x="40177" y="3459"/>
                </a:lnTo>
                <a:lnTo>
                  <a:pt x="40177" y="3340"/>
                </a:lnTo>
                <a:close/>
              </a:path>
            </a:pathLst>
          </a:custGeom>
          <a:solidFill>
            <a:srgbClr val="009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AU" sz="2400"/>
          </a:p>
        </p:txBody>
      </p:sp>
      <p:grpSp>
        <p:nvGrpSpPr>
          <p:cNvPr id="6" name="logo_ripples_bar_top-16x9" descr="&lt;mode=16x9&gt;&#10;&lt;size&gt;h=60.48299;w=720.0283&lt;size/&gt;&#10;&lt;pos&gt;top=-0.561811;left=0&lt;pos/&gt;&#10;&lt;mode/&gt;&#10;&lt;mode=4x3&gt;&#10;&lt;size&gt;h=60.48299;w=720.0283&lt;size/&gt;&#10;&lt;pos&gt;top=-0.561811;left=0&lt;pos/&gt;&#10;&lt;mode/&gt;" hidden="1"/>
          <p:cNvGrpSpPr/>
          <p:nvPr userDrawn="1"/>
        </p:nvGrpSpPr>
        <p:grpSpPr>
          <a:xfrm>
            <a:off x="0" y="-9514"/>
            <a:ext cx="12192480" cy="1024179"/>
            <a:chOff x="0" y="-7135"/>
            <a:chExt cx="9144359" cy="768134"/>
          </a:xfrm>
        </p:grpSpPr>
        <p:sp>
          <p:nvSpPr>
            <p:cNvPr id="11" name="base_bar" hidden="1"/>
            <p:cNvSpPr/>
            <p:nvPr userDrawn="1"/>
          </p:nvSpPr>
          <p:spPr bwMode="ltGray">
            <a:xfrm>
              <a:off x="0" y="507"/>
              <a:ext cx="9144000" cy="760492"/>
            </a:xfrm>
            <a:prstGeom prst="rect">
              <a:avLst/>
            </a:prstGeom>
            <a:solidFill>
              <a:srgbClr val="0092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solidFill>
                  <a:srgbClr val="FFFFFF"/>
                </a:solidFill>
              </a:endParaRPr>
            </a:p>
          </p:txBody>
        </p:sp>
        <p:grpSp>
          <p:nvGrpSpPr>
            <p:cNvPr id="5" name="Group 4" hidden="1"/>
            <p:cNvGrpSpPr/>
            <p:nvPr userDrawn="1"/>
          </p:nvGrpSpPr>
          <p:grpSpPr>
            <a:xfrm>
              <a:off x="7732795" y="-7135"/>
              <a:ext cx="1411564" cy="768134"/>
              <a:chOff x="7263737" y="-7136"/>
              <a:chExt cx="1877711" cy="1021799"/>
            </a:xfrm>
          </p:grpSpPr>
          <p:sp>
            <p:nvSpPr>
              <p:cNvPr id="16" name="circle_dark" hidden="1"/>
              <p:cNvSpPr>
                <a:spLocks noEditPoints="1"/>
              </p:cNvSpPr>
              <p:nvPr userDrawn="1"/>
            </p:nvSpPr>
            <p:spPr bwMode="ltGray">
              <a:xfrm>
                <a:off x="7263737" y="130977"/>
                <a:ext cx="1168271" cy="881011"/>
              </a:xfrm>
              <a:custGeom>
                <a:avLst/>
                <a:gdLst>
                  <a:gd name="T0" fmla="*/ 309 w 366"/>
                  <a:gd name="T1" fmla="*/ 278 h 278"/>
                  <a:gd name="T2" fmla="*/ 300 w 366"/>
                  <a:gd name="T3" fmla="*/ 278 h 278"/>
                  <a:gd name="T4" fmla="*/ 296 w 366"/>
                  <a:gd name="T5" fmla="*/ 94 h 278"/>
                  <a:gd name="T6" fmla="*/ 91 w 366"/>
                  <a:gd name="T7" fmla="*/ 78 h 278"/>
                  <a:gd name="T8" fmla="*/ 72 w 366"/>
                  <a:gd name="T9" fmla="*/ 278 h 278"/>
                  <a:gd name="T10" fmla="*/ 62 w 366"/>
                  <a:gd name="T11" fmla="*/ 278 h 278"/>
                  <a:gd name="T12" fmla="*/ 86 w 366"/>
                  <a:gd name="T13" fmla="*/ 72 h 278"/>
                  <a:gd name="T14" fmla="*/ 302 w 366"/>
                  <a:gd name="T15" fmla="*/ 89 h 278"/>
                  <a:gd name="T16" fmla="*/ 309 w 366"/>
                  <a:gd name="T17" fmla="*/ 278 h 278"/>
                  <a:gd name="T18" fmla="*/ 83 w 366"/>
                  <a:gd name="T19" fmla="*/ 68 h 278"/>
                  <a:gd name="T20" fmla="*/ 306 w 366"/>
                  <a:gd name="T21" fmla="*/ 86 h 278"/>
                  <a:gd name="T22" fmla="*/ 316 w 366"/>
                  <a:gd name="T23" fmla="*/ 278 h 278"/>
                  <a:gd name="T24" fmla="*/ 328 w 366"/>
                  <a:gd name="T25" fmla="*/ 278 h 278"/>
                  <a:gd name="T26" fmla="*/ 313 w 366"/>
                  <a:gd name="T27" fmla="*/ 79 h 278"/>
                  <a:gd name="T28" fmla="*/ 76 w 366"/>
                  <a:gd name="T29" fmla="*/ 61 h 278"/>
                  <a:gd name="T30" fmla="*/ 43 w 366"/>
                  <a:gd name="T31" fmla="*/ 278 h 278"/>
                  <a:gd name="T32" fmla="*/ 55 w 366"/>
                  <a:gd name="T33" fmla="*/ 278 h 278"/>
                  <a:gd name="T34" fmla="*/ 83 w 366"/>
                  <a:gd name="T35" fmla="*/ 68 h 278"/>
                  <a:gd name="T36" fmla="*/ 255 w 366"/>
                  <a:gd name="T37" fmla="*/ 269 h 278"/>
                  <a:gd name="T38" fmla="*/ 266 w 366"/>
                  <a:gd name="T39" fmla="*/ 119 h 278"/>
                  <a:gd name="T40" fmla="*/ 117 w 366"/>
                  <a:gd name="T41" fmla="*/ 108 h 278"/>
                  <a:gd name="T42" fmla="*/ 105 w 366"/>
                  <a:gd name="T43" fmla="*/ 257 h 278"/>
                  <a:gd name="T44" fmla="*/ 128 w 366"/>
                  <a:gd name="T45" fmla="*/ 278 h 278"/>
                  <a:gd name="T46" fmla="*/ 243 w 366"/>
                  <a:gd name="T47" fmla="*/ 278 h 278"/>
                  <a:gd name="T48" fmla="*/ 255 w 366"/>
                  <a:gd name="T49" fmla="*/ 269 h 278"/>
                  <a:gd name="T50" fmla="*/ 85 w 366"/>
                  <a:gd name="T51" fmla="*/ 274 h 278"/>
                  <a:gd name="T52" fmla="*/ 100 w 366"/>
                  <a:gd name="T53" fmla="*/ 88 h 278"/>
                  <a:gd name="T54" fmla="*/ 286 w 366"/>
                  <a:gd name="T55" fmla="*/ 103 h 278"/>
                  <a:gd name="T56" fmla="*/ 282 w 366"/>
                  <a:gd name="T57" fmla="*/ 278 h 278"/>
                  <a:gd name="T58" fmla="*/ 290 w 366"/>
                  <a:gd name="T59" fmla="*/ 278 h 278"/>
                  <a:gd name="T60" fmla="*/ 290 w 366"/>
                  <a:gd name="T61" fmla="*/ 99 h 278"/>
                  <a:gd name="T62" fmla="*/ 97 w 366"/>
                  <a:gd name="T63" fmla="*/ 84 h 278"/>
                  <a:gd name="T64" fmla="*/ 81 w 366"/>
                  <a:gd name="T65" fmla="*/ 277 h 278"/>
                  <a:gd name="T66" fmla="*/ 82 w 366"/>
                  <a:gd name="T67" fmla="*/ 278 h 278"/>
                  <a:gd name="T68" fmla="*/ 89 w 366"/>
                  <a:gd name="T69" fmla="*/ 278 h 278"/>
                  <a:gd name="T70" fmla="*/ 85 w 366"/>
                  <a:gd name="T71" fmla="*/ 274 h 278"/>
                  <a:gd name="T72" fmla="*/ 278 w 366"/>
                  <a:gd name="T73" fmla="*/ 109 h 278"/>
                  <a:gd name="T74" fmla="*/ 107 w 366"/>
                  <a:gd name="T75" fmla="*/ 96 h 278"/>
                  <a:gd name="T76" fmla="*/ 93 w 366"/>
                  <a:gd name="T77" fmla="*/ 267 h 278"/>
                  <a:gd name="T78" fmla="*/ 103 w 366"/>
                  <a:gd name="T79" fmla="*/ 278 h 278"/>
                  <a:gd name="T80" fmla="*/ 107 w 366"/>
                  <a:gd name="T81" fmla="*/ 278 h 278"/>
                  <a:gd name="T82" fmla="*/ 95 w 366"/>
                  <a:gd name="T83" fmla="*/ 265 h 278"/>
                  <a:gd name="T84" fmla="*/ 108 w 366"/>
                  <a:gd name="T85" fmla="*/ 98 h 278"/>
                  <a:gd name="T86" fmla="*/ 276 w 366"/>
                  <a:gd name="T87" fmla="*/ 111 h 278"/>
                  <a:gd name="T88" fmla="*/ 264 w 366"/>
                  <a:gd name="T89" fmla="*/ 278 h 278"/>
                  <a:gd name="T90" fmla="*/ 268 w 366"/>
                  <a:gd name="T91" fmla="*/ 278 h 278"/>
                  <a:gd name="T92" fmla="*/ 278 w 366"/>
                  <a:gd name="T93" fmla="*/ 109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66" h="278">
                    <a:moveTo>
                      <a:pt x="309" y="278"/>
                    </a:moveTo>
                    <a:cubicBezTo>
                      <a:pt x="300" y="278"/>
                      <a:pt x="300" y="278"/>
                      <a:pt x="300" y="278"/>
                    </a:cubicBezTo>
                    <a:cubicBezTo>
                      <a:pt x="341" y="224"/>
                      <a:pt x="341" y="147"/>
                      <a:pt x="296" y="94"/>
                    </a:cubicBezTo>
                    <a:cubicBezTo>
                      <a:pt x="244" y="33"/>
                      <a:pt x="152" y="26"/>
                      <a:pt x="91" y="78"/>
                    </a:cubicBezTo>
                    <a:cubicBezTo>
                      <a:pt x="32" y="129"/>
                      <a:pt x="24" y="217"/>
                      <a:pt x="72" y="278"/>
                    </a:cubicBezTo>
                    <a:cubicBezTo>
                      <a:pt x="62" y="278"/>
                      <a:pt x="62" y="278"/>
                      <a:pt x="62" y="278"/>
                    </a:cubicBezTo>
                    <a:cubicBezTo>
                      <a:pt x="16" y="214"/>
                      <a:pt x="26" y="124"/>
                      <a:pt x="86" y="72"/>
                    </a:cubicBezTo>
                    <a:cubicBezTo>
                      <a:pt x="150" y="18"/>
                      <a:pt x="247" y="25"/>
                      <a:pt x="302" y="89"/>
                    </a:cubicBezTo>
                    <a:cubicBezTo>
                      <a:pt x="348" y="144"/>
                      <a:pt x="350" y="222"/>
                      <a:pt x="309" y="278"/>
                    </a:cubicBezTo>
                    <a:close/>
                    <a:moveTo>
                      <a:pt x="83" y="68"/>
                    </a:moveTo>
                    <a:cubicBezTo>
                      <a:pt x="149" y="12"/>
                      <a:pt x="249" y="19"/>
                      <a:pt x="306" y="86"/>
                    </a:cubicBezTo>
                    <a:cubicBezTo>
                      <a:pt x="353" y="141"/>
                      <a:pt x="355" y="220"/>
                      <a:pt x="316" y="278"/>
                    </a:cubicBezTo>
                    <a:cubicBezTo>
                      <a:pt x="328" y="278"/>
                      <a:pt x="328" y="278"/>
                      <a:pt x="328" y="278"/>
                    </a:cubicBezTo>
                    <a:cubicBezTo>
                      <a:pt x="366" y="217"/>
                      <a:pt x="362" y="136"/>
                      <a:pt x="313" y="79"/>
                    </a:cubicBezTo>
                    <a:cubicBezTo>
                      <a:pt x="253" y="9"/>
                      <a:pt x="147" y="0"/>
                      <a:pt x="76" y="61"/>
                    </a:cubicBezTo>
                    <a:cubicBezTo>
                      <a:pt x="12" y="115"/>
                      <a:pt x="0" y="208"/>
                      <a:pt x="43" y="278"/>
                    </a:cubicBezTo>
                    <a:cubicBezTo>
                      <a:pt x="55" y="278"/>
                      <a:pt x="55" y="278"/>
                      <a:pt x="55" y="278"/>
                    </a:cubicBezTo>
                    <a:cubicBezTo>
                      <a:pt x="10" y="212"/>
                      <a:pt x="21" y="121"/>
                      <a:pt x="83" y="68"/>
                    </a:cubicBezTo>
                    <a:close/>
                    <a:moveTo>
                      <a:pt x="255" y="269"/>
                    </a:moveTo>
                    <a:cubicBezTo>
                      <a:pt x="299" y="231"/>
                      <a:pt x="304" y="164"/>
                      <a:pt x="266" y="119"/>
                    </a:cubicBezTo>
                    <a:cubicBezTo>
                      <a:pt x="228" y="75"/>
                      <a:pt x="161" y="70"/>
                      <a:pt x="117" y="108"/>
                    </a:cubicBezTo>
                    <a:cubicBezTo>
                      <a:pt x="72" y="146"/>
                      <a:pt x="67" y="213"/>
                      <a:pt x="105" y="257"/>
                    </a:cubicBezTo>
                    <a:cubicBezTo>
                      <a:pt x="112" y="265"/>
                      <a:pt x="120" y="272"/>
                      <a:pt x="128" y="278"/>
                    </a:cubicBezTo>
                    <a:cubicBezTo>
                      <a:pt x="243" y="278"/>
                      <a:pt x="243" y="278"/>
                      <a:pt x="243" y="278"/>
                    </a:cubicBezTo>
                    <a:cubicBezTo>
                      <a:pt x="247" y="275"/>
                      <a:pt x="251" y="272"/>
                      <a:pt x="255" y="269"/>
                    </a:cubicBezTo>
                    <a:close/>
                    <a:moveTo>
                      <a:pt x="85" y="274"/>
                    </a:moveTo>
                    <a:cubicBezTo>
                      <a:pt x="38" y="219"/>
                      <a:pt x="45" y="135"/>
                      <a:pt x="100" y="88"/>
                    </a:cubicBezTo>
                    <a:cubicBezTo>
                      <a:pt x="155" y="41"/>
                      <a:pt x="239" y="47"/>
                      <a:pt x="286" y="103"/>
                    </a:cubicBezTo>
                    <a:cubicBezTo>
                      <a:pt x="330" y="154"/>
                      <a:pt x="327" y="229"/>
                      <a:pt x="282" y="278"/>
                    </a:cubicBezTo>
                    <a:cubicBezTo>
                      <a:pt x="290" y="278"/>
                      <a:pt x="290" y="278"/>
                      <a:pt x="290" y="278"/>
                    </a:cubicBezTo>
                    <a:cubicBezTo>
                      <a:pt x="333" y="227"/>
                      <a:pt x="334" y="151"/>
                      <a:pt x="290" y="99"/>
                    </a:cubicBezTo>
                    <a:cubicBezTo>
                      <a:pt x="241" y="42"/>
                      <a:pt x="154" y="35"/>
                      <a:pt x="97" y="84"/>
                    </a:cubicBezTo>
                    <a:cubicBezTo>
                      <a:pt x="39" y="133"/>
                      <a:pt x="32" y="220"/>
                      <a:pt x="81" y="277"/>
                    </a:cubicBezTo>
                    <a:cubicBezTo>
                      <a:pt x="81" y="277"/>
                      <a:pt x="82" y="278"/>
                      <a:pt x="82" y="278"/>
                    </a:cubicBezTo>
                    <a:cubicBezTo>
                      <a:pt x="89" y="278"/>
                      <a:pt x="89" y="278"/>
                      <a:pt x="89" y="278"/>
                    </a:cubicBezTo>
                    <a:cubicBezTo>
                      <a:pt x="88" y="276"/>
                      <a:pt x="87" y="275"/>
                      <a:pt x="85" y="274"/>
                    </a:cubicBezTo>
                    <a:close/>
                    <a:moveTo>
                      <a:pt x="278" y="109"/>
                    </a:moveTo>
                    <a:cubicBezTo>
                      <a:pt x="235" y="58"/>
                      <a:pt x="158" y="52"/>
                      <a:pt x="107" y="96"/>
                    </a:cubicBezTo>
                    <a:cubicBezTo>
                      <a:pt x="55" y="139"/>
                      <a:pt x="49" y="216"/>
                      <a:pt x="93" y="267"/>
                    </a:cubicBezTo>
                    <a:cubicBezTo>
                      <a:pt x="96" y="271"/>
                      <a:pt x="100" y="274"/>
                      <a:pt x="103" y="278"/>
                    </a:cubicBezTo>
                    <a:cubicBezTo>
                      <a:pt x="107" y="278"/>
                      <a:pt x="107" y="278"/>
                      <a:pt x="107" y="278"/>
                    </a:cubicBezTo>
                    <a:cubicBezTo>
                      <a:pt x="103" y="274"/>
                      <a:pt x="99" y="270"/>
                      <a:pt x="95" y="265"/>
                    </a:cubicBezTo>
                    <a:cubicBezTo>
                      <a:pt x="53" y="216"/>
                      <a:pt x="59" y="141"/>
                      <a:pt x="108" y="98"/>
                    </a:cubicBezTo>
                    <a:cubicBezTo>
                      <a:pt x="158" y="55"/>
                      <a:pt x="233" y="61"/>
                      <a:pt x="276" y="111"/>
                    </a:cubicBezTo>
                    <a:cubicBezTo>
                      <a:pt x="318" y="160"/>
                      <a:pt x="313" y="235"/>
                      <a:pt x="264" y="278"/>
                    </a:cubicBezTo>
                    <a:cubicBezTo>
                      <a:pt x="268" y="278"/>
                      <a:pt x="268" y="278"/>
                      <a:pt x="268" y="278"/>
                    </a:cubicBezTo>
                    <a:cubicBezTo>
                      <a:pt x="316" y="233"/>
                      <a:pt x="321" y="159"/>
                      <a:pt x="278" y="109"/>
                    </a:cubicBezTo>
                    <a:close/>
                  </a:path>
                </a:pathLst>
              </a:custGeom>
              <a:solidFill>
                <a:srgbClr val="40AD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18" name="circle_mid" hidden="1"/>
              <p:cNvSpPr>
                <a:spLocks noEditPoints="1"/>
              </p:cNvSpPr>
              <p:nvPr userDrawn="1"/>
            </p:nvSpPr>
            <p:spPr bwMode="ltGray">
              <a:xfrm>
                <a:off x="8248648" y="-7136"/>
                <a:ext cx="892800" cy="1021799"/>
              </a:xfrm>
              <a:custGeom>
                <a:avLst/>
                <a:gdLst>
                  <a:gd name="T0" fmla="*/ 85 w 285"/>
                  <a:gd name="T1" fmla="*/ 321 h 321"/>
                  <a:gd name="T2" fmla="*/ 76 w 285"/>
                  <a:gd name="T3" fmla="*/ 321 h 321"/>
                  <a:gd name="T4" fmla="*/ 117 w 285"/>
                  <a:gd name="T5" fmla="*/ 68 h 321"/>
                  <a:gd name="T6" fmla="*/ 285 w 285"/>
                  <a:gd name="T7" fmla="*/ 25 h 321"/>
                  <a:gd name="T8" fmla="*/ 285 w 285"/>
                  <a:gd name="T9" fmla="*/ 33 h 321"/>
                  <a:gd name="T10" fmla="*/ 122 w 285"/>
                  <a:gd name="T11" fmla="*/ 74 h 321"/>
                  <a:gd name="T12" fmla="*/ 85 w 285"/>
                  <a:gd name="T13" fmla="*/ 321 h 321"/>
                  <a:gd name="T14" fmla="*/ 102 w 285"/>
                  <a:gd name="T15" fmla="*/ 51 h 321"/>
                  <a:gd name="T16" fmla="*/ 200 w 285"/>
                  <a:gd name="T17" fmla="*/ 2 h 321"/>
                  <a:gd name="T18" fmla="*/ 187 w 285"/>
                  <a:gd name="T19" fmla="*/ 2 h 321"/>
                  <a:gd name="T20" fmla="*/ 100 w 285"/>
                  <a:gd name="T21" fmla="*/ 48 h 321"/>
                  <a:gd name="T22" fmla="*/ 46 w 285"/>
                  <a:gd name="T23" fmla="*/ 321 h 321"/>
                  <a:gd name="T24" fmla="*/ 49 w 285"/>
                  <a:gd name="T25" fmla="*/ 321 h 321"/>
                  <a:gd name="T26" fmla="*/ 102 w 285"/>
                  <a:gd name="T27" fmla="*/ 51 h 321"/>
                  <a:gd name="T28" fmla="*/ 285 w 285"/>
                  <a:gd name="T29" fmla="*/ 52 h 321"/>
                  <a:gd name="T30" fmla="*/ 134 w 285"/>
                  <a:gd name="T31" fmla="*/ 88 h 321"/>
                  <a:gd name="T32" fmla="*/ 107 w 285"/>
                  <a:gd name="T33" fmla="*/ 321 h 321"/>
                  <a:gd name="T34" fmla="*/ 285 w 285"/>
                  <a:gd name="T35" fmla="*/ 321 h 321"/>
                  <a:gd name="T36" fmla="*/ 285 w 285"/>
                  <a:gd name="T37" fmla="*/ 52 h 321"/>
                  <a:gd name="T38" fmla="*/ 91 w 285"/>
                  <a:gd name="T39" fmla="*/ 321 h 321"/>
                  <a:gd name="T40" fmla="*/ 103 w 285"/>
                  <a:gd name="T41" fmla="*/ 321 h 321"/>
                  <a:gd name="T42" fmla="*/ 132 w 285"/>
                  <a:gd name="T43" fmla="*/ 86 h 321"/>
                  <a:gd name="T44" fmla="*/ 285 w 285"/>
                  <a:gd name="T45" fmla="*/ 48 h 321"/>
                  <a:gd name="T46" fmla="*/ 285 w 285"/>
                  <a:gd name="T47" fmla="*/ 38 h 321"/>
                  <a:gd name="T48" fmla="*/ 125 w 285"/>
                  <a:gd name="T49" fmla="*/ 78 h 321"/>
                  <a:gd name="T50" fmla="*/ 91 w 285"/>
                  <a:gd name="T51" fmla="*/ 321 h 321"/>
                  <a:gd name="T52" fmla="*/ 61 w 285"/>
                  <a:gd name="T53" fmla="*/ 321 h 321"/>
                  <a:gd name="T54" fmla="*/ 67 w 285"/>
                  <a:gd name="T55" fmla="*/ 321 h 321"/>
                  <a:gd name="T56" fmla="*/ 112 w 285"/>
                  <a:gd name="T57" fmla="*/ 62 h 321"/>
                  <a:gd name="T58" fmla="*/ 285 w 285"/>
                  <a:gd name="T59" fmla="*/ 17 h 321"/>
                  <a:gd name="T60" fmla="*/ 285 w 285"/>
                  <a:gd name="T61" fmla="*/ 12 h 321"/>
                  <a:gd name="T62" fmla="*/ 108 w 285"/>
                  <a:gd name="T63" fmla="*/ 58 h 321"/>
                  <a:gd name="T64" fmla="*/ 61 w 285"/>
                  <a:gd name="T65" fmla="*/ 321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5" h="321">
                    <a:moveTo>
                      <a:pt x="85" y="321"/>
                    </a:moveTo>
                    <a:cubicBezTo>
                      <a:pt x="76" y="321"/>
                      <a:pt x="76" y="321"/>
                      <a:pt x="76" y="321"/>
                    </a:cubicBezTo>
                    <a:cubicBezTo>
                      <a:pt x="27" y="239"/>
                      <a:pt x="42" y="132"/>
                      <a:pt x="117" y="68"/>
                    </a:cubicBezTo>
                    <a:cubicBezTo>
                      <a:pt x="165" y="27"/>
                      <a:pt x="227" y="13"/>
                      <a:pt x="285" y="25"/>
                    </a:cubicBezTo>
                    <a:cubicBezTo>
                      <a:pt x="285" y="33"/>
                      <a:pt x="285" y="33"/>
                      <a:pt x="285" y="33"/>
                    </a:cubicBezTo>
                    <a:cubicBezTo>
                      <a:pt x="229" y="21"/>
                      <a:pt x="168" y="34"/>
                      <a:pt x="122" y="74"/>
                    </a:cubicBezTo>
                    <a:cubicBezTo>
                      <a:pt x="49" y="136"/>
                      <a:pt x="35" y="242"/>
                      <a:pt x="85" y="321"/>
                    </a:cubicBezTo>
                    <a:close/>
                    <a:moveTo>
                      <a:pt x="102" y="51"/>
                    </a:moveTo>
                    <a:cubicBezTo>
                      <a:pt x="131" y="26"/>
                      <a:pt x="165" y="10"/>
                      <a:pt x="200" y="2"/>
                    </a:cubicBezTo>
                    <a:cubicBezTo>
                      <a:pt x="187" y="2"/>
                      <a:pt x="187" y="2"/>
                      <a:pt x="187" y="2"/>
                    </a:cubicBezTo>
                    <a:cubicBezTo>
                      <a:pt x="156" y="11"/>
                      <a:pt x="126" y="26"/>
                      <a:pt x="100" y="48"/>
                    </a:cubicBezTo>
                    <a:cubicBezTo>
                      <a:pt x="19" y="117"/>
                      <a:pt x="0" y="230"/>
                      <a:pt x="46" y="321"/>
                    </a:cubicBezTo>
                    <a:cubicBezTo>
                      <a:pt x="49" y="321"/>
                      <a:pt x="49" y="321"/>
                      <a:pt x="49" y="321"/>
                    </a:cubicBezTo>
                    <a:cubicBezTo>
                      <a:pt x="3" y="231"/>
                      <a:pt x="22" y="119"/>
                      <a:pt x="102" y="51"/>
                    </a:cubicBezTo>
                    <a:close/>
                    <a:moveTo>
                      <a:pt x="285" y="52"/>
                    </a:moveTo>
                    <a:cubicBezTo>
                      <a:pt x="233" y="39"/>
                      <a:pt x="177" y="51"/>
                      <a:pt x="134" y="88"/>
                    </a:cubicBezTo>
                    <a:cubicBezTo>
                      <a:pt x="65" y="147"/>
                      <a:pt x="54" y="249"/>
                      <a:pt x="107" y="321"/>
                    </a:cubicBezTo>
                    <a:cubicBezTo>
                      <a:pt x="285" y="321"/>
                      <a:pt x="285" y="321"/>
                      <a:pt x="285" y="321"/>
                    </a:cubicBezTo>
                    <a:lnTo>
                      <a:pt x="285" y="52"/>
                    </a:lnTo>
                    <a:close/>
                    <a:moveTo>
                      <a:pt x="91" y="321"/>
                    </a:moveTo>
                    <a:cubicBezTo>
                      <a:pt x="103" y="321"/>
                      <a:pt x="103" y="321"/>
                      <a:pt x="103" y="321"/>
                    </a:cubicBezTo>
                    <a:cubicBezTo>
                      <a:pt x="51" y="248"/>
                      <a:pt x="62" y="145"/>
                      <a:pt x="132" y="86"/>
                    </a:cubicBezTo>
                    <a:cubicBezTo>
                      <a:pt x="175" y="48"/>
                      <a:pt x="232" y="36"/>
                      <a:pt x="285" y="48"/>
                    </a:cubicBezTo>
                    <a:cubicBezTo>
                      <a:pt x="285" y="38"/>
                      <a:pt x="285" y="38"/>
                      <a:pt x="285" y="38"/>
                    </a:cubicBezTo>
                    <a:cubicBezTo>
                      <a:pt x="230" y="26"/>
                      <a:pt x="171" y="39"/>
                      <a:pt x="125" y="78"/>
                    </a:cubicBezTo>
                    <a:cubicBezTo>
                      <a:pt x="53" y="139"/>
                      <a:pt x="40" y="244"/>
                      <a:pt x="91" y="321"/>
                    </a:cubicBezTo>
                    <a:close/>
                    <a:moveTo>
                      <a:pt x="61" y="321"/>
                    </a:moveTo>
                    <a:cubicBezTo>
                      <a:pt x="67" y="321"/>
                      <a:pt x="67" y="321"/>
                      <a:pt x="67" y="321"/>
                    </a:cubicBezTo>
                    <a:cubicBezTo>
                      <a:pt x="19" y="237"/>
                      <a:pt x="35" y="128"/>
                      <a:pt x="112" y="62"/>
                    </a:cubicBezTo>
                    <a:cubicBezTo>
                      <a:pt x="161" y="20"/>
                      <a:pt x="225" y="5"/>
                      <a:pt x="285" y="17"/>
                    </a:cubicBezTo>
                    <a:cubicBezTo>
                      <a:pt x="285" y="12"/>
                      <a:pt x="285" y="12"/>
                      <a:pt x="285" y="12"/>
                    </a:cubicBezTo>
                    <a:cubicBezTo>
                      <a:pt x="224" y="0"/>
                      <a:pt x="159" y="15"/>
                      <a:pt x="108" y="58"/>
                    </a:cubicBezTo>
                    <a:cubicBezTo>
                      <a:pt x="31" y="124"/>
                      <a:pt x="13" y="235"/>
                      <a:pt x="61" y="321"/>
                    </a:cubicBezTo>
                    <a:close/>
                  </a:path>
                </a:pathLst>
              </a:custGeom>
              <a:solidFill>
                <a:srgbClr val="80C8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sp>
            <p:nvSpPr>
              <p:cNvPr id="19" name="circle_light" hidden="1"/>
              <p:cNvSpPr>
                <a:spLocks noEditPoints="1"/>
              </p:cNvSpPr>
              <p:nvPr userDrawn="1"/>
            </p:nvSpPr>
            <p:spPr bwMode="ltGray">
              <a:xfrm>
                <a:off x="7920038" y="2390"/>
                <a:ext cx="748800" cy="414337"/>
              </a:xfrm>
              <a:custGeom>
                <a:avLst/>
                <a:gdLst>
                  <a:gd name="T0" fmla="*/ 38 w 236"/>
                  <a:gd name="T1" fmla="*/ 65 h 129"/>
                  <a:gd name="T2" fmla="*/ 13 w 236"/>
                  <a:gd name="T3" fmla="*/ 0 h 129"/>
                  <a:gd name="T4" fmla="*/ 19 w 236"/>
                  <a:gd name="T5" fmla="*/ 0 h 129"/>
                  <a:gd name="T6" fmla="*/ 42 w 236"/>
                  <a:gd name="T7" fmla="*/ 61 h 129"/>
                  <a:gd name="T8" fmla="*/ 183 w 236"/>
                  <a:gd name="T9" fmla="*/ 72 h 129"/>
                  <a:gd name="T10" fmla="*/ 218 w 236"/>
                  <a:gd name="T11" fmla="*/ 0 h 129"/>
                  <a:gd name="T12" fmla="*/ 223 w 236"/>
                  <a:gd name="T13" fmla="*/ 0 h 129"/>
                  <a:gd name="T14" fmla="*/ 187 w 236"/>
                  <a:gd name="T15" fmla="*/ 76 h 129"/>
                  <a:gd name="T16" fmla="*/ 38 w 236"/>
                  <a:gd name="T17" fmla="*/ 65 h 129"/>
                  <a:gd name="T18" fmla="*/ 187 w 236"/>
                  <a:gd name="T19" fmla="*/ 0 h 129"/>
                  <a:gd name="T20" fmla="*/ 163 w 236"/>
                  <a:gd name="T21" fmla="*/ 49 h 129"/>
                  <a:gd name="T22" fmla="*/ 66 w 236"/>
                  <a:gd name="T23" fmla="*/ 41 h 129"/>
                  <a:gd name="T24" fmla="*/ 50 w 236"/>
                  <a:gd name="T25" fmla="*/ 0 h 129"/>
                  <a:gd name="T26" fmla="*/ 40 w 236"/>
                  <a:gd name="T27" fmla="*/ 0 h 129"/>
                  <a:gd name="T28" fmla="*/ 58 w 236"/>
                  <a:gd name="T29" fmla="*/ 48 h 129"/>
                  <a:gd name="T30" fmla="*/ 170 w 236"/>
                  <a:gd name="T31" fmla="*/ 57 h 129"/>
                  <a:gd name="T32" fmla="*/ 197 w 236"/>
                  <a:gd name="T33" fmla="*/ 0 h 129"/>
                  <a:gd name="T34" fmla="*/ 187 w 236"/>
                  <a:gd name="T35" fmla="*/ 0 h 129"/>
                  <a:gd name="T36" fmla="*/ 202 w 236"/>
                  <a:gd name="T37" fmla="*/ 0 h 129"/>
                  <a:gd name="T38" fmla="*/ 173 w 236"/>
                  <a:gd name="T39" fmla="*/ 61 h 129"/>
                  <a:gd name="T40" fmla="*/ 54 w 236"/>
                  <a:gd name="T41" fmla="*/ 51 h 129"/>
                  <a:gd name="T42" fmla="*/ 34 w 236"/>
                  <a:gd name="T43" fmla="*/ 0 h 129"/>
                  <a:gd name="T44" fmla="*/ 26 w 236"/>
                  <a:gd name="T45" fmla="*/ 0 h 129"/>
                  <a:gd name="T46" fmla="*/ 48 w 236"/>
                  <a:gd name="T47" fmla="*/ 56 h 129"/>
                  <a:gd name="T48" fmla="*/ 178 w 236"/>
                  <a:gd name="T49" fmla="*/ 67 h 129"/>
                  <a:gd name="T50" fmla="*/ 210 w 236"/>
                  <a:gd name="T51" fmla="*/ 0 h 129"/>
                  <a:gd name="T52" fmla="*/ 202 w 236"/>
                  <a:gd name="T53" fmla="*/ 0 h 129"/>
                  <a:gd name="T54" fmla="*/ 53 w 236"/>
                  <a:gd name="T55" fmla="*/ 0 h 129"/>
                  <a:gd name="T56" fmla="*/ 68 w 236"/>
                  <a:gd name="T57" fmla="*/ 39 h 129"/>
                  <a:gd name="T58" fmla="*/ 161 w 236"/>
                  <a:gd name="T59" fmla="*/ 47 h 129"/>
                  <a:gd name="T60" fmla="*/ 184 w 236"/>
                  <a:gd name="T61" fmla="*/ 0 h 129"/>
                  <a:gd name="T62" fmla="*/ 53 w 236"/>
                  <a:gd name="T63" fmla="*/ 0 h 129"/>
                  <a:gd name="T64" fmla="*/ 193 w 236"/>
                  <a:gd name="T65" fmla="*/ 84 h 129"/>
                  <a:gd name="T66" fmla="*/ 31 w 236"/>
                  <a:gd name="T67" fmla="*/ 71 h 129"/>
                  <a:gd name="T68" fmla="*/ 3 w 236"/>
                  <a:gd name="T69" fmla="*/ 0 h 129"/>
                  <a:gd name="T70" fmla="*/ 0 w 236"/>
                  <a:gd name="T71" fmla="*/ 0 h 129"/>
                  <a:gd name="T72" fmla="*/ 28 w 236"/>
                  <a:gd name="T73" fmla="*/ 73 h 129"/>
                  <a:gd name="T74" fmla="*/ 195 w 236"/>
                  <a:gd name="T75" fmla="*/ 86 h 129"/>
                  <a:gd name="T76" fmla="*/ 236 w 236"/>
                  <a:gd name="T77" fmla="*/ 0 h 129"/>
                  <a:gd name="T78" fmla="*/ 233 w 236"/>
                  <a:gd name="T79" fmla="*/ 0 h 129"/>
                  <a:gd name="T80" fmla="*/ 193 w 236"/>
                  <a:gd name="T81" fmla="*/ 8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6" h="129">
                    <a:moveTo>
                      <a:pt x="38" y="65"/>
                    </a:moveTo>
                    <a:cubicBezTo>
                      <a:pt x="22" y="46"/>
                      <a:pt x="14" y="23"/>
                      <a:pt x="13" y="0"/>
                    </a:cubicBezTo>
                    <a:cubicBezTo>
                      <a:pt x="19" y="0"/>
                      <a:pt x="19" y="0"/>
                      <a:pt x="19" y="0"/>
                    </a:cubicBezTo>
                    <a:cubicBezTo>
                      <a:pt x="19" y="22"/>
                      <a:pt x="27" y="44"/>
                      <a:pt x="42" y="61"/>
                    </a:cubicBezTo>
                    <a:cubicBezTo>
                      <a:pt x="78" y="103"/>
                      <a:pt x="141" y="108"/>
                      <a:pt x="183" y="72"/>
                    </a:cubicBezTo>
                    <a:cubicBezTo>
                      <a:pt x="205" y="54"/>
                      <a:pt x="217" y="27"/>
                      <a:pt x="218" y="0"/>
                    </a:cubicBezTo>
                    <a:cubicBezTo>
                      <a:pt x="223" y="0"/>
                      <a:pt x="223" y="0"/>
                      <a:pt x="223" y="0"/>
                    </a:cubicBezTo>
                    <a:cubicBezTo>
                      <a:pt x="222" y="29"/>
                      <a:pt x="210" y="57"/>
                      <a:pt x="187" y="76"/>
                    </a:cubicBezTo>
                    <a:cubicBezTo>
                      <a:pt x="142" y="114"/>
                      <a:pt x="76" y="109"/>
                      <a:pt x="38" y="65"/>
                    </a:cubicBezTo>
                    <a:close/>
                    <a:moveTo>
                      <a:pt x="187" y="0"/>
                    </a:moveTo>
                    <a:cubicBezTo>
                      <a:pt x="186" y="19"/>
                      <a:pt x="178" y="36"/>
                      <a:pt x="163" y="49"/>
                    </a:cubicBezTo>
                    <a:cubicBezTo>
                      <a:pt x="134" y="74"/>
                      <a:pt x="91" y="70"/>
                      <a:pt x="66" y="41"/>
                    </a:cubicBezTo>
                    <a:cubicBezTo>
                      <a:pt x="56" y="29"/>
                      <a:pt x="50" y="15"/>
                      <a:pt x="50" y="0"/>
                    </a:cubicBezTo>
                    <a:cubicBezTo>
                      <a:pt x="40" y="0"/>
                      <a:pt x="40" y="0"/>
                      <a:pt x="40" y="0"/>
                    </a:cubicBezTo>
                    <a:cubicBezTo>
                      <a:pt x="40" y="17"/>
                      <a:pt x="46" y="34"/>
                      <a:pt x="58" y="48"/>
                    </a:cubicBezTo>
                    <a:cubicBezTo>
                      <a:pt x="87" y="81"/>
                      <a:pt x="136" y="85"/>
                      <a:pt x="170" y="57"/>
                    </a:cubicBezTo>
                    <a:cubicBezTo>
                      <a:pt x="187" y="42"/>
                      <a:pt x="196" y="21"/>
                      <a:pt x="197" y="0"/>
                    </a:cubicBezTo>
                    <a:lnTo>
                      <a:pt x="187" y="0"/>
                    </a:lnTo>
                    <a:close/>
                    <a:moveTo>
                      <a:pt x="202" y="0"/>
                    </a:moveTo>
                    <a:cubicBezTo>
                      <a:pt x="201" y="23"/>
                      <a:pt x="191" y="45"/>
                      <a:pt x="173" y="61"/>
                    </a:cubicBezTo>
                    <a:cubicBezTo>
                      <a:pt x="138" y="91"/>
                      <a:pt x="84" y="87"/>
                      <a:pt x="54" y="51"/>
                    </a:cubicBezTo>
                    <a:cubicBezTo>
                      <a:pt x="41" y="37"/>
                      <a:pt x="35" y="19"/>
                      <a:pt x="34" y="0"/>
                    </a:cubicBezTo>
                    <a:cubicBezTo>
                      <a:pt x="26" y="0"/>
                      <a:pt x="26" y="0"/>
                      <a:pt x="26" y="0"/>
                    </a:cubicBezTo>
                    <a:cubicBezTo>
                      <a:pt x="27" y="20"/>
                      <a:pt x="34" y="40"/>
                      <a:pt x="48" y="56"/>
                    </a:cubicBezTo>
                    <a:cubicBezTo>
                      <a:pt x="81" y="95"/>
                      <a:pt x="139" y="100"/>
                      <a:pt x="178" y="67"/>
                    </a:cubicBezTo>
                    <a:cubicBezTo>
                      <a:pt x="198" y="49"/>
                      <a:pt x="209" y="25"/>
                      <a:pt x="210" y="0"/>
                    </a:cubicBezTo>
                    <a:lnTo>
                      <a:pt x="202" y="0"/>
                    </a:lnTo>
                    <a:close/>
                    <a:moveTo>
                      <a:pt x="53" y="0"/>
                    </a:moveTo>
                    <a:cubicBezTo>
                      <a:pt x="53" y="14"/>
                      <a:pt x="58" y="28"/>
                      <a:pt x="68" y="39"/>
                    </a:cubicBezTo>
                    <a:cubicBezTo>
                      <a:pt x="92" y="67"/>
                      <a:pt x="133" y="70"/>
                      <a:pt x="161" y="47"/>
                    </a:cubicBezTo>
                    <a:cubicBezTo>
                      <a:pt x="175" y="35"/>
                      <a:pt x="183" y="18"/>
                      <a:pt x="184" y="0"/>
                    </a:cubicBezTo>
                    <a:lnTo>
                      <a:pt x="53" y="0"/>
                    </a:lnTo>
                    <a:close/>
                    <a:moveTo>
                      <a:pt x="193" y="84"/>
                    </a:moveTo>
                    <a:cubicBezTo>
                      <a:pt x="145" y="125"/>
                      <a:pt x="72" y="120"/>
                      <a:pt x="31" y="71"/>
                    </a:cubicBezTo>
                    <a:cubicBezTo>
                      <a:pt x="13" y="51"/>
                      <a:pt x="4" y="26"/>
                      <a:pt x="3" y="0"/>
                    </a:cubicBezTo>
                    <a:cubicBezTo>
                      <a:pt x="0" y="0"/>
                      <a:pt x="0" y="0"/>
                      <a:pt x="0" y="0"/>
                    </a:cubicBezTo>
                    <a:cubicBezTo>
                      <a:pt x="1" y="26"/>
                      <a:pt x="10" y="52"/>
                      <a:pt x="28" y="73"/>
                    </a:cubicBezTo>
                    <a:cubicBezTo>
                      <a:pt x="71" y="123"/>
                      <a:pt x="146" y="129"/>
                      <a:pt x="195" y="86"/>
                    </a:cubicBezTo>
                    <a:cubicBezTo>
                      <a:pt x="221" y="64"/>
                      <a:pt x="235" y="32"/>
                      <a:pt x="236" y="0"/>
                    </a:cubicBezTo>
                    <a:cubicBezTo>
                      <a:pt x="233" y="0"/>
                      <a:pt x="233" y="0"/>
                      <a:pt x="233" y="0"/>
                    </a:cubicBezTo>
                    <a:cubicBezTo>
                      <a:pt x="232" y="32"/>
                      <a:pt x="219" y="62"/>
                      <a:pt x="193" y="8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sz="2400">
                  <a:solidFill>
                    <a:srgbClr val="000000"/>
                  </a:solidFill>
                </a:endParaRPr>
              </a:p>
            </p:txBody>
          </p:sp>
        </p:grpSp>
      </p:grpSp>
      <p:sp>
        <p:nvSpPr>
          <p:cNvPr id="2" name="Title Placeholder 1" descr="&lt;mode=4x3&gt;&#10;&lt;size&gt;h=55.27275;w=648&lt;size/&gt;&#10;&lt;pos&gt;top=0.0001574803;left=40.59591&lt;pos/&gt;&#10;&lt;mode/&gt;&#10;&lt;mode=16x9&gt;&#10;&lt;size&gt;h=47.06252;w=613.7008&lt;size/&gt;&#10;&lt;pos&gt;top=0;left=29.25&lt;pos/&gt;&#10;&lt;mode/&gt;"/>
          <p:cNvSpPr>
            <a:spLocks noGrp="1"/>
          </p:cNvSpPr>
          <p:nvPr userDrawn="1">
            <p:ph type="title"/>
          </p:nvPr>
        </p:nvSpPr>
        <p:spPr>
          <a:xfrm>
            <a:off x="495300" y="0"/>
            <a:ext cx="10392000" cy="796925"/>
          </a:xfrm>
          <a:prstGeom prst="rect">
            <a:avLst/>
          </a:prstGeom>
        </p:spPr>
        <p:txBody>
          <a:bodyPr vert="horz" lIns="0" tIns="0" rIns="0" bIns="0" rtlCol="0" anchor="ctr" anchorCtr="0">
            <a:noAutofit/>
          </a:bodyPr>
          <a:lstStyle/>
          <a:p>
            <a:r>
              <a:rPr lang="en-US" dirty="0"/>
              <a:t>Click to edit Master title style</a:t>
            </a:r>
            <a:endParaRPr lang="en-AU" dirty="0"/>
          </a:p>
        </p:txBody>
      </p:sp>
      <p:sp>
        <p:nvSpPr>
          <p:cNvPr id="3" name="Text Placeholder 2" descr="&lt;mode=4x3&gt;&#10;&lt;size&gt;h=403.0866;w=651.9685&lt;size/&gt;&#10;&lt;pos&gt;top=106.8661;left=40.25197&lt;pos/&gt;&#10;&lt;mode/&gt;&#10;&lt;mode=16x9&gt;&#10;&lt;size&gt;h=302.315;w=613.6129&lt;size/&gt;&#10;&lt;pos&gt;top=82.02433;left=29.84512&lt;pos/&gt;&#10;&lt;mode/&gt;"/>
          <p:cNvSpPr>
            <a:spLocks noGrp="1"/>
          </p:cNvSpPr>
          <p:nvPr userDrawn="1">
            <p:ph type="body" idx="1"/>
          </p:nvPr>
        </p:nvSpPr>
        <p:spPr>
          <a:xfrm>
            <a:off x="505377" y="1388946"/>
            <a:ext cx="10390512" cy="5119201"/>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TextBox 6">
            <a:extLst>
              <a:ext uri="{FF2B5EF4-FFF2-40B4-BE49-F238E27FC236}">
                <a16:creationId xmlns:a16="http://schemas.microsoft.com/office/drawing/2014/main" id="{52109C56-4080-3D6F-93B6-1F4326FDC602}"/>
              </a:ext>
            </a:extLst>
          </p:cNvPr>
          <p:cNvSpPr txBox="1"/>
          <p:nvPr>
            <p:extLst>
              <p:ext uri="{1162E1C5-73C7-4A58-AE30-91384D911F3F}">
                <p184:classification xmlns:p184="http://schemas.microsoft.com/office/powerpoint/2018/4/main" val="hdr"/>
              </p:ext>
            </p:extLst>
          </p:nvPr>
        </p:nvSpPr>
        <p:spPr>
          <a:xfrm>
            <a:off x="5775325" y="63500"/>
            <a:ext cx="681038" cy="213360"/>
          </a:xfrm>
          <a:prstGeom prst="rect">
            <a:avLst/>
          </a:prstGeom>
        </p:spPr>
        <p:txBody>
          <a:bodyPr horzOverflow="overflow" lIns="0" tIns="0" rIns="0" bIns="0">
            <a:spAutoFit/>
          </a:bodyPr>
          <a:lstStyle/>
          <a:p>
            <a:pPr algn="l"/>
            <a:r>
              <a:rPr lang="en-GB" sz="1400">
                <a:solidFill>
                  <a:srgbClr val="FF0000"/>
                </a:solidFill>
                <a:latin typeface="Calibri" panose="020F0502020204030204" pitchFamily="34" charset="0"/>
                <a:ea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13160738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wipe dir="r"/>
  </p:transition>
  <p:txStyles>
    <p:titleStyle>
      <a:lvl1pPr algn="l" defTabSz="1219170" rtl="0" eaLnBrk="1" latinLnBrk="0" hangingPunct="1">
        <a:lnSpc>
          <a:spcPct val="90000"/>
        </a:lnSpc>
        <a:spcBef>
          <a:spcPct val="0"/>
        </a:spcBef>
        <a:buNone/>
        <a:defRPr sz="2400" kern="1200" spc="-93" baseline="0">
          <a:solidFill>
            <a:schemeClr val="bg1"/>
          </a:solidFill>
          <a:latin typeface="Verdana" pitchFamily="34" charset="0"/>
          <a:ea typeface="Verdana" pitchFamily="34" charset="0"/>
          <a:cs typeface="Verdana" pitchFamily="34" charset="0"/>
        </a:defRPr>
      </a:lvl1pPr>
    </p:titleStyle>
    <p:bodyStyle>
      <a:lvl1pPr marL="0" indent="0" algn="l" defTabSz="1219170" rtl="0" eaLnBrk="1" latinLnBrk="0" hangingPunct="1">
        <a:lnSpc>
          <a:spcPct val="100000"/>
        </a:lnSpc>
        <a:spcBef>
          <a:spcPts val="400"/>
        </a:spcBef>
        <a:spcAft>
          <a:spcPts val="400"/>
        </a:spcAft>
        <a:buFontTx/>
        <a:buNone/>
        <a:defRPr sz="2000" b="0" kern="1200">
          <a:solidFill>
            <a:schemeClr val="tx2"/>
          </a:solidFill>
          <a:latin typeface="+mn-lt"/>
          <a:ea typeface="Verdana" pitchFamily="34" charset="0"/>
          <a:cs typeface="Verdana" pitchFamily="34" charset="0"/>
        </a:defRPr>
      </a:lvl1pPr>
      <a:lvl2pPr marL="0" indent="0" algn="l" defTabSz="1219170" rtl="0" eaLnBrk="1" latinLnBrk="0" hangingPunct="1">
        <a:lnSpc>
          <a:spcPct val="100000"/>
        </a:lnSpc>
        <a:spcBef>
          <a:spcPts val="800"/>
        </a:spcBef>
        <a:spcAft>
          <a:spcPts val="800"/>
        </a:spcAft>
        <a:buFontTx/>
        <a:buNone/>
        <a:defRPr sz="2000" kern="1200" spc="-27" baseline="0">
          <a:solidFill>
            <a:schemeClr val="tx2"/>
          </a:solidFill>
          <a:latin typeface="+mn-lt"/>
          <a:ea typeface="Verdana" pitchFamily="34" charset="0"/>
          <a:cs typeface="Verdana" pitchFamily="34" charset="0"/>
        </a:defRPr>
      </a:lvl2pPr>
      <a:lvl3pPr marL="349242" indent="-330192" algn="l" defTabSz="1219170" rtl="0" eaLnBrk="1" latinLnBrk="0" hangingPunct="1">
        <a:lnSpc>
          <a:spcPct val="100000"/>
        </a:lnSpc>
        <a:spcBef>
          <a:spcPts val="1600"/>
        </a:spcBef>
        <a:buSzPct val="100000"/>
        <a:buFont typeface="Arial" pitchFamily="34" charset="0"/>
        <a:buChar char="•"/>
        <a:defRPr sz="2000" kern="1200" spc="-27" baseline="0">
          <a:solidFill>
            <a:schemeClr val="tx2"/>
          </a:solidFill>
          <a:latin typeface="+mn-lt"/>
          <a:ea typeface="Verdana" pitchFamily="34" charset="0"/>
          <a:cs typeface="Verdana" pitchFamily="34" charset="0"/>
        </a:defRPr>
      </a:lvl3pPr>
      <a:lvl4pPr marL="685783" indent="-330192" algn="l" defTabSz="1219170" rtl="0" eaLnBrk="1" latinLnBrk="0" hangingPunct="1">
        <a:lnSpc>
          <a:spcPct val="100000"/>
        </a:lnSpc>
        <a:spcBef>
          <a:spcPts val="0"/>
        </a:spcBef>
        <a:buSzPct val="100000"/>
        <a:buFont typeface="Arial" pitchFamily="34" charset="0"/>
        <a:buChar char="•"/>
        <a:defRPr sz="2000" kern="1200" spc="-27" baseline="0">
          <a:solidFill>
            <a:schemeClr val="tx2"/>
          </a:solidFill>
          <a:latin typeface="+mn-lt"/>
          <a:ea typeface="Verdana" pitchFamily="34" charset="0"/>
          <a:cs typeface="Verdana" pitchFamily="34" charset="0"/>
        </a:defRPr>
      </a:lvl4pPr>
      <a:lvl5pPr marL="1003275" indent="-330192" algn="l" defTabSz="1219170" rtl="0" eaLnBrk="1" latinLnBrk="0" hangingPunct="1">
        <a:lnSpc>
          <a:spcPct val="100000"/>
        </a:lnSpc>
        <a:spcBef>
          <a:spcPts val="0"/>
        </a:spcBef>
        <a:buSzPct val="100000"/>
        <a:buFont typeface="Arial" pitchFamily="34" charset="0"/>
        <a:buChar char="•"/>
        <a:defRPr sz="2000" kern="1200" spc="-27" baseline="0">
          <a:solidFill>
            <a:schemeClr val="tx2"/>
          </a:solidFill>
          <a:latin typeface="+mn-lt"/>
          <a:ea typeface="Verdana" pitchFamily="34" charset="0"/>
          <a:cs typeface="Verdana"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3_2740AF57.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microsoft.com/office/2018/10/relationships/comments" Target="../comments/modernComment_1F0_10F5A08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microsoft.com/office/2018/10/relationships/comments" Target="../comments/modernComment_1EE_865F779A.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bwMode="ltGray">
      <p:bgPr>
        <a:blipFill dpi="0" rotWithShape="1">
          <a:blip r:embed="rId2">
            <a:lum/>
          </a:blip>
          <a:srcRect/>
          <a:stretch>
            <a:fillRect t="-21000" b="-15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2268" y="4076700"/>
            <a:ext cx="7518677" cy="726677"/>
          </a:xfrm>
        </p:spPr>
        <p:txBody>
          <a:bodyPr/>
          <a:lstStyle/>
          <a:p>
            <a:r>
              <a:rPr lang="en-AU" sz="3200" dirty="0"/>
              <a:t>Architecture Presentation</a:t>
            </a:r>
          </a:p>
        </p:txBody>
      </p:sp>
      <p:sp>
        <p:nvSpPr>
          <p:cNvPr id="3" name="Subtitle 2"/>
          <p:cNvSpPr>
            <a:spLocks noGrp="1"/>
          </p:cNvSpPr>
          <p:nvPr>
            <p:ph type="subTitle" idx="1"/>
          </p:nvPr>
        </p:nvSpPr>
        <p:spPr>
          <a:xfrm>
            <a:off x="494517" y="4937983"/>
            <a:ext cx="7516428" cy="675417"/>
          </a:xfrm>
        </p:spPr>
        <p:txBody>
          <a:bodyPr/>
          <a:lstStyle/>
          <a:p>
            <a:r>
              <a:rPr lang="en-AU" dirty="0">
                <a:ea typeface="Verdana"/>
              </a:rPr>
              <a:t>WTP Birdwatching App</a:t>
            </a:r>
            <a:endParaRPr lang="en-AU" dirty="0"/>
          </a:p>
          <a:p>
            <a:r>
              <a:rPr lang="en-AU" dirty="0"/>
              <a:t>Date: November 2025</a:t>
            </a:r>
          </a:p>
        </p:txBody>
      </p:sp>
      <p:graphicFrame>
        <p:nvGraphicFramePr>
          <p:cNvPr id="6" name="Table 5"/>
          <p:cNvGraphicFramePr>
            <a:graphicFrameLocks noGrp="1"/>
          </p:cNvGraphicFramePr>
          <p:nvPr>
            <p:extLst>
              <p:ext uri="{D42A27DB-BD31-4B8C-83A1-F6EECF244321}">
                <p14:modId xmlns:p14="http://schemas.microsoft.com/office/powerpoint/2010/main" val="3479206262"/>
              </p:ext>
            </p:extLst>
          </p:nvPr>
        </p:nvGraphicFramePr>
        <p:xfrm>
          <a:off x="1574820" y="6007404"/>
          <a:ext cx="8007554" cy="850596"/>
        </p:xfrm>
        <a:graphic>
          <a:graphicData uri="http://schemas.openxmlformats.org/drawingml/2006/table">
            <a:tbl>
              <a:tblPr firstRow="1">
                <a:tableStyleId>{68D230F3-CF80-4859-8CE7-A43EE81993B5}</a:tableStyleId>
              </a:tblPr>
              <a:tblGrid>
                <a:gridCol w="1416255">
                  <a:extLst>
                    <a:ext uri="{9D8B030D-6E8A-4147-A177-3AD203B41FA5}">
                      <a16:colId xmlns:a16="http://schemas.microsoft.com/office/drawing/2014/main" val="20000"/>
                    </a:ext>
                  </a:extLst>
                </a:gridCol>
                <a:gridCol w="1789696">
                  <a:extLst>
                    <a:ext uri="{9D8B030D-6E8A-4147-A177-3AD203B41FA5}">
                      <a16:colId xmlns:a16="http://schemas.microsoft.com/office/drawing/2014/main" val="20001"/>
                    </a:ext>
                  </a:extLst>
                </a:gridCol>
                <a:gridCol w="2205606">
                  <a:extLst>
                    <a:ext uri="{9D8B030D-6E8A-4147-A177-3AD203B41FA5}">
                      <a16:colId xmlns:a16="http://schemas.microsoft.com/office/drawing/2014/main" val="20002"/>
                    </a:ext>
                  </a:extLst>
                </a:gridCol>
                <a:gridCol w="2595997">
                  <a:extLst>
                    <a:ext uri="{9D8B030D-6E8A-4147-A177-3AD203B41FA5}">
                      <a16:colId xmlns:a16="http://schemas.microsoft.com/office/drawing/2014/main" val="20003"/>
                    </a:ext>
                  </a:extLst>
                </a:gridCol>
              </a:tblGrid>
              <a:tr h="425298">
                <a:tc>
                  <a:txBody>
                    <a:bodyPr/>
                    <a:lstStyle/>
                    <a:p>
                      <a:r>
                        <a:rPr lang="en-AU" sz="1200" dirty="0"/>
                        <a:t>Author</a:t>
                      </a:r>
                    </a:p>
                  </a:txBody>
                  <a:tcPr marL="121920" marR="121920"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sz="1200" b="0" dirty="0"/>
                        <a:t>Gary Franks</a:t>
                      </a:r>
                    </a:p>
                  </a:txBody>
                  <a:tcPr marL="121920" marR="121920" anchor="ctr"/>
                </a:tc>
                <a:tc>
                  <a:txBody>
                    <a:bodyPr/>
                    <a:lstStyle/>
                    <a:p>
                      <a:r>
                        <a:rPr lang="en-AU" sz="1200" dirty="0"/>
                        <a:t>Document Classification</a:t>
                      </a:r>
                    </a:p>
                  </a:txBody>
                  <a:tcPr marL="121920" marR="121920" anchor="ctr"/>
                </a:tc>
                <a:tc>
                  <a:txBody>
                    <a:bodyPr/>
                    <a:lstStyle/>
                    <a:p>
                      <a:pPr lvl="0">
                        <a:buNone/>
                      </a:pPr>
                      <a:r>
                        <a:rPr lang="en-AU" sz="1200" b="0" dirty="0"/>
                        <a:t>Official Sensitive</a:t>
                      </a:r>
                    </a:p>
                  </a:txBody>
                  <a:tcPr marL="121920" marR="121920" anchor="ctr"/>
                </a:tc>
                <a:extLst>
                  <a:ext uri="{0D108BD9-81ED-4DB2-BD59-A6C34878D82A}">
                    <a16:rowId xmlns:a16="http://schemas.microsoft.com/office/drawing/2014/main" val="10000"/>
                  </a:ext>
                </a:extLst>
              </a:tr>
              <a:tr h="425298">
                <a:tc>
                  <a:txBody>
                    <a:bodyPr/>
                    <a:lstStyle/>
                    <a:p>
                      <a:r>
                        <a:rPr lang="en-AU" sz="1200" b="1" dirty="0"/>
                        <a:t>Sponsoring EA</a:t>
                      </a:r>
                    </a:p>
                  </a:txBody>
                  <a:tcPr marL="121920" marR="121920"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sz="1200" dirty="0"/>
                        <a:t>GF</a:t>
                      </a:r>
                    </a:p>
                  </a:txBody>
                  <a:tcPr marL="121920" marR="121920"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sz="1200" b="1" dirty="0"/>
                        <a:t>Submission  Sponsor</a:t>
                      </a:r>
                    </a:p>
                  </a:txBody>
                  <a:tcPr marL="121920" marR="121920" anchor="ctr"/>
                </a:tc>
                <a:tc>
                  <a:txBody>
                    <a:bodyPr/>
                    <a:lstStyle/>
                    <a:p>
                      <a:r>
                        <a:rPr lang="en-AU" sz="1200" dirty="0"/>
                        <a:t>Alistair McIntosh (Project manager)</a:t>
                      </a:r>
                    </a:p>
                  </a:txBody>
                  <a:tcPr marL="121920" marR="12192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24555877"/>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AU" sz="2400" dirty="0"/>
              <a:t>Executive Summary</a:t>
            </a:r>
          </a:p>
        </p:txBody>
      </p:sp>
      <p:sp>
        <p:nvSpPr>
          <p:cNvPr id="14" name="Rounded Rectangle 13"/>
          <p:cNvSpPr/>
          <p:nvPr/>
        </p:nvSpPr>
        <p:spPr>
          <a:xfrm>
            <a:off x="6270390" y="1118394"/>
            <a:ext cx="5396993" cy="445073"/>
          </a:xfrm>
          <a:prstGeom prst="roundRect">
            <a:avLst/>
          </a:prstGeom>
          <a:solidFill>
            <a:schemeClr val="bg1"/>
          </a:solidFill>
          <a:ln w="12700">
            <a:noFill/>
          </a:ln>
          <a:effectLst/>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AU" sz="2133" dirty="0">
                <a:solidFill>
                  <a:srgbClr val="004EA8"/>
                </a:solidFill>
                <a:latin typeface="+mj-lt"/>
                <a:ea typeface="Verdana" panose="020B0604030504040204" pitchFamily="34" charset="0"/>
                <a:cs typeface="Verdana" panose="020B0604030504040204" pitchFamily="34" charset="0"/>
              </a:rPr>
              <a:t>Request for TDA</a:t>
            </a:r>
            <a:endParaRPr lang="en-US" sz="2133" dirty="0">
              <a:solidFill>
                <a:srgbClr val="004EA8"/>
              </a:solidFill>
              <a:latin typeface="+mj-lt"/>
              <a:ea typeface="Verdana" panose="020B0604030504040204" pitchFamily="34" charset="0"/>
              <a:cs typeface="Verdana" panose="020B0604030504040204" pitchFamily="34" charset="0"/>
            </a:endParaRPr>
          </a:p>
        </p:txBody>
      </p:sp>
      <p:sp>
        <p:nvSpPr>
          <p:cNvPr id="17" name="Rounded Rectangle 16"/>
          <p:cNvSpPr/>
          <p:nvPr/>
        </p:nvSpPr>
        <p:spPr>
          <a:xfrm>
            <a:off x="350725" y="1118394"/>
            <a:ext cx="5511031" cy="445075"/>
          </a:xfrm>
          <a:prstGeom prst="roundRect">
            <a:avLst/>
          </a:prstGeom>
          <a:solidFill>
            <a:schemeClr val="bg1"/>
          </a:solidFill>
          <a:ln w="12700">
            <a:noFill/>
          </a:ln>
          <a:effectLst/>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AU" sz="2133" dirty="0">
                <a:solidFill>
                  <a:srgbClr val="004EA8"/>
                </a:solidFill>
                <a:latin typeface="+mj-lt"/>
                <a:ea typeface="Verdana" panose="020B0604030504040204" pitchFamily="34" charset="0"/>
                <a:cs typeface="Verdana" panose="020B0604030504040204" pitchFamily="34" charset="0"/>
              </a:rPr>
              <a:t>Architecture Advice</a:t>
            </a:r>
            <a:endParaRPr lang="en-US" sz="2133" dirty="0">
              <a:solidFill>
                <a:srgbClr val="004EA8"/>
              </a:solidFill>
              <a:latin typeface="+mj-lt"/>
              <a:ea typeface="Verdana" panose="020B0604030504040204" pitchFamily="34" charset="0"/>
              <a:cs typeface="Verdana" panose="020B0604030504040204" pitchFamily="34" charset="0"/>
            </a:endParaRPr>
          </a:p>
        </p:txBody>
      </p:sp>
      <p:sp>
        <p:nvSpPr>
          <p:cNvPr id="12" name="TextBox 11"/>
          <p:cNvSpPr txBox="1"/>
          <p:nvPr/>
        </p:nvSpPr>
        <p:spPr>
          <a:xfrm>
            <a:off x="629921" y="1598532"/>
            <a:ext cx="5068828" cy="4980067"/>
          </a:xfrm>
          <a:prstGeom prst="rect">
            <a:avLst/>
          </a:prstGeom>
          <a:noFill/>
        </p:spPr>
        <p:txBody>
          <a:bodyPr wrap="square" lIns="0" tIns="0" rIns="0" bIns="0" rtlCol="0" anchor="t">
            <a:noAutofit/>
          </a:bodyPr>
          <a:lstStyle/>
          <a:p>
            <a:pPr>
              <a:spcAft>
                <a:spcPts val="400"/>
              </a:spcAft>
              <a:defRPr/>
            </a:pPr>
            <a:r>
              <a:rPr lang="en-AU" sz="1400" dirty="0">
                <a:ea typeface="Verdana"/>
                <a:cs typeface="Verdana" panose="020B0604030504040204" pitchFamily="34" charset="0"/>
              </a:rPr>
              <a:t>The Western Treatment Plant (WTP) is a significant site of wetland habitat for over 300 species of birds and is a listed Ramsar wetland of international importance.</a:t>
            </a:r>
          </a:p>
          <a:p>
            <a:pPr>
              <a:spcAft>
                <a:spcPts val="400"/>
              </a:spcAft>
              <a:defRPr/>
            </a:pPr>
            <a:r>
              <a:rPr lang="en-AU" sz="1400" dirty="0">
                <a:ea typeface="Verdana"/>
                <a:cs typeface="Verdana" panose="020B0604030504040204" pitchFamily="34" charset="0"/>
              </a:rPr>
              <a:t>Members of the public can apply for a permit to visit the WTP for birdwatching. This provides them with access (physical keys) to the location for the purpose of birdwatching.</a:t>
            </a:r>
          </a:p>
          <a:p>
            <a:pPr>
              <a:spcAft>
                <a:spcPts val="400"/>
              </a:spcAft>
              <a:defRPr/>
            </a:pPr>
            <a:r>
              <a:rPr lang="en-AU" sz="1400" dirty="0">
                <a:ea typeface="Verdana"/>
                <a:cs typeface="Verdana" panose="020B0604030504040204" pitchFamily="34" charset="0"/>
              </a:rPr>
              <a:t>Birdwatching permit applications are made via a  Pega Form on the public Melbourne Water website. Site operators then send out physical keys to approved permit holders, and conduct site orientations.</a:t>
            </a:r>
          </a:p>
          <a:p>
            <a:pPr>
              <a:spcAft>
                <a:spcPts val="400"/>
              </a:spcAft>
              <a:defRPr/>
            </a:pPr>
            <a:r>
              <a:rPr lang="en-AU" sz="1400" dirty="0">
                <a:ea typeface="Verdana"/>
                <a:cs typeface="Verdana" panose="020B0604030504040204" pitchFamily="34" charset="0"/>
              </a:rPr>
              <a:t>The WTP site is very large, with numerous hazards and the safety of those onsite is an ongoing concern for MW operational staff.</a:t>
            </a:r>
          </a:p>
          <a:p>
            <a:pPr>
              <a:spcAft>
                <a:spcPts val="400"/>
              </a:spcAft>
              <a:defRPr/>
            </a:pPr>
            <a:r>
              <a:rPr lang="en-AU" sz="1400" dirty="0">
                <a:ea typeface="Verdana"/>
                <a:cs typeface="Verdana" panose="020B0604030504040204" pitchFamily="34" charset="0"/>
              </a:rPr>
              <a:t>Currently site operational staff have minimal visibility of site entry and access and who is onsite at any given time. This presents challenges to notify birdwatchers in the event of heightened risk or need to evacuate the site.</a:t>
            </a:r>
          </a:p>
          <a:p>
            <a:pPr>
              <a:spcAft>
                <a:spcPts val="400"/>
              </a:spcAft>
              <a:defRPr/>
            </a:pPr>
            <a:r>
              <a:rPr lang="en-AU" sz="1400" dirty="0">
                <a:ea typeface="Verdana"/>
                <a:cs typeface="Verdana" panose="020B0604030504040204" pitchFamily="34" charset="0"/>
              </a:rPr>
              <a:t>A mobile app has been developed as a proof-concept to improve the experience for approved birdwatchers visiting the site. The app provides a digital guided tour, as well as capability for site operators to send real-time push notifications of hazards and site closures. The app also provides capability to integrate with Bluetooth locks and remove the need for distributing physical keys.</a:t>
            </a:r>
          </a:p>
          <a:p>
            <a:pPr>
              <a:spcAft>
                <a:spcPts val="400"/>
              </a:spcAft>
              <a:defRPr/>
            </a:pPr>
            <a:r>
              <a:rPr lang="en-AU" sz="1400" dirty="0">
                <a:ea typeface="Verdana"/>
                <a:cs typeface="Verdana" panose="020B0604030504040204" pitchFamily="34" charset="0"/>
              </a:rPr>
              <a:t>  </a:t>
            </a:r>
          </a:p>
          <a:p>
            <a:pPr>
              <a:spcAft>
                <a:spcPts val="400"/>
              </a:spcAft>
              <a:defRPr/>
            </a:pPr>
            <a:endParaRPr lang="en-AU" sz="1400" dirty="0">
              <a:ea typeface="Verdana"/>
              <a:cs typeface="Verdana" panose="020B0604030504040204" pitchFamily="34" charset="0"/>
            </a:endParaRPr>
          </a:p>
          <a:p>
            <a:pPr>
              <a:spcAft>
                <a:spcPts val="400"/>
              </a:spcAft>
              <a:defRPr/>
            </a:pPr>
            <a:endParaRPr lang="en-AU" sz="1400" dirty="0">
              <a:ea typeface="Verdana" panose="020B0604030504040204" pitchFamily="34" charset="0"/>
              <a:cs typeface="Verdana" panose="020B0604030504040204" pitchFamily="34" charset="0"/>
            </a:endParaRPr>
          </a:p>
        </p:txBody>
      </p:sp>
      <p:sp>
        <p:nvSpPr>
          <p:cNvPr id="22" name="TextBox 21"/>
          <p:cNvSpPr txBox="1"/>
          <p:nvPr/>
        </p:nvSpPr>
        <p:spPr>
          <a:xfrm>
            <a:off x="6482363" y="1563468"/>
            <a:ext cx="5185020" cy="3670270"/>
          </a:xfrm>
          <a:prstGeom prst="rect">
            <a:avLst/>
          </a:prstGeom>
          <a:noFill/>
        </p:spPr>
        <p:txBody>
          <a:bodyPr wrap="square" lIns="0" tIns="0" rIns="0" bIns="0" rtlCol="0" anchor="t">
            <a:noAutofit/>
          </a:bodyPr>
          <a:lstStyle/>
          <a:p>
            <a:r>
              <a:rPr lang="en-AU" sz="1400" b="1" dirty="0">
                <a:solidFill>
                  <a:srgbClr val="00428B"/>
                </a:solidFill>
                <a:latin typeface="+mj-lt"/>
                <a:ea typeface="Verdana" panose="020B0604030504040204" pitchFamily="34" charset="0"/>
                <a:cs typeface="Verdana" panose="020B0604030504040204" pitchFamily="34" charset="0"/>
              </a:rPr>
              <a:t>Assist</a:t>
            </a:r>
          </a:p>
          <a:p>
            <a:r>
              <a:rPr lang="en-AU" sz="1400" dirty="0">
                <a:latin typeface="+mj-lt"/>
                <a:ea typeface="Verdana" panose="020B0604030504040204" pitchFamily="34" charset="0"/>
                <a:cs typeface="Verdana" panose="020B0604030504040204" pitchFamily="34" charset="0"/>
              </a:rPr>
              <a:t>TBD</a:t>
            </a:r>
          </a:p>
          <a:p>
            <a:endParaRPr lang="en-AU" sz="1400" dirty="0">
              <a:latin typeface="+mj-lt"/>
              <a:ea typeface="Verdana" panose="020B0604030504040204" pitchFamily="34" charset="0"/>
              <a:cs typeface="Verdana" panose="020B0604030504040204" pitchFamily="34" charset="0"/>
            </a:endParaRPr>
          </a:p>
          <a:p>
            <a:r>
              <a:rPr lang="en-AU" sz="1400" b="1" dirty="0">
                <a:solidFill>
                  <a:srgbClr val="00428B"/>
                </a:solidFill>
                <a:latin typeface="+mj-lt"/>
                <a:ea typeface="Verdana" panose="020B0604030504040204" pitchFamily="34" charset="0"/>
                <a:cs typeface="Verdana" panose="020B0604030504040204" pitchFamily="34" charset="0"/>
              </a:rPr>
              <a:t>Endorse</a:t>
            </a:r>
          </a:p>
          <a:p>
            <a:pPr marL="304165" indent="-304165">
              <a:spcAft>
                <a:spcPts val="400"/>
              </a:spcAft>
              <a:buFont typeface="Arial" pitchFamily="34" charset="0"/>
              <a:buAutoNum type="arabicPeriod"/>
              <a:defRPr/>
            </a:pPr>
            <a:r>
              <a:rPr lang="en-AU" sz="1400" dirty="0">
                <a:latin typeface="+mj-lt"/>
                <a:ea typeface="Verdana"/>
                <a:cs typeface="Verdana" panose="020B0604030504040204" pitchFamily="34" charset="0"/>
              </a:rPr>
              <a:t>The following architecture lifecycle positions for existing enterprise systems</a:t>
            </a:r>
            <a:endParaRPr lang="en-AU" sz="1400" dirty="0">
              <a:latin typeface="+mj-lt"/>
              <a:ea typeface="Verdana" panose="020B0604030504040204" pitchFamily="34" charset="0"/>
              <a:cs typeface="Verdana" panose="020B0604030504040204" pitchFamily="34" charset="0"/>
            </a:endParaRPr>
          </a:p>
        </p:txBody>
      </p:sp>
      <p:cxnSp>
        <p:nvCxnSpPr>
          <p:cNvPr id="24" name="Straight Connector 23"/>
          <p:cNvCxnSpPr/>
          <p:nvPr/>
        </p:nvCxnSpPr>
        <p:spPr>
          <a:xfrm>
            <a:off x="6089223" y="1109133"/>
            <a:ext cx="0" cy="5469467"/>
          </a:xfrm>
          <a:prstGeom prst="line">
            <a:avLst/>
          </a:prstGeom>
          <a:ln>
            <a:solidFill>
              <a:srgbClr val="349872"/>
            </a:solidFill>
          </a:ln>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AC6E3AC2-3CF8-DEEA-A59E-7450F9449E79}"/>
              </a:ext>
            </a:extLst>
          </p:cNvPr>
          <p:cNvGraphicFramePr>
            <a:graphicFrameLocks noGrp="1"/>
          </p:cNvGraphicFramePr>
          <p:nvPr>
            <p:extLst>
              <p:ext uri="{D42A27DB-BD31-4B8C-83A1-F6EECF244321}">
                <p14:modId xmlns:p14="http://schemas.microsoft.com/office/powerpoint/2010/main" val="1383398488"/>
              </p:ext>
            </p:extLst>
          </p:nvPr>
        </p:nvGraphicFramePr>
        <p:xfrm>
          <a:off x="6858912" y="3132680"/>
          <a:ext cx="4414987" cy="975360"/>
        </p:xfrm>
        <a:graphic>
          <a:graphicData uri="http://schemas.openxmlformats.org/drawingml/2006/table">
            <a:tbl>
              <a:tblPr firstRow="1" bandRow="1">
                <a:tableStyleId>{2D5ABB26-0587-4C30-8999-92F81FD0307C}</a:tableStyleId>
              </a:tblPr>
              <a:tblGrid>
                <a:gridCol w="1888487">
                  <a:extLst>
                    <a:ext uri="{9D8B030D-6E8A-4147-A177-3AD203B41FA5}">
                      <a16:colId xmlns:a16="http://schemas.microsoft.com/office/drawing/2014/main" val="20000"/>
                    </a:ext>
                  </a:extLst>
                </a:gridCol>
                <a:gridCol w="1263250">
                  <a:extLst>
                    <a:ext uri="{9D8B030D-6E8A-4147-A177-3AD203B41FA5}">
                      <a16:colId xmlns:a16="http://schemas.microsoft.com/office/drawing/2014/main" val="20001"/>
                    </a:ext>
                  </a:extLst>
                </a:gridCol>
                <a:gridCol w="1263250">
                  <a:extLst>
                    <a:ext uri="{9D8B030D-6E8A-4147-A177-3AD203B41FA5}">
                      <a16:colId xmlns:a16="http://schemas.microsoft.com/office/drawing/2014/main" val="2134499786"/>
                    </a:ext>
                  </a:extLst>
                </a:gridCol>
              </a:tblGrid>
              <a:tr h="325120">
                <a:tc rowSpan="2">
                  <a:txBody>
                    <a:bodyPr/>
                    <a:lstStyle/>
                    <a:p>
                      <a:pPr algn="ctr"/>
                      <a:r>
                        <a:rPr lang="en-AU" sz="1300" b="1">
                          <a:latin typeface="+mj-lt"/>
                          <a:ea typeface="Verdana" panose="020B0604030504040204" pitchFamily="34" charset="0"/>
                        </a:rPr>
                        <a:t>System</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gridSpan="2">
                  <a:txBody>
                    <a:bodyPr/>
                    <a:lstStyle/>
                    <a:p>
                      <a:pPr algn="ctr"/>
                      <a:r>
                        <a:rPr lang="en-AU" sz="1300" b="1">
                          <a:latin typeface="+mj-lt"/>
                          <a:ea typeface="Verdana" panose="020B0604030504040204" pitchFamily="34" charset="0"/>
                          <a:cs typeface="Verdana" panose="020B0604030504040204" pitchFamily="34" charset="0"/>
                        </a:rPr>
                        <a:t>Lifecycle</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hMerge="1">
                  <a:txBody>
                    <a:bodyPr/>
                    <a:lstStyle/>
                    <a:p>
                      <a:pPr algn="ctr"/>
                      <a:endParaRPr lang="en-AU" sz="1300" b="1">
                        <a:latin typeface="+mj-lt"/>
                        <a:ea typeface="Verdana" panose="020B0604030504040204" pitchFamily="34" charset="0"/>
                        <a:cs typeface="Verdana" panose="020B0604030504040204" pitchFamily="34"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145559687"/>
                  </a:ext>
                </a:extLst>
              </a:tr>
              <a:tr h="325120">
                <a:tc vMerge="1">
                  <a:txBody>
                    <a:bodyPr/>
                    <a:lstStyle/>
                    <a:p>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AU" sz="1300" b="1">
                          <a:latin typeface="+mj-lt"/>
                          <a:ea typeface="Verdana" panose="020B0604030504040204" pitchFamily="34" charset="0"/>
                          <a:cs typeface="Verdana" panose="020B0604030504040204" pitchFamily="34" charset="0"/>
                        </a:rPr>
                        <a:t>Current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AU" sz="1300" b="1">
                          <a:latin typeface="+mj-lt"/>
                          <a:ea typeface="Verdana" panose="020B0604030504040204" pitchFamily="34" charset="0"/>
                          <a:cs typeface="Verdana" panose="020B0604030504040204" pitchFamily="34" charset="0"/>
                        </a:rPr>
                        <a:t>Target</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0"/>
                  </a:ext>
                </a:extLst>
              </a:tr>
              <a:tr h="325120">
                <a:tc>
                  <a:txBody>
                    <a:bodyPr/>
                    <a:lstStyle/>
                    <a:p>
                      <a:pPr lvl="0" algn="l">
                        <a:buNone/>
                      </a:pPr>
                      <a:r>
                        <a:rPr lang="en-US" sz="1300" kern="1200" dirty="0">
                          <a:solidFill>
                            <a:schemeClr val="tx1"/>
                          </a:solidFill>
                          <a:latin typeface="+mj-lt"/>
                          <a:ea typeface="Verdana"/>
                          <a:cs typeface="+mn-cs"/>
                        </a:rPr>
                        <a:t>WTP Birdwatching App</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buNone/>
                      </a:pPr>
                      <a:r>
                        <a:rPr lang="en-AU" sz="1300" dirty="0">
                          <a:latin typeface="+mj-lt"/>
                          <a:ea typeface="Verdana" panose="020B0604030504040204" pitchFamily="34" charset="0"/>
                          <a:cs typeface="Verdana" panose="020B0604030504040204" pitchFamily="34" charset="0"/>
                        </a:rPr>
                        <a:t>Innovate</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5D8FF"/>
                    </a:solidFill>
                  </a:tcPr>
                </a:tc>
                <a:tc>
                  <a:txBody>
                    <a:bodyPr/>
                    <a:lstStyle/>
                    <a:p>
                      <a:pPr lvl="0" algn="l">
                        <a:buNone/>
                      </a:pPr>
                      <a:r>
                        <a:rPr lang="en-AU" sz="1300" dirty="0">
                          <a:latin typeface="+mj-lt"/>
                          <a:ea typeface="Verdana" panose="020B0604030504040204" pitchFamily="34" charset="0"/>
                          <a:cs typeface="Verdana" panose="020B0604030504040204" pitchFamily="34" charset="0"/>
                        </a:rPr>
                        <a:t>Invest</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505365759"/>
                  </a:ext>
                </a:extLst>
              </a:tr>
            </a:tbl>
          </a:graphicData>
        </a:graphic>
      </p:graphicFrame>
    </p:spTree>
    <p:extLst>
      <p:ext uri="{BB962C8B-B14F-4D97-AF65-F5344CB8AC3E}">
        <p14:creationId xmlns:p14="http://schemas.microsoft.com/office/powerpoint/2010/main" val="2237797545"/>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2800" dirty="0">
                <a:latin typeface="Verdana"/>
                <a:ea typeface="Verdana"/>
                <a:cs typeface="Verdana"/>
              </a:rPr>
              <a:t>Strategic Context</a:t>
            </a:r>
          </a:p>
        </p:txBody>
      </p:sp>
      <p:sp>
        <p:nvSpPr>
          <p:cNvPr id="3" name="AutoShape 2" descr="Enlarge Image"/>
          <p:cNvSpPr>
            <a:spLocks noChangeAspect="1" noChangeArrowheads="1"/>
          </p:cNvSpPr>
          <p:nvPr/>
        </p:nvSpPr>
        <p:spPr bwMode="auto">
          <a:xfrm>
            <a:off x="207433" y="-144462"/>
            <a:ext cx="4064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AU" sz="2400">
              <a:latin typeface="+mj-lt"/>
            </a:endParaRPr>
          </a:p>
        </p:txBody>
      </p:sp>
      <p:sp>
        <p:nvSpPr>
          <p:cNvPr id="21" name="Text Placeholder 5"/>
          <p:cNvSpPr txBox="1">
            <a:spLocks/>
          </p:cNvSpPr>
          <p:nvPr/>
        </p:nvSpPr>
        <p:spPr>
          <a:xfrm>
            <a:off x="613834" y="1175738"/>
            <a:ext cx="4775201" cy="3970420"/>
          </a:xfrm>
          <a:prstGeom prst="rect">
            <a:avLst/>
          </a:prstGeom>
        </p:spPr>
        <p:txBody>
          <a:bodyPr vert="horz" lIns="48000" tIns="48000" rIns="48000" bIns="48000" rtlCol="0">
            <a:normAutofit/>
          </a:bodyPr>
          <a:lstStyle>
            <a:lvl1pPr marL="0" indent="0" algn="l" defTabSz="685800" rtl="0" eaLnBrk="1" latinLnBrk="0" hangingPunct="1">
              <a:lnSpc>
                <a:spcPct val="100000"/>
              </a:lnSpc>
              <a:spcBef>
                <a:spcPts val="300"/>
              </a:spcBef>
              <a:spcAft>
                <a:spcPts val="600"/>
              </a:spcAft>
              <a:buFontTx/>
              <a:buNone/>
              <a:defRPr sz="1400" kern="1200" baseline="0">
                <a:solidFill>
                  <a:schemeClr val="tx1"/>
                </a:solidFill>
                <a:latin typeface="+mn-lt"/>
                <a:ea typeface="+mn-ea"/>
                <a:cs typeface="+mn-cs"/>
              </a:defRPr>
            </a:lvl1pPr>
            <a:lvl2pPr marL="0" indent="0" algn="l" defTabSz="685800" rtl="0" eaLnBrk="1" latinLnBrk="0" hangingPunct="1">
              <a:lnSpc>
                <a:spcPct val="100000"/>
              </a:lnSpc>
              <a:spcBef>
                <a:spcPts val="900"/>
              </a:spcBef>
              <a:spcAft>
                <a:spcPts val="500"/>
              </a:spcAft>
              <a:buFontTx/>
              <a:buNone/>
              <a:defRPr sz="1400" b="1" kern="1200">
                <a:solidFill>
                  <a:schemeClr val="accent2"/>
                </a:solidFill>
                <a:latin typeface="+mn-lt"/>
                <a:ea typeface="+mn-ea"/>
                <a:cs typeface="+mn-cs"/>
              </a:defRPr>
            </a:lvl2pPr>
            <a:lvl3pPr marL="180000" indent="-180000" algn="l" defTabSz="685800" rtl="0" eaLnBrk="1" latinLnBrk="0" hangingPunct="1">
              <a:lnSpc>
                <a:spcPct val="100000"/>
              </a:lnSpc>
              <a:spcBef>
                <a:spcPts val="300"/>
              </a:spcBef>
              <a:spcAft>
                <a:spcPts val="300"/>
              </a:spcAft>
              <a:buFont typeface="Arial" panose="020B0604020202020204" pitchFamily="34" charset="0"/>
              <a:buChar char="•"/>
              <a:defRPr sz="1400" kern="1200">
                <a:solidFill>
                  <a:schemeClr val="tx1"/>
                </a:solidFill>
                <a:latin typeface="+mn-lt"/>
                <a:ea typeface="+mn-ea"/>
                <a:cs typeface="+mn-cs"/>
              </a:defRPr>
            </a:lvl3pPr>
            <a:lvl4pPr marL="432000" indent="-252000" algn="l" defTabSz="685800" rtl="0" eaLnBrk="1" latinLnBrk="0" hangingPunct="1">
              <a:lnSpc>
                <a:spcPct val="100000"/>
              </a:lnSpc>
              <a:spcBef>
                <a:spcPts val="300"/>
              </a:spcBef>
              <a:spcAft>
                <a:spcPts val="300"/>
              </a:spcAft>
              <a:buFont typeface="Verdana" panose="020B0604030504040204" pitchFamily="34" charset="0"/>
              <a:buChar char="–"/>
              <a:defRPr sz="1400" kern="1200">
                <a:solidFill>
                  <a:schemeClr val="tx1"/>
                </a:solidFill>
                <a:latin typeface="+mn-lt"/>
                <a:ea typeface="+mn-ea"/>
                <a:cs typeface="+mn-cs"/>
              </a:defRPr>
            </a:lvl4pPr>
            <a:lvl5pPr marL="0" indent="0" algn="l" defTabSz="685800" rtl="0" eaLnBrk="1" latinLnBrk="0" hangingPunct="1">
              <a:lnSpc>
                <a:spcPct val="100000"/>
              </a:lnSpc>
              <a:spcBef>
                <a:spcPts val="900"/>
              </a:spcBef>
              <a:spcAft>
                <a:spcPts val="500"/>
              </a:spcAft>
              <a:buFontTx/>
              <a:buNone/>
              <a:defRPr sz="1600" b="1"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AU" sz="1600" dirty="0">
                <a:solidFill>
                  <a:srgbClr val="00428B"/>
                </a:solidFill>
                <a:latin typeface="+mj-lt"/>
                <a:ea typeface="Verdana" panose="020B0604030504040204" pitchFamily="34" charset="0"/>
                <a:cs typeface="Verdana" panose="020B0604030504040204" pitchFamily="34" charset="0"/>
              </a:rPr>
              <a:t>Initiative Context</a:t>
            </a:r>
          </a:p>
          <a:p>
            <a:pPr marL="228594" indent="-228594">
              <a:spcBef>
                <a:spcPts val="0"/>
              </a:spcBef>
              <a:spcAft>
                <a:spcPts val="0"/>
              </a:spcAft>
              <a:buFont typeface="Arial" panose="020B0604020202020204" pitchFamily="34" charset="0"/>
              <a:buChar char="•"/>
            </a:pPr>
            <a:r>
              <a:rPr lang="en-AU" dirty="0">
                <a:latin typeface="+mj-lt"/>
                <a:ea typeface="Verdana" panose="020B0604030504040204" pitchFamily="34" charset="0"/>
                <a:cs typeface="Verdana" panose="020B0604030504040204" pitchFamily="34" charset="0"/>
              </a:rPr>
              <a:t>The WTP Birdwatching mobile app was developed as an initial Proof of Concept (POC) but not fully tested. The project will undertake further development and testing </a:t>
            </a:r>
            <a:r>
              <a:rPr lang="en-AU">
                <a:latin typeface="+mj-lt"/>
                <a:ea typeface="Verdana" panose="020B0604030504040204" pitchFamily="34" charset="0"/>
                <a:cs typeface="Verdana" panose="020B0604030504040204" pitchFamily="34" charset="0"/>
              </a:rPr>
              <a:t>of the POC</a:t>
            </a:r>
            <a:endParaRPr lang="en-AU" dirty="0">
              <a:latin typeface="+mj-lt"/>
              <a:ea typeface="Verdana" panose="020B0604030504040204" pitchFamily="34" charset="0"/>
              <a:cs typeface="Verdana" panose="020B0604030504040204" pitchFamily="34" charset="0"/>
            </a:endParaRPr>
          </a:p>
          <a:p>
            <a:pPr marL="228594" indent="-228594">
              <a:spcBef>
                <a:spcPts val="0"/>
              </a:spcBef>
              <a:spcAft>
                <a:spcPts val="0"/>
              </a:spcAft>
              <a:buFont typeface="Arial" panose="020B0604020202020204" pitchFamily="34" charset="0"/>
              <a:buChar char="•"/>
            </a:pPr>
            <a:r>
              <a:rPr lang="en-AU" dirty="0">
                <a:latin typeface="+mj-lt"/>
                <a:ea typeface="Verdana" panose="020B0604030504040204" pitchFamily="34" charset="0"/>
                <a:cs typeface="Verdana" panose="020B0604030504040204" pitchFamily="34" charset="0"/>
              </a:rPr>
              <a:t>The back-end platform is hosted in MW Azure tenancy</a:t>
            </a:r>
          </a:p>
          <a:p>
            <a:pPr marL="228594" indent="-228594">
              <a:spcBef>
                <a:spcPts val="0"/>
              </a:spcBef>
              <a:spcAft>
                <a:spcPts val="0"/>
              </a:spcAft>
              <a:buFont typeface="Arial" panose="020B0604020202020204" pitchFamily="34" charset="0"/>
              <a:buChar char="•"/>
            </a:pPr>
            <a:r>
              <a:rPr lang="en-AU" dirty="0">
                <a:latin typeface="+mj-lt"/>
                <a:ea typeface="Verdana" panose="020B0604030504040204" pitchFamily="34" charset="0"/>
                <a:cs typeface="Verdana" panose="020B0604030504040204" pitchFamily="34" charset="0"/>
              </a:rPr>
              <a:t>Front end client apps have been developed for Apple and Android devices</a:t>
            </a:r>
          </a:p>
          <a:p>
            <a:pPr marL="228594" indent="-228594">
              <a:spcBef>
                <a:spcPts val="0"/>
              </a:spcBef>
              <a:spcAft>
                <a:spcPts val="0"/>
              </a:spcAft>
              <a:buFont typeface="Arial" panose="020B0604020202020204" pitchFamily="34" charset="0"/>
              <a:buChar char="•"/>
            </a:pPr>
            <a:r>
              <a:rPr lang="en-AU" dirty="0">
                <a:latin typeface="+mj-lt"/>
                <a:ea typeface="Verdana" panose="020B0604030504040204" pitchFamily="34" charset="0"/>
                <a:cs typeface="Verdana" panose="020B0604030504040204" pitchFamily="34" charset="0"/>
              </a:rPr>
              <a:t>There is a web based front-end dashboard for use by system administrators</a:t>
            </a:r>
          </a:p>
          <a:p>
            <a:pPr marL="228594" indent="-228594">
              <a:spcBef>
                <a:spcPts val="0"/>
              </a:spcBef>
              <a:spcAft>
                <a:spcPts val="0"/>
              </a:spcAft>
              <a:buFont typeface="Arial" panose="020B0604020202020204" pitchFamily="34" charset="0"/>
              <a:buChar char="•"/>
            </a:pPr>
            <a:r>
              <a:rPr lang="en-AU" dirty="0">
                <a:latin typeface="+mj-lt"/>
                <a:ea typeface="Verdana" panose="020B0604030504040204" pitchFamily="34" charset="0"/>
                <a:cs typeface="Verdana" panose="020B0604030504040204" pitchFamily="34" charset="0"/>
              </a:rPr>
              <a:t>The detailed design has a small number of issues that don’t meet our cyber security requirements and is being reviewed and updated.</a:t>
            </a:r>
          </a:p>
          <a:p>
            <a:pPr marL="228594" indent="-228594">
              <a:spcBef>
                <a:spcPts val="0"/>
              </a:spcBef>
              <a:spcAft>
                <a:spcPts val="0"/>
              </a:spcAft>
              <a:buFont typeface="Arial" panose="020B0604020202020204" pitchFamily="34" charset="0"/>
              <a:buChar char="•"/>
            </a:pPr>
            <a:endParaRPr lang="en-AU" dirty="0">
              <a:latin typeface="+mj-lt"/>
              <a:ea typeface="Verdana" panose="020B0604030504040204" pitchFamily="34" charset="0"/>
              <a:cs typeface="Verdana" panose="020B0604030504040204" pitchFamily="34" charset="0"/>
            </a:endParaRPr>
          </a:p>
          <a:p>
            <a:pPr marL="228594" indent="-228594">
              <a:spcBef>
                <a:spcPts val="0"/>
              </a:spcBef>
              <a:spcAft>
                <a:spcPts val="0"/>
              </a:spcAft>
              <a:buFont typeface="Arial" panose="020B0604020202020204" pitchFamily="34" charset="0"/>
              <a:buChar char="•"/>
            </a:pPr>
            <a:endParaRPr lang="en-AU" dirty="0">
              <a:latin typeface="+mj-lt"/>
              <a:ea typeface="Verdana" panose="020B0604030504040204" pitchFamily="34" charset="0"/>
              <a:cs typeface="Verdana" panose="020B0604030504040204" pitchFamily="34" charset="0"/>
            </a:endParaRPr>
          </a:p>
          <a:p>
            <a:pPr marL="228594" indent="-228594">
              <a:spcBef>
                <a:spcPts val="0"/>
              </a:spcBef>
              <a:spcAft>
                <a:spcPts val="0"/>
              </a:spcAft>
              <a:buFont typeface="Arial" panose="020B0604020202020204" pitchFamily="34" charset="0"/>
              <a:buChar char="•"/>
            </a:pPr>
            <a:endParaRPr lang="en-AU" dirty="0">
              <a:latin typeface="+mj-lt"/>
              <a:ea typeface="Verdana" panose="020B0604030504040204" pitchFamily="34" charset="0"/>
              <a:cs typeface="Verdana" panose="020B0604030504040204" pitchFamily="34" charset="0"/>
            </a:endParaRPr>
          </a:p>
        </p:txBody>
      </p:sp>
      <p:sp>
        <p:nvSpPr>
          <p:cNvPr id="22" name="Text Placeholder 5"/>
          <p:cNvSpPr txBox="1">
            <a:spLocks/>
          </p:cNvSpPr>
          <p:nvPr/>
        </p:nvSpPr>
        <p:spPr>
          <a:xfrm>
            <a:off x="634153" y="5252483"/>
            <a:ext cx="4754881" cy="1019623"/>
          </a:xfrm>
          <a:prstGeom prst="rect">
            <a:avLst/>
          </a:prstGeom>
        </p:spPr>
        <p:txBody>
          <a:bodyPr vert="horz" lIns="48000" tIns="48000" rIns="48000" bIns="48000" rtlCol="0" anchor="t">
            <a:normAutofit/>
          </a:bodyPr>
          <a:lstStyle>
            <a:lvl1pPr marL="0" indent="0" algn="l" defTabSz="685800" rtl="0" eaLnBrk="1" latinLnBrk="0" hangingPunct="1">
              <a:lnSpc>
                <a:spcPct val="100000"/>
              </a:lnSpc>
              <a:spcBef>
                <a:spcPts val="300"/>
              </a:spcBef>
              <a:spcAft>
                <a:spcPts val="600"/>
              </a:spcAft>
              <a:buFontTx/>
              <a:buNone/>
              <a:defRPr sz="1400" kern="1200" baseline="0">
                <a:solidFill>
                  <a:schemeClr val="tx1"/>
                </a:solidFill>
                <a:latin typeface="+mn-lt"/>
                <a:ea typeface="+mn-ea"/>
                <a:cs typeface="+mn-cs"/>
              </a:defRPr>
            </a:lvl1pPr>
            <a:lvl2pPr marL="0" indent="0" algn="l" defTabSz="685800" rtl="0" eaLnBrk="1" latinLnBrk="0" hangingPunct="1">
              <a:lnSpc>
                <a:spcPct val="100000"/>
              </a:lnSpc>
              <a:spcBef>
                <a:spcPts val="900"/>
              </a:spcBef>
              <a:spcAft>
                <a:spcPts val="500"/>
              </a:spcAft>
              <a:buFontTx/>
              <a:buNone/>
              <a:defRPr sz="1400" b="1" kern="1200">
                <a:solidFill>
                  <a:schemeClr val="accent2"/>
                </a:solidFill>
                <a:latin typeface="+mn-lt"/>
                <a:ea typeface="+mn-ea"/>
                <a:cs typeface="+mn-cs"/>
              </a:defRPr>
            </a:lvl2pPr>
            <a:lvl3pPr marL="180000" indent="-180000" algn="l" defTabSz="685800" rtl="0" eaLnBrk="1" latinLnBrk="0" hangingPunct="1">
              <a:lnSpc>
                <a:spcPct val="100000"/>
              </a:lnSpc>
              <a:spcBef>
                <a:spcPts val="300"/>
              </a:spcBef>
              <a:spcAft>
                <a:spcPts val="300"/>
              </a:spcAft>
              <a:buFont typeface="Arial" panose="020B0604020202020204" pitchFamily="34" charset="0"/>
              <a:buChar char="•"/>
              <a:defRPr sz="1400" kern="1200">
                <a:solidFill>
                  <a:schemeClr val="tx1"/>
                </a:solidFill>
                <a:latin typeface="+mn-lt"/>
                <a:ea typeface="+mn-ea"/>
                <a:cs typeface="+mn-cs"/>
              </a:defRPr>
            </a:lvl3pPr>
            <a:lvl4pPr marL="432000" indent="-252000" algn="l" defTabSz="685800" rtl="0" eaLnBrk="1" latinLnBrk="0" hangingPunct="1">
              <a:lnSpc>
                <a:spcPct val="100000"/>
              </a:lnSpc>
              <a:spcBef>
                <a:spcPts val="300"/>
              </a:spcBef>
              <a:spcAft>
                <a:spcPts val="300"/>
              </a:spcAft>
              <a:buFont typeface="Verdana" panose="020B0604030504040204" pitchFamily="34" charset="0"/>
              <a:buChar char="–"/>
              <a:defRPr sz="1400" kern="1200">
                <a:solidFill>
                  <a:schemeClr val="tx1"/>
                </a:solidFill>
                <a:latin typeface="+mn-lt"/>
                <a:ea typeface="+mn-ea"/>
                <a:cs typeface="+mn-cs"/>
              </a:defRPr>
            </a:lvl4pPr>
            <a:lvl5pPr marL="0" indent="0" algn="l" defTabSz="685800" rtl="0" eaLnBrk="1" latinLnBrk="0" hangingPunct="1">
              <a:lnSpc>
                <a:spcPct val="100000"/>
              </a:lnSpc>
              <a:spcBef>
                <a:spcPts val="900"/>
              </a:spcBef>
              <a:spcAft>
                <a:spcPts val="500"/>
              </a:spcAft>
              <a:buFontTx/>
              <a:buNone/>
              <a:defRPr sz="1600" b="1"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AU" sz="1600" dirty="0">
                <a:solidFill>
                  <a:srgbClr val="00428B"/>
                </a:solidFill>
                <a:latin typeface="+mj-lt"/>
                <a:ea typeface="Verdana"/>
                <a:cs typeface="Verdana"/>
              </a:rPr>
              <a:t>Initiative Status: Idea/BNI/BCA  stage</a:t>
            </a:r>
            <a:endParaRPr lang="en-US" dirty="0">
              <a:ea typeface="Verdana"/>
              <a:cs typeface="Calibri"/>
            </a:endParaRPr>
          </a:p>
          <a:p>
            <a:r>
              <a:rPr lang="en-AU" dirty="0">
                <a:latin typeface="+mj-lt"/>
                <a:ea typeface="Verdana"/>
                <a:cs typeface="Verdana"/>
              </a:rPr>
              <a:t>RFP responses from IBM, Microsoft, and Pega have been received, presented, and reviewed.</a:t>
            </a:r>
          </a:p>
          <a:p>
            <a:endParaRPr lang="en-AU" dirty="0">
              <a:latin typeface="+mj-lt"/>
              <a:ea typeface="Verdana" panose="020B0604030504040204" pitchFamily="34" charset="0"/>
              <a:cs typeface="Verdana" panose="020B0604030504040204" pitchFamily="34" charset="0"/>
            </a:endParaRPr>
          </a:p>
          <a:p>
            <a:endParaRPr lang="en-US" dirty="0">
              <a:latin typeface="+mj-lt"/>
              <a:ea typeface="Verdana" panose="020B0604030504040204" pitchFamily="34" charset="0"/>
              <a:cs typeface="Verdana" panose="020B0604030504040204" pitchFamily="34" charset="0"/>
            </a:endParaRPr>
          </a:p>
        </p:txBody>
      </p:sp>
      <p:sp>
        <p:nvSpPr>
          <p:cNvPr id="27" name="Text Placeholder 5"/>
          <p:cNvSpPr txBox="1">
            <a:spLocks/>
          </p:cNvSpPr>
          <p:nvPr/>
        </p:nvSpPr>
        <p:spPr>
          <a:xfrm>
            <a:off x="6274620" y="1160474"/>
            <a:ext cx="5991121" cy="470351"/>
          </a:xfrm>
          <a:prstGeom prst="rect">
            <a:avLst/>
          </a:prstGeom>
        </p:spPr>
        <p:txBody>
          <a:bodyPr vert="horz" lIns="48000" tIns="48000" rIns="48000" bIns="48000" rtlCol="0">
            <a:normAutofit/>
          </a:bodyPr>
          <a:lstStyle>
            <a:lvl1pPr marL="0" indent="0" algn="l" defTabSz="685800" rtl="0" eaLnBrk="1" latinLnBrk="0" hangingPunct="1">
              <a:lnSpc>
                <a:spcPct val="100000"/>
              </a:lnSpc>
              <a:spcBef>
                <a:spcPts val="300"/>
              </a:spcBef>
              <a:spcAft>
                <a:spcPts val="600"/>
              </a:spcAft>
              <a:buFontTx/>
              <a:buNone/>
              <a:defRPr sz="1400" kern="1200" baseline="0">
                <a:solidFill>
                  <a:schemeClr val="tx1"/>
                </a:solidFill>
                <a:latin typeface="+mn-lt"/>
                <a:ea typeface="+mn-ea"/>
                <a:cs typeface="+mn-cs"/>
              </a:defRPr>
            </a:lvl1pPr>
            <a:lvl2pPr marL="0" indent="0" algn="l" defTabSz="685800" rtl="0" eaLnBrk="1" latinLnBrk="0" hangingPunct="1">
              <a:lnSpc>
                <a:spcPct val="100000"/>
              </a:lnSpc>
              <a:spcBef>
                <a:spcPts val="900"/>
              </a:spcBef>
              <a:spcAft>
                <a:spcPts val="500"/>
              </a:spcAft>
              <a:buFontTx/>
              <a:buNone/>
              <a:defRPr sz="1400" b="1" kern="1200">
                <a:solidFill>
                  <a:schemeClr val="accent2"/>
                </a:solidFill>
                <a:latin typeface="+mn-lt"/>
                <a:ea typeface="+mn-ea"/>
                <a:cs typeface="+mn-cs"/>
              </a:defRPr>
            </a:lvl2pPr>
            <a:lvl3pPr marL="180000" indent="-180000" algn="l" defTabSz="685800" rtl="0" eaLnBrk="1" latinLnBrk="0" hangingPunct="1">
              <a:lnSpc>
                <a:spcPct val="100000"/>
              </a:lnSpc>
              <a:spcBef>
                <a:spcPts val="300"/>
              </a:spcBef>
              <a:spcAft>
                <a:spcPts val="300"/>
              </a:spcAft>
              <a:buFont typeface="Arial" panose="020B0604020202020204" pitchFamily="34" charset="0"/>
              <a:buChar char="•"/>
              <a:defRPr sz="1400" kern="1200">
                <a:solidFill>
                  <a:schemeClr val="tx1"/>
                </a:solidFill>
                <a:latin typeface="+mn-lt"/>
                <a:ea typeface="+mn-ea"/>
                <a:cs typeface="+mn-cs"/>
              </a:defRPr>
            </a:lvl3pPr>
            <a:lvl4pPr marL="432000" indent="-252000" algn="l" defTabSz="685800" rtl="0" eaLnBrk="1" latinLnBrk="0" hangingPunct="1">
              <a:lnSpc>
                <a:spcPct val="100000"/>
              </a:lnSpc>
              <a:spcBef>
                <a:spcPts val="300"/>
              </a:spcBef>
              <a:spcAft>
                <a:spcPts val="300"/>
              </a:spcAft>
              <a:buFont typeface="Verdana" panose="020B0604030504040204" pitchFamily="34" charset="0"/>
              <a:buChar char="–"/>
              <a:defRPr sz="1400" kern="1200">
                <a:solidFill>
                  <a:schemeClr val="tx1"/>
                </a:solidFill>
                <a:latin typeface="+mn-lt"/>
                <a:ea typeface="+mn-ea"/>
                <a:cs typeface="+mn-cs"/>
              </a:defRPr>
            </a:lvl4pPr>
            <a:lvl5pPr marL="0" indent="0" algn="l" defTabSz="685800" rtl="0" eaLnBrk="1" latinLnBrk="0" hangingPunct="1">
              <a:lnSpc>
                <a:spcPct val="100000"/>
              </a:lnSpc>
              <a:spcBef>
                <a:spcPts val="900"/>
              </a:spcBef>
              <a:spcAft>
                <a:spcPts val="500"/>
              </a:spcAft>
              <a:buFontTx/>
              <a:buNone/>
              <a:defRPr sz="1600" b="1"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AU" sz="1600" dirty="0">
                <a:solidFill>
                  <a:srgbClr val="00428B"/>
                </a:solidFill>
                <a:latin typeface="+mj-lt"/>
                <a:ea typeface="Verdana" panose="020B0604030504040204" pitchFamily="34" charset="0"/>
                <a:cs typeface="Verdana" panose="020B0604030504040204" pitchFamily="34" charset="0"/>
              </a:rPr>
              <a:t>Architecture Context</a:t>
            </a:r>
          </a:p>
          <a:p>
            <a:endParaRPr lang="en-AU" sz="1600" b="1" dirty="0">
              <a:latin typeface="+mj-lt"/>
              <a:ea typeface="Verdana" panose="020B0604030504040204" pitchFamily="34" charset="0"/>
              <a:cs typeface="Verdana" panose="020B0604030504040204" pitchFamily="34" charset="0"/>
            </a:endParaRPr>
          </a:p>
          <a:p>
            <a:endParaRPr lang="en-US" sz="1600" dirty="0">
              <a:latin typeface="+mj-lt"/>
              <a:ea typeface="Verdana" panose="020B0604030504040204" pitchFamily="34" charset="0"/>
              <a:cs typeface="Verdana" panose="020B0604030504040204" pitchFamily="34" charset="0"/>
            </a:endParaRPr>
          </a:p>
        </p:txBody>
      </p:sp>
      <p:sp>
        <p:nvSpPr>
          <p:cNvPr id="30" name="Rectangle 29"/>
          <p:cNvSpPr/>
          <p:nvPr/>
        </p:nvSpPr>
        <p:spPr>
          <a:xfrm>
            <a:off x="6379636" y="1630825"/>
            <a:ext cx="4774689" cy="738944"/>
          </a:xfrm>
          <a:prstGeom prst="rect">
            <a:avLst/>
          </a:prstGeom>
          <a:solidFill>
            <a:srgbClr val="F677F9"/>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t"/>
          <a:lstStyle/>
          <a:p>
            <a:r>
              <a:rPr lang="en-AU" sz="1333" dirty="0">
                <a:latin typeface="+mj-lt"/>
              </a:rPr>
              <a:t>Business Processes Architecture</a:t>
            </a:r>
          </a:p>
          <a:p>
            <a:pPr marL="228594" indent="-228594">
              <a:buFont typeface="Arial" panose="020B0604020202020204" pitchFamily="34" charset="0"/>
              <a:buChar char="•"/>
            </a:pPr>
            <a:r>
              <a:rPr lang="en-AU" sz="1333" dirty="0">
                <a:solidFill>
                  <a:schemeClr val="tx1"/>
                </a:solidFill>
                <a:latin typeface="+mj-lt"/>
              </a:rPr>
              <a:t>Promote Organisation</a:t>
            </a:r>
          </a:p>
          <a:p>
            <a:pPr marL="228594" indent="-228594">
              <a:buFont typeface="Arial" panose="020B0604020202020204" pitchFamily="34" charset="0"/>
              <a:buChar char="•"/>
            </a:pPr>
            <a:r>
              <a:rPr lang="en-AU" sz="1333" dirty="0">
                <a:solidFill>
                  <a:schemeClr val="tx1"/>
                </a:solidFill>
                <a:latin typeface="+mj-lt"/>
              </a:rPr>
              <a:t>Deliver Customer Service</a:t>
            </a:r>
          </a:p>
        </p:txBody>
      </p:sp>
      <p:sp>
        <p:nvSpPr>
          <p:cNvPr id="31" name="Rectangle 30"/>
          <p:cNvSpPr/>
          <p:nvPr/>
        </p:nvSpPr>
        <p:spPr>
          <a:xfrm>
            <a:off x="6379637" y="2369770"/>
            <a:ext cx="4774689" cy="872065"/>
          </a:xfrm>
          <a:prstGeom prst="rect">
            <a:avLst/>
          </a:prstGeom>
          <a:solidFill>
            <a:schemeClr val="accent4">
              <a:lumMod val="75000"/>
            </a:schemeClr>
          </a:solidFill>
          <a:ln w="25400" cap="flat" cmpd="sng" algn="ctr">
            <a:noFill/>
            <a:prstDash val="solid"/>
          </a:ln>
          <a:effectLst/>
        </p:spPr>
        <p:txBody>
          <a:bodyPr rtlCol="0" anchor="t"/>
          <a:lstStyle/>
          <a:p>
            <a:pPr defTabSz="1219170">
              <a:defRPr/>
            </a:pPr>
            <a:r>
              <a:rPr lang="en-AU" sz="1333" kern="0" dirty="0">
                <a:solidFill>
                  <a:srgbClr val="FFFFFF"/>
                </a:solidFill>
                <a:latin typeface="+mj-lt"/>
              </a:rPr>
              <a:t>Information Architecture</a:t>
            </a:r>
          </a:p>
          <a:p>
            <a:pPr marL="228594" indent="-228594">
              <a:buFont typeface="Arial" panose="020B0604020202020204" pitchFamily="34" charset="0"/>
              <a:buChar char="•"/>
            </a:pPr>
            <a:r>
              <a:rPr lang="en-AU" sz="1333" dirty="0">
                <a:solidFill>
                  <a:schemeClr val="bg1"/>
                </a:solidFill>
                <a:latin typeface="+mj-lt"/>
              </a:rPr>
              <a:t>Location Information – Geography, Site</a:t>
            </a:r>
          </a:p>
          <a:p>
            <a:pPr marL="228594" indent="-228594">
              <a:buFont typeface="Arial" panose="020B0604020202020204" pitchFamily="34" charset="0"/>
              <a:buChar char="•"/>
            </a:pPr>
            <a:r>
              <a:rPr lang="en-AU" sz="1333" dirty="0">
                <a:solidFill>
                  <a:schemeClr val="bg1"/>
                </a:solidFill>
                <a:latin typeface="+mj-lt"/>
              </a:rPr>
              <a:t>Risk – Hazard, Security</a:t>
            </a:r>
          </a:p>
          <a:p>
            <a:pPr marL="228594" indent="-228594">
              <a:buFont typeface="Arial" panose="020B0604020202020204" pitchFamily="34" charset="0"/>
              <a:buChar char="•"/>
            </a:pPr>
            <a:r>
              <a:rPr lang="en-AU" sz="1333" dirty="0">
                <a:solidFill>
                  <a:schemeClr val="bg1"/>
                </a:solidFill>
                <a:latin typeface="+mj-lt"/>
              </a:rPr>
              <a:t>Customer &amp; Community – Permit, Interaction, Customer</a:t>
            </a:r>
          </a:p>
          <a:p>
            <a:pPr marL="228594" indent="-228594">
              <a:buFont typeface="Arial" panose="020B0604020202020204" pitchFamily="34" charset="0"/>
              <a:buChar char="•"/>
            </a:pPr>
            <a:endParaRPr lang="en-AU" sz="1333" dirty="0">
              <a:solidFill>
                <a:schemeClr val="bg1"/>
              </a:solidFill>
              <a:latin typeface="+mj-lt"/>
            </a:endParaRPr>
          </a:p>
        </p:txBody>
      </p:sp>
      <p:cxnSp>
        <p:nvCxnSpPr>
          <p:cNvPr id="33" name="Straight Connector 32"/>
          <p:cNvCxnSpPr/>
          <p:nvPr/>
        </p:nvCxnSpPr>
        <p:spPr>
          <a:xfrm>
            <a:off x="6089223" y="1109133"/>
            <a:ext cx="0" cy="5469467"/>
          </a:xfrm>
          <a:prstGeom prst="line">
            <a:avLst/>
          </a:prstGeom>
          <a:ln>
            <a:solidFill>
              <a:srgbClr val="349872"/>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6379636" y="3236615"/>
            <a:ext cx="4774689" cy="1420446"/>
          </a:xfrm>
          <a:prstGeom prst="rect">
            <a:avLst/>
          </a:prstGeom>
          <a:solidFill>
            <a:srgbClr val="EFF5FB">
              <a:lumMod val="25000"/>
            </a:srgbClr>
          </a:solidFill>
          <a:ln w="25400" cap="flat" cmpd="sng" algn="ctr">
            <a:noFill/>
            <a:prstDash val="solid"/>
          </a:ln>
          <a:effectLst/>
        </p:spPr>
        <p:txBody>
          <a:bodyPr rtlCol="0" anchor="t"/>
          <a:lstStyle/>
          <a:p>
            <a:pPr defTabSz="1219170">
              <a:defRPr/>
            </a:pPr>
            <a:r>
              <a:rPr lang="en-AU" sz="1333" kern="0" dirty="0">
                <a:solidFill>
                  <a:srgbClr val="FFFFFF"/>
                </a:solidFill>
                <a:latin typeface="+mj-lt"/>
              </a:rPr>
              <a:t>Application Reference Model</a:t>
            </a:r>
          </a:p>
          <a:p>
            <a:pPr marL="285750" indent="-285750" defTabSz="1219170">
              <a:buFont typeface="Arial" panose="020B0604020202020204" pitchFamily="34" charset="0"/>
              <a:buChar char="•"/>
              <a:defRPr/>
            </a:pPr>
            <a:r>
              <a:rPr lang="en-AU" sz="1333" kern="0" dirty="0">
                <a:solidFill>
                  <a:srgbClr val="FFFFFF"/>
                </a:solidFill>
                <a:latin typeface="+mj-lt"/>
              </a:rPr>
              <a:t>Customer: </a:t>
            </a:r>
          </a:p>
          <a:p>
            <a:pPr marL="627063" indent="-285750" defTabSz="1219170">
              <a:buFont typeface="Arial" panose="020B0604020202020204" pitchFamily="34" charset="0"/>
              <a:buChar char="•"/>
              <a:defRPr/>
            </a:pPr>
            <a:r>
              <a:rPr lang="en-AU" sz="1333" kern="0" dirty="0">
                <a:solidFill>
                  <a:srgbClr val="FFFFFF"/>
                </a:solidFill>
                <a:latin typeface="+mj-lt"/>
              </a:rPr>
              <a:t>Customer Service Management</a:t>
            </a:r>
          </a:p>
          <a:p>
            <a:pPr marL="627063" indent="-285750" defTabSz="1219170">
              <a:buFont typeface="Arial" panose="020B0604020202020204" pitchFamily="34" charset="0"/>
              <a:buChar char="•"/>
              <a:defRPr/>
            </a:pPr>
            <a:r>
              <a:rPr lang="en-AU" sz="1333" kern="0" dirty="0">
                <a:solidFill>
                  <a:srgbClr val="FFFFFF"/>
                </a:solidFill>
                <a:latin typeface="+mj-lt"/>
              </a:rPr>
              <a:t>Community Engagement</a:t>
            </a:r>
          </a:p>
          <a:p>
            <a:pPr marL="285750" indent="-285750" defTabSz="1219170">
              <a:buFont typeface="Arial" panose="020B0604020202020204" pitchFamily="34" charset="0"/>
              <a:buChar char="•"/>
              <a:defRPr/>
            </a:pPr>
            <a:r>
              <a:rPr lang="en-AU" sz="1333" kern="0" dirty="0">
                <a:solidFill>
                  <a:srgbClr val="FFFFFF"/>
                </a:solidFill>
                <a:latin typeface="+mj-lt"/>
              </a:rPr>
              <a:t>Asset Management</a:t>
            </a:r>
          </a:p>
          <a:p>
            <a:pPr marL="627063" indent="-285750" defTabSz="1219170">
              <a:buFont typeface="Arial" panose="020B0604020202020204" pitchFamily="34" charset="0"/>
              <a:buChar char="•"/>
              <a:defRPr/>
            </a:pPr>
            <a:r>
              <a:rPr lang="en-AU" sz="1333" kern="0" dirty="0">
                <a:solidFill>
                  <a:srgbClr val="FFFFFF"/>
                </a:solidFill>
                <a:latin typeface="+mj-lt"/>
              </a:rPr>
              <a:t>Site Security</a:t>
            </a:r>
          </a:p>
          <a:p>
            <a:pPr defTabSz="1219170">
              <a:defRPr/>
            </a:pPr>
            <a:endParaRPr lang="en-AU" sz="1333" kern="0" dirty="0">
              <a:solidFill>
                <a:srgbClr val="FFFFFF"/>
              </a:solidFill>
              <a:latin typeface="+mj-lt"/>
            </a:endParaRPr>
          </a:p>
        </p:txBody>
      </p:sp>
      <p:sp>
        <p:nvSpPr>
          <p:cNvPr id="12" name="Text Placeholder 5">
            <a:extLst>
              <a:ext uri="{FF2B5EF4-FFF2-40B4-BE49-F238E27FC236}">
                <a16:creationId xmlns:a16="http://schemas.microsoft.com/office/drawing/2014/main" id="{08DF30A4-7F5B-4992-8D68-775C8FE50D5D}"/>
              </a:ext>
            </a:extLst>
          </p:cNvPr>
          <p:cNvSpPr txBox="1">
            <a:spLocks/>
          </p:cNvSpPr>
          <p:nvPr/>
        </p:nvSpPr>
        <p:spPr>
          <a:xfrm>
            <a:off x="6399444" y="5429495"/>
            <a:ext cx="4754881" cy="536062"/>
          </a:xfrm>
          <a:prstGeom prst="rect">
            <a:avLst/>
          </a:prstGeom>
        </p:spPr>
        <p:txBody>
          <a:bodyPr vert="horz" lIns="48000" tIns="48000" rIns="48000" bIns="48000" rtlCol="0" anchor="t">
            <a:normAutofit/>
          </a:bodyPr>
          <a:lstStyle>
            <a:lvl1pPr marL="0" indent="0" algn="l" defTabSz="685800" rtl="0" eaLnBrk="1" latinLnBrk="0" hangingPunct="1">
              <a:lnSpc>
                <a:spcPct val="100000"/>
              </a:lnSpc>
              <a:spcBef>
                <a:spcPts val="300"/>
              </a:spcBef>
              <a:spcAft>
                <a:spcPts val="600"/>
              </a:spcAft>
              <a:buFontTx/>
              <a:buNone/>
              <a:defRPr sz="1400" kern="1200" baseline="0">
                <a:solidFill>
                  <a:schemeClr val="tx1"/>
                </a:solidFill>
                <a:latin typeface="+mn-lt"/>
                <a:ea typeface="+mn-ea"/>
                <a:cs typeface="+mn-cs"/>
              </a:defRPr>
            </a:lvl1pPr>
            <a:lvl2pPr marL="0" indent="0" algn="l" defTabSz="685800" rtl="0" eaLnBrk="1" latinLnBrk="0" hangingPunct="1">
              <a:lnSpc>
                <a:spcPct val="100000"/>
              </a:lnSpc>
              <a:spcBef>
                <a:spcPts val="900"/>
              </a:spcBef>
              <a:spcAft>
                <a:spcPts val="500"/>
              </a:spcAft>
              <a:buFontTx/>
              <a:buNone/>
              <a:defRPr sz="1400" b="1" kern="1200">
                <a:solidFill>
                  <a:schemeClr val="accent2"/>
                </a:solidFill>
                <a:latin typeface="+mn-lt"/>
                <a:ea typeface="+mn-ea"/>
                <a:cs typeface="+mn-cs"/>
              </a:defRPr>
            </a:lvl2pPr>
            <a:lvl3pPr marL="180000" indent="-180000" algn="l" defTabSz="685800" rtl="0" eaLnBrk="1" latinLnBrk="0" hangingPunct="1">
              <a:lnSpc>
                <a:spcPct val="100000"/>
              </a:lnSpc>
              <a:spcBef>
                <a:spcPts val="300"/>
              </a:spcBef>
              <a:spcAft>
                <a:spcPts val="300"/>
              </a:spcAft>
              <a:buFont typeface="Arial" panose="020B0604020202020204" pitchFamily="34" charset="0"/>
              <a:buChar char="•"/>
              <a:defRPr sz="1400" kern="1200">
                <a:solidFill>
                  <a:schemeClr val="tx1"/>
                </a:solidFill>
                <a:latin typeface="+mn-lt"/>
                <a:ea typeface="+mn-ea"/>
                <a:cs typeface="+mn-cs"/>
              </a:defRPr>
            </a:lvl3pPr>
            <a:lvl4pPr marL="432000" indent="-252000" algn="l" defTabSz="685800" rtl="0" eaLnBrk="1" latinLnBrk="0" hangingPunct="1">
              <a:lnSpc>
                <a:spcPct val="100000"/>
              </a:lnSpc>
              <a:spcBef>
                <a:spcPts val="300"/>
              </a:spcBef>
              <a:spcAft>
                <a:spcPts val="300"/>
              </a:spcAft>
              <a:buFont typeface="Verdana" panose="020B0604030504040204" pitchFamily="34" charset="0"/>
              <a:buChar char="–"/>
              <a:defRPr sz="1400" kern="1200">
                <a:solidFill>
                  <a:schemeClr val="tx1"/>
                </a:solidFill>
                <a:latin typeface="+mn-lt"/>
                <a:ea typeface="+mn-ea"/>
                <a:cs typeface="+mn-cs"/>
              </a:defRPr>
            </a:lvl4pPr>
            <a:lvl5pPr marL="0" indent="0" algn="l" defTabSz="685800" rtl="0" eaLnBrk="1" latinLnBrk="0" hangingPunct="1">
              <a:lnSpc>
                <a:spcPct val="100000"/>
              </a:lnSpc>
              <a:spcBef>
                <a:spcPts val="900"/>
              </a:spcBef>
              <a:spcAft>
                <a:spcPts val="500"/>
              </a:spcAft>
              <a:buFontTx/>
              <a:buNone/>
              <a:defRPr sz="1600" b="1"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AU" dirty="0">
                <a:solidFill>
                  <a:srgbClr val="00428B"/>
                </a:solidFill>
                <a:ea typeface="Verdana"/>
                <a:cs typeface="Verdana"/>
              </a:rPr>
              <a:t>Support tier:</a:t>
            </a:r>
            <a:r>
              <a:rPr lang="en-AU" sz="1600" dirty="0">
                <a:solidFill>
                  <a:srgbClr val="00428B"/>
                </a:solidFill>
                <a:ea typeface="Verdana"/>
                <a:cs typeface="Verdana"/>
              </a:rPr>
              <a:t> </a:t>
            </a:r>
            <a:r>
              <a:rPr lang="en-AU" dirty="0">
                <a:ea typeface="Verdana"/>
                <a:cs typeface="+mn-lt"/>
              </a:rPr>
              <a:t>Tier 4</a:t>
            </a:r>
            <a:endParaRPr lang="en-AU" dirty="0">
              <a:latin typeface="+mj-lt"/>
              <a:ea typeface="Calibri"/>
              <a:cs typeface="Calibri"/>
            </a:endParaRPr>
          </a:p>
        </p:txBody>
      </p:sp>
    </p:spTree>
    <p:extLst>
      <p:ext uri="{BB962C8B-B14F-4D97-AF65-F5344CB8AC3E}">
        <p14:creationId xmlns:p14="http://schemas.microsoft.com/office/powerpoint/2010/main" val="658550615"/>
      </p:ext>
    </p:extLst>
  </p:cSld>
  <p:clrMapOvr>
    <a:masterClrMapping/>
  </p:clrMapOvr>
  <p:transition spd="slow">
    <p:wipe dir="r"/>
  </p:transition>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E744D-DD3C-1620-2106-3474A9DB2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39621-66D3-7147-DCAF-146794FC030F}"/>
              </a:ext>
            </a:extLst>
          </p:cNvPr>
          <p:cNvSpPr>
            <a:spLocks noGrp="1"/>
          </p:cNvSpPr>
          <p:nvPr>
            <p:ph type="title"/>
          </p:nvPr>
        </p:nvSpPr>
        <p:spPr/>
        <p:txBody>
          <a:bodyPr/>
          <a:lstStyle/>
          <a:p>
            <a:r>
              <a:rPr lang="en-AU" sz="2800" dirty="0">
                <a:latin typeface="Verdana"/>
                <a:ea typeface="Verdana"/>
                <a:cs typeface="Verdana"/>
              </a:rPr>
              <a:t>Strategic Context (multiple, 2 slides ideal)</a:t>
            </a:r>
          </a:p>
        </p:txBody>
      </p:sp>
      <p:sp>
        <p:nvSpPr>
          <p:cNvPr id="3" name="AutoShape 2" descr="Enlarge Image">
            <a:extLst>
              <a:ext uri="{FF2B5EF4-FFF2-40B4-BE49-F238E27FC236}">
                <a16:creationId xmlns:a16="http://schemas.microsoft.com/office/drawing/2014/main" id="{0B42BD46-13E1-822E-2BAC-CD39FDBFB780}"/>
              </a:ext>
            </a:extLst>
          </p:cNvPr>
          <p:cNvSpPr>
            <a:spLocks noChangeAspect="1" noChangeArrowheads="1"/>
          </p:cNvSpPr>
          <p:nvPr/>
        </p:nvSpPr>
        <p:spPr bwMode="auto">
          <a:xfrm>
            <a:off x="207433" y="-144462"/>
            <a:ext cx="4064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AU" sz="2400">
              <a:latin typeface="+mj-lt"/>
            </a:endParaRPr>
          </a:p>
        </p:txBody>
      </p:sp>
      <p:sp>
        <p:nvSpPr>
          <p:cNvPr id="4" name="Rectangle: Rounded Corners 3">
            <a:extLst>
              <a:ext uri="{FF2B5EF4-FFF2-40B4-BE49-F238E27FC236}">
                <a16:creationId xmlns:a16="http://schemas.microsoft.com/office/drawing/2014/main" id="{C48D316C-1C6E-E8D0-F9B0-9BDB54DECBDC}"/>
              </a:ext>
            </a:extLst>
          </p:cNvPr>
          <p:cNvSpPr/>
          <p:nvPr/>
        </p:nvSpPr>
        <p:spPr>
          <a:xfrm>
            <a:off x="7337662" y="2313846"/>
            <a:ext cx="2210542" cy="447869"/>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FFFFFF"/>
                </a:solidFill>
                <a:effectLst/>
                <a:uLnTx/>
                <a:uFillTx/>
                <a:latin typeface="Verdana"/>
                <a:ea typeface="+mn-ea"/>
                <a:cs typeface="+mn-cs"/>
              </a:rPr>
              <a:t>Digital Workforce</a:t>
            </a:r>
          </a:p>
        </p:txBody>
      </p:sp>
      <p:sp>
        <p:nvSpPr>
          <p:cNvPr id="5" name="Rectangle: Rounded Corners 4">
            <a:extLst>
              <a:ext uri="{FF2B5EF4-FFF2-40B4-BE49-F238E27FC236}">
                <a16:creationId xmlns:a16="http://schemas.microsoft.com/office/drawing/2014/main" id="{234AB84B-95BE-3A8B-251A-4CF9205F7F34}"/>
              </a:ext>
            </a:extLst>
          </p:cNvPr>
          <p:cNvSpPr/>
          <p:nvPr/>
        </p:nvSpPr>
        <p:spPr>
          <a:xfrm>
            <a:off x="9662220" y="2313845"/>
            <a:ext cx="2210542" cy="447869"/>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FFFFFF"/>
                </a:solidFill>
                <a:effectLst/>
                <a:uLnTx/>
                <a:uFillTx/>
                <a:latin typeface="Verdana"/>
                <a:ea typeface="+mn-ea"/>
                <a:cs typeface="+mn-cs"/>
              </a:rPr>
              <a:t>Digital Utility</a:t>
            </a:r>
          </a:p>
        </p:txBody>
      </p:sp>
      <p:sp>
        <p:nvSpPr>
          <p:cNvPr id="6" name="TextBox 5">
            <a:extLst>
              <a:ext uri="{FF2B5EF4-FFF2-40B4-BE49-F238E27FC236}">
                <a16:creationId xmlns:a16="http://schemas.microsoft.com/office/drawing/2014/main" id="{4645A411-BE29-636E-A5B1-5B772D69547C}"/>
              </a:ext>
            </a:extLst>
          </p:cNvPr>
          <p:cNvSpPr txBox="1"/>
          <p:nvPr/>
        </p:nvSpPr>
        <p:spPr>
          <a:xfrm>
            <a:off x="7337661" y="2814064"/>
            <a:ext cx="2210541" cy="12772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0" i="0" u="none" strike="noStrike" kern="1200" cap="none" spc="0" normalizeH="0" baseline="0" noProof="0">
                <a:ln>
                  <a:noFill/>
                </a:ln>
                <a:solidFill>
                  <a:srgbClr val="231F20"/>
                </a:solidFill>
                <a:effectLst/>
                <a:uLnTx/>
                <a:uFillTx/>
                <a:latin typeface="Verdana"/>
                <a:ea typeface="+mn-ea"/>
                <a:cs typeface="+mn-cs"/>
              </a:rPr>
              <a:t>An integrated suite of fit-for-purpose and intuitive digital tools enables Melbourne Water’s workforce to be highly productive and engaged, regardless of location</a:t>
            </a:r>
          </a:p>
        </p:txBody>
      </p:sp>
      <p:sp>
        <p:nvSpPr>
          <p:cNvPr id="7" name="TextBox 6">
            <a:extLst>
              <a:ext uri="{FF2B5EF4-FFF2-40B4-BE49-F238E27FC236}">
                <a16:creationId xmlns:a16="http://schemas.microsoft.com/office/drawing/2014/main" id="{9C35C3F9-6656-FE10-1CDA-7B833D81BE03}"/>
              </a:ext>
            </a:extLst>
          </p:cNvPr>
          <p:cNvSpPr txBox="1"/>
          <p:nvPr/>
        </p:nvSpPr>
        <p:spPr>
          <a:xfrm>
            <a:off x="9662219" y="2814064"/>
            <a:ext cx="2210541"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0" i="0" u="none" strike="noStrike" kern="1200" cap="none" spc="0" normalizeH="0" baseline="0" noProof="0">
                <a:ln>
                  <a:noFill/>
                </a:ln>
                <a:solidFill>
                  <a:srgbClr val="231F20"/>
                </a:solidFill>
                <a:effectLst/>
                <a:uLnTx/>
                <a:uFillTx/>
                <a:latin typeface="Verdana"/>
                <a:ea typeface="+mn-ea"/>
                <a:cs typeface="+mn-cs"/>
              </a:rPr>
              <a:t>The reliable delivery of services is supported by a stable, secure and financially sustainable portfolio of systems and infrastructure</a:t>
            </a:r>
            <a:endParaRPr kumimoji="0" lang="en-AU" sz="1200" b="0" i="0" u="none" strike="noStrike" kern="1200" cap="none" spc="0" normalizeH="0" baseline="0" noProof="0">
              <a:ln>
                <a:noFill/>
              </a:ln>
              <a:solidFill>
                <a:srgbClr val="231F20"/>
              </a:solidFill>
              <a:effectLst/>
              <a:uLnTx/>
              <a:uFillTx/>
              <a:latin typeface="Verdana"/>
              <a:ea typeface="+mn-ea"/>
              <a:cs typeface="+mn-cs"/>
            </a:endParaRPr>
          </a:p>
        </p:txBody>
      </p:sp>
      <p:sp>
        <p:nvSpPr>
          <p:cNvPr id="8" name="TextBox 7">
            <a:extLst>
              <a:ext uri="{FF2B5EF4-FFF2-40B4-BE49-F238E27FC236}">
                <a16:creationId xmlns:a16="http://schemas.microsoft.com/office/drawing/2014/main" id="{39373F6B-9780-0074-3F3A-E92514F24E8E}"/>
              </a:ext>
            </a:extLst>
          </p:cNvPr>
          <p:cNvSpPr txBox="1"/>
          <p:nvPr/>
        </p:nvSpPr>
        <p:spPr>
          <a:xfrm>
            <a:off x="363986" y="2814064"/>
            <a:ext cx="2210542"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0" i="0" u="none" strike="noStrike" kern="1200" cap="none" spc="0" normalizeH="0" baseline="0" noProof="0">
                <a:ln>
                  <a:noFill/>
                </a:ln>
                <a:solidFill>
                  <a:srgbClr val="231F20"/>
                </a:solidFill>
                <a:effectLst/>
                <a:uLnTx/>
                <a:uFillTx/>
                <a:latin typeface="Verdana"/>
                <a:ea typeface="+mn-ea"/>
                <a:cs typeface="+mn-cs"/>
              </a:rPr>
              <a:t>Melbourne Water and our customers have easy access to timely and accurate data and insights to enable data-driven decisions to optimise outcomes</a:t>
            </a:r>
          </a:p>
        </p:txBody>
      </p:sp>
      <p:sp>
        <p:nvSpPr>
          <p:cNvPr id="9" name="TextBox 8">
            <a:extLst>
              <a:ext uri="{FF2B5EF4-FFF2-40B4-BE49-F238E27FC236}">
                <a16:creationId xmlns:a16="http://schemas.microsoft.com/office/drawing/2014/main" id="{EF55B3E8-FC76-6C70-C647-DDFCF9F9A906}"/>
              </a:ext>
            </a:extLst>
          </p:cNvPr>
          <p:cNvSpPr txBox="1"/>
          <p:nvPr/>
        </p:nvSpPr>
        <p:spPr>
          <a:xfrm>
            <a:off x="5013103" y="2814064"/>
            <a:ext cx="2210541" cy="1615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0" i="0" u="none" strike="noStrike" kern="1200" cap="none" spc="0" normalizeH="0" baseline="0" noProof="0">
                <a:ln>
                  <a:noFill/>
                </a:ln>
                <a:solidFill>
                  <a:srgbClr val="231F20"/>
                </a:solidFill>
                <a:effectLst/>
                <a:uLnTx/>
                <a:uFillTx/>
                <a:latin typeface="Verdana"/>
                <a:ea typeface="+mn-ea"/>
                <a:cs typeface="+mn-cs"/>
              </a:rPr>
              <a:t>An intelligent network of built and natural assets leveraging digital engineering, remote sensing, advanced analytics and automation enables Melbourne Water to move towards fully integrated water management</a:t>
            </a:r>
          </a:p>
        </p:txBody>
      </p:sp>
      <p:sp>
        <p:nvSpPr>
          <p:cNvPr id="10" name="TextBox 9">
            <a:extLst>
              <a:ext uri="{FF2B5EF4-FFF2-40B4-BE49-F238E27FC236}">
                <a16:creationId xmlns:a16="http://schemas.microsoft.com/office/drawing/2014/main" id="{6151475C-DF8D-C0D2-9D9A-9C556614F453}"/>
              </a:ext>
            </a:extLst>
          </p:cNvPr>
          <p:cNvSpPr txBox="1"/>
          <p:nvPr/>
        </p:nvSpPr>
        <p:spPr>
          <a:xfrm>
            <a:off x="2688545" y="2814064"/>
            <a:ext cx="2210541"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0" i="0" u="none" strike="noStrike" kern="1200" cap="none" spc="0" normalizeH="0" baseline="0" noProof="0">
                <a:ln>
                  <a:noFill/>
                </a:ln>
                <a:solidFill>
                  <a:srgbClr val="231F20"/>
                </a:solidFill>
                <a:effectLst/>
                <a:uLnTx/>
                <a:uFillTx/>
                <a:latin typeface="Verdana"/>
                <a:ea typeface="+mn-ea"/>
                <a:cs typeface="+mn-cs"/>
              </a:rPr>
              <a:t>Customers &amp; community engage, interact, transact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0" i="0" u="none" strike="noStrike" kern="1200" cap="none" spc="0" normalizeH="0" baseline="0" noProof="0">
                <a:ln>
                  <a:noFill/>
                </a:ln>
                <a:solidFill>
                  <a:srgbClr val="231F20"/>
                </a:solidFill>
                <a:effectLst/>
                <a:uLnTx/>
                <a:uFillTx/>
                <a:latin typeface="Verdana"/>
                <a:ea typeface="+mn-ea"/>
                <a:cs typeface="+mn-cs"/>
              </a:rPr>
              <a:t>and collaborate with us online through responsive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0" i="0" u="none" strike="noStrike" kern="1200" cap="none" spc="0" normalizeH="0" baseline="0" noProof="0">
                <a:ln>
                  <a:noFill/>
                </a:ln>
                <a:solidFill>
                  <a:srgbClr val="231F20"/>
                </a:solidFill>
                <a:effectLst/>
                <a:uLnTx/>
                <a:uFillTx/>
                <a:latin typeface="Verdana"/>
                <a:ea typeface="+mn-ea"/>
                <a:cs typeface="+mn-cs"/>
              </a:rPr>
              <a:t>and easy-to-use digital channels</a:t>
            </a:r>
          </a:p>
        </p:txBody>
      </p:sp>
      <p:sp>
        <p:nvSpPr>
          <p:cNvPr id="13" name="Rectangle: Rounded Corners 12">
            <a:extLst>
              <a:ext uri="{FF2B5EF4-FFF2-40B4-BE49-F238E27FC236}">
                <a16:creationId xmlns:a16="http://schemas.microsoft.com/office/drawing/2014/main" id="{87C43F28-E135-37F3-D2F3-E73FA49BB470}"/>
              </a:ext>
            </a:extLst>
          </p:cNvPr>
          <p:cNvSpPr/>
          <p:nvPr/>
        </p:nvSpPr>
        <p:spPr>
          <a:xfrm>
            <a:off x="363985" y="2313846"/>
            <a:ext cx="2210542" cy="447869"/>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FFFFFF"/>
                </a:solidFill>
                <a:effectLst/>
                <a:uLnTx/>
                <a:uFillTx/>
                <a:latin typeface="Verdana"/>
                <a:ea typeface="+mn-ea"/>
                <a:cs typeface="+mn-cs"/>
              </a:rPr>
              <a:t>Data-driven</a:t>
            </a:r>
          </a:p>
        </p:txBody>
      </p:sp>
      <p:sp>
        <p:nvSpPr>
          <p:cNvPr id="14" name="Rectangle: Rounded Corners 13">
            <a:extLst>
              <a:ext uri="{FF2B5EF4-FFF2-40B4-BE49-F238E27FC236}">
                <a16:creationId xmlns:a16="http://schemas.microsoft.com/office/drawing/2014/main" id="{2E84390C-4DC5-F3CA-9F81-05263D6F1CE3}"/>
              </a:ext>
            </a:extLst>
          </p:cNvPr>
          <p:cNvSpPr/>
          <p:nvPr/>
        </p:nvSpPr>
        <p:spPr>
          <a:xfrm>
            <a:off x="2688544" y="2313846"/>
            <a:ext cx="2210542" cy="447869"/>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FFFFFF"/>
                </a:solidFill>
                <a:effectLst/>
                <a:uLnTx/>
                <a:uFillTx/>
                <a:latin typeface="Verdana"/>
                <a:ea typeface="+mn-ea"/>
                <a:cs typeface="+mn-cs"/>
              </a:rPr>
              <a:t>Digital Customer</a:t>
            </a:r>
          </a:p>
        </p:txBody>
      </p:sp>
      <p:sp>
        <p:nvSpPr>
          <p:cNvPr id="15" name="Rectangle: Rounded Corners 14">
            <a:extLst>
              <a:ext uri="{FF2B5EF4-FFF2-40B4-BE49-F238E27FC236}">
                <a16:creationId xmlns:a16="http://schemas.microsoft.com/office/drawing/2014/main" id="{0FBAF52E-E114-A3F1-45AD-E528009824C4}"/>
              </a:ext>
            </a:extLst>
          </p:cNvPr>
          <p:cNvSpPr/>
          <p:nvPr/>
        </p:nvSpPr>
        <p:spPr>
          <a:xfrm>
            <a:off x="5013103" y="2313846"/>
            <a:ext cx="2210542" cy="447869"/>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FFFFFF"/>
                </a:solidFill>
                <a:effectLst/>
                <a:uLnTx/>
                <a:uFillTx/>
                <a:latin typeface="Verdana"/>
                <a:ea typeface="+mn-ea"/>
                <a:cs typeface="+mn-cs"/>
              </a:rPr>
              <a:t>Stable &amp; Secure</a:t>
            </a:r>
          </a:p>
        </p:txBody>
      </p:sp>
      <p:sp>
        <p:nvSpPr>
          <p:cNvPr id="16" name="TextBox 15">
            <a:extLst>
              <a:ext uri="{FF2B5EF4-FFF2-40B4-BE49-F238E27FC236}">
                <a16:creationId xmlns:a16="http://schemas.microsoft.com/office/drawing/2014/main" id="{319261F4-B44C-220B-8F67-30FAC666463B}"/>
              </a:ext>
            </a:extLst>
          </p:cNvPr>
          <p:cNvSpPr txBox="1"/>
          <p:nvPr/>
        </p:nvSpPr>
        <p:spPr>
          <a:xfrm>
            <a:off x="363986" y="4733055"/>
            <a:ext cx="2210542" cy="144655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a:ln>
                  <a:noFill/>
                </a:ln>
                <a:solidFill>
                  <a:srgbClr val="231F20"/>
                </a:solidFill>
                <a:effectLst/>
                <a:uLnTx/>
                <a:uFillTx/>
                <a:latin typeface="Verdana"/>
                <a:ea typeface="+mn-ea"/>
                <a:cs typeface="+mn-cs"/>
              </a:rPr>
              <a:t>Well structured, integrated &amp; available data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a:ln>
                  <a:noFill/>
                </a:ln>
                <a:solidFill>
                  <a:srgbClr val="231F20"/>
                </a:solidFill>
                <a:effectLst/>
                <a:uLnTx/>
                <a:uFillTx/>
                <a:latin typeface="Verdana"/>
                <a:ea typeface="+mn-ea"/>
                <a:cs typeface="+mn-cs"/>
              </a:rPr>
              <a:t>Open &amp; Inclusive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a:ln>
                  <a:noFill/>
                </a:ln>
                <a:solidFill>
                  <a:srgbClr val="231F20"/>
                </a:solidFill>
                <a:effectLst/>
                <a:uLnTx/>
                <a:uFillTx/>
                <a:latin typeface="Verdana"/>
                <a:ea typeface="+mn-ea"/>
                <a:cs typeface="+mn-cs"/>
              </a:rPr>
              <a:t>Analysis focussed on building insights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a:ln>
                  <a:noFill/>
                </a:ln>
                <a:solidFill>
                  <a:srgbClr val="231F20"/>
                </a:solidFill>
                <a:effectLst/>
                <a:uLnTx/>
                <a:uFillTx/>
                <a:latin typeface="Verdana"/>
                <a:ea typeface="+mn-ea"/>
                <a:cs typeface="+mn-cs"/>
              </a:rPr>
              <a:t>Trustworthy data quality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a:ln>
                  <a:noFill/>
                </a:ln>
                <a:solidFill>
                  <a:srgbClr val="231F20"/>
                </a:solidFill>
                <a:effectLst/>
                <a:uLnTx/>
                <a:uFillTx/>
                <a:latin typeface="Verdana"/>
                <a:ea typeface="+mn-ea"/>
                <a:cs typeface="+mn-cs"/>
              </a:rPr>
              <a:t>Compliant and secure</a:t>
            </a:r>
          </a:p>
        </p:txBody>
      </p:sp>
      <p:sp>
        <p:nvSpPr>
          <p:cNvPr id="17" name="TextBox 16">
            <a:extLst>
              <a:ext uri="{FF2B5EF4-FFF2-40B4-BE49-F238E27FC236}">
                <a16:creationId xmlns:a16="http://schemas.microsoft.com/office/drawing/2014/main" id="{72CD4C28-C84E-27D2-6CAF-0CCB5B66087F}"/>
              </a:ext>
            </a:extLst>
          </p:cNvPr>
          <p:cNvSpPr txBox="1"/>
          <p:nvPr/>
        </p:nvSpPr>
        <p:spPr>
          <a:xfrm>
            <a:off x="2688544" y="4733055"/>
            <a:ext cx="2210541" cy="1615827"/>
          </a:xfrm>
          <a:prstGeom prst="rect">
            <a:avLst/>
          </a:prstGeom>
          <a:noFill/>
        </p:spPr>
        <p:txBody>
          <a:bodyPr wrap="square" rtlCol="0">
            <a:spAutoFit/>
          </a:bodyPr>
          <a:lstStyle>
            <a:defPPr>
              <a:defRPr lang="en-US"/>
            </a:defPPr>
            <a:lvl1pPr marL="171450" indent="-171450">
              <a:buFont typeface="Arial" panose="020B0604020202020204" pitchFamily="34" charset="0"/>
              <a:buChar char="•"/>
              <a:defRPr sz="1100"/>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1" i="0" u="none" strike="noStrike" kern="1200" cap="none" spc="0" normalizeH="0" baseline="0" noProof="0" dirty="0">
                <a:ln>
                  <a:noFill/>
                </a:ln>
                <a:solidFill>
                  <a:srgbClr val="231F20"/>
                </a:solidFill>
                <a:effectLst/>
                <a:uLnTx/>
                <a:uFillTx/>
                <a:latin typeface="Verdana"/>
                <a:ea typeface="+mn-ea"/>
                <a:cs typeface="+mn-cs"/>
              </a:rPr>
              <a:t>Water literacy &amp; citizen science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1" i="0" u="none" strike="noStrike" kern="1200" cap="none" spc="0" normalizeH="0" baseline="0" noProof="0" dirty="0">
                <a:ln>
                  <a:noFill/>
                </a:ln>
                <a:solidFill>
                  <a:srgbClr val="231F20"/>
                </a:solidFill>
                <a:effectLst/>
                <a:uLnTx/>
                <a:uFillTx/>
                <a:latin typeface="Verdana"/>
                <a:ea typeface="+mn-ea"/>
                <a:cs typeface="+mn-cs"/>
              </a:rPr>
              <a:t>Customer digital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1" i="0" u="none" strike="noStrike" kern="1200" cap="none" spc="0" normalizeH="0" baseline="0" noProof="0" dirty="0">
                <a:ln>
                  <a:noFill/>
                </a:ln>
                <a:solidFill>
                  <a:srgbClr val="231F20"/>
                </a:solidFill>
                <a:effectLst/>
                <a:uLnTx/>
                <a:uFillTx/>
                <a:latin typeface="Verdana"/>
                <a:ea typeface="+mn-ea"/>
                <a:cs typeface="+mn-cs"/>
              </a:rPr>
              <a:t>Customer experience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1" i="0" u="none" strike="noStrike" kern="1200" cap="none" spc="0" normalizeH="0" baseline="0" noProof="0" dirty="0">
                <a:ln>
                  <a:noFill/>
                </a:ln>
                <a:solidFill>
                  <a:srgbClr val="231F20"/>
                </a:solidFill>
                <a:effectLst/>
                <a:uLnTx/>
                <a:uFillTx/>
                <a:latin typeface="Verdana"/>
                <a:ea typeface="+mn-ea"/>
                <a:cs typeface="+mn-cs"/>
              </a:rPr>
              <a:t>Understanding our clients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1" i="0" u="none" strike="noStrike" kern="1200" cap="none" spc="0" normalizeH="0" baseline="0" noProof="0" dirty="0">
                <a:ln>
                  <a:noFill/>
                </a:ln>
                <a:effectLst/>
                <a:uLnTx/>
                <a:uFillTx/>
                <a:latin typeface="Verdana"/>
                <a:ea typeface="+mn-ea"/>
                <a:cs typeface="+mn-cs"/>
              </a:rPr>
              <a:t>Enriched customer digital services</a:t>
            </a:r>
          </a:p>
        </p:txBody>
      </p:sp>
      <p:sp>
        <p:nvSpPr>
          <p:cNvPr id="18" name="TextBox 17">
            <a:extLst>
              <a:ext uri="{FF2B5EF4-FFF2-40B4-BE49-F238E27FC236}">
                <a16:creationId xmlns:a16="http://schemas.microsoft.com/office/drawing/2014/main" id="{C84EC1CA-2168-4676-02CB-384B7A4E0E53}"/>
              </a:ext>
            </a:extLst>
          </p:cNvPr>
          <p:cNvSpPr txBox="1"/>
          <p:nvPr/>
        </p:nvSpPr>
        <p:spPr>
          <a:xfrm>
            <a:off x="5013101" y="4731734"/>
            <a:ext cx="2210541" cy="938719"/>
          </a:xfrm>
          <a:prstGeom prst="rect">
            <a:avLst/>
          </a:prstGeom>
          <a:noFill/>
        </p:spPr>
        <p:txBody>
          <a:bodyPr wrap="square" rtlCol="0">
            <a:spAutoFit/>
          </a:bodyPr>
          <a:lstStyle>
            <a:defPPr>
              <a:defRPr lang="en-US"/>
            </a:defPPr>
            <a:lvl1pPr marL="171450" indent="-171450">
              <a:buFont typeface="Arial" panose="020B0604020202020204" pitchFamily="34" charset="0"/>
              <a:buChar char="•"/>
              <a:defRPr sz="1100"/>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dirty="0">
                <a:ln>
                  <a:noFill/>
                </a:ln>
                <a:solidFill>
                  <a:srgbClr val="231F20"/>
                </a:solidFill>
                <a:effectLst/>
                <a:uLnTx/>
                <a:uFillTx/>
                <a:latin typeface="Verdana"/>
                <a:ea typeface="+mn-ea"/>
                <a:cs typeface="+mn-cs"/>
              </a:rPr>
              <a:t>Risk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i="0" u="none" strike="noStrike" kern="1200" cap="none" spc="0" normalizeH="0" baseline="0" noProof="0" dirty="0">
                <a:ln>
                  <a:noFill/>
                </a:ln>
                <a:solidFill>
                  <a:srgbClr val="231F20"/>
                </a:solidFill>
                <a:effectLst/>
                <a:uLnTx/>
                <a:uFillTx/>
                <a:latin typeface="Verdana"/>
                <a:ea typeface="+mn-ea"/>
                <a:cs typeface="+mn-cs"/>
              </a:rPr>
              <a:t>Service quality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i="0" u="none" strike="noStrike" kern="1200" cap="none" spc="0" normalizeH="0" baseline="0" noProof="0" dirty="0">
                <a:ln>
                  <a:noFill/>
                </a:ln>
                <a:solidFill>
                  <a:srgbClr val="231F20"/>
                </a:solidFill>
                <a:effectLst/>
                <a:uLnTx/>
                <a:uFillTx/>
                <a:latin typeface="Verdana"/>
                <a:ea typeface="+mn-ea"/>
                <a:cs typeface="+mn-cs"/>
              </a:rPr>
              <a:t>Support quality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dirty="0">
                <a:ln>
                  <a:noFill/>
                </a:ln>
                <a:solidFill>
                  <a:srgbClr val="231F20"/>
                </a:solidFill>
                <a:effectLst/>
                <a:uLnTx/>
                <a:uFillTx/>
                <a:latin typeface="Verdana"/>
                <a:ea typeface="+mn-ea"/>
                <a:cs typeface="+mn-cs"/>
              </a:rPr>
              <a:t>Cyber security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dirty="0">
                <a:ln>
                  <a:noFill/>
                </a:ln>
                <a:solidFill>
                  <a:srgbClr val="231F20"/>
                </a:solidFill>
                <a:effectLst/>
                <a:uLnTx/>
                <a:uFillTx/>
                <a:latin typeface="Verdana"/>
                <a:ea typeface="+mn-ea"/>
                <a:cs typeface="+mn-cs"/>
              </a:rPr>
              <a:t>Financial sustainability</a:t>
            </a:r>
          </a:p>
        </p:txBody>
      </p:sp>
      <p:sp>
        <p:nvSpPr>
          <p:cNvPr id="19" name="TextBox 18">
            <a:extLst>
              <a:ext uri="{FF2B5EF4-FFF2-40B4-BE49-F238E27FC236}">
                <a16:creationId xmlns:a16="http://schemas.microsoft.com/office/drawing/2014/main" id="{D6BBEAE9-5E90-1F95-ED4C-64DEC933D392}"/>
              </a:ext>
            </a:extLst>
          </p:cNvPr>
          <p:cNvSpPr txBox="1"/>
          <p:nvPr/>
        </p:nvSpPr>
        <p:spPr>
          <a:xfrm>
            <a:off x="7474998" y="4731734"/>
            <a:ext cx="2124257" cy="1277273"/>
          </a:xfrm>
          <a:prstGeom prst="rect">
            <a:avLst/>
          </a:prstGeom>
          <a:noFill/>
        </p:spPr>
        <p:txBody>
          <a:bodyPr wrap="square" rtlCol="0">
            <a:spAutoFit/>
          </a:bodyPr>
          <a:lstStyle>
            <a:defPPr>
              <a:defRPr lang="en-US"/>
            </a:defPPr>
            <a:lvl1pPr marL="171450" indent="-171450">
              <a:buFont typeface="Arial" panose="020B0604020202020204" pitchFamily="34" charset="0"/>
              <a:buChar char="•"/>
              <a:defRPr sz="1100"/>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i="0" u="none" strike="noStrike" kern="1200" cap="none" spc="0" normalizeH="0" baseline="0" noProof="0" dirty="0">
                <a:ln>
                  <a:noFill/>
                </a:ln>
                <a:solidFill>
                  <a:srgbClr val="231F20"/>
                </a:solidFill>
                <a:effectLst/>
                <a:uLnTx/>
                <a:uFillTx/>
                <a:latin typeface="Verdana"/>
                <a:ea typeface="+mn-ea"/>
                <a:cs typeface="+mn-cs"/>
              </a:rPr>
              <a:t>Teamwork and collaboration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i="0" u="none" strike="noStrike" kern="1200" cap="none" spc="0" normalizeH="0" baseline="0" noProof="0" dirty="0">
                <a:ln>
                  <a:noFill/>
                </a:ln>
                <a:solidFill>
                  <a:srgbClr val="231F20"/>
                </a:solidFill>
                <a:effectLst/>
                <a:uLnTx/>
                <a:uFillTx/>
                <a:latin typeface="Verdana"/>
                <a:ea typeface="+mn-ea"/>
                <a:cs typeface="+mn-cs"/>
              </a:rPr>
              <a:t>Mobility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i="0" u="none" strike="noStrike" kern="1200" cap="none" spc="0" normalizeH="0" baseline="0" noProof="0" dirty="0">
                <a:ln>
                  <a:noFill/>
                </a:ln>
                <a:solidFill>
                  <a:srgbClr val="231F20"/>
                </a:solidFill>
                <a:effectLst/>
                <a:uLnTx/>
                <a:uFillTx/>
                <a:latin typeface="Verdana"/>
                <a:ea typeface="+mn-ea"/>
                <a:cs typeface="+mn-cs"/>
              </a:rPr>
              <a:t>Digital maturity &amp; capacity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i="0" u="none" strike="noStrike" kern="1200" cap="none" spc="0" normalizeH="0" baseline="0" noProof="0" dirty="0">
                <a:ln>
                  <a:noFill/>
                </a:ln>
                <a:solidFill>
                  <a:srgbClr val="231F20"/>
                </a:solidFill>
                <a:effectLst/>
                <a:uLnTx/>
                <a:uFillTx/>
                <a:latin typeface="Verdana"/>
                <a:ea typeface="+mn-ea"/>
                <a:cs typeface="+mn-cs"/>
              </a:rPr>
              <a:t>Training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i="0" u="none" strike="noStrike" kern="1200" cap="none" spc="0" normalizeH="0" baseline="0" noProof="0" dirty="0">
                <a:ln>
                  <a:noFill/>
                </a:ln>
                <a:solidFill>
                  <a:srgbClr val="231F20"/>
                </a:solidFill>
                <a:effectLst/>
                <a:uLnTx/>
                <a:uFillTx/>
                <a:latin typeface="Verdana"/>
                <a:ea typeface="+mn-ea"/>
                <a:cs typeface="+mn-cs"/>
              </a:rPr>
              <a:t>User experience</a:t>
            </a:r>
          </a:p>
        </p:txBody>
      </p:sp>
      <p:sp>
        <p:nvSpPr>
          <p:cNvPr id="20" name="TextBox 19">
            <a:extLst>
              <a:ext uri="{FF2B5EF4-FFF2-40B4-BE49-F238E27FC236}">
                <a16:creationId xmlns:a16="http://schemas.microsoft.com/office/drawing/2014/main" id="{0D17EF7F-572A-CF1F-DA6D-684174AE69DB}"/>
              </a:ext>
            </a:extLst>
          </p:cNvPr>
          <p:cNvSpPr txBox="1"/>
          <p:nvPr/>
        </p:nvSpPr>
        <p:spPr>
          <a:xfrm>
            <a:off x="9662215" y="4731734"/>
            <a:ext cx="2210541" cy="1446550"/>
          </a:xfrm>
          <a:prstGeom prst="rect">
            <a:avLst/>
          </a:prstGeom>
          <a:noFill/>
        </p:spPr>
        <p:txBody>
          <a:bodyPr wrap="square" rtlCol="0">
            <a:spAutoFit/>
          </a:bodyPr>
          <a:lstStyle>
            <a:defPPr>
              <a:defRPr lang="en-US"/>
            </a:defPPr>
            <a:lvl1pPr marL="171450" indent="-171450">
              <a:buFont typeface="Arial" panose="020B0604020202020204" pitchFamily="34" charset="0"/>
              <a:buChar char="•"/>
              <a:defRPr sz="1100"/>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dirty="0">
                <a:ln>
                  <a:noFill/>
                </a:ln>
                <a:solidFill>
                  <a:srgbClr val="231F20"/>
                </a:solidFill>
                <a:effectLst/>
                <a:uLnTx/>
                <a:uFillTx/>
                <a:latin typeface="Verdana"/>
                <a:ea typeface="+mn-ea"/>
                <a:cs typeface="+mn-cs"/>
              </a:rPr>
              <a:t>Predictive asset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dirty="0">
                <a:ln>
                  <a:noFill/>
                </a:ln>
                <a:solidFill>
                  <a:srgbClr val="231F20"/>
                </a:solidFill>
                <a:effectLst/>
                <a:uLnTx/>
                <a:uFillTx/>
                <a:latin typeface="Verdana"/>
                <a:ea typeface="+mn-ea"/>
                <a:cs typeface="+mn-cs"/>
              </a:rPr>
              <a:t>Future focussed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dirty="0">
                <a:ln>
                  <a:noFill/>
                </a:ln>
                <a:solidFill>
                  <a:srgbClr val="231F20"/>
                </a:solidFill>
                <a:effectLst/>
                <a:uLnTx/>
                <a:uFillTx/>
                <a:latin typeface="Verdana"/>
                <a:ea typeface="+mn-ea"/>
                <a:cs typeface="+mn-cs"/>
              </a:rPr>
              <a:t>Smart service planning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dirty="0">
                <a:ln>
                  <a:noFill/>
                </a:ln>
                <a:solidFill>
                  <a:srgbClr val="231F20"/>
                </a:solidFill>
                <a:effectLst/>
                <a:uLnTx/>
                <a:uFillTx/>
                <a:latin typeface="Verdana"/>
                <a:ea typeface="+mn-ea"/>
                <a:cs typeface="+mn-cs"/>
              </a:rPr>
              <a:t>Smart asset simulation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dirty="0">
                <a:ln>
                  <a:noFill/>
                </a:ln>
                <a:solidFill>
                  <a:srgbClr val="231F20"/>
                </a:solidFill>
                <a:effectLst/>
                <a:uLnTx/>
                <a:uFillTx/>
                <a:latin typeface="Verdana"/>
                <a:ea typeface="+mn-ea"/>
                <a:cs typeface="+mn-cs"/>
              </a:rPr>
              <a:t>Service &amp; operational performance visualisation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1" i="0" u="none" strike="noStrike" kern="1200" cap="none" spc="0" normalizeH="0" baseline="0" noProof="0" dirty="0">
                <a:ln>
                  <a:noFill/>
                </a:ln>
                <a:solidFill>
                  <a:srgbClr val="231F20"/>
                </a:solidFill>
                <a:effectLst/>
                <a:uLnTx/>
                <a:uFillTx/>
                <a:latin typeface="Verdana"/>
                <a:ea typeface="+mn-ea"/>
                <a:cs typeface="+mn-cs"/>
              </a:rPr>
              <a:t>Safety</a:t>
            </a:r>
          </a:p>
        </p:txBody>
      </p:sp>
      <p:sp>
        <p:nvSpPr>
          <p:cNvPr id="23" name="Rectangle: Rounded Corners 22">
            <a:extLst>
              <a:ext uri="{FF2B5EF4-FFF2-40B4-BE49-F238E27FC236}">
                <a16:creationId xmlns:a16="http://schemas.microsoft.com/office/drawing/2014/main" id="{DF0EAC21-277B-3982-61AB-E3D3340F4416}"/>
              </a:ext>
            </a:extLst>
          </p:cNvPr>
          <p:cNvSpPr/>
          <p:nvPr/>
        </p:nvSpPr>
        <p:spPr>
          <a:xfrm>
            <a:off x="2616776" y="2130642"/>
            <a:ext cx="2312657" cy="4296792"/>
          </a:xfrm>
          <a:prstGeom prst="roundRect">
            <a:avLst>
              <a:gd name="adj" fmla="val 10525"/>
            </a:avLst>
          </a:prstGeom>
          <a:noFill/>
          <a:ln w="57150">
            <a:solidFill>
              <a:srgbClr val="75BB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sp>
        <p:nvSpPr>
          <p:cNvPr id="24" name="Rectangle: Rounded Corners 23">
            <a:extLst>
              <a:ext uri="{FF2B5EF4-FFF2-40B4-BE49-F238E27FC236}">
                <a16:creationId xmlns:a16="http://schemas.microsoft.com/office/drawing/2014/main" id="{12045A3A-1E92-4292-AA48-DFF5A5E13EF2}"/>
              </a:ext>
            </a:extLst>
          </p:cNvPr>
          <p:cNvSpPr/>
          <p:nvPr/>
        </p:nvSpPr>
        <p:spPr>
          <a:xfrm>
            <a:off x="9611498" y="2130642"/>
            <a:ext cx="2312657" cy="4296792"/>
          </a:xfrm>
          <a:prstGeom prst="roundRect">
            <a:avLst>
              <a:gd name="adj" fmla="val 10525"/>
            </a:avLst>
          </a:prstGeom>
          <a:noFill/>
          <a:ln w="57150">
            <a:solidFill>
              <a:srgbClr val="75BB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sp>
        <p:nvSpPr>
          <p:cNvPr id="25" name="TextBox 24">
            <a:extLst>
              <a:ext uri="{FF2B5EF4-FFF2-40B4-BE49-F238E27FC236}">
                <a16:creationId xmlns:a16="http://schemas.microsoft.com/office/drawing/2014/main" id="{D9F5CC76-B1C4-E43F-B1C7-122D0E650095}"/>
              </a:ext>
            </a:extLst>
          </p:cNvPr>
          <p:cNvSpPr txBox="1"/>
          <p:nvPr/>
        </p:nvSpPr>
        <p:spPr>
          <a:xfrm>
            <a:off x="452473" y="1172533"/>
            <a:ext cx="4509572" cy="769441"/>
          </a:xfrm>
          <a:prstGeom prst="rect">
            <a:avLst/>
          </a:prstGeom>
          <a:solidFill>
            <a:schemeClr val="bg1">
              <a:lumMod val="85000"/>
            </a:schemeClr>
          </a:solid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dirty="0">
                <a:ln>
                  <a:noFill/>
                </a:ln>
                <a:solidFill>
                  <a:srgbClr val="231F20"/>
                </a:solidFill>
                <a:effectLst/>
                <a:uLnTx/>
                <a:uFillTx/>
                <a:latin typeface="Verdana"/>
                <a:ea typeface="+mn-ea"/>
                <a:cs typeface="+mn-cs"/>
              </a:rPr>
              <a:t>This project strongly aligns with our Digital Goals for </a:t>
            </a:r>
            <a:r>
              <a:rPr kumimoji="0" lang="en-AU" sz="1100" b="1" i="1" u="none" strike="noStrike" kern="1200" cap="none" spc="0" normalizeH="0" baseline="0" noProof="0" dirty="0">
                <a:ln>
                  <a:noFill/>
                </a:ln>
                <a:solidFill>
                  <a:srgbClr val="231F20"/>
                </a:solidFill>
                <a:effectLst/>
                <a:uLnTx/>
                <a:uFillTx/>
                <a:latin typeface="Verdana"/>
                <a:ea typeface="+mn-ea"/>
                <a:cs typeface="+mn-cs"/>
              </a:rPr>
              <a:t>Digital </a:t>
            </a:r>
            <a:r>
              <a:rPr lang="en-AU" sz="1100" b="1" i="1" dirty="0">
                <a:solidFill>
                  <a:srgbClr val="231F20"/>
                </a:solidFill>
                <a:latin typeface="Verdana"/>
              </a:rPr>
              <a:t>Customer</a:t>
            </a:r>
            <a:r>
              <a:rPr kumimoji="0" lang="en-AU" sz="1100" b="1" i="1" u="none" strike="noStrike" kern="1200" cap="none" spc="0" normalizeH="0" baseline="0" noProof="0" dirty="0">
                <a:ln>
                  <a:noFill/>
                </a:ln>
                <a:solidFill>
                  <a:srgbClr val="231F20"/>
                </a:solidFill>
                <a:effectLst/>
                <a:uLnTx/>
                <a:uFillTx/>
                <a:latin typeface="Verdana"/>
                <a:ea typeface="+mn-ea"/>
                <a:cs typeface="+mn-cs"/>
              </a:rPr>
              <a:t> </a:t>
            </a:r>
            <a:r>
              <a:rPr kumimoji="0" lang="en-AU" sz="1100" b="0" i="0" u="none" strike="noStrike" kern="1200" cap="none" spc="0" normalizeH="0" baseline="0" noProof="0" dirty="0">
                <a:ln>
                  <a:noFill/>
                </a:ln>
                <a:solidFill>
                  <a:srgbClr val="231F20"/>
                </a:solidFill>
                <a:effectLst/>
                <a:uLnTx/>
                <a:uFillTx/>
                <a:latin typeface="Verdana"/>
                <a:ea typeface="+mn-ea"/>
                <a:cs typeface="+mn-cs"/>
              </a:rPr>
              <a:t>and </a:t>
            </a:r>
            <a:r>
              <a:rPr lang="en-AU" sz="1100" b="1" i="1" dirty="0">
                <a:solidFill>
                  <a:srgbClr val="231F20"/>
                </a:solidFill>
                <a:latin typeface="Verdana"/>
              </a:rPr>
              <a:t>Digital Utility</a:t>
            </a:r>
            <a:r>
              <a:rPr kumimoji="0" lang="en-AU" sz="1100" b="1" i="1" u="none" strike="noStrike" kern="1200" cap="none" spc="0" normalizeH="0" baseline="0" noProof="0" dirty="0">
                <a:ln>
                  <a:noFill/>
                </a:ln>
                <a:solidFill>
                  <a:srgbClr val="231F20"/>
                </a:solidFill>
                <a:effectLst/>
                <a:uLnTx/>
                <a:uFillTx/>
                <a:latin typeface="Verdana"/>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1" u="none" strike="noStrike" kern="1200" cap="none" spc="0" normalizeH="0" baseline="0" noProof="0" dirty="0">
                <a:ln>
                  <a:noFill/>
                </a:ln>
                <a:solidFill>
                  <a:srgbClr val="231F20"/>
                </a:solidFill>
                <a:effectLst/>
                <a:uLnTx/>
                <a:uFillTx/>
                <a:latin typeface="Verdana"/>
                <a:ea typeface="+mn-ea"/>
                <a:cs typeface="+mn-cs"/>
              </a:rPr>
              <a:t>The project is forecast and costed on our </a:t>
            </a:r>
            <a:r>
              <a:rPr lang="en-AU" sz="1100" i="1" dirty="0">
                <a:solidFill>
                  <a:srgbClr val="231F20"/>
                </a:solidFill>
                <a:latin typeface="Verdana"/>
              </a:rPr>
              <a:t>Customer systems</a:t>
            </a:r>
            <a:r>
              <a:rPr kumimoji="0" lang="en-AU" sz="1100" b="0" i="1" u="none" strike="noStrike" kern="1200" cap="none" spc="0" normalizeH="0" baseline="0" noProof="0" dirty="0">
                <a:ln>
                  <a:noFill/>
                </a:ln>
                <a:solidFill>
                  <a:srgbClr val="231F20"/>
                </a:solidFill>
                <a:effectLst/>
                <a:uLnTx/>
                <a:uFillTx/>
                <a:latin typeface="Verdana"/>
                <a:ea typeface="+mn-ea"/>
                <a:cs typeface="+mn-cs"/>
              </a:rPr>
              <a:t> roadmap (Innovation)</a:t>
            </a:r>
          </a:p>
        </p:txBody>
      </p:sp>
    </p:spTree>
    <p:extLst>
      <p:ext uri="{BB962C8B-B14F-4D97-AF65-F5344CB8AC3E}">
        <p14:creationId xmlns:p14="http://schemas.microsoft.com/office/powerpoint/2010/main" val="1361046454"/>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D1C8-9CE1-78ED-0A60-699F66D2A1FB}"/>
              </a:ext>
            </a:extLst>
          </p:cNvPr>
          <p:cNvSpPr>
            <a:spLocks noGrp="1"/>
          </p:cNvSpPr>
          <p:nvPr>
            <p:ph type="title"/>
          </p:nvPr>
        </p:nvSpPr>
        <p:spPr/>
        <p:txBody>
          <a:bodyPr/>
          <a:lstStyle/>
          <a:p>
            <a:r>
              <a:rPr lang="en-AU" dirty="0"/>
              <a:t>WTP birdwatching location</a:t>
            </a:r>
          </a:p>
        </p:txBody>
      </p:sp>
      <p:pic>
        <p:nvPicPr>
          <p:cNvPr id="5" name="Content Placeholder 4" descr="A map of a western treatment plant&#10;&#10;AI-generated content may be incorrect.">
            <a:extLst>
              <a:ext uri="{FF2B5EF4-FFF2-40B4-BE49-F238E27FC236}">
                <a16:creationId xmlns:a16="http://schemas.microsoft.com/office/drawing/2014/main" id="{8562E603-3210-6223-678B-E05AC156A79B}"/>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1602678" y="619125"/>
            <a:ext cx="8785922" cy="6077164"/>
          </a:xfrm>
        </p:spPr>
      </p:pic>
      <p:sp>
        <p:nvSpPr>
          <p:cNvPr id="7" name="Speech Bubble: Rectangle with Corners Rounded 6">
            <a:extLst>
              <a:ext uri="{FF2B5EF4-FFF2-40B4-BE49-F238E27FC236}">
                <a16:creationId xmlns:a16="http://schemas.microsoft.com/office/drawing/2014/main" id="{08A6BB22-9408-EAF9-D8D9-2C261F77844F}"/>
              </a:ext>
            </a:extLst>
          </p:cNvPr>
          <p:cNvSpPr/>
          <p:nvPr/>
        </p:nvSpPr>
        <p:spPr>
          <a:xfrm>
            <a:off x="773587" y="2170185"/>
            <a:ext cx="2059626" cy="720794"/>
          </a:xfrm>
          <a:prstGeom prst="wedgeRoundRectCallout">
            <a:avLst>
              <a:gd name="adj1" fmla="val 248409"/>
              <a:gd name="adj2" fmla="val 255799"/>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050" b="0" i="1" u="none" strike="noStrike" kern="0" cap="none" spc="0" normalizeH="0" baseline="0" noProof="0" dirty="0">
              <a:ln>
                <a:noFill/>
              </a:ln>
              <a:solidFill>
                <a:srgbClr val="231F20"/>
              </a:solidFill>
              <a:effectLst/>
              <a:uLnTx/>
              <a:uFillTx/>
              <a:latin typeface="Verdana"/>
              <a:ea typeface="+mn-ea"/>
              <a:cs typeface="+mn-cs"/>
            </a:endParaRPr>
          </a:p>
        </p:txBody>
      </p:sp>
      <p:sp>
        <p:nvSpPr>
          <p:cNvPr id="6" name="Speech Bubble: Rectangle with Corners Rounded 5">
            <a:extLst>
              <a:ext uri="{FF2B5EF4-FFF2-40B4-BE49-F238E27FC236}">
                <a16:creationId xmlns:a16="http://schemas.microsoft.com/office/drawing/2014/main" id="{021A26AB-862D-2E4D-E7D7-4A84023C8A6E}"/>
              </a:ext>
            </a:extLst>
          </p:cNvPr>
          <p:cNvSpPr/>
          <p:nvPr/>
        </p:nvSpPr>
        <p:spPr>
          <a:xfrm>
            <a:off x="773587" y="2170185"/>
            <a:ext cx="2059626" cy="720794"/>
          </a:xfrm>
          <a:prstGeom prst="wedgeRoundRectCallout">
            <a:avLst>
              <a:gd name="adj1" fmla="val 164980"/>
              <a:gd name="adj2" fmla="val 438689"/>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50" b="0" i="1" u="none" strike="noStrike" kern="0" cap="none" spc="0" normalizeH="0" baseline="0" noProof="0" dirty="0">
                <a:ln>
                  <a:noFill/>
                </a:ln>
                <a:solidFill>
                  <a:srgbClr val="231F20"/>
                </a:solidFill>
                <a:effectLst/>
                <a:uLnTx/>
                <a:uFillTx/>
                <a:latin typeface="Verdana"/>
                <a:ea typeface="+mn-ea"/>
                <a:cs typeface="+mn-cs"/>
              </a:rPr>
              <a:t>Birdwatching </a:t>
            </a:r>
            <a:r>
              <a:rPr lang="en-AU" sz="1050" i="1" kern="0" dirty="0">
                <a:solidFill>
                  <a:srgbClr val="231F20"/>
                </a:solidFill>
                <a:latin typeface="Verdana"/>
              </a:rPr>
              <a:t>areas</a:t>
            </a:r>
            <a:endParaRPr kumimoji="0" lang="en-AU" sz="1050" b="0" i="1" u="none" strike="noStrike" kern="0" cap="none" spc="0" normalizeH="0" baseline="0" noProof="0" dirty="0">
              <a:ln>
                <a:noFill/>
              </a:ln>
              <a:solidFill>
                <a:srgbClr val="231F20"/>
              </a:solidFill>
              <a:effectLst/>
              <a:uLnTx/>
              <a:uFillTx/>
              <a:latin typeface="Verdana"/>
              <a:ea typeface="+mn-ea"/>
              <a:cs typeface="+mn-cs"/>
            </a:endParaRPr>
          </a:p>
        </p:txBody>
      </p:sp>
    </p:spTree>
    <p:extLst>
      <p:ext uri="{BB962C8B-B14F-4D97-AF65-F5344CB8AC3E}">
        <p14:creationId xmlns:p14="http://schemas.microsoft.com/office/powerpoint/2010/main" val="1203748910"/>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E9D64B04-3E3F-D319-A526-7FF461CBB9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2BF66-D067-E9A0-83CA-567A54EF39A6}"/>
              </a:ext>
            </a:extLst>
          </p:cNvPr>
          <p:cNvSpPr>
            <a:spLocks noGrp="1"/>
          </p:cNvSpPr>
          <p:nvPr>
            <p:ph type="title"/>
          </p:nvPr>
        </p:nvSpPr>
        <p:spPr>
          <a:xfrm>
            <a:off x="423413" y="0"/>
            <a:ext cx="4356997" cy="768171"/>
          </a:xfrm>
        </p:spPr>
        <p:txBody>
          <a:bodyPr/>
          <a:lstStyle/>
          <a:p>
            <a:r>
              <a:rPr lang="en-AU" sz="2000" dirty="0">
                <a:latin typeface="Verdana"/>
                <a:ea typeface="Verdana"/>
              </a:rPr>
              <a:t>Functional use case</a:t>
            </a:r>
            <a:endParaRPr lang="en-AU" sz="2000" dirty="0"/>
          </a:p>
        </p:txBody>
      </p:sp>
      <p:sp>
        <p:nvSpPr>
          <p:cNvPr id="3" name="Rounded Rectangle 65">
            <a:extLst>
              <a:ext uri="{FF2B5EF4-FFF2-40B4-BE49-F238E27FC236}">
                <a16:creationId xmlns:a16="http://schemas.microsoft.com/office/drawing/2014/main" id="{6FB13215-256A-555E-3B75-CDAE5DDFAD33}"/>
              </a:ext>
            </a:extLst>
          </p:cNvPr>
          <p:cNvSpPr/>
          <p:nvPr/>
        </p:nvSpPr>
        <p:spPr>
          <a:xfrm>
            <a:off x="6507332" y="191816"/>
            <a:ext cx="5595768" cy="56993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solidFill>
                <a:srgbClr val="FFFFFF"/>
              </a:solidFill>
              <a:effectLst/>
              <a:uLnTx/>
              <a:uFillTx/>
              <a:latin typeface="Calibri"/>
              <a:ea typeface="+mn-ea"/>
              <a:cs typeface="+mn-cs"/>
            </a:endParaRPr>
          </a:p>
        </p:txBody>
      </p:sp>
      <p:sp>
        <p:nvSpPr>
          <p:cNvPr id="4" name="Rounded Rectangle 66">
            <a:extLst>
              <a:ext uri="{FF2B5EF4-FFF2-40B4-BE49-F238E27FC236}">
                <a16:creationId xmlns:a16="http://schemas.microsoft.com/office/drawing/2014/main" id="{B8AB0DFD-D2D3-0675-199A-70D53D2DB9B6}"/>
              </a:ext>
            </a:extLst>
          </p:cNvPr>
          <p:cNvSpPr/>
          <p:nvPr/>
        </p:nvSpPr>
        <p:spPr>
          <a:xfrm>
            <a:off x="6657275" y="273703"/>
            <a:ext cx="606124" cy="175421"/>
          </a:xfrm>
          <a:prstGeom prst="roundRect">
            <a:avLst/>
          </a:prstGeom>
          <a:solidFill>
            <a:srgbClr val="00428B">
              <a:lumMod val="60000"/>
              <a:lumOff val="40000"/>
            </a:srgbClr>
          </a:solidFill>
          <a:ln w="25400" cap="flat" cmpd="sng" algn="ctr">
            <a:noFill/>
            <a:prstDash val="solid"/>
          </a:ln>
          <a:effectLst/>
        </p:spPr>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050" b="1" i="0" u="none" strike="noStrike" kern="0" cap="none" spc="0" normalizeH="0" baseline="0" noProof="0">
              <a:ln>
                <a:noFill/>
              </a:ln>
              <a:solidFill>
                <a:srgbClr val="FFFFFF"/>
              </a:solidFill>
              <a:effectLst/>
              <a:uLnTx/>
              <a:uFillTx/>
              <a:latin typeface="Calibri"/>
              <a:ea typeface="+mn-ea"/>
              <a:cs typeface="+mn-cs"/>
            </a:endParaRPr>
          </a:p>
        </p:txBody>
      </p:sp>
      <p:sp>
        <p:nvSpPr>
          <p:cNvPr id="5" name="TextBox 4">
            <a:extLst>
              <a:ext uri="{FF2B5EF4-FFF2-40B4-BE49-F238E27FC236}">
                <a16:creationId xmlns:a16="http://schemas.microsoft.com/office/drawing/2014/main" id="{2F597DDA-2D8C-13E2-2DD9-8B2D06A4706E}"/>
              </a:ext>
            </a:extLst>
          </p:cNvPr>
          <p:cNvSpPr txBox="1"/>
          <p:nvPr/>
        </p:nvSpPr>
        <p:spPr>
          <a:xfrm>
            <a:off x="7289928" y="309457"/>
            <a:ext cx="913040" cy="119957"/>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700" b="0" i="0" u="none" strike="noStrike" kern="1200" cap="none" spc="0" normalizeH="0" baseline="0" noProof="0">
                <a:ln>
                  <a:noFill/>
                </a:ln>
                <a:solidFill>
                  <a:srgbClr val="000000"/>
                </a:solidFill>
                <a:effectLst/>
                <a:uLnTx/>
                <a:uFillTx/>
                <a:latin typeface="Verdana" pitchFamily="34" charset="0"/>
                <a:ea typeface="Verdana" pitchFamily="34" charset="0"/>
                <a:cs typeface="Verdana" pitchFamily="34" charset="0"/>
              </a:rPr>
              <a:t>Existing system</a:t>
            </a:r>
          </a:p>
        </p:txBody>
      </p:sp>
      <p:sp>
        <p:nvSpPr>
          <p:cNvPr id="6" name="Rounded Rectangle 94">
            <a:extLst>
              <a:ext uri="{FF2B5EF4-FFF2-40B4-BE49-F238E27FC236}">
                <a16:creationId xmlns:a16="http://schemas.microsoft.com/office/drawing/2014/main" id="{4EE27B4D-4D87-B6FC-3260-E86952EF7360}"/>
              </a:ext>
            </a:extLst>
          </p:cNvPr>
          <p:cNvSpPr/>
          <p:nvPr/>
        </p:nvSpPr>
        <p:spPr>
          <a:xfrm>
            <a:off x="6657275" y="523018"/>
            <a:ext cx="606124" cy="175421"/>
          </a:xfrm>
          <a:prstGeom prst="round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a:ea typeface="+mn-ea"/>
              <a:cs typeface="+mn-cs"/>
            </a:endParaRPr>
          </a:p>
        </p:txBody>
      </p:sp>
      <p:sp>
        <p:nvSpPr>
          <p:cNvPr id="7" name="TextBox 6">
            <a:extLst>
              <a:ext uri="{FF2B5EF4-FFF2-40B4-BE49-F238E27FC236}">
                <a16:creationId xmlns:a16="http://schemas.microsoft.com/office/drawing/2014/main" id="{188F7B64-C214-C889-5E04-9BE5FD92F467}"/>
              </a:ext>
            </a:extLst>
          </p:cNvPr>
          <p:cNvSpPr txBox="1"/>
          <p:nvPr/>
        </p:nvSpPr>
        <p:spPr>
          <a:xfrm>
            <a:off x="7289928" y="530733"/>
            <a:ext cx="913040" cy="119957"/>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700" b="0" i="0" u="none" strike="noStrike" kern="1200" cap="none" spc="0" normalizeH="0" baseline="0" noProof="0">
                <a:ln>
                  <a:noFill/>
                </a:ln>
                <a:solidFill>
                  <a:srgbClr val="000000"/>
                </a:solidFill>
                <a:effectLst/>
                <a:uLnTx/>
                <a:uFillTx/>
                <a:latin typeface="Verdana" pitchFamily="34" charset="0"/>
                <a:ea typeface="Verdana" pitchFamily="34" charset="0"/>
                <a:cs typeface="Verdana" pitchFamily="34" charset="0"/>
              </a:rPr>
              <a:t>System with issues</a:t>
            </a:r>
          </a:p>
        </p:txBody>
      </p:sp>
      <p:cxnSp>
        <p:nvCxnSpPr>
          <p:cNvPr id="8" name="Straight Arrow Connector 7">
            <a:extLst>
              <a:ext uri="{FF2B5EF4-FFF2-40B4-BE49-F238E27FC236}">
                <a16:creationId xmlns:a16="http://schemas.microsoft.com/office/drawing/2014/main" id="{072EAC7B-8BF7-9183-AE84-BE2E7230546E}"/>
              </a:ext>
            </a:extLst>
          </p:cNvPr>
          <p:cNvCxnSpPr/>
          <p:nvPr/>
        </p:nvCxnSpPr>
        <p:spPr>
          <a:xfrm flipV="1">
            <a:off x="10185833" y="352389"/>
            <a:ext cx="585019" cy="9024"/>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D604BEA-4ECD-A9C1-B13F-94215DB79C71}"/>
              </a:ext>
            </a:extLst>
          </p:cNvPr>
          <p:cNvSpPr txBox="1"/>
          <p:nvPr/>
        </p:nvSpPr>
        <p:spPr>
          <a:xfrm>
            <a:off x="10881318" y="278505"/>
            <a:ext cx="1148413" cy="119957"/>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700" b="0" i="0" u="none" strike="noStrike" kern="1200" cap="none" spc="0" normalizeH="0" baseline="0" noProof="0">
                <a:ln>
                  <a:noFill/>
                </a:ln>
                <a:solidFill>
                  <a:srgbClr val="000000"/>
                </a:solidFill>
                <a:effectLst/>
                <a:uLnTx/>
                <a:uFillTx/>
                <a:latin typeface="Verdana" pitchFamily="34" charset="0"/>
                <a:ea typeface="Verdana" pitchFamily="34" charset="0"/>
                <a:cs typeface="Verdana" pitchFamily="34" charset="0"/>
              </a:rPr>
              <a:t>Data Flow (integration)</a:t>
            </a:r>
          </a:p>
        </p:txBody>
      </p:sp>
      <p:cxnSp>
        <p:nvCxnSpPr>
          <p:cNvPr id="11" name="Straight Arrow Connector 10">
            <a:extLst>
              <a:ext uri="{FF2B5EF4-FFF2-40B4-BE49-F238E27FC236}">
                <a16:creationId xmlns:a16="http://schemas.microsoft.com/office/drawing/2014/main" id="{0D2DC0CC-3544-100A-A36D-545102C10169}"/>
              </a:ext>
            </a:extLst>
          </p:cNvPr>
          <p:cNvCxnSpPr/>
          <p:nvPr/>
        </p:nvCxnSpPr>
        <p:spPr>
          <a:xfrm flipV="1">
            <a:off x="10185833" y="567870"/>
            <a:ext cx="585019" cy="9024"/>
          </a:xfrm>
          <a:prstGeom prst="straightConnector1">
            <a:avLst/>
          </a:prstGeom>
          <a:ln w="25400">
            <a:solidFill>
              <a:schemeClr val="bg1">
                <a:lumMod val="65000"/>
              </a:schemeClr>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B42B33D-FBF5-270C-32D4-0CCB28FF9245}"/>
              </a:ext>
            </a:extLst>
          </p:cNvPr>
          <p:cNvSpPr txBox="1"/>
          <p:nvPr/>
        </p:nvSpPr>
        <p:spPr>
          <a:xfrm>
            <a:off x="10881318" y="493986"/>
            <a:ext cx="1148413" cy="119957"/>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700" b="0" i="0" u="none" strike="noStrike" kern="1200" cap="none" spc="0" normalizeH="0" baseline="0" noProof="0">
                <a:ln>
                  <a:noFill/>
                </a:ln>
                <a:solidFill>
                  <a:srgbClr val="000000"/>
                </a:solidFill>
                <a:effectLst/>
                <a:uLnTx/>
                <a:uFillTx/>
                <a:latin typeface="Verdana" pitchFamily="34" charset="0"/>
                <a:ea typeface="Verdana" pitchFamily="34" charset="0"/>
                <a:cs typeface="Verdana" pitchFamily="34" charset="0"/>
              </a:rPr>
              <a:t>Data Flow (Manual)</a:t>
            </a:r>
          </a:p>
        </p:txBody>
      </p:sp>
      <p:grpSp>
        <p:nvGrpSpPr>
          <p:cNvPr id="63" name="Group 62">
            <a:extLst>
              <a:ext uri="{FF2B5EF4-FFF2-40B4-BE49-F238E27FC236}">
                <a16:creationId xmlns:a16="http://schemas.microsoft.com/office/drawing/2014/main" id="{62183769-8901-74A5-E9F9-56186D166370}"/>
              </a:ext>
            </a:extLst>
          </p:cNvPr>
          <p:cNvGrpSpPr/>
          <p:nvPr/>
        </p:nvGrpSpPr>
        <p:grpSpPr>
          <a:xfrm>
            <a:off x="587547" y="2370600"/>
            <a:ext cx="723495" cy="749165"/>
            <a:chOff x="553664" y="1685602"/>
            <a:chExt cx="723495" cy="749165"/>
          </a:xfrm>
        </p:grpSpPr>
        <p:pic>
          <p:nvPicPr>
            <p:cNvPr id="61" name="Picture 60">
              <a:extLst>
                <a:ext uri="{FF2B5EF4-FFF2-40B4-BE49-F238E27FC236}">
                  <a16:creationId xmlns:a16="http://schemas.microsoft.com/office/drawing/2014/main" id="{DB7135DA-BC89-67A6-58DE-1DB5E9763DDD}"/>
                </a:ext>
              </a:extLst>
            </p:cNvPr>
            <p:cNvPicPr>
              <a:picLocks noChangeAspect="1"/>
            </p:cNvPicPr>
            <p:nvPr/>
          </p:nvPicPr>
          <p:blipFill>
            <a:blip r:embed="rId3"/>
            <a:stretch>
              <a:fillRect/>
            </a:stretch>
          </p:blipFill>
          <p:spPr>
            <a:xfrm>
              <a:off x="701836" y="1685602"/>
              <a:ext cx="291780" cy="555959"/>
            </a:xfrm>
            <a:prstGeom prst="rect">
              <a:avLst/>
            </a:prstGeom>
          </p:spPr>
        </p:pic>
        <p:sp>
          <p:nvSpPr>
            <p:cNvPr id="62" name="TextBox 61">
              <a:extLst>
                <a:ext uri="{FF2B5EF4-FFF2-40B4-BE49-F238E27FC236}">
                  <a16:creationId xmlns:a16="http://schemas.microsoft.com/office/drawing/2014/main" id="{038B3817-BF63-0840-535D-1DF4371C2C45}"/>
                </a:ext>
              </a:extLst>
            </p:cNvPr>
            <p:cNvSpPr txBox="1"/>
            <p:nvPr/>
          </p:nvSpPr>
          <p:spPr>
            <a:xfrm>
              <a:off x="553664" y="2224591"/>
              <a:ext cx="723495" cy="210176"/>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900"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Birdwatcher</a:t>
              </a:r>
            </a:p>
          </p:txBody>
        </p:sp>
      </p:grpSp>
      <p:sp>
        <p:nvSpPr>
          <p:cNvPr id="118" name="Rounded Rectangle 26">
            <a:extLst>
              <a:ext uri="{FF2B5EF4-FFF2-40B4-BE49-F238E27FC236}">
                <a16:creationId xmlns:a16="http://schemas.microsoft.com/office/drawing/2014/main" id="{35BECBC1-0D57-E7A9-B027-0ACED593CA3F}"/>
              </a:ext>
            </a:extLst>
          </p:cNvPr>
          <p:cNvSpPr/>
          <p:nvPr/>
        </p:nvSpPr>
        <p:spPr>
          <a:xfrm>
            <a:off x="4008054" y="2257961"/>
            <a:ext cx="4175892" cy="4326336"/>
          </a:xfrm>
          <a:prstGeom prst="roundRect">
            <a:avLst>
              <a:gd name="adj" fmla="val 328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r>
              <a:rPr lang="en-AU" sz="1000" dirty="0">
                <a:solidFill>
                  <a:srgbClr val="FFFFFF"/>
                </a:solidFill>
                <a:latin typeface="Calibri"/>
              </a:rPr>
              <a:t>WTP Birdwatching app</a:t>
            </a:r>
          </a:p>
        </p:txBody>
      </p:sp>
      <p:grpSp>
        <p:nvGrpSpPr>
          <p:cNvPr id="27" name="Group 26">
            <a:extLst>
              <a:ext uri="{FF2B5EF4-FFF2-40B4-BE49-F238E27FC236}">
                <a16:creationId xmlns:a16="http://schemas.microsoft.com/office/drawing/2014/main" id="{1214853B-7535-1758-5757-04385AA11B4F}"/>
              </a:ext>
            </a:extLst>
          </p:cNvPr>
          <p:cNvGrpSpPr/>
          <p:nvPr/>
        </p:nvGrpSpPr>
        <p:grpSpPr>
          <a:xfrm>
            <a:off x="742702" y="3891198"/>
            <a:ext cx="723495" cy="745502"/>
            <a:chOff x="551981" y="2271715"/>
            <a:chExt cx="723495" cy="745502"/>
          </a:xfrm>
        </p:grpSpPr>
        <p:pic>
          <p:nvPicPr>
            <p:cNvPr id="33" name="Picture 32">
              <a:extLst>
                <a:ext uri="{FF2B5EF4-FFF2-40B4-BE49-F238E27FC236}">
                  <a16:creationId xmlns:a16="http://schemas.microsoft.com/office/drawing/2014/main" id="{46EC5500-8339-FC69-7179-B89E08382C61}"/>
                </a:ext>
              </a:extLst>
            </p:cNvPr>
            <p:cNvPicPr>
              <a:picLocks noChangeAspect="1"/>
            </p:cNvPicPr>
            <p:nvPr/>
          </p:nvPicPr>
          <p:blipFill>
            <a:blip r:embed="rId3"/>
            <a:stretch>
              <a:fillRect/>
            </a:stretch>
          </p:blipFill>
          <p:spPr>
            <a:xfrm>
              <a:off x="612684" y="2271715"/>
              <a:ext cx="291780" cy="555959"/>
            </a:xfrm>
            <a:prstGeom prst="rect">
              <a:avLst/>
            </a:prstGeom>
          </p:spPr>
        </p:pic>
        <p:sp>
          <p:nvSpPr>
            <p:cNvPr id="34" name="TextBox 33">
              <a:extLst>
                <a:ext uri="{FF2B5EF4-FFF2-40B4-BE49-F238E27FC236}">
                  <a16:creationId xmlns:a16="http://schemas.microsoft.com/office/drawing/2014/main" id="{95079CB7-CA7D-446C-3658-C81C8F8519C4}"/>
                </a:ext>
              </a:extLst>
            </p:cNvPr>
            <p:cNvSpPr txBox="1"/>
            <p:nvPr/>
          </p:nvSpPr>
          <p:spPr>
            <a:xfrm>
              <a:off x="551981" y="2807041"/>
              <a:ext cx="723495" cy="210176"/>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900"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WTP Operator</a:t>
              </a:r>
            </a:p>
          </p:txBody>
        </p:sp>
      </p:grpSp>
      <p:sp>
        <p:nvSpPr>
          <p:cNvPr id="54" name="Rounded Rectangle 66">
            <a:extLst>
              <a:ext uri="{FF2B5EF4-FFF2-40B4-BE49-F238E27FC236}">
                <a16:creationId xmlns:a16="http://schemas.microsoft.com/office/drawing/2014/main" id="{62F08F6F-99DA-8E58-82CA-629720A74864}"/>
              </a:ext>
            </a:extLst>
          </p:cNvPr>
          <p:cNvSpPr/>
          <p:nvPr/>
        </p:nvSpPr>
        <p:spPr>
          <a:xfrm>
            <a:off x="8398330" y="281139"/>
            <a:ext cx="606124" cy="175421"/>
          </a:xfrm>
          <a:prstGeom prst="roundRect">
            <a:avLst/>
          </a:prstGeom>
          <a:solidFill>
            <a:schemeClr val="bg1">
              <a:lumMod val="50000"/>
            </a:schemeClr>
          </a:solidFill>
          <a:ln w="25400" cap="flat" cmpd="sng" algn="ctr">
            <a:noFill/>
            <a:prstDash val="solid"/>
          </a:ln>
          <a:effectLst/>
        </p:spPr>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000" b="1" i="0" u="none" strike="noStrike" kern="0" cap="none" spc="0" normalizeH="0" baseline="0" noProof="0">
              <a:ln>
                <a:noFill/>
              </a:ln>
              <a:solidFill>
                <a:srgbClr val="FFFFFF"/>
              </a:solidFill>
              <a:effectLst/>
              <a:uLnTx/>
              <a:uFillTx/>
              <a:latin typeface="Calibri"/>
              <a:ea typeface="+mn-ea"/>
              <a:cs typeface="+mn-cs"/>
            </a:endParaRPr>
          </a:p>
        </p:txBody>
      </p:sp>
      <p:sp>
        <p:nvSpPr>
          <p:cNvPr id="55" name="TextBox 54">
            <a:extLst>
              <a:ext uri="{FF2B5EF4-FFF2-40B4-BE49-F238E27FC236}">
                <a16:creationId xmlns:a16="http://schemas.microsoft.com/office/drawing/2014/main" id="{A5D2C92B-A7D0-D69C-52A9-8EB8A2DAA92D}"/>
              </a:ext>
            </a:extLst>
          </p:cNvPr>
          <p:cNvSpPr txBox="1"/>
          <p:nvPr/>
        </p:nvSpPr>
        <p:spPr>
          <a:xfrm>
            <a:off x="9021651" y="255947"/>
            <a:ext cx="673479" cy="131230"/>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700" b="0" i="0" u="none" strike="noStrike" kern="1200" cap="none" spc="0" normalizeH="0" baseline="0" noProof="0">
                <a:ln>
                  <a:noFill/>
                </a:ln>
                <a:solidFill>
                  <a:srgbClr val="000000"/>
                </a:solidFill>
                <a:effectLst/>
                <a:uLnTx/>
                <a:uFillTx/>
                <a:latin typeface="Verdana" pitchFamily="34" charset="0"/>
                <a:ea typeface="Verdana" pitchFamily="34" charset="0"/>
                <a:cs typeface="Verdana" pitchFamily="34" charset="0"/>
              </a:rPr>
              <a:t>Infrastructure component</a:t>
            </a:r>
          </a:p>
        </p:txBody>
      </p:sp>
      <p:sp>
        <p:nvSpPr>
          <p:cNvPr id="9" name="Rounded Rectangle 26">
            <a:extLst>
              <a:ext uri="{FF2B5EF4-FFF2-40B4-BE49-F238E27FC236}">
                <a16:creationId xmlns:a16="http://schemas.microsoft.com/office/drawing/2014/main" id="{140B611B-E1E5-DC67-7FCF-8889970D3816}"/>
              </a:ext>
            </a:extLst>
          </p:cNvPr>
          <p:cNvSpPr/>
          <p:nvPr/>
        </p:nvSpPr>
        <p:spPr>
          <a:xfrm>
            <a:off x="4027076" y="1163819"/>
            <a:ext cx="4175892" cy="842284"/>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00" dirty="0">
                <a:solidFill>
                  <a:srgbClr val="FFFFFF"/>
                </a:solidFill>
                <a:latin typeface="Calibri"/>
              </a:rPr>
              <a:t>Birdwatching application form</a:t>
            </a:r>
            <a:endParaRPr kumimoji="0" lang="en-AU"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14" name="Rounded Rectangle 26">
            <a:extLst>
              <a:ext uri="{FF2B5EF4-FFF2-40B4-BE49-F238E27FC236}">
                <a16:creationId xmlns:a16="http://schemas.microsoft.com/office/drawing/2014/main" id="{204BF604-6C86-C686-08A1-6CC17F9E76D7}"/>
              </a:ext>
            </a:extLst>
          </p:cNvPr>
          <p:cNvSpPr/>
          <p:nvPr/>
        </p:nvSpPr>
        <p:spPr>
          <a:xfrm>
            <a:off x="4400195" y="1407772"/>
            <a:ext cx="1611138" cy="19754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a:ln>
                  <a:noFill/>
                </a:ln>
                <a:solidFill>
                  <a:schemeClr val="tx1"/>
                </a:solidFill>
                <a:effectLst/>
                <a:uLnTx/>
                <a:uFillTx/>
                <a:latin typeface="Calibri"/>
                <a:ea typeface="+mn-ea"/>
                <a:cs typeface="+mn-cs"/>
              </a:rPr>
              <a:t>Apply for birdwatching permit</a:t>
            </a:r>
          </a:p>
        </p:txBody>
      </p:sp>
      <p:cxnSp>
        <p:nvCxnSpPr>
          <p:cNvPr id="65" name="Straight Arrow Connector 64">
            <a:extLst>
              <a:ext uri="{FF2B5EF4-FFF2-40B4-BE49-F238E27FC236}">
                <a16:creationId xmlns:a16="http://schemas.microsoft.com/office/drawing/2014/main" id="{69C4E383-CC83-4C52-9C73-831F69851A0C}"/>
              </a:ext>
            </a:extLst>
          </p:cNvPr>
          <p:cNvCxnSpPr>
            <a:cxnSpLocks/>
            <a:stCxn id="61" idx="3"/>
          </p:cNvCxnSpPr>
          <p:nvPr/>
        </p:nvCxnSpPr>
        <p:spPr>
          <a:xfrm flipV="1">
            <a:off x="1027499" y="1444681"/>
            <a:ext cx="3223767" cy="1203899"/>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26">
            <a:extLst>
              <a:ext uri="{FF2B5EF4-FFF2-40B4-BE49-F238E27FC236}">
                <a16:creationId xmlns:a16="http://schemas.microsoft.com/office/drawing/2014/main" id="{0BCBDB93-08B8-8F52-50ED-182BA6DCBCB9}"/>
              </a:ext>
            </a:extLst>
          </p:cNvPr>
          <p:cNvSpPr/>
          <p:nvPr/>
        </p:nvSpPr>
        <p:spPr>
          <a:xfrm>
            <a:off x="4400195" y="1676730"/>
            <a:ext cx="1611138" cy="19754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Pay for permit (access and key)</a:t>
            </a:r>
          </a:p>
        </p:txBody>
      </p:sp>
      <p:cxnSp>
        <p:nvCxnSpPr>
          <p:cNvPr id="19" name="Straight Arrow Connector 18">
            <a:extLst>
              <a:ext uri="{FF2B5EF4-FFF2-40B4-BE49-F238E27FC236}">
                <a16:creationId xmlns:a16="http://schemas.microsoft.com/office/drawing/2014/main" id="{41E54264-7BB9-BD09-2F44-D41C3C352FC3}"/>
              </a:ext>
            </a:extLst>
          </p:cNvPr>
          <p:cNvCxnSpPr>
            <a:cxnSpLocks/>
            <a:stCxn id="61" idx="3"/>
            <a:endCxn id="18" idx="1"/>
          </p:cNvCxnSpPr>
          <p:nvPr/>
        </p:nvCxnSpPr>
        <p:spPr>
          <a:xfrm flipV="1">
            <a:off x="1027499" y="1775501"/>
            <a:ext cx="3372696" cy="873079"/>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F45E5F78-1746-2A7B-3E48-07ACB646E9BF}"/>
              </a:ext>
            </a:extLst>
          </p:cNvPr>
          <p:cNvGrpSpPr/>
          <p:nvPr/>
        </p:nvGrpSpPr>
        <p:grpSpPr>
          <a:xfrm>
            <a:off x="9297128" y="1000491"/>
            <a:ext cx="723495" cy="745502"/>
            <a:chOff x="551981" y="2271715"/>
            <a:chExt cx="723495" cy="745502"/>
          </a:xfrm>
        </p:grpSpPr>
        <p:pic>
          <p:nvPicPr>
            <p:cNvPr id="30" name="Picture 29">
              <a:extLst>
                <a:ext uri="{FF2B5EF4-FFF2-40B4-BE49-F238E27FC236}">
                  <a16:creationId xmlns:a16="http://schemas.microsoft.com/office/drawing/2014/main" id="{BBDD36A6-C8B4-57EA-472D-F8B4229D4A1E}"/>
                </a:ext>
              </a:extLst>
            </p:cNvPr>
            <p:cNvPicPr>
              <a:picLocks noChangeAspect="1"/>
            </p:cNvPicPr>
            <p:nvPr/>
          </p:nvPicPr>
          <p:blipFill>
            <a:blip r:embed="rId3"/>
            <a:stretch>
              <a:fillRect/>
            </a:stretch>
          </p:blipFill>
          <p:spPr>
            <a:xfrm>
              <a:off x="612684" y="2271715"/>
              <a:ext cx="291780" cy="555959"/>
            </a:xfrm>
            <a:prstGeom prst="rect">
              <a:avLst/>
            </a:prstGeom>
          </p:spPr>
        </p:pic>
        <p:sp>
          <p:nvSpPr>
            <p:cNvPr id="31" name="TextBox 30">
              <a:extLst>
                <a:ext uri="{FF2B5EF4-FFF2-40B4-BE49-F238E27FC236}">
                  <a16:creationId xmlns:a16="http://schemas.microsoft.com/office/drawing/2014/main" id="{CA88C8EF-C77C-5F42-F7F8-1EF9954120FD}"/>
                </a:ext>
              </a:extLst>
            </p:cNvPr>
            <p:cNvSpPr txBox="1"/>
            <p:nvPr/>
          </p:nvSpPr>
          <p:spPr>
            <a:xfrm>
              <a:off x="551981" y="2807041"/>
              <a:ext cx="723495" cy="210176"/>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900"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Customer team</a:t>
              </a:r>
            </a:p>
          </p:txBody>
        </p:sp>
      </p:grpSp>
      <p:sp>
        <p:nvSpPr>
          <p:cNvPr id="36" name="Rounded Rectangle 26">
            <a:extLst>
              <a:ext uri="{FF2B5EF4-FFF2-40B4-BE49-F238E27FC236}">
                <a16:creationId xmlns:a16="http://schemas.microsoft.com/office/drawing/2014/main" id="{FAB4CCE9-5AA4-F9E6-033C-A17DB6E11324}"/>
              </a:ext>
            </a:extLst>
          </p:cNvPr>
          <p:cNvSpPr/>
          <p:nvPr/>
        </p:nvSpPr>
        <p:spPr>
          <a:xfrm>
            <a:off x="6301581" y="1407772"/>
            <a:ext cx="1611138" cy="19754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Approve &amp; manage permits</a:t>
            </a:r>
          </a:p>
        </p:txBody>
      </p:sp>
      <p:cxnSp>
        <p:nvCxnSpPr>
          <p:cNvPr id="37" name="Straight Arrow Connector 36">
            <a:extLst>
              <a:ext uri="{FF2B5EF4-FFF2-40B4-BE49-F238E27FC236}">
                <a16:creationId xmlns:a16="http://schemas.microsoft.com/office/drawing/2014/main" id="{3BF967F6-F601-A970-1ACF-CD79EA08E7C0}"/>
              </a:ext>
            </a:extLst>
          </p:cNvPr>
          <p:cNvCxnSpPr>
            <a:cxnSpLocks/>
            <a:stCxn id="30" idx="1"/>
            <a:endCxn id="36" idx="3"/>
          </p:cNvCxnSpPr>
          <p:nvPr/>
        </p:nvCxnSpPr>
        <p:spPr>
          <a:xfrm flipH="1">
            <a:off x="7912719" y="1278471"/>
            <a:ext cx="1445112" cy="228072"/>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DED0C03-C10A-D540-BE96-D080459B77A7}"/>
              </a:ext>
            </a:extLst>
          </p:cNvPr>
          <p:cNvCxnSpPr>
            <a:cxnSpLocks/>
            <a:stCxn id="114" idx="3"/>
            <a:endCxn id="36" idx="1"/>
          </p:cNvCxnSpPr>
          <p:nvPr/>
        </p:nvCxnSpPr>
        <p:spPr>
          <a:xfrm>
            <a:off x="6011333" y="1506543"/>
            <a:ext cx="290248" cy="0"/>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31AA9921-614C-9FEE-CFD9-66CD4AA0D951}"/>
              </a:ext>
            </a:extLst>
          </p:cNvPr>
          <p:cNvGrpSpPr/>
          <p:nvPr/>
        </p:nvGrpSpPr>
        <p:grpSpPr>
          <a:xfrm>
            <a:off x="8818224" y="1618743"/>
            <a:ext cx="723495" cy="745502"/>
            <a:chOff x="551981" y="2271715"/>
            <a:chExt cx="723495" cy="745502"/>
          </a:xfrm>
        </p:grpSpPr>
        <p:pic>
          <p:nvPicPr>
            <p:cNvPr id="51" name="Picture 50">
              <a:extLst>
                <a:ext uri="{FF2B5EF4-FFF2-40B4-BE49-F238E27FC236}">
                  <a16:creationId xmlns:a16="http://schemas.microsoft.com/office/drawing/2014/main" id="{9752E244-8E4D-64D4-29E0-4E80F4366303}"/>
                </a:ext>
              </a:extLst>
            </p:cNvPr>
            <p:cNvPicPr>
              <a:picLocks noChangeAspect="1"/>
            </p:cNvPicPr>
            <p:nvPr/>
          </p:nvPicPr>
          <p:blipFill>
            <a:blip r:embed="rId3"/>
            <a:stretch>
              <a:fillRect/>
            </a:stretch>
          </p:blipFill>
          <p:spPr>
            <a:xfrm>
              <a:off x="612684" y="2271715"/>
              <a:ext cx="291780" cy="555959"/>
            </a:xfrm>
            <a:prstGeom prst="rect">
              <a:avLst/>
            </a:prstGeom>
          </p:spPr>
        </p:pic>
        <p:sp>
          <p:nvSpPr>
            <p:cNvPr id="52" name="TextBox 51">
              <a:extLst>
                <a:ext uri="{FF2B5EF4-FFF2-40B4-BE49-F238E27FC236}">
                  <a16:creationId xmlns:a16="http://schemas.microsoft.com/office/drawing/2014/main" id="{10B37E98-99F5-817D-29D6-50A5AC099047}"/>
                </a:ext>
              </a:extLst>
            </p:cNvPr>
            <p:cNvSpPr txBox="1"/>
            <p:nvPr/>
          </p:nvSpPr>
          <p:spPr>
            <a:xfrm>
              <a:off x="551981" y="2807041"/>
              <a:ext cx="723495" cy="210176"/>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900"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Finance team</a:t>
              </a:r>
            </a:p>
          </p:txBody>
        </p:sp>
      </p:grpSp>
      <p:sp>
        <p:nvSpPr>
          <p:cNvPr id="53" name="Rounded Rectangle 26">
            <a:extLst>
              <a:ext uri="{FF2B5EF4-FFF2-40B4-BE49-F238E27FC236}">
                <a16:creationId xmlns:a16="http://schemas.microsoft.com/office/drawing/2014/main" id="{E43E3CD3-10C6-E269-CB77-A25FE884D772}"/>
              </a:ext>
            </a:extLst>
          </p:cNvPr>
          <p:cNvSpPr/>
          <p:nvPr/>
        </p:nvSpPr>
        <p:spPr>
          <a:xfrm>
            <a:off x="6309107" y="1678264"/>
            <a:ext cx="1611138" cy="19754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Report on payments</a:t>
            </a:r>
          </a:p>
        </p:txBody>
      </p:sp>
      <p:cxnSp>
        <p:nvCxnSpPr>
          <p:cNvPr id="56" name="Straight Arrow Connector 55">
            <a:extLst>
              <a:ext uri="{FF2B5EF4-FFF2-40B4-BE49-F238E27FC236}">
                <a16:creationId xmlns:a16="http://schemas.microsoft.com/office/drawing/2014/main" id="{47091C1B-74F2-EBAE-7CC8-E55ECB5574A9}"/>
              </a:ext>
            </a:extLst>
          </p:cNvPr>
          <p:cNvCxnSpPr>
            <a:cxnSpLocks/>
            <a:stCxn id="18" idx="3"/>
            <a:endCxn id="53" idx="1"/>
          </p:cNvCxnSpPr>
          <p:nvPr/>
        </p:nvCxnSpPr>
        <p:spPr>
          <a:xfrm>
            <a:off x="6011333" y="1775501"/>
            <a:ext cx="297774" cy="1534"/>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A651BAA-2EEA-7AE2-4EDB-4DBA91B09ACF}"/>
              </a:ext>
            </a:extLst>
          </p:cNvPr>
          <p:cNvCxnSpPr>
            <a:cxnSpLocks/>
            <a:stCxn id="51" idx="1"/>
            <a:endCxn id="53" idx="3"/>
          </p:cNvCxnSpPr>
          <p:nvPr/>
        </p:nvCxnSpPr>
        <p:spPr>
          <a:xfrm flipH="1" flipV="1">
            <a:off x="7920245" y="1777035"/>
            <a:ext cx="958682" cy="119688"/>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67" name="Rounded Rectangle 26">
            <a:extLst>
              <a:ext uri="{FF2B5EF4-FFF2-40B4-BE49-F238E27FC236}">
                <a16:creationId xmlns:a16="http://schemas.microsoft.com/office/drawing/2014/main" id="{D2AFD82A-C768-6DFC-F3DF-0A166F7978CD}"/>
              </a:ext>
            </a:extLst>
          </p:cNvPr>
          <p:cNvSpPr/>
          <p:nvPr/>
        </p:nvSpPr>
        <p:spPr>
          <a:xfrm>
            <a:off x="4476396" y="2712522"/>
            <a:ext cx="1611138" cy="31158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Access safety induction orientation information</a:t>
            </a:r>
          </a:p>
        </p:txBody>
      </p:sp>
      <p:cxnSp>
        <p:nvCxnSpPr>
          <p:cNvPr id="69" name="Straight Arrow Connector 68">
            <a:extLst>
              <a:ext uri="{FF2B5EF4-FFF2-40B4-BE49-F238E27FC236}">
                <a16:creationId xmlns:a16="http://schemas.microsoft.com/office/drawing/2014/main" id="{1AA3485C-E517-5600-EC9A-421E5163B7AB}"/>
              </a:ext>
            </a:extLst>
          </p:cNvPr>
          <p:cNvCxnSpPr>
            <a:cxnSpLocks/>
            <a:stCxn id="61" idx="3"/>
            <a:endCxn id="67" idx="1"/>
          </p:cNvCxnSpPr>
          <p:nvPr/>
        </p:nvCxnSpPr>
        <p:spPr>
          <a:xfrm>
            <a:off x="1027499" y="2648580"/>
            <a:ext cx="3448897" cy="219737"/>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73" name="Rounded Rectangle 26">
            <a:extLst>
              <a:ext uri="{FF2B5EF4-FFF2-40B4-BE49-F238E27FC236}">
                <a16:creationId xmlns:a16="http://schemas.microsoft.com/office/drawing/2014/main" id="{F5FFE900-9506-CEEC-BC69-62A664DED50E}"/>
              </a:ext>
            </a:extLst>
          </p:cNvPr>
          <p:cNvSpPr/>
          <p:nvPr/>
        </p:nvSpPr>
        <p:spPr>
          <a:xfrm>
            <a:off x="4476396" y="3342693"/>
            <a:ext cx="1611138" cy="20390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Plan a trip to WTP</a:t>
            </a:r>
          </a:p>
        </p:txBody>
      </p:sp>
      <p:cxnSp>
        <p:nvCxnSpPr>
          <p:cNvPr id="74" name="Straight Arrow Connector 73">
            <a:extLst>
              <a:ext uri="{FF2B5EF4-FFF2-40B4-BE49-F238E27FC236}">
                <a16:creationId xmlns:a16="http://schemas.microsoft.com/office/drawing/2014/main" id="{A43A946E-C356-4030-1444-2014B2BD2F39}"/>
              </a:ext>
            </a:extLst>
          </p:cNvPr>
          <p:cNvCxnSpPr>
            <a:cxnSpLocks/>
            <a:stCxn id="61" idx="3"/>
            <a:endCxn id="73" idx="1"/>
          </p:cNvCxnSpPr>
          <p:nvPr/>
        </p:nvCxnSpPr>
        <p:spPr>
          <a:xfrm>
            <a:off x="1027499" y="2648580"/>
            <a:ext cx="3448897" cy="796064"/>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77" name="Rounded Rectangle 26">
            <a:extLst>
              <a:ext uri="{FF2B5EF4-FFF2-40B4-BE49-F238E27FC236}">
                <a16:creationId xmlns:a16="http://schemas.microsoft.com/office/drawing/2014/main" id="{2371C881-1882-1E82-FEB3-565DDD989114}"/>
              </a:ext>
            </a:extLst>
          </p:cNvPr>
          <p:cNvSpPr/>
          <p:nvPr/>
        </p:nvSpPr>
        <p:spPr>
          <a:xfrm>
            <a:off x="4473353" y="3076107"/>
            <a:ext cx="1611138" cy="21437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Access information about the site</a:t>
            </a:r>
          </a:p>
        </p:txBody>
      </p:sp>
      <p:sp>
        <p:nvSpPr>
          <p:cNvPr id="78" name="Rounded Rectangle 26">
            <a:extLst>
              <a:ext uri="{FF2B5EF4-FFF2-40B4-BE49-F238E27FC236}">
                <a16:creationId xmlns:a16="http://schemas.microsoft.com/office/drawing/2014/main" id="{28D49DE5-1E5A-FFC4-F4F0-9A3F79E2C870}"/>
              </a:ext>
            </a:extLst>
          </p:cNvPr>
          <p:cNvSpPr/>
          <p:nvPr/>
        </p:nvSpPr>
        <p:spPr>
          <a:xfrm>
            <a:off x="4476396" y="3602720"/>
            <a:ext cx="1611138" cy="31158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Navigate across the WTP birdwatching site</a:t>
            </a:r>
          </a:p>
        </p:txBody>
      </p:sp>
      <p:sp>
        <p:nvSpPr>
          <p:cNvPr id="79" name="Rounded Rectangle 26">
            <a:extLst>
              <a:ext uri="{FF2B5EF4-FFF2-40B4-BE49-F238E27FC236}">
                <a16:creationId xmlns:a16="http://schemas.microsoft.com/office/drawing/2014/main" id="{AC9C9A75-8B9D-A47B-E037-84F59405A379}"/>
              </a:ext>
            </a:extLst>
          </p:cNvPr>
          <p:cNvSpPr/>
          <p:nvPr/>
        </p:nvSpPr>
        <p:spPr>
          <a:xfrm>
            <a:off x="4476396" y="3959471"/>
            <a:ext cx="1611138" cy="31158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Report issues onsite (</a:t>
            </a:r>
            <a:r>
              <a:rPr lang="en-AU" sz="900" dirty="0" err="1">
                <a:solidFill>
                  <a:schemeClr val="tx1"/>
                </a:solidFill>
                <a:latin typeface="Calibri"/>
              </a:rPr>
              <a:t>eg</a:t>
            </a:r>
            <a:r>
              <a:rPr lang="en-AU" sz="900" dirty="0">
                <a:solidFill>
                  <a:schemeClr val="tx1"/>
                </a:solidFill>
                <a:latin typeface="Calibri"/>
              </a:rPr>
              <a:t> hazards, dead birds)</a:t>
            </a:r>
          </a:p>
        </p:txBody>
      </p:sp>
      <p:sp>
        <p:nvSpPr>
          <p:cNvPr id="80" name="Rounded Rectangle 26">
            <a:extLst>
              <a:ext uri="{FF2B5EF4-FFF2-40B4-BE49-F238E27FC236}">
                <a16:creationId xmlns:a16="http://schemas.microsoft.com/office/drawing/2014/main" id="{A46B9B28-82B7-229F-2253-FE30A36808DB}"/>
              </a:ext>
            </a:extLst>
          </p:cNvPr>
          <p:cNvSpPr/>
          <p:nvPr/>
        </p:nvSpPr>
        <p:spPr>
          <a:xfrm>
            <a:off x="4476396" y="4316222"/>
            <a:ext cx="1611138" cy="31158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Open Bluetooth enabled locks to access site</a:t>
            </a:r>
          </a:p>
        </p:txBody>
      </p:sp>
      <p:sp>
        <p:nvSpPr>
          <p:cNvPr id="81" name="Rounded Rectangle 26">
            <a:extLst>
              <a:ext uri="{FF2B5EF4-FFF2-40B4-BE49-F238E27FC236}">
                <a16:creationId xmlns:a16="http://schemas.microsoft.com/office/drawing/2014/main" id="{38652657-061C-FBC2-945A-754E5C97D21F}"/>
              </a:ext>
            </a:extLst>
          </p:cNvPr>
          <p:cNvSpPr/>
          <p:nvPr/>
        </p:nvSpPr>
        <p:spPr>
          <a:xfrm>
            <a:off x="4473353" y="4761090"/>
            <a:ext cx="1611138" cy="31158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Manage access to site Bluetooth locks</a:t>
            </a:r>
          </a:p>
        </p:txBody>
      </p:sp>
      <p:cxnSp>
        <p:nvCxnSpPr>
          <p:cNvPr id="82" name="Straight Arrow Connector 81">
            <a:extLst>
              <a:ext uri="{FF2B5EF4-FFF2-40B4-BE49-F238E27FC236}">
                <a16:creationId xmlns:a16="http://schemas.microsoft.com/office/drawing/2014/main" id="{B203E8B0-876E-86E1-C97E-93083176EF79}"/>
              </a:ext>
            </a:extLst>
          </p:cNvPr>
          <p:cNvCxnSpPr>
            <a:cxnSpLocks/>
            <a:stCxn id="33" idx="3"/>
            <a:endCxn id="81" idx="1"/>
          </p:cNvCxnSpPr>
          <p:nvPr/>
        </p:nvCxnSpPr>
        <p:spPr>
          <a:xfrm>
            <a:off x="1095185" y="4169178"/>
            <a:ext cx="3378168" cy="747707"/>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B5EB0F15-78C4-7D83-AC8D-014720590B61}"/>
              </a:ext>
            </a:extLst>
          </p:cNvPr>
          <p:cNvCxnSpPr>
            <a:cxnSpLocks/>
            <a:stCxn id="81" idx="0"/>
            <a:endCxn id="80" idx="2"/>
          </p:cNvCxnSpPr>
          <p:nvPr/>
        </p:nvCxnSpPr>
        <p:spPr>
          <a:xfrm flipV="1">
            <a:off x="5278922" y="4627811"/>
            <a:ext cx="3043" cy="133279"/>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7E39C058-E841-A43B-A2DD-79F44ED0B4FB}"/>
              </a:ext>
            </a:extLst>
          </p:cNvPr>
          <p:cNvCxnSpPr>
            <a:cxnSpLocks/>
            <a:stCxn id="61" idx="3"/>
            <a:endCxn id="79" idx="1"/>
          </p:cNvCxnSpPr>
          <p:nvPr/>
        </p:nvCxnSpPr>
        <p:spPr>
          <a:xfrm>
            <a:off x="1027499" y="2648580"/>
            <a:ext cx="3448897" cy="1466686"/>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0CA4B346-A0D7-80AA-5046-5168F99291BF}"/>
              </a:ext>
            </a:extLst>
          </p:cNvPr>
          <p:cNvCxnSpPr>
            <a:cxnSpLocks/>
            <a:stCxn id="61" idx="3"/>
            <a:endCxn id="77" idx="1"/>
          </p:cNvCxnSpPr>
          <p:nvPr/>
        </p:nvCxnSpPr>
        <p:spPr>
          <a:xfrm>
            <a:off x="1027499" y="2648580"/>
            <a:ext cx="3445854" cy="534713"/>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BCB26C81-06C9-16E5-CFE7-51478DA88B06}"/>
              </a:ext>
            </a:extLst>
          </p:cNvPr>
          <p:cNvCxnSpPr>
            <a:cxnSpLocks/>
            <a:stCxn id="62" idx="2"/>
            <a:endCxn id="33" idx="0"/>
          </p:cNvCxnSpPr>
          <p:nvPr/>
        </p:nvCxnSpPr>
        <p:spPr>
          <a:xfrm>
            <a:off x="949295" y="3119765"/>
            <a:ext cx="0" cy="771433"/>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FDB216FE-7184-DABA-F09F-9E1245B1F9A5}"/>
              </a:ext>
            </a:extLst>
          </p:cNvPr>
          <p:cNvCxnSpPr>
            <a:cxnSpLocks/>
            <a:stCxn id="61" idx="3"/>
            <a:endCxn id="80" idx="1"/>
          </p:cNvCxnSpPr>
          <p:nvPr/>
        </p:nvCxnSpPr>
        <p:spPr>
          <a:xfrm>
            <a:off x="1027499" y="2648580"/>
            <a:ext cx="3448897" cy="1823437"/>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E6B7514D-DB83-F960-1C4E-963877D160AE}"/>
              </a:ext>
            </a:extLst>
          </p:cNvPr>
          <p:cNvCxnSpPr>
            <a:cxnSpLocks/>
            <a:stCxn id="61" idx="3"/>
            <a:endCxn id="78" idx="1"/>
          </p:cNvCxnSpPr>
          <p:nvPr/>
        </p:nvCxnSpPr>
        <p:spPr>
          <a:xfrm>
            <a:off x="1027499" y="2648580"/>
            <a:ext cx="3448897" cy="1109935"/>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122" name="Rounded Rectangle 26">
            <a:extLst>
              <a:ext uri="{FF2B5EF4-FFF2-40B4-BE49-F238E27FC236}">
                <a16:creationId xmlns:a16="http://schemas.microsoft.com/office/drawing/2014/main" id="{3CBD0B0B-5EE7-E8E4-1A48-08814F1EACB7}"/>
              </a:ext>
            </a:extLst>
          </p:cNvPr>
          <p:cNvSpPr/>
          <p:nvPr/>
        </p:nvSpPr>
        <p:spPr>
          <a:xfrm>
            <a:off x="4476396" y="5153808"/>
            <a:ext cx="1611138" cy="31158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Receive reports about who is on-site</a:t>
            </a:r>
          </a:p>
        </p:txBody>
      </p:sp>
      <p:cxnSp>
        <p:nvCxnSpPr>
          <p:cNvPr id="123" name="Straight Arrow Connector 122">
            <a:extLst>
              <a:ext uri="{FF2B5EF4-FFF2-40B4-BE49-F238E27FC236}">
                <a16:creationId xmlns:a16="http://schemas.microsoft.com/office/drawing/2014/main" id="{2C0325EF-9409-F058-C77F-0D91FBFB8B6D}"/>
              </a:ext>
            </a:extLst>
          </p:cNvPr>
          <p:cNvCxnSpPr>
            <a:cxnSpLocks/>
            <a:stCxn id="33" idx="3"/>
            <a:endCxn id="122" idx="1"/>
          </p:cNvCxnSpPr>
          <p:nvPr/>
        </p:nvCxnSpPr>
        <p:spPr>
          <a:xfrm>
            <a:off x="1095185" y="4169178"/>
            <a:ext cx="3381211" cy="1140425"/>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126" name="Rounded Rectangle 26">
            <a:extLst>
              <a:ext uri="{FF2B5EF4-FFF2-40B4-BE49-F238E27FC236}">
                <a16:creationId xmlns:a16="http://schemas.microsoft.com/office/drawing/2014/main" id="{BE5D60DD-C6B6-63A2-8A03-6A0810E4FCAF}"/>
              </a:ext>
            </a:extLst>
          </p:cNvPr>
          <p:cNvSpPr/>
          <p:nvPr/>
        </p:nvSpPr>
        <p:spPr>
          <a:xfrm>
            <a:off x="6376306" y="4459835"/>
            <a:ext cx="1611138" cy="31158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Integrate with Bluetooth lock system</a:t>
            </a:r>
          </a:p>
        </p:txBody>
      </p:sp>
      <p:cxnSp>
        <p:nvCxnSpPr>
          <p:cNvPr id="127" name="Straight Arrow Connector 126">
            <a:extLst>
              <a:ext uri="{FF2B5EF4-FFF2-40B4-BE49-F238E27FC236}">
                <a16:creationId xmlns:a16="http://schemas.microsoft.com/office/drawing/2014/main" id="{83F0B2DD-EDDD-6080-FB42-F5F9E504CD77}"/>
              </a:ext>
            </a:extLst>
          </p:cNvPr>
          <p:cNvCxnSpPr>
            <a:cxnSpLocks/>
            <a:stCxn id="80" idx="3"/>
            <a:endCxn id="126" idx="1"/>
          </p:cNvCxnSpPr>
          <p:nvPr/>
        </p:nvCxnSpPr>
        <p:spPr>
          <a:xfrm>
            <a:off x="6087534" y="4472017"/>
            <a:ext cx="288772" cy="143613"/>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7B81BC0B-FB7B-3B9A-2FF6-54FE39C924D2}"/>
              </a:ext>
            </a:extLst>
          </p:cNvPr>
          <p:cNvCxnSpPr>
            <a:cxnSpLocks/>
            <a:stCxn id="81" idx="3"/>
            <a:endCxn id="126" idx="1"/>
          </p:cNvCxnSpPr>
          <p:nvPr/>
        </p:nvCxnSpPr>
        <p:spPr>
          <a:xfrm flipV="1">
            <a:off x="6084491" y="4615630"/>
            <a:ext cx="291815" cy="301255"/>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133" name="Rounded Rectangle 26">
            <a:extLst>
              <a:ext uri="{FF2B5EF4-FFF2-40B4-BE49-F238E27FC236}">
                <a16:creationId xmlns:a16="http://schemas.microsoft.com/office/drawing/2014/main" id="{774BEC89-31FB-FC5B-446E-57A576BE26BC}"/>
              </a:ext>
            </a:extLst>
          </p:cNvPr>
          <p:cNvSpPr/>
          <p:nvPr/>
        </p:nvSpPr>
        <p:spPr>
          <a:xfrm>
            <a:off x="9301869" y="4169177"/>
            <a:ext cx="1239103" cy="425938"/>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FFFFFF"/>
                </a:solidFill>
                <a:effectLst/>
                <a:uLnTx/>
                <a:uFillTx/>
                <a:latin typeface="Calibri"/>
                <a:ea typeface="+mn-ea"/>
                <a:cs typeface="+mn-cs"/>
              </a:rPr>
              <a:t>Bluetooth lock system</a:t>
            </a:r>
          </a:p>
        </p:txBody>
      </p:sp>
      <p:cxnSp>
        <p:nvCxnSpPr>
          <p:cNvPr id="134" name="Straight Arrow Connector 133">
            <a:extLst>
              <a:ext uri="{FF2B5EF4-FFF2-40B4-BE49-F238E27FC236}">
                <a16:creationId xmlns:a16="http://schemas.microsoft.com/office/drawing/2014/main" id="{15A414D5-48B5-BC91-F163-6816D5B9CE18}"/>
              </a:ext>
            </a:extLst>
          </p:cNvPr>
          <p:cNvCxnSpPr>
            <a:cxnSpLocks/>
            <a:stCxn id="133" idx="1"/>
            <a:endCxn id="126" idx="3"/>
          </p:cNvCxnSpPr>
          <p:nvPr/>
        </p:nvCxnSpPr>
        <p:spPr>
          <a:xfrm flipH="1">
            <a:off x="7987444" y="4382146"/>
            <a:ext cx="1314425" cy="233484"/>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139" name="Rounded Rectangle 26">
            <a:extLst>
              <a:ext uri="{FF2B5EF4-FFF2-40B4-BE49-F238E27FC236}">
                <a16:creationId xmlns:a16="http://schemas.microsoft.com/office/drawing/2014/main" id="{47476799-3BF0-32DD-7B53-D55A98F56E39}"/>
              </a:ext>
            </a:extLst>
          </p:cNvPr>
          <p:cNvSpPr/>
          <p:nvPr/>
        </p:nvSpPr>
        <p:spPr>
          <a:xfrm>
            <a:off x="4476396" y="5899419"/>
            <a:ext cx="1611138" cy="31158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Administer system</a:t>
            </a:r>
          </a:p>
        </p:txBody>
      </p:sp>
      <p:grpSp>
        <p:nvGrpSpPr>
          <p:cNvPr id="140" name="Group 139">
            <a:extLst>
              <a:ext uri="{FF2B5EF4-FFF2-40B4-BE49-F238E27FC236}">
                <a16:creationId xmlns:a16="http://schemas.microsoft.com/office/drawing/2014/main" id="{BE7403A3-100B-BA28-2202-EF91AF1F98C6}"/>
              </a:ext>
            </a:extLst>
          </p:cNvPr>
          <p:cNvGrpSpPr/>
          <p:nvPr/>
        </p:nvGrpSpPr>
        <p:grpSpPr>
          <a:xfrm>
            <a:off x="733437" y="5268546"/>
            <a:ext cx="974713" cy="745502"/>
            <a:chOff x="551981" y="2271715"/>
            <a:chExt cx="974713" cy="745502"/>
          </a:xfrm>
        </p:grpSpPr>
        <p:pic>
          <p:nvPicPr>
            <p:cNvPr id="141" name="Picture 140">
              <a:extLst>
                <a:ext uri="{FF2B5EF4-FFF2-40B4-BE49-F238E27FC236}">
                  <a16:creationId xmlns:a16="http://schemas.microsoft.com/office/drawing/2014/main" id="{71CB3EB9-6079-AFC1-85E1-2C5396777650}"/>
                </a:ext>
              </a:extLst>
            </p:cNvPr>
            <p:cNvPicPr>
              <a:picLocks noChangeAspect="1"/>
            </p:cNvPicPr>
            <p:nvPr/>
          </p:nvPicPr>
          <p:blipFill>
            <a:blip r:embed="rId3"/>
            <a:stretch>
              <a:fillRect/>
            </a:stretch>
          </p:blipFill>
          <p:spPr>
            <a:xfrm>
              <a:off x="612684" y="2271715"/>
              <a:ext cx="291780" cy="555959"/>
            </a:xfrm>
            <a:prstGeom prst="rect">
              <a:avLst/>
            </a:prstGeom>
          </p:spPr>
        </p:pic>
        <p:sp>
          <p:nvSpPr>
            <p:cNvPr id="142" name="TextBox 141">
              <a:extLst>
                <a:ext uri="{FF2B5EF4-FFF2-40B4-BE49-F238E27FC236}">
                  <a16:creationId xmlns:a16="http://schemas.microsoft.com/office/drawing/2014/main" id="{BB4A00B6-888B-CC91-CB28-A660552BF15E}"/>
                </a:ext>
              </a:extLst>
            </p:cNvPr>
            <p:cNvSpPr txBox="1"/>
            <p:nvPr/>
          </p:nvSpPr>
          <p:spPr>
            <a:xfrm>
              <a:off x="551981" y="2807041"/>
              <a:ext cx="974713" cy="210176"/>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900"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System administrator</a:t>
              </a:r>
            </a:p>
          </p:txBody>
        </p:sp>
      </p:grpSp>
      <p:cxnSp>
        <p:nvCxnSpPr>
          <p:cNvPr id="143" name="Straight Arrow Connector 142">
            <a:extLst>
              <a:ext uri="{FF2B5EF4-FFF2-40B4-BE49-F238E27FC236}">
                <a16:creationId xmlns:a16="http://schemas.microsoft.com/office/drawing/2014/main" id="{F882AE3D-76BE-83A0-869F-31AD845590D9}"/>
              </a:ext>
            </a:extLst>
          </p:cNvPr>
          <p:cNvCxnSpPr>
            <a:cxnSpLocks/>
            <a:stCxn id="141" idx="3"/>
            <a:endCxn id="139" idx="1"/>
          </p:cNvCxnSpPr>
          <p:nvPr/>
        </p:nvCxnSpPr>
        <p:spPr>
          <a:xfrm>
            <a:off x="1085920" y="5546526"/>
            <a:ext cx="3390476" cy="508688"/>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155" name="Rounded Rectangle 26">
            <a:extLst>
              <a:ext uri="{FF2B5EF4-FFF2-40B4-BE49-F238E27FC236}">
                <a16:creationId xmlns:a16="http://schemas.microsoft.com/office/drawing/2014/main" id="{648DD66E-1194-15E7-E00D-5D63A0AA98A6}"/>
              </a:ext>
            </a:extLst>
          </p:cNvPr>
          <p:cNvSpPr/>
          <p:nvPr/>
        </p:nvSpPr>
        <p:spPr>
          <a:xfrm>
            <a:off x="6382104" y="3495599"/>
            <a:ext cx="1611138" cy="31158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Integrate with Bluetooth beacons</a:t>
            </a:r>
          </a:p>
        </p:txBody>
      </p:sp>
      <p:cxnSp>
        <p:nvCxnSpPr>
          <p:cNvPr id="156" name="Straight Arrow Connector 155">
            <a:extLst>
              <a:ext uri="{FF2B5EF4-FFF2-40B4-BE49-F238E27FC236}">
                <a16:creationId xmlns:a16="http://schemas.microsoft.com/office/drawing/2014/main" id="{AEE32280-C6A6-B1C1-2020-88ACAA2C65AA}"/>
              </a:ext>
            </a:extLst>
          </p:cNvPr>
          <p:cNvCxnSpPr>
            <a:cxnSpLocks/>
            <a:stCxn id="78" idx="3"/>
            <a:endCxn id="155" idx="1"/>
          </p:cNvCxnSpPr>
          <p:nvPr/>
        </p:nvCxnSpPr>
        <p:spPr>
          <a:xfrm flipV="1">
            <a:off x="6087534" y="3651394"/>
            <a:ext cx="294570" cy="107121"/>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160" name="Rounded Rectangle 26">
            <a:extLst>
              <a:ext uri="{FF2B5EF4-FFF2-40B4-BE49-F238E27FC236}">
                <a16:creationId xmlns:a16="http://schemas.microsoft.com/office/drawing/2014/main" id="{9A3C52AB-B46F-DBE1-05AF-C0BCDA77A551}"/>
              </a:ext>
            </a:extLst>
          </p:cNvPr>
          <p:cNvSpPr/>
          <p:nvPr/>
        </p:nvSpPr>
        <p:spPr>
          <a:xfrm>
            <a:off x="9271316" y="3407094"/>
            <a:ext cx="1239103" cy="425938"/>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FFFFFF"/>
                </a:solidFill>
                <a:effectLst/>
                <a:uLnTx/>
                <a:uFillTx/>
                <a:latin typeface="Calibri"/>
                <a:ea typeface="+mn-ea"/>
                <a:cs typeface="+mn-cs"/>
              </a:rPr>
              <a:t>Bluetooth Beacons (placed at gates)</a:t>
            </a:r>
          </a:p>
        </p:txBody>
      </p:sp>
      <p:cxnSp>
        <p:nvCxnSpPr>
          <p:cNvPr id="161" name="Straight Arrow Connector 160">
            <a:extLst>
              <a:ext uri="{FF2B5EF4-FFF2-40B4-BE49-F238E27FC236}">
                <a16:creationId xmlns:a16="http://schemas.microsoft.com/office/drawing/2014/main" id="{B9609927-CB6D-79C2-8180-43BEEB48FD9A}"/>
              </a:ext>
            </a:extLst>
          </p:cNvPr>
          <p:cNvCxnSpPr>
            <a:cxnSpLocks/>
            <a:stCxn id="160" idx="1"/>
            <a:endCxn id="155" idx="3"/>
          </p:cNvCxnSpPr>
          <p:nvPr/>
        </p:nvCxnSpPr>
        <p:spPr>
          <a:xfrm flipH="1">
            <a:off x="7993242" y="3620063"/>
            <a:ext cx="1278074" cy="31331"/>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165" name="Rounded Rectangle 26">
            <a:extLst>
              <a:ext uri="{FF2B5EF4-FFF2-40B4-BE49-F238E27FC236}">
                <a16:creationId xmlns:a16="http://schemas.microsoft.com/office/drawing/2014/main" id="{0FD7891C-9E91-1FB6-6A57-839E4EE326F2}"/>
              </a:ext>
            </a:extLst>
          </p:cNvPr>
          <p:cNvSpPr/>
          <p:nvPr/>
        </p:nvSpPr>
        <p:spPr>
          <a:xfrm>
            <a:off x="10790628" y="4167185"/>
            <a:ext cx="1239103" cy="425938"/>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FFFFFF"/>
                </a:solidFill>
                <a:effectLst/>
                <a:uLnTx/>
                <a:uFillTx/>
                <a:latin typeface="Calibri"/>
                <a:ea typeface="+mn-ea"/>
                <a:cs typeface="+mn-cs"/>
              </a:rPr>
              <a:t>BACID</a:t>
            </a:r>
          </a:p>
        </p:txBody>
      </p:sp>
      <p:cxnSp>
        <p:nvCxnSpPr>
          <p:cNvPr id="166" name="Straight Arrow Connector 165">
            <a:extLst>
              <a:ext uri="{FF2B5EF4-FFF2-40B4-BE49-F238E27FC236}">
                <a16:creationId xmlns:a16="http://schemas.microsoft.com/office/drawing/2014/main" id="{105521E4-AA52-C263-12EA-DFB5AEBF36F6}"/>
              </a:ext>
            </a:extLst>
          </p:cNvPr>
          <p:cNvCxnSpPr>
            <a:cxnSpLocks/>
            <a:stCxn id="133" idx="3"/>
            <a:endCxn id="165" idx="1"/>
          </p:cNvCxnSpPr>
          <p:nvPr/>
        </p:nvCxnSpPr>
        <p:spPr>
          <a:xfrm flipV="1">
            <a:off x="10540972" y="4380154"/>
            <a:ext cx="249656" cy="1992"/>
          </a:xfrm>
          <a:prstGeom prst="straightConnector1">
            <a:avLst/>
          </a:prstGeom>
          <a:ln w="19050">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DE0A7735-2684-E3FA-E4EA-CE28F9DECAC6}"/>
              </a:ext>
            </a:extLst>
          </p:cNvPr>
          <p:cNvCxnSpPr>
            <a:cxnSpLocks/>
          </p:cNvCxnSpPr>
          <p:nvPr/>
        </p:nvCxnSpPr>
        <p:spPr>
          <a:xfrm>
            <a:off x="945289" y="4725137"/>
            <a:ext cx="0" cy="543409"/>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179" name="Speech Bubble: Rectangle with Corners Rounded 178">
            <a:extLst>
              <a:ext uri="{FF2B5EF4-FFF2-40B4-BE49-F238E27FC236}">
                <a16:creationId xmlns:a16="http://schemas.microsoft.com/office/drawing/2014/main" id="{17651148-91DD-E13A-CD19-297B7B5D0B9A}"/>
              </a:ext>
            </a:extLst>
          </p:cNvPr>
          <p:cNvSpPr/>
          <p:nvPr/>
        </p:nvSpPr>
        <p:spPr>
          <a:xfrm>
            <a:off x="10020623" y="1116085"/>
            <a:ext cx="2059626" cy="720794"/>
          </a:xfrm>
          <a:prstGeom prst="wedgeRoundRectCallout">
            <a:avLst>
              <a:gd name="adj1" fmla="val -143636"/>
              <a:gd name="adj2" fmla="val -22940"/>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50" i="1" kern="0" dirty="0">
                <a:solidFill>
                  <a:srgbClr val="231F20"/>
                </a:solidFill>
                <a:latin typeface="Verdana"/>
              </a:rPr>
              <a:t>Birdwatching application form is not in scope for this paper</a:t>
            </a:r>
            <a:endParaRPr kumimoji="0" lang="en-AU" sz="1050" b="0" i="1" u="none" strike="noStrike" kern="0" cap="none" spc="0" normalizeH="0" baseline="0" noProof="0" dirty="0">
              <a:ln>
                <a:noFill/>
              </a:ln>
              <a:solidFill>
                <a:srgbClr val="231F20"/>
              </a:solidFill>
              <a:effectLst/>
              <a:uLnTx/>
              <a:uFillTx/>
              <a:latin typeface="Verdana"/>
              <a:ea typeface="+mn-ea"/>
              <a:cs typeface="+mn-cs"/>
            </a:endParaRPr>
          </a:p>
        </p:txBody>
      </p:sp>
      <p:sp>
        <p:nvSpPr>
          <p:cNvPr id="13" name="Rounded Rectangle 26">
            <a:extLst>
              <a:ext uri="{FF2B5EF4-FFF2-40B4-BE49-F238E27FC236}">
                <a16:creationId xmlns:a16="http://schemas.microsoft.com/office/drawing/2014/main" id="{36A4D95E-A54F-B55F-00CC-C7656FFCA5F7}"/>
              </a:ext>
            </a:extLst>
          </p:cNvPr>
          <p:cNvSpPr/>
          <p:nvPr/>
        </p:nvSpPr>
        <p:spPr>
          <a:xfrm>
            <a:off x="4473353" y="5506701"/>
            <a:ext cx="1611138" cy="31158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AU" sz="900" dirty="0">
                <a:solidFill>
                  <a:schemeClr val="tx1"/>
                </a:solidFill>
                <a:latin typeface="Calibri"/>
              </a:rPr>
              <a:t>Send messages / alerts to users</a:t>
            </a:r>
          </a:p>
        </p:txBody>
      </p:sp>
      <p:cxnSp>
        <p:nvCxnSpPr>
          <p:cNvPr id="14" name="Straight Arrow Connector 13">
            <a:extLst>
              <a:ext uri="{FF2B5EF4-FFF2-40B4-BE49-F238E27FC236}">
                <a16:creationId xmlns:a16="http://schemas.microsoft.com/office/drawing/2014/main" id="{310A232D-1C2E-AF07-FD3E-D1A98191958A}"/>
              </a:ext>
            </a:extLst>
          </p:cNvPr>
          <p:cNvCxnSpPr>
            <a:cxnSpLocks/>
            <a:stCxn id="33" idx="3"/>
            <a:endCxn id="13" idx="1"/>
          </p:cNvCxnSpPr>
          <p:nvPr/>
        </p:nvCxnSpPr>
        <p:spPr>
          <a:xfrm>
            <a:off x="1095185" y="4169178"/>
            <a:ext cx="3378168" cy="1493318"/>
          </a:xfrm>
          <a:prstGeom prst="straightConnector1">
            <a:avLst/>
          </a:prstGeom>
          <a:ln w="1905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532868"/>
      </p:ext>
    </p:extLst>
  </p:cSld>
  <p:clrMapOvr>
    <a:masterClrMapping/>
  </p:clrMapOvr>
  <p:transition spd="slow">
    <p:wipe dir="r"/>
  </p:transition>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246045B1-151F-E9C4-6723-017EEEBF54C9}"/>
            </a:ext>
          </a:extLst>
        </p:cNvPr>
        <p:cNvGrpSpPr/>
        <p:nvPr/>
      </p:nvGrpSpPr>
      <p:grpSpPr>
        <a:xfrm>
          <a:off x="0" y="0"/>
          <a:ext cx="0" cy="0"/>
          <a:chOff x="0" y="0"/>
          <a:chExt cx="0" cy="0"/>
        </a:xfrm>
      </p:grpSpPr>
      <p:sp>
        <p:nvSpPr>
          <p:cNvPr id="24" name="Rounded Rectangle 23">
            <a:extLst>
              <a:ext uri="{FF2B5EF4-FFF2-40B4-BE49-F238E27FC236}">
                <a16:creationId xmlns:a16="http://schemas.microsoft.com/office/drawing/2014/main" id="{4F8B4C60-9FFC-DA90-1E6C-61D74D41E4E8}"/>
              </a:ext>
            </a:extLst>
          </p:cNvPr>
          <p:cNvSpPr/>
          <p:nvPr/>
        </p:nvSpPr>
        <p:spPr>
          <a:xfrm>
            <a:off x="3611532" y="1143003"/>
            <a:ext cx="8143232" cy="2344966"/>
          </a:xfrm>
          <a:prstGeom prst="roundRect">
            <a:avLst>
              <a:gd name="adj" fmla="val 5162"/>
            </a:avLst>
          </a:prstGeom>
          <a:no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FFFFFF">
                    <a:lumMod val="65000"/>
                  </a:srgbClr>
                </a:solidFill>
                <a:effectLst/>
                <a:uLnTx/>
                <a:uFillTx/>
                <a:latin typeface="Calibri"/>
                <a:ea typeface="+mn-ea"/>
                <a:cs typeface="+mn-cs"/>
              </a:rPr>
              <a:t>Internet</a:t>
            </a:r>
          </a:p>
        </p:txBody>
      </p:sp>
      <p:sp>
        <p:nvSpPr>
          <p:cNvPr id="2" name="Title 1">
            <a:extLst>
              <a:ext uri="{FF2B5EF4-FFF2-40B4-BE49-F238E27FC236}">
                <a16:creationId xmlns:a16="http://schemas.microsoft.com/office/drawing/2014/main" id="{CC966381-0B17-7ADA-8A56-69A2142CFDDB}"/>
              </a:ext>
            </a:extLst>
          </p:cNvPr>
          <p:cNvSpPr>
            <a:spLocks noGrp="1"/>
          </p:cNvSpPr>
          <p:nvPr>
            <p:ph type="title"/>
          </p:nvPr>
        </p:nvSpPr>
        <p:spPr>
          <a:xfrm>
            <a:off x="423413" y="0"/>
            <a:ext cx="4356997" cy="768171"/>
          </a:xfrm>
        </p:spPr>
        <p:txBody>
          <a:bodyPr/>
          <a:lstStyle/>
          <a:p>
            <a:r>
              <a:rPr lang="en-AU" sz="2000" dirty="0">
                <a:latin typeface="Verdana"/>
                <a:ea typeface="Verdana"/>
              </a:rPr>
              <a:t>Target State – Systems landscape</a:t>
            </a:r>
            <a:endParaRPr lang="en-AU" sz="2000" dirty="0"/>
          </a:p>
        </p:txBody>
      </p:sp>
      <p:sp>
        <p:nvSpPr>
          <p:cNvPr id="22" name="Rounded Rectangle 21">
            <a:extLst>
              <a:ext uri="{FF2B5EF4-FFF2-40B4-BE49-F238E27FC236}">
                <a16:creationId xmlns:a16="http://schemas.microsoft.com/office/drawing/2014/main" id="{6F9BD918-4703-7CDD-B41C-BD2FE2521E04}"/>
              </a:ext>
            </a:extLst>
          </p:cNvPr>
          <p:cNvSpPr/>
          <p:nvPr/>
        </p:nvSpPr>
        <p:spPr>
          <a:xfrm>
            <a:off x="324605" y="1127052"/>
            <a:ext cx="2269472" cy="5615715"/>
          </a:xfrm>
          <a:prstGeom prst="roundRect">
            <a:avLst>
              <a:gd name="adj" fmla="val 3829"/>
            </a:avLst>
          </a:prstGeom>
          <a:no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FFFFFF">
                    <a:lumMod val="65000"/>
                  </a:srgbClr>
                </a:solidFill>
                <a:effectLst/>
                <a:uLnTx/>
                <a:uFillTx/>
                <a:latin typeface="Calibri"/>
                <a:ea typeface="+mn-ea"/>
                <a:cs typeface="+mn-cs"/>
              </a:rPr>
              <a:t>Melbourne Water internal network</a:t>
            </a:r>
          </a:p>
        </p:txBody>
      </p:sp>
      <p:sp>
        <p:nvSpPr>
          <p:cNvPr id="23" name="Rounded Rectangle 22">
            <a:extLst>
              <a:ext uri="{FF2B5EF4-FFF2-40B4-BE49-F238E27FC236}">
                <a16:creationId xmlns:a16="http://schemas.microsoft.com/office/drawing/2014/main" id="{610FC6F8-E914-E972-D543-97A7B136D8ED}"/>
              </a:ext>
            </a:extLst>
          </p:cNvPr>
          <p:cNvSpPr/>
          <p:nvPr/>
        </p:nvSpPr>
        <p:spPr>
          <a:xfrm>
            <a:off x="2593830" y="1127052"/>
            <a:ext cx="1017702" cy="2344967"/>
          </a:xfrm>
          <a:prstGeom prst="roundRect">
            <a:avLst>
              <a:gd name="adj" fmla="val 11640"/>
            </a:avLst>
          </a:prstGeom>
          <a:no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FFFFFF">
                    <a:lumMod val="65000"/>
                  </a:srgbClr>
                </a:solidFill>
                <a:effectLst/>
                <a:uLnTx/>
                <a:uFillTx/>
                <a:latin typeface="Calibri"/>
                <a:ea typeface="+mn-ea"/>
                <a:cs typeface="+mn-cs"/>
              </a:rPr>
              <a:t>DMZ</a:t>
            </a:r>
          </a:p>
        </p:txBody>
      </p:sp>
      <p:sp>
        <p:nvSpPr>
          <p:cNvPr id="25" name="Rounded Rectangle 24">
            <a:extLst>
              <a:ext uri="{FF2B5EF4-FFF2-40B4-BE49-F238E27FC236}">
                <a16:creationId xmlns:a16="http://schemas.microsoft.com/office/drawing/2014/main" id="{28BC69EA-5401-AE59-36F0-4A99723C349D}"/>
              </a:ext>
            </a:extLst>
          </p:cNvPr>
          <p:cNvSpPr/>
          <p:nvPr/>
        </p:nvSpPr>
        <p:spPr>
          <a:xfrm>
            <a:off x="2593830" y="3497726"/>
            <a:ext cx="9160934" cy="3260990"/>
          </a:xfrm>
          <a:prstGeom prst="roundRect">
            <a:avLst>
              <a:gd name="adj" fmla="val 6395"/>
            </a:avLst>
          </a:prstGeom>
          <a:solidFill>
            <a:schemeClr val="accent1">
              <a:lumMod val="20000"/>
              <a:lumOff val="80000"/>
            </a:schemeClr>
          </a:solid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1"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FFFFFF">
                    <a:lumMod val="65000"/>
                  </a:srgbClr>
                </a:solidFill>
                <a:effectLst/>
                <a:uLnTx/>
                <a:uFillTx/>
                <a:latin typeface="Calibri"/>
                <a:ea typeface="+mn-ea"/>
                <a:cs typeface="+mn-cs"/>
              </a:rPr>
              <a:t>MW Azure tenancy</a:t>
            </a:r>
          </a:p>
        </p:txBody>
      </p:sp>
      <p:sp>
        <p:nvSpPr>
          <p:cNvPr id="13" name="Rounded Rectangle 26">
            <a:extLst>
              <a:ext uri="{FF2B5EF4-FFF2-40B4-BE49-F238E27FC236}">
                <a16:creationId xmlns:a16="http://schemas.microsoft.com/office/drawing/2014/main" id="{9A2D20C7-5D62-A2D8-5B6E-F65612B2505F}"/>
              </a:ext>
            </a:extLst>
          </p:cNvPr>
          <p:cNvSpPr/>
          <p:nvPr/>
        </p:nvSpPr>
        <p:spPr>
          <a:xfrm>
            <a:off x="4688856" y="5384389"/>
            <a:ext cx="1627569" cy="906974"/>
          </a:xfrm>
          <a:prstGeom prst="roundRect">
            <a:avLst>
              <a:gd name="adj" fmla="val 1246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r>
              <a:rPr lang="en-AU" sz="1200" b="1" dirty="0">
                <a:solidFill>
                  <a:schemeClr val="lt1"/>
                </a:solidFill>
              </a:rPr>
              <a:t>MySQL</a:t>
            </a:r>
          </a:p>
          <a:p>
            <a:pPr algn="ctr"/>
            <a:r>
              <a:rPr lang="en-AU" sz="1200" dirty="0">
                <a:solidFill>
                  <a:schemeClr val="lt1"/>
                </a:solidFill>
              </a:rPr>
              <a:t>Birdwatching database</a:t>
            </a:r>
          </a:p>
          <a:p>
            <a:pPr algn="ctr"/>
            <a:endParaRPr lang="en-AU" sz="1200" dirty="0">
              <a:solidFill>
                <a:schemeClr val="lt1"/>
              </a:solidFill>
            </a:endParaRPr>
          </a:p>
        </p:txBody>
      </p:sp>
      <p:grpSp>
        <p:nvGrpSpPr>
          <p:cNvPr id="63" name="Group 62">
            <a:extLst>
              <a:ext uri="{FF2B5EF4-FFF2-40B4-BE49-F238E27FC236}">
                <a16:creationId xmlns:a16="http://schemas.microsoft.com/office/drawing/2014/main" id="{99539732-A4BA-F5B9-97EC-F1C2F0C0EF43}"/>
              </a:ext>
            </a:extLst>
          </p:cNvPr>
          <p:cNvGrpSpPr/>
          <p:nvPr/>
        </p:nvGrpSpPr>
        <p:grpSpPr>
          <a:xfrm>
            <a:off x="413890" y="2245037"/>
            <a:ext cx="771162" cy="741949"/>
            <a:chOff x="524693" y="1685602"/>
            <a:chExt cx="771162" cy="741949"/>
          </a:xfrm>
        </p:grpSpPr>
        <p:pic>
          <p:nvPicPr>
            <p:cNvPr id="61" name="Picture 60">
              <a:extLst>
                <a:ext uri="{FF2B5EF4-FFF2-40B4-BE49-F238E27FC236}">
                  <a16:creationId xmlns:a16="http://schemas.microsoft.com/office/drawing/2014/main" id="{4045CB98-BE7E-D35A-5D29-54F57AA57B1B}"/>
                </a:ext>
              </a:extLst>
            </p:cNvPr>
            <p:cNvPicPr>
              <a:picLocks noChangeAspect="1"/>
            </p:cNvPicPr>
            <p:nvPr/>
          </p:nvPicPr>
          <p:blipFill>
            <a:blip r:embed="rId3"/>
            <a:stretch>
              <a:fillRect/>
            </a:stretch>
          </p:blipFill>
          <p:spPr>
            <a:xfrm>
              <a:off x="701836" y="1685602"/>
              <a:ext cx="291780" cy="555959"/>
            </a:xfrm>
            <a:prstGeom prst="rect">
              <a:avLst/>
            </a:prstGeom>
          </p:spPr>
        </p:pic>
        <p:sp>
          <p:nvSpPr>
            <p:cNvPr id="62" name="TextBox 61">
              <a:extLst>
                <a:ext uri="{FF2B5EF4-FFF2-40B4-BE49-F238E27FC236}">
                  <a16:creationId xmlns:a16="http://schemas.microsoft.com/office/drawing/2014/main" id="{F3767946-52A4-C7E9-766F-205A42BD5DBA}"/>
                </a:ext>
              </a:extLst>
            </p:cNvPr>
            <p:cNvSpPr txBox="1"/>
            <p:nvPr/>
          </p:nvSpPr>
          <p:spPr>
            <a:xfrm>
              <a:off x="524693" y="2217375"/>
              <a:ext cx="771162" cy="210176"/>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900"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Site operator</a:t>
              </a:r>
            </a:p>
          </p:txBody>
        </p:sp>
      </p:grpSp>
      <p:cxnSp>
        <p:nvCxnSpPr>
          <p:cNvPr id="65" name="Straight Arrow Connector 64">
            <a:extLst>
              <a:ext uri="{FF2B5EF4-FFF2-40B4-BE49-F238E27FC236}">
                <a16:creationId xmlns:a16="http://schemas.microsoft.com/office/drawing/2014/main" id="{B6A25BC8-B58F-3604-D30A-9AAC8E686FF1}"/>
              </a:ext>
            </a:extLst>
          </p:cNvPr>
          <p:cNvCxnSpPr>
            <a:cxnSpLocks/>
            <a:stCxn id="61" idx="3"/>
            <a:endCxn id="20" idx="0"/>
          </p:cNvCxnSpPr>
          <p:nvPr/>
        </p:nvCxnSpPr>
        <p:spPr>
          <a:xfrm>
            <a:off x="882813" y="2523017"/>
            <a:ext cx="364541" cy="1236736"/>
          </a:xfrm>
          <a:prstGeom prst="bentConnector2">
            <a:avLst/>
          </a:prstGeom>
          <a:ln w="2540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BEF391EE-762F-61E7-8B80-B7896EB2001C}"/>
              </a:ext>
            </a:extLst>
          </p:cNvPr>
          <p:cNvGrpSpPr/>
          <p:nvPr/>
        </p:nvGrpSpPr>
        <p:grpSpPr>
          <a:xfrm>
            <a:off x="700653" y="3759753"/>
            <a:ext cx="1093402" cy="461359"/>
            <a:chOff x="1948487" y="1439994"/>
            <a:chExt cx="1093402" cy="461359"/>
          </a:xfrm>
        </p:grpSpPr>
        <p:sp>
          <p:nvSpPr>
            <p:cNvPr id="20" name="Rounded Rectangle 26">
              <a:extLst>
                <a:ext uri="{FF2B5EF4-FFF2-40B4-BE49-F238E27FC236}">
                  <a16:creationId xmlns:a16="http://schemas.microsoft.com/office/drawing/2014/main" id="{8DEC9B2D-B12A-363E-E364-BB94B3947C65}"/>
                </a:ext>
              </a:extLst>
            </p:cNvPr>
            <p:cNvSpPr/>
            <p:nvPr/>
          </p:nvSpPr>
          <p:spPr>
            <a:xfrm>
              <a:off x="1948487" y="1439994"/>
              <a:ext cx="1093402" cy="461359"/>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FFFFFF"/>
                  </a:solidFill>
                  <a:effectLst/>
                  <a:uLnTx/>
                  <a:uFillTx/>
                  <a:latin typeface="Calibri"/>
                  <a:ea typeface="+mn-ea"/>
                  <a:cs typeface="+mn-cs"/>
                </a:rPr>
                <a:t>MW Laptop</a:t>
              </a:r>
            </a:p>
          </p:txBody>
        </p:sp>
        <p:sp>
          <p:nvSpPr>
            <p:cNvPr id="212" name="Rounded Rectangle 26">
              <a:extLst>
                <a:ext uri="{FF2B5EF4-FFF2-40B4-BE49-F238E27FC236}">
                  <a16:creationId xmlns:a16="http://schemas.microsoft.com/office/drawing/2014/main" id="{38300F55-A916-B74E-DA0A-42213EE0C8F8}"/>
                </a:ext>
              </a:extLst>
            </p:cNvPr>
            <p:cNvSpPr/>
            <p:nvPr/>
          </p:nvSpPr>
          <p:spPr>
            <a:xfrm>
              <a:off x="2012468" y="1631784"/>
              <a:ext cx="926974" cy="20947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solidFill>
                    <a:srgbClr val="FFFFFF"/>
                  </a:solidFill>
                  <a:effectLst/>
                  <a:uLnTx/>
                  <a:uFillTx/>
                  <a:latin typeface="Calibri"/>
                  <a:ea typeface="+mn-ea"/>
                  <a:cs typeface="+mn-cs"/>
                </a:rPr>
                <a:t>Edge browser</a:t>
              </a:r>
            </a:p>
          </p:txBody>
        </p:sp>
      </p:grpSp>
      <p:grpSp>
        <p:nvGrpSpPr>
          <p:cNvPr id="27" name="Group 26">
            <a:extLst>
              <a:ext uri="{FF2B5EF4-FFF2-40B4-BE49-F238E27FC236}">
                <a16:creationId xmlns:a16="http://schemas.microsoft.com/office/drawing/2014/main" id="{CD4E07B3-D3FB-61E9-6017-BEC6C27307B3}"/>
              </a:ext>
            </a:extLst>
          </p:cNvPr>
          <p:cNvGrpSpPr/>
          <p:nvPr/>
        </p:nvGrpSpPr>
        <p:grpSpPr>
          <a:xfrm>
            <a:off x="8592768" y="1365580"/>
            <a:ext cx="723495" cy="738077"/>
            <a:chOff x="443357" y="2271715"/>
            <a:chExt cx="723495" cy="738077"/>
          </a:xfrm>
        </p:grpSpPr>
        <p:pic>
          <p:nvPicPr>
            <p:cNvPr id="33" name="Picture 32">
              <a:extLst>
                <a:ext uri="{FF2B5EF4-FFF2-40B4-BE49-F238E27FC236}">
                  <a16:creationId xmlns:a16="http://schemas.microsoft.com/office/drawing/2014/main" id="{9B87C8E0-ACF0-D58F-E943-5B4783EE0674}"/>
                </a:ext>
              </a:extLst>
            </p:cNvPr>
            <p:cNvPicPr>
              <a:picLocks noChangeAspect="1"/>
            </p:cNvPicPr>
            <p:nvPr/>
          </p:nvPicPr>
          <p:blipFill>
            <a:blip r:embed="rId3"/>
            <a:stretch>
              <a:fillRect/>
            </a:stretch>
          </p:blipFill>
          <p:spPr>
            <a:xfrm>
              <a:off x="612684" y="2271715"/>
              <a:ext cx="291780" cy="555959"/>
            </a:xfrm>
            <a:prstGeom prst="rect">
              <a:avLst/>
            </a:prstGeom>
          </p:spPr>
        </p:pic>
        <p:sp>
          <p:nvSpPr>
            <p:cNvPr id="34" name="TextBox 33">
              <a:extLst>
                <a:ext uri="{FF2B5EF4-FFF2-40B4-BE49-F238E27FC236}">
                  <a16:creationId xmlns:a16="http://schemas.microsoft.com/office/drawing/2014/main" id="{3276FB51-ECEF-5F22-121D-0B56FBFD6D17}"/>
                </a:ext>
              </a:extLst>
            </p:cNvPr>
            <p:cNvSpPr txBox="1"/>
            <p:nvPr/>
          </p:nvSpPr>
          <p:spPr>
            <a:xfrm>
              <a:off x="443357" y="2799616"/>
              <a:ext cx="723495" cy="210176"/>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900"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Bird noticer</a:t>
              </a:r>
            </a:p>
          </p:txBody>
        </p:sp>
      </p:grpSp>
      <p:cxnSp>
        <p:nvCxnSpPr>
          <p:cNvPr id="38" name="Straight Arrow Connector 64">
            <a:extLst>
              <a:ext uri="{FF2B5EF4-FFF2-40B4-BE49-F238E27FC236}">
                <a16:creationId xmlns:a16="http://schemas.microsoft.com/office/drawing/2014/main" id="{71F0C68B-8320-B207-9E7B-C8C85378E745}"/>
              </a:ext>
            </a:extLst>
          </p:cNvPr>
          <p:cNvCxnSpPr>
            <a:cxnSpLocks/>
            <a:stCxn id="33" idx="1"/>
            <a:endCxn id="12" idx="0"/>
          </p:cNvCxnSpPr>
          <p:nvPr/>
        </p:nvCxnSpPr>
        <p:spPr>
          <a:xfrm rot="10800000">
            <a:off x="6778111" y="1596112"/>
            <a:ext cx="1983985" cy="47449"/>
          </a:xfrm>
          <a:prstGeom prst="bentConnector4">
            <a:avLst>
              <a:gd name="adj1" fmla="val 32810"/>
              <a:gd name="adj2" fmla="val 441261"/>
            </a:avLst>
          </a:prstGeom>
          <a:ln w="25400">
            <a:solidFill>
              <a:schemeClr val="bg1">
                <a:lumMod val="6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8964B256-D12D-46F8-12DE-CA45DFBAAD76}"/>
              </a:ext>
            </a:extLst>
          </p:cNvPr>
          <p:cNvGrpSpPr/>
          <p:nvPr/>
        </p:nvGrpSpPr>
        <p:grpSpPr>
          <a:xfrm>
            <a:off x="2672806" y="2338124"/>
            <a:ext cx="878146" cy="730765"/>
            <a:chOff x="4155291" y="3166532"/>
            <a:chExt cx="878146" cy="730765"/>
          </a:xfrm>
        </p:grpSpPr>
        <p:sp>
          <p:nvSpPr>
            <p:cNvPr id="68" name="Rounded Rectangle 26">
              <a:extLst>
                <a:ext uri="{FF2B5EF4-FFF2-40B4-BE49-F238E27FC236}">
                  <a16:creationId xmlns:a16="http://schemas.microsoft.com/office/drawing/2014/main" id="{7FF6585E-AD6C-FF50-53F8-CADE69AE9DC4}"/>
                </a:ext>
              </a:extLst>
            </p:cNvPr>
            <p:cNvSpPr/>
            <p:nvPr/>
          </p:nvSpPr>
          <p:spPr>
            <a:xfrm>
              <a:off x="4155291" y="3166532"/>
              <a:ext cx="878146" cy="730765"/>
            </a:xfrm>
            <a:prstGeom prst="roundRect">
              <a:avLst/>
            </a:prstGeom>
            <a:solidFill>
              <a:schemeClr val="bg1">
                <a:lumMod val="50000"/>
              </a:schemeClr>
            </a:solidFill>
            <a:ln w="25400" cap="flat" cmpd="sng" algn="ctr">
              <a:noFill/>
              <a:prstDash val="solid"/>
            </a:ln>
            <a:effectLst/>
          </p:spPr>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0" cap="none" spc="0" normalizeH="0" baseline="0" noProof="0" dirty="0">
                  <a:ln>
                    <a:noFill/>
                  </a:ln>
                  <a:solidFill>
                    <a:srgbClr val="FFFFFF"/>
                  </a:solidFill>
                  <a:effectLst/>
                  <a:uLnTx/>
                  <a:uFillTx/>
                  <a:latin typeface="Calibri"/>
                  <a:ea typeface="+mn-ea"/>
                  <a:cs typeface="+mn-cs"/>
                </a:rPr>
                <a:t>Web Proxy</a:t>
              </a:r>
            </a:p>
          </p:txBody>
        </p:sp>
        <p:sp>
          <p:nvSpPr>
            <p:cNvPr id="101" name="Rounded Rectangle 26">
              <a:extLst>
                <a:ext uri="{FF2B5EF4-FFF2-40B4-BE49-F238E27FC236}">
                  <a16:creationId xmlns:a16="http://schemas.microsoft.com/office/drawing/2014/main" id="{3763531E-3B7F-7238-4259-2C6890D29FF0}"/>
                </a:ext>
              </a:extLst>
            </p:cNvPr>
            <p:cNvSpPr/>
            <p:nvPr/>
          </p:nvSpPr>
          <p:spPr>
            <a:xfrm>
              <a:off x="4307764" y="3694438"/>
              <a:ext cx="573199" cy="140556"/>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a:ln>
                    <a:noFill/>
                  </a:ln>
                  <a:solidFill>
                    <a:srgbClr val="FFFFFF"/>
                  </a:solidFill>
                  <a:effectLst/>
                  <a:uLnTx/>
                  <a:uFillTx/>
                  <a:latin typeface="Calibri"/>
                  <a:ea typeface="+mn-ea"/>
                  <a:cs typeface="+mn-cs"/>
                </a:rPr>
                <a:t>Session </a:t>
              </a:r>
            </a:p>
          </p:txBody>
        </p:sp>
      </p:grpSp>
      <p:cxnSp>
        <p:nvCxnSpPr>
          <p:cNvPr id="170" name="Elbow Connector 28">
            <a:extLst>
              <a:ext uri="{FF2B5EF4-FFF2-40B4-BE49-F238E27FC236}">
                <a16:creationId xmlns:a16="http://schemas.microsoft.com/office/drawing/2014/main" id="{1AE76B13-58E4-F397-83E0-14064977380C}"/>
              </a:ext>
            </a:extLst>
          </p:cNvPr>
          <p:cNvCxnSpPr>
            <a:cxnSpLocks/>
            <a:stCxn id="6" idx="2"/>
            <a:endCxn id="13" idx="0"/>
          </p:cNvCxnSpPr>
          <p:nvPr/>
        </p:nvCxnSpPr>
        <p:spPr>
          <a:xfrm rot="5400000">
            <a:off x="5678872" y="4842336"/>
            <a:ext cx="365822" cy="718284"/>
          </a:xfrm>
          <a:prstGeom prst="bentConnector3">
            <a:avLst>
              <a:gd name="adj1" fmla="val 50000"/>
            </a:avLst>
          </a:prstGeom>
          <a:ln w="28575">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9" name="Rounded Rectangle 65">
            <a:extLst>
              <a:ext uri="{FF2B5EF4-FFF2-40B4-BE49-F238E27FC236}">
                <a16:creationId xmlns:a16="http://schemas.microsoft.com/office/drawing/2014/main" id="{E41C6CFE-C8C4-EA73-D58B-A329072F98BD}"/>
              </a:ext>
            </a:extLst>
          </p:cNvPr>
          <p:cNvSpPr/>
          <p:nvPr/>
        </p:nvSpPr>
        <p:spPr>
          <a:xfrm>
            <a:off x="6507332" y="191816"/>
            <a:ext cx="5595768" cy="56993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endParaRPr lang="en-AU" sz="900"/>
          </a:p>
        </p:txBody>
      </p:sp>
      <p:sp>
        <p:nvSpPr>
          <p:cNvPr id="14" name="Rounded Rectangle 66">
            <a:extLst>
              <a:ext uri="{FF2B5EF4-FFF2-40B4-BE49-F238E27FC236}">
                <a16:creationId xmlns:a16="http://schemas.microsoft.com/office/drawing/2014/main" id="{A329F6CB-4188-756C-91EC-7E29F4042227}"/>
              </a:ext>
            </a:extLst>
          </p:cNvPr>
          <p:cNvSpPr/>
          <p:nvPr/>
        </p:nvSpPr>
        <p:spPr>
          <a:xfrm>
            <a:off x="6657275" y="273703"/>
            <a:ext cx="606124" cy="175421"/>
          </a:xfrm>
          <a:prstGeom prst="roundRect">
            <a:avLst/>
          </a:prstGeom>
          <a:solidFill>
            <a:srgbClr val="00428B">
              <a:lumMod val="60000"/>
              <a:lumOff val="40000"/>
            </a:srgbClr>
          </a:solidFill>
          <a:ln w="25400" cap="flat" cmpd="sng" algn="ctr">
            <a:noFill/>
            <a:prstDash val="solid"/>
          </a:ln>
          <a:effectLst/>
        </p:spPr>
        <p:txBody>
          <a:bodyPr lIns="0" tIns="0" rIns="0" rtlCol="0" anchor="t" anchorCtr="0"/>
          <a:lstStyle/>
          <a:p>
            <a:pPr algn="ctr"/>
            <a:endParaRPr lang="en-AU" sz="1050" b="1" kern="0">
              <a:solidFill>
                <a:srgbClr val="FFFFFF"/>
              </a:solidFill>
              <a:latin typeface="Calibri"/>
            </a:endParaRPr>
          </a:p>
        </p:txBody>
      </p:sp>
      <p:sp>
        <p:nvSpPr>
          <p:cNvPr id="17" name="TextBox 16">
            <a:extLst>
              <a:ext uri="{FF2B5EF4-FFF2-40B4-BE49-F238E27FC236}">
                <a16:creationId xmlns:a16="http://schemas.microsoft.com/office/drawing/2014/main" id="{61EB8E56-BA5B-1A8D-3D2F-47F3532E9CA2}"/>
              </a:ext>
            </a:extLst>
          </p:cNvPr>
          <p:cNvSpPr txBox="1"/>
          <p:nvPr/>
        </p:nvSpPr>
        <p:spPr>
          <a:xfrm>
            <a:off x="7289928" y="309457"/>
            <a:ext cx="913040" cy="119957"/>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Existing system</a:t>
            </a:r>
          </a:p>
        </p:txBody>
      </p:sp>
      <p:sp>
        <p:nvSpPr>
          <p:cNvPr id="18" name="Rounded Rectangle 94">
            <a:extLst>
              <a:ext uri="{FF2B5EF4-FFF2-40B4-BE49-F238E27FC236}">
                <a16:creationId xmlns:a16="http://schemas.microsoft.com/office/drawing/2014/main" id="{AE739EAF-0EEB-14FA-A4F2-6439C382BAEE}"/>
              </a:ext>
            </a:extLst>
          </p:cNvPr>
          <p:cNvSpPr/>
          <p:nvPr/>
        </p:nvSpPr>
        <p:spPr>
          <a:xfrm>
            <a:off x="6657275" y="523018"/>
            <a:ext cx="606124" cy="175421"/>
          </a:xfrm>
          <a:prstGeom prst="round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endParaRPr lang="en-AU" sz="1200"/>
          </a:p>
        </p:txBody>
      </p:sp>
      <p:sp>
        <p:nvSpPr>
          <p:cNvPr id="19" name="TextBox 18">
            <a:extLst>
              <a:ext uri="{FF2B5EF4-FFF2-40B4-BE49-F238E27FC236}">
                <a16:creationId xmlns:a16="http://schemas.microsoft.com/office/drawing/2014/main" id="{CDF48134-940F-03A1-483C-9A1DD182CC1C}"/>
              </a:ext>
            </a:extLst>
          </p:cNvPr>
          <p:cNvSpPr txBox="1"/>
          <p:nvPr/>
        </p:nvSpPr>
        <p:spPr>
          <a:xfrm>
            <a:off x="7289928" y="530733"/>
            <a:ext cx="913040" cy="119957"/>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System with issues</a:t>
            </a:r>
          </a:p>
        </p:txBody>
      </p:sp>
      <p:cxnSp>
        <p:nvCxnSpPr>
          <p:cNvPr id="21" name="Straight Arrow Connector 20">
            <a:extLst>
              <a:ext uri="{FF2B5EF4-FFF2-40B4-BE49-F238E27FC236}">
                <a16:creationId xmlns:a16="http://schemas.microsoft.com/office/drawing/2014/main" id="{33E79111-6196-9708-220B-4406CDEA168A}"/>
              </a:ext>
            </a:extLst>
          </p:cNvPr>
          <p:cNvCxnSpPr/>
          <p:nvPr/>
        </p:nvCxnSpPr>
        <p:spPr>
          <a:xfrm flipV="1">
            <a:off x="10185833" y="307999"/>
            <a:ext cx="585019" cy="9024"/>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76C5F57F-9A78-CD8A-68BD-DFD35CD3016E}"/>
              </a:ext>
            </a:extLst>
          </p:cNvPr>
          <p:cNvSpPr txBox="1"/>
          <p:nvPr/>
        </p:nvSpPr>
        <p:spPr>
          <a:xfrm>
            <a:off x="10881318" y="234115"/>
            <a:ext cx="1148413" cy="119957"/>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Data Flow (integration)</a:t>
            </a:r>
          </a:p>
        </p:txBody>
      </p:sp>
      <p:cxnSp>
        <p:nvCxnSpPr>
          <p:cNvPr id="29" name="Straight Arrow Connector 28">
            <a:extLst>
              <a:ext uri="{FF2B5EF4-FFF2-40B4-BE49-F238E27FC236}">
                <a16:creationId xmlns:a16="http://schemas.microsoft.com/office/drawing/2014/main" id="{584A0924-5A99-7744-34FD-852E73B9E49E}"/>
              </a:ext>
            </a:extLst>
          </p:cNvPr>
          <p:cNvCxnSpPr/>
          <p:nvPr/>
        </p:nvCxnSpPr>
        <p:spPr>
          <a:xfrm flipV="1">
            <a:off x="10185833" y="638894"/>
            <a:ext cx="585019" cy="9024"/>
          </a:xfrm>
          <a:prstGeom prst="straightConnector1">
            <a:avLst/>
          </a:prstGeom>
          <a:ln w="2540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C98A397-E37B-1F1D-2DD4-47BDB4E96FC0}"/>
              </a:ext>
            </a:extLst>
          </p:cNvPr>
          <p:cNvSpPr txBox="1"/>
          <p:nvPr/>
        </p:nvSpPr>
        <p:spPr>
          <a:xfrm>
            <a:off x="10881318" y="565010"/>
            <a:ext cx="1148413" cy="119957"/>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Data Flow (Manual)</a:t>
            </a:r>
          </a:p>
        </p:txBody>
      </p:sp>
      <p:sp>
        <p:nvSpPr>
          <p:cNvPr id="31" name="Rounded Rectangle 66">
            <a:extLst>
              <a:ext uri="{FF2B5EF4-FFF2-40B4-BE49-F238E27FC236}">
                <a16:creationId xmlns:a16="http://schemas.microsoft.com/office/drawing/2014/main" id="{622B69E2-4501-00E1-2019-276A6341D375}"/>
              </a:ext>
            </a:extLst>
          </p:cNvPr>
          <p:cNvSpPr/>
          <p:nvPr/>
        </p:nvSpPr>
        <p:spPr>
          <a:xfrm>
            <a:off x="8398330" y="281139"/>
            <a:ext cx="606124" cy="175421"/>
          </a:xfrm>
          <a:prstGeom prst="roundRect">
            <a:avLst/>
          </a:prstGeom>
          <a:solidFill>
            <a:schemeClr val="bg1">
              <a:lumMod val="50000"/>
            </a:schemeClr>
          </a:solidFill>
          <a:ln w="25400" cap="flat" cmpd="sng" algn="ctr">
            <a:noFill/>
            <a:prstDash val="solid"/>
          </a:ln>
          <a:effectLst/>
        </p:spPr>
        <p:txBody>
          <a:bodyPr lIns="0" tIns="0" rIns="0" rtlCol="0" anchor="t" anchorCtr="0"/>
          <a:lstStyle/>
          <a:p>
            <a:pPr algn="ctr"/>
            <a:endParaRPr lang="en-AU" sz="1000" b="1" kern="0">
              <a:solidFill>
                <a:srgbClr val="FFFFFF"/>
              </a:solidFill>
              <a:latin typeface="Calibri"/>
            </a:endParaRPr>
          </a:p>
        </p:txBody>
      </p:sp>
      <p:sp>
        <p:nvSpPr>
          <p:cNvPr id="32" name="TextBox 31">
            <a:extLst>
              <a:ext uri="{FF2B5EF4-FFF2-40B4-BE49-F238E27FC236}">
                <a16:creationId xmlns:a16="http://schemas.microsoft.com/office/drawing/2014/main" id="{7C3C921B-D61A-FC18-BA56-86ECB0698D25}"/>
              </a:ext>
            </a:extLst>
          </p:cNvPr>
          <p:cNvSpPr txBox="1"/>
          <p:nvPr/>
        </p:nvSpPr>
        <p:spPr>
          <a:xfrm>
            <a:off x="9021651" y="255947"/>
            <a:ext cx="673479" cy="131230"/>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Infrastructure component</a:t>
            </a:r>
          </a:p>
        </p:txBody>
      </p:sp>
      <p:sp>
        <p:nvSpPr>
          <p:cNvPr id="35" name="Rounded Rectangle 94">
            <a:extLst>
              <a:ext uri="{FF2B5EF4-FFF2-40B4-BE49-F238E27FC236}">
                <a16:creationId xmlns:a16="http://schemas.microsoft.com/office/drawing/2014/main" id="{93539811-EDD5-07CF-177D-C01382AB0D10}"/>
              </a:ext>
            </a:extLst>
          </p:cNvPr>
          <p:cNvSpPr/>
          <p:nvPr/>
        </p:nvSpPr>
        <p:spPr>
          <a:xfrm>
            <a:off x="8398330" y="525961"/>
            <a:ext cx="606124" cy="17542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endParaRPr lang="en-AU" sz="1200"/>
          </a:p>
        </p:txBody>
      </p:sp>
      <p:sp>
        <p:nvSpPr>
          <p:cNvPr id="36" name="TextBox 35">
            <a:extLst>
              <a:ext uri="{FF2B5EF4-FFF2-40B4-BE49-F238E27FC236}">
                <a16:creationId xmlns:a16="http://schemas.microsoft.com/office/drawing/2014/main" id="{892A4499-5D2E-17BC-D3A4-B65CC8E7CE53}"/>
              </a:ext>
            </a:extLst>
          </p:cNvPr>
          <p:cNvSpPr txBox="1"/>
          <p:nvPr/>
        </p:nvSpPr>
        <p:spPr>
          <a:xfrm>
            <a:off x="9030983" y="533676"/>
            <a:ext cx="1044384" cy="164763"/>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New / changed system</a:t>
            </a:r>
          </a:p>
        </p:txBody>
      </p:sp>
      <p:cxnSp>
        <p:nvCxnSpPr>
          <p:cNvPr id="37" name="Straight Arrow Connector 36">
            <a:extLst>
              <a:ext uri="{FF2B5EF4-FFF2-40B4-BE49-F238E27FC236}">
                <a16:creationId xmlns:a16="http://schemas.microsoft.com/office/drawing/2014/main" id="{41B68538-AAAB-F302-B052-4139FD983FCB}"/>
              </a:ext>
            </a:extLst>
          </p:cNvPr>
          <p:cNvCxnSpPr/>
          <p:nvPr/>
        </p:nvCxnSpPr>
        <p:spPr>
          <a:xfrm flipV="1">
            <a:off x="10187307" y="460399"/>
            <a:ext cx="585019" cy="9024"/>
          </a:xfrm>
          <a:prstGeom prst="straightConnector1">
            <a:avLst/>
          </a:prstGeom>
          <a:ln w="25400">
            <a:solidFill>
              <a:schemeClr val="accent3">
                <a:lumMod val="75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67090D2-462A-8CDB-209C-AE67FE542E4B}"/>
              </a:ext>
            </a:extLst>
          </p:cNvPr>
          <p:cNvSpPr txBox="1"/>
          <p:nvPr/>
        </p:nvSpPr>
        <p:spPr>
          <a:xfrm>
            <a:off x="10882792" y="386515"/>
            <a:ext cx="1148413" cy="119957"/>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New integration</a:t>
            </a:r>
          </a:p>
        </p:txBody>
      </p:sp>
      <p:sp>
        <p:nvSpPr>
          <p:cNvPr id="6" name="Rounded Rectangle 26">
            <a:extLst>
              <a:ext uri="{FF2B5EF4-FFF2-40B4-BE49-F238E27FC236}">
                <a16:creationId xmlns:a16="http://schemas.microsoft.com/office/drawing/2014/main" id="{90EAF603-5167-5E3F-305B-B886734C84B7}"/>
              </a:ext>
            </a:extLst>
          </p:cNvPr>
          <p:cNvSpPr/>
          <p:nvPr/>
        </p:nvSpPr>
        <p:spPr>
          <a:xfrm>
            <a:off x="5749914" y="4692716"/>
            <a:ext cx="942021" cy="32585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r>
              <a:rPr lang="en-AU" sz="1200" b="1" dirty="0"/>
              <a:t>API</a:t>
            </a:r>
            <a:endParaRPr lang="en-AU" sz="1200" b="1" dirty="0">
              <a:solidFill>
                <a:schemeClr val="lt1"/>
              </a:solidFill>
            </a:endParaRPr>
          </a:p>
        </p:txBody>
      </p:sp>
      <p:grpSp>
        <p:nvGrpSpPr>
          <p:cNvPr id="11" name="Group 10">
            <a:extLst>
              <a:ext uri="{FF2B5EF4-FFF2-40B4-BE49-F238E27FC236}">
                <a16:creationId xmlns:a16="http://schemas.microsoft.com/office/drawing/2014/main" id="{8D292966-FB43-CD5D-9570-57FA9FB496F8}"/>
              </a:ext>
            </a:extLst>
          </p:cNvPr>
          <p:cNvGrpSpPr/>
          <p:nvPr/>
        </p:nvGrpSpPr>
        <p:grpSpPr>
          <a:xfrm>
            <a:off x="6096000" y="1596111"/>
            <a:ext cx="1364219" cy="1307157"/>
            <a:chOff x="4155291" y="3289379"/>
            <a:chExt cx="878146" cy="607918"/>
          </a:xfrm>
        </p:grpSpPr>
        <p:sp>
          <p:nvSpPr>
            <p:cNvPr id="12" name="Rounded Rectangle 26">
              <a:extLst>
                <a:ext uri="{FF2B5EF4-FFF2-40B4-BE49-F238E27FC236}">
                  <a16:creationId xmlns:a16="http://schemas.microsoft.com/office/drawing/2014/main" id="{62C7D04C-2584-A77B-0E07-F9D5F05785E1}"/>
                </a:ext>
              </a:extLst>
            </p:cNvPr>
            <p:cNvSpPr/>
            <p:nvPr/>
          </p:nvSpPr>
          <p:spPr>
            <a:xfrm>
              <a:off x="4155291" y="3289379"/>
              <a:ext cx="878146" cy="607918"/>
            </a:xfrm>
            <a:prstGeom prst="roundRect">
              <a:avLst/>
            </a:prstGeom>
            <a:solidFill>
              <a:schemeClr val="bg1">
                <a:lumMod val="50000"/>
              </a:schemeClr>
            </a:solidFill>
            <a:ln w="25400" cap="flat" cmpd="sng" algn="ctr">
              <a:noFill/>
              <a:prstDash val="solid"/>
            </a:ln>
            <a:effectLst/>
          </p:spPr>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0" cap="none" spc="0" normalizeH="0" baseline="0" noProof="0" dirty="0">
                  <a:ln>
                    <a:noFill/>
                  </a:ln>
                  <a:solidFill>
                    <a:srgbClr val="FFFFFF"/>
                  </a:solidFill>
                  <a:effectLst/>
                  <a:uLnTx/>
                  <a:uFillTx/>
                  <a:latin typeface="Calibri"/>
                  <a:ea typeface="+mn-ea"/>
                  <a:cs typeface="+mn-cs"/>
                </a:rPr>
                <a:t>Smartphone</a:t>
              </a:r>
            </a:p>
          </p:txBody>
        </p:sp>
        <p:sp>
          <p:nvSpPr>
            <p:cNvPr id="41" name="Rounded Rectangle 26">
              <a:extLst>
                <a:ext uri="{FF2B5EF4-FFF2-40B4-BE49-F238E27FC236}">
                  <a16:creationId xmlns:a16="http://schemas.microsoft.com/office/drawing/2014/main" id="{2A23F8BC-8A24-8467-AA37-F3EAA8423454}"/>
                </a:ext>
              </a:extLst>
            </p:cNvPr>
            <p:cNvSpPr/>
            <p:nvPr/>
          </p:nvSpPr>
          <p:spPr>
            <a:xfrm>
              <a:off x="4279766" y="3406172"/>
              <a:ext cx="669326" cy="181735"/>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a:ln>
                    <a:noFill/>
                  </a:ln>
                  <a:solidFill>
                    <a:srgbClr val="FFFFFF"/>
                  </a:solidFill>
                  <a:effectLst/>
                  <a:uLnTx/>
                  <a:uFillTx/>
                  <a:latin typeface="Calibri"/>
                  <a:ea typeface="+mn-ea"/>
                  <a:cs typeface="+mn-cs"/>
                </a:rPr>
                <a:t>WTP Birdwatching App</a:t>
              </a:r>
            </a:p>
          </p:txBody>
        </p:sp>
      </p:grpSp>
      <p:cxnSp>
        <p:nvCxnSpPr>
          <p:cNvPr id="45" name="Elbow Connector 28">
            <a:extLst>
              <a:ext uri="{FF2B5EF4-FFF2-40B4-BE49-F238E27FC236}">
                <a16:creationId xmlns:a16="http://schemas.microsoft.com/office/drawing/2014/main" id="{FE0EB6A4-A625-2E77-23B9-6D545A0F1E86}"/>
              </a:ext>
            </a:extLst>
          </p:cNvPr>
          <p:cNvCxnSpPr>
            <a:cxnSpLocks/>
            <a:stCxn id="41" idx="3"/>
            <a:endCxn id="4" idx="0"/>
          </p:cNvCxnSpPr>
          <p:nvPr/>
        </p:nvCxnSpPr>
        <p:spPr>
          <a:xfrm flipH="1">
            <a:off x="6507332" y="2042627"/>
            <a:ext cx="821856" cy="1417946"/>
          </a:xfrm>
          <a:prstGeom prst="bentConnector4">
            <a:avLst>
              <a:gd name="adj1" fmla="val -27815"/>
              <a:gd name="adj2" fmla="val 70997"/>
            </a:avLst>
          </a:prstGeom>
          <a:ln w="28575">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54" name="Rounded Rectangle 26">
            <a:extLst>
              <a:ext uri="{FF2B5EF4-FFF2-40B4-BE49-F238E27FC236}">
                <a16:creationId xmlns:a16="http://schemas.microsoft.com/office/drawing/2014/main" id="{B193FD11-AE5D-D1EE-74C6-1329C99ABD0B}"/>
              </a:ext>
            </a:extLst>
          </p:cNvPr>
          <p:cNvSpPr/>
          <p:nvPr/>
        </p:nvSpPr>
        <p:spPr>
          <a:xfrm>
            <a:off x="4422710" y="4692716"/>
            <a:ext cx="942020" cy="32585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r>
              <a:rPr lang="en-AU" sz="1200" b="1" dirty="0"/>
              <a:t>Web App</a:t>
            </a:r>
            <a:endParaRPr lang="en-AU" sz="1200" b="1" dirty="0">
              <a:solidFill>
                <a:schemeClr val="lt1"/>
              </a:solidFill>
            </a:endParaRPr>
          </a:p>
        </p:txBody>
      </p:sp>
      <p:cxnSp>
        <p:nvCxnSpPr>
          <p:cNvPr id="55" name="Elbow Connector 28">
            <a:extLst>
              <a:ext uri="{FF2B5EF4-FFF2-40B4-BE49-F238E27FC236}">
                <a16:creationId xmlns:a16="http://schemas.microsoft.com/office/drawing/2014/main" id="{EE25586D-7E6E-D8A5-E37A-8D2AB559BA39}"/>
              </a:ext>
            </a:extLst>
          </p:cNvPr>
          <p:cNvCxnSpPr>
            <a:cxnSpLocks/>
            <a:stCxn id="101" idx="3"/>
            <a:endCxn id="54" idx="0"/>
          </p:cNvCxnSpPr>
          <p:nvPr/>
        </p:nvCxnSpPr>
        <p:spPr>
          <a:xfrm>
            <a:off x="3398478" y="2936308"/>
            <a:ext cx="1495242" cy="1756408"/>
          </a:xfrm>
          <a:prstGeom prst="bentConnector2">
            <a:avLst/>
          </a:prstGeom>
          <a:ln w="2540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28">
            <a:extLst>
              <a:ext uri="{FF2B5EF4-FFF2-40B4-BE49-F238E27FC236}">
                <a16:creationId xmlns:a16="http://schemas.microsoft.com/office/drawing/2014/main" id="{DBE5BE4B-704D-516C-6BFD-5B8F0DD74430}"/>
              </a:ext>
            </a:extLst>
          </p:cNvPr>
          <p:cNvCxnSpPr>
            <a:cxnSpLocks/>
            <a:stCxn id="6" idx="1"/>
            <a:endCxn id="54" idx="3"/>
          </p:cNvCxnSpPr>
          <p:nvPr/>
        </p:nvCxnSpPr>
        <p:spPr>
          <a:xfrm rot="10800000">
            <a:off x="5364730" y="4855642"/>
            <a:ext cx="385184" cy="1"/>
          </a:xfrm>
          <a:prstGeom prst="bentConnector3">
            <a:avLst>
              <a:gd name="adj1" fmla="val 50000"/>
            </a:avLst>
          </a:prstGeom>
          <a:ln w="28575">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67" name="Rounded Rectangle 26">
            <a:extLst>
              <a:ext uri="{FF2B5EF4-FFF2-40B4-BE49-F238E27FC236}">
                <a16:creationId xmlns:a16="http://schemas.microsoft.com/office/drawing/2014/main" id="{A8E4922D-BF95-FAA5-5EA8-2C9F697D2E2D}"/>
              </a:ext>
            </a:extLst>
          </p:cNvPr>
          <p:cNvSpPr/>
          <p:nvPr/>
        </p:nvSpPr>
        <p:spPr>
          <a:xfrm>
            <a:off x="2976034" y="6166883"/>
            <a:ext cx="1093402" cy="42627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FFFFFF"/>
                </a:solidFill>
                <a:effectLst/>
                <a:uLnTx/>
                <a:uFillTx/>
                <a:latin typeface="Calibri"/>
                <a:ea typeface="+mn-ea"/>
                <a:cs typeface="+mn-cs"/>
              </a:rPr>
              <a:t>Entra ID (Authentication)</a:t>
            </a:r>
          </a:p>
        </p:txBody>
      </p:sp>
      <p:cxnSp>
        <p:nvCxnSpPr>
          <p:cNvPr id="70" name="Elbow Connector 28">
            <a:extLst>
              <a:ext uri="{FF2B5EF4-FFF2-40B4-BE49-F238E27FC236}">
                <a16:creationId xmlns:a16="http://schemas.microsoft.com/office/drawing/2014/main" id="{8EC75169-55C4-1B37-C135-033F654C77F9}"/>
              </a:ext>
            </a:extLst>
          </p:cNvPr>
          <p:cNvCxnSpPr>
            <a:cxnSpLocks/>
            <a:stCxn id="67" idx="0"/>
            <a:endCxn id="54" idx="1"/>
          </p:cNvCxnSpPr>
          <p:nvPr/>
        </p:nvCxnSpPr>
        <p:spPr>
          <a:xfrm rot="5400000" flipH="1" flipV="1">
            <a:off x="3317101" y="5061275"/>
            <a:ext cx="1311242" cy="899975"/>
          </a:xfrm>
          <a:prstGeom prst="bentConnector2">
            <a:avLst/>
          </a:prstGeom>
          <a:ln w="28575">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89" name="Rounded Rectangle 26">
            <a:extLst>
              <a:ext uri="{FF2B5EF4-FFF2-40B4-BE49-F238E27FC236}">
                <a16:creationId xmlns:a16="http://schemas.microsoft.com/office/drawing/2014/main" id="{E4C5AA3E-D80E-67B5-8398-C35B0D533FEC}"/>
              </a:ext>
            </a:extLst>
          </p:cNvPr>
          <p:cNvSpPr/>
          <p:nvPr/>
        </p:nvSpPr>
        <p:spPr>
          <a:xfrm>
            <a:off x="5039153" y="6041036"/>
            <a:ext cx="926974" cy="171535"/>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a:ln>
                  <a:noFill/>
                </a:ln>
                <a:solidFill>
                  <a:srgbClr val="FFFFFF"/>
                </a:solidFill>
                <a:effectLst/>
                <a:uLnTx/>
                <a:uFillTx/>
                <a:latin typeface="Calibri"/>
                <a:ea typeface="+mn-ea"/>
                <a:cs typeface="+mn-cs"/>
              </a:rPr>
              <a:t>User auth DB</a:t>
            </a:r>
          </a:p>
        </p:txBody>
      </p:sp>
      <p:sp>
        <p:nvSpPr>
          <p:cNvPr id="90" name="Rounded Rectangle 26">
            <a:extLst>
              <a:ext uri="{FF2B5EF4-FFF2-40B4-BE49-F238E27FC236}">
                <a16:creationId xmlns:a16="http://schemas.microsoft.com/office/drawing/2014/main" id="{E1E1FC8E-B2CD-A374-8169-30B2FD78916E}"/>
              </a:ext>
            </a:extLst>
          </p:cNvPr>
          <p:cNvSpPr/>
          <p:nvPr/>
        </p:nvSpPr>
        <p:spPr>
          <a:xfrm>
            <a:off x="5039153" y="5807361"/>
            <a:ext cx="926974" cy="171535"/>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a:ln>
                  <a:noFill/>
                </a:ln>
                <a:solidFill>
                  <a:srgbClr val="FFFFFF"/>
                </a:solidFill>
                <a:effectLst/>
                <a:uLnTx/>
                <a:uFillTx/>
                <a:latin typeface="Calibri"/>
                <a:ea typeface="+mn-ea"/>
                <a:cs typeface="+mn-cs"/>
              </a:rPr>
              <a:t>Application data</a:t>
            </a:r>
          </a:p>
        </p:txBody>
      </p:sp>
      <p:sp>
        <p:nvSpPr>
          <p:cNvPr id="100" name="Rounded Rectangle 26">
            <a:extLst>
              <a:ext uri="{FF2B5EF4-FFF2-40B4-BE49-F238E27FC236}">
                <a16:creationId xmlns:a16="http://schemas.microsoft.com/office/drawing/2014/main" id="{BE179CC7-C19E-B31F-9F9E-B28016A5DF51}"/>
              </a:ext>
            </a:extLst>
          </p:cNvPr>
          <p:cNvSpPr/>
          <p:nvPr/>
        </p:nvSpPr>
        <p:spPr>
          <a:xfrm>
            <a:off x="1334607" y="1645750"/>
            <a:ext cx="1093402" cy="42627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FFFFFF"/>
                </a:solidFill>
                <a:effectLst/>
                <a:uLnTx/>
                <a:uFillTx/>
                <a:latin typeface="Calibri"/>
                <a:ea typeface="+mn-ea"/>
                <a:cs typeface="+mn-cs"/>
              </a:rPr>
              <a:t>BACID</a:t>
            </a:r>
          </a:p>
        </p:txBody>
      </p:sp>
      <p:sp>
        <p:nvSpPr>
          <p:cNvPr id="102" name="Rounded Rectangle 26">
            <a:extLst>
              <a:ext uri="{FF2B5EF4-FFF2-40B4-BE49-F238E27FC236}">
                <a16:creationId xmlns:a16="http://schemas.microsoft.com/office/drawing/2014/main" id="{30534F71-4FA5-7D17-ED93-F6384BE00A0F}"/>
              </a:ext>
            </a:extLst>
          </p:cNvPr>
          <p:cNvSpPr/>
          <p:nvPr/>
        </p:nvSpPr>
        <p:spPr>
          <a:xfrm>
            <a:off x="4541549" y="2153679"/>
            <a:ext cx="1093402" cy="42627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err="1">
                <a:ln>
                  <a:noFill/>
                </a:ln>
                <a:solidFill>
                  <a:srgbClr val="FFFFFF"/>
                </a:solidFill>
                <a:effectLst/>
                <a:uLnTx/>
                <a:uFillTx/>
                <a:latin typeface="Calibri"/>
                <a:ea typeface="+mn-ea"/>
                <a:cs typeface="+mn-cs"/>
              </a:rPr>
              <a:t>bluetooth</a:t>
            </a:r>
            <a:r>
              <a:rPr kumimoji="0" lang="en-AU" sz="1000" b="0" i="0" u="none" strike="noStrike" kern="1200" cap="none" spc="0" normalizeH="0" baseline="0" noProof="0" dirty="0">
                <a:ln>
                  <a:noFill/>
                </a:ln>
                <a:solidFill>
                  <a:srgbClr val="FFFFFF"/>
                </a:solidFill>
                <a:effectLst/>
                <a:uLnTx/>
                <a:uFillTx/>
                <a:latin typeface="Calibri"/>
                <a:ea typeface="+mn-ea"/>
                <a:cs typeface="+mn-cs"/>
              </a:rPr>
              <a:t>  gate lock</a:t>
            </a:r>
          </a:p>
        </p:txBody>
      </p:sp>
      <p:cxnSp>
        <p:nvCxnSpPr>
          <p:cNvPr id="104" name="Elbow Connector 28">
            <a:extLst>
              <a:ext uri="{FF2B5EF4-FFF2-40B4-BE49-F238E27FC236}">
                <a16:creationId xmlns:a16="http://schemas.microsoft.com/office/drawing/2014/main" id="{13A8716F-3CA4-298B-EBFF-B834A7E3424E}"/>
              </a:ext>
            </a:extLst>
          </p:cNvPr>
          <p:cNvCxnSpPr>
            <a:cxnSpLocks/>
            <a:stCxn id="102" idx="0"/>
            <a:endCxn id="100" idx="3"/>
          </p:cNvCxnSpPr>
          <p:nvPr/>
        </p:nvCxnSpPr>
        <p:spPr>
          <a:xfrm rot="16200000" flipV="1">
            <a:off x="3610733" y="676161"/>
            <a:ext cx="294794" cy="2660241"/>
          </a:xfrm>
          <a:prstGeom prst="bentConnector2">
            <a:avLst/>
          </a:prstGeom>
          <a:ln w="2540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13" name="Rounded Rectangle 26">
            <a:extLst>
              <a:ext uri="{FF2B5EF4-FFF2-40B4-BE49-F238E27FC236}">
                <a16:creationId xmlns:a16="http://schemas.microsoft.com/office/drawing/2014/main" id="{8DCB817F-1C80-C4FE-CD15-1AE97779B52D}"/>
              </a:ext>
            </a:extLst>
          </p:cNvPr>
          <p:cNvSpPr/>
          <p:nvPr/>
        </p:nvSpPr>
        <p:spPr>
          <a:xfrm>
            <a:off x="6290875" y="2424002"/>
            <a:ext cx="1038313" cy="38509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a:ln>
                  <a:noFill/>
                </a:ln>
                <a:solidFill>
                  <a:srgbClr val="FFFFFF"/>
                </a:solidFill>
                <a:effectLst/>
                <a:uLnTx/>
                <a:uFillTx/>
                <a:latin typeface="Calibri"/>
                <a:ea typeface="+mn-ea"/>
                <a:cs typeface="+mn-cs"/>
              </a:rPr>
              <a:t>Gallagher mobile app</a:t>
            </a:r>
          </a:p>
        </p:txBody>
      </p:sp>
      <p:sp>
        <p:nvSpPr>
          <p:cNvPr id="103" name="Lightning Bolt 102">
            <a:extLst>
              <a:ext uri="{FF2B5EF4-FFF2-40B4-BE49-F238E27FC236}">
                <a16:creationId xmlns:a16="http://schemas.microsoft.com/office/drawing/2014/main" id="{69F67ED9-5F8B-4CB0-0A48-550A0AAB514E}"/>
              </a:ext>
            </a:extLst>
          </p:cNvPr>
          <p:cNvSpPr/>
          <p:nvPr/>
        </p:nvSpPr>
        <p:spPr>
          <a:xfrm>
            <a:off x="5476466" y="2338124"/>
            <a:ext cx="887412" cy="352997"/>
          </a:xfrm>
          <a:prstGeom prst="lightningBolt">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9" name="Rounded Rectangle 26">
            <a:extLst>
              <a:ext uri="{FF2B5EF4-FFF2-40B4-BE49-F238E27FC236}">
                <a16:creationId xmlns:a16="http://schemas.microsoft.com/office/drawing/2014/main" id="{6755B489-FFA5-27FD-C233-97439D491C4C}"/>
              </a:ext>
            </a:extLst>
          </p:cNvPr>
          <p:cNvSpPr/>
          <p:nvPr/>
        </p:nvSpPr>
        <p:spPr>
          <a:xfrm>
            <a:off x="4176228" y="4576784"/>
            <a:ext cx="2764321" cy="1917321"/>
          </a:xfrm>
          <a:prstGeom prst="roundRect">
            <a:avLst>
              <a:gd name="adj" fmla="val 9264"/>
            </a:avLst>
          </a:prstGeom>
          <a:noFill/>
          <a:ln w="25400" cap="flat" cmpd="sng" algn="ctr">
            <a:solidFill>
              <a:schemeClr val="tx1"/>
            </a:solidFill>
            <a:prstDash val="sysDash"/>
          </a:ln>
          <a:effectLst/>
        </p:spPr>
        <p:txBody>
          <a:bodyPr lIns="0" tIns="0" rIns="0" bIns="0"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00" kern="0" dirty="0">
                <a:latin typeface="Calibri"/>
              </a:rPr>
              <a:t>WTP Birdwatching app backend</a:t>
            </a:r>
            <a:endParaRPr kumimoji="0" lang="en-AU" sz="1000" b="0" i="0" u="none" strike="noStrike" kern="0" cap="none" spc="0" normalizeH="0" baseline="0" noProof="0" dirty="0">
              <a:ln>
                <a:noFill/>
              </a:ln>
              <a:effectLst/>
              <a:uLnTx/>
              <a:uFillTx/>
              <a:latin typeface="Calibri"/>
              <a:ea typeface="+mn-ea"/>
              <a:cs typeface="+mn-cs"/>
            </a:endParaRPr>
          </a:p>
        </p:txBody>
      </p:sp>
      <p:cxnSp>
        <p:nvCxnSpPr>
          <p:cNvPr id="98" name="Straight Arrow Connector 51">
            <a:extLst>
              <a:ext uri="{FF2B5EF4-FFF2-40B4-BE49-F238E27FC236}">
                <a16:creationId xmlns:a16="http://schemas.microsoft.com/office/drawing/2014/main" id="{E891F3C1-CA01-77D3-D2C0-21B5D48DF185}"/>
              </a:ext>
            </a:extLst>
          </p:cNvPr>
          <p:cNvCxnSpPr>
            <a:cxnSpLocks/>
            <a:stCxn id="101" idx="1"/>
            <a:endCxn id="20" idx="3"/>
          </p:cNvCxnSpPr>
          <p:nvPr/>
        </p:nvCxnSpPr>
        <p:spPr>
          <a:xfrm rot="10800000" flipV="1">
            <a:off x="1794055" y="2936307"/>
            <a:ext cx="1031224" cy="1054125"/>
          </a:xfrm>
          <a:prstGeom prst="bentConnector3">
            <a:avLst>
              <a:gd name="adj1" fmla="val 50000"/>
            </a:avLst>
          </a:prstGeom>
          <a:ln w="2540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2" name="Straight Arrow Connector 64">
            <a:extLst>
              <a:ext uri="{FF2B5EF4-FFF2-40B4-BE49-F238E27FC236}">
                <a16:creationId xmlns:a16="http://schemas.microsoft.com/office/drawing/2014/main" id="{DD9DF042-75EA-8DA3-ADA5-8F1D12FCD704}"/>
              </a:ext>
            </a:extLst>
          </p:cNvPr>
          <p:cNvCxnSpPr>
            <a:cxnSpLocks/>
            <a:stCxn id="61" idx="0"/>
            <a:endCxn id="100" idx="1"/>
          </p:cNvCxnSpPr>
          <p:nvPr/>
        </p:nvCxnSpPr>
        <p:spPr>
          <a:xfrm rot="5400000" flipH="1" flipV="1">
            <a:off x="842689" y="1753119"/>
            <a:ext cx="386152" cy="597684"/>
          </a:xfrm>
          <a:prstGeom prst="bentConnector2">
            <a:avLst/>
          </a:prstGeom>
          <a:ln w="2540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90" name="Speech Bubble: Rectangle with Corners Rounded 189">
            <a:extLst>
              <a:ext uri="{FF2B5EF4-FFF2-40B4-BE49-F238E27FC236}">
                <a16:creationId xmlns:a16="http://schemas.microsoft.com/office/drawing/2014/main" id="{E53717B4-1BE6-900E-D7B2-FF3957139B5E}"/>
              </a:ext>
            </a:extLst>
          </p:cNvPr>
          <p:cNvSpPr/>
          <p:nvPr/>
        </p:nvSpPr>
        <p:spPr>
          <a:xfrm>
            <a:off x="9529317" y="2013084"/>
            <a:ext cx="2059626" cy="410918"/>
          </a:xfrm>
          <a:prstGeom prst="wedgeRoundRectCallout">
            <a:avLst>
              <a:gd name="adj1" fmla="val -139936"/>
              <a:gd name="adj2" fmla="val -32883"/>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50" i="1" kern="0" dirty="0">
                <a:solidFill>
                  <a:srgbClr val="231F20"/>
                </a:solidFill>
                <a:latin typeface="Verdana"/>
              </a:rPr>
              <a:t>Mobile app (Android and IOS versions)</a:t>
            </a:r>
            <a:endParaRPr kumimoji="0" lang="en-AU" sz="1050" b="0" i="1" u="none" strike="noStrike" kern="0" cap="none" spc="0" normalizeH="0" baseline="0" noProof="0" dirty="0">
              <a:ln>
                <a:noFill/>
              </a:ln>
              <a:solidFill>
                <a:srgbClr val="231F20"/>
              </a:solidFill>
              <a:effectLst/>
              <a:uLnTx/>
              <a:uFillTx/>
              <a:latin typeface="Verdana"/>
              <a:ea typeface="+mn-ea"/>
              <a:cs typeface="+mn-cs"/>
            </a:endParaRPr>
          </a:p>
        </p:txBody>
      </p:sp>
      <p:sp>
        <p:nvSpPr>
          <p:cNvPr id="191" name="Speech Bubble: Rectangle with Corners Rounded 190">
            <a:extLst>
              <a:ext uri="{FF2B5EF4-FFF2-40B4-BE49-F238E27FC236}">
                <a16:creationId xmlns:a16="http://schemas.microsoft.com/office/drawing/2014/main" id="{9442DF25-3234-B108-091D-448060DADEA0}"/>
              </a:ext>
            </a:extLst>
          </p:cNvPr>
          <p:cNvSpPr/>
          <p:nvPr/>
        </p:nvSpPr>
        <p:spPr>
          <a:xfrm>
            <a:off x="9553175" y="2511308"/>
            <a:ext cx="2059626" cy="410918"/>
          </a:xfrm>
          <a:prstGeom prst="wedgeRoundRectCallout">
            <a:avLst>
              <a:gd name="adj1" fmla="val -152422"/>
              <a:gd name="adj2" fmla="val -49109"/>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50" i="1" kern="0" dirty="0">
                <a:solidFill>
                  <a:srgbClr val="231F20"/>
                </a:solidFill>
                <a:latin typeface="Verdana"/>
              </a:rPr>
              <a:t>Gallagher app to allow use of </a:t>
            </a:r>
            <a:r>
              <a:rPr lang="en-AU" sz="1050" i="1" kern="0" dirty="0" err="1">
                <a:solidFill>
                  <a:srgbClr val="231F20"/>
                </a:solidFill>
                <a:latin typeface="Verdana"/>
              </a:rPr>
              <a:t>bluetooth</a:t>
            </a:r>
            <a:r>
              <a:rPr lang="en-AU" sz="1050" i="1" kern="0" dirty="0">
                <a:solidFill>
                  <a:srgbClr val="231F20"/>
                </a:solidFill>
                <a:latin typeface="Verdana"/>
              </a:rPr>
              <a:t> locks</a:t>
            </a:r>
            <a:endParaRPr kumimoji="0" lang="en-AU" sz="1050" b="0" i="1" u="none" strike="noStrike" kern="0" cap="none" spc="0" normalizeH="0" baseline="0" noProof="0" dirty="0">
              <a:ln>
                <a:noFill/>
              </a:ln>
              <a:solidFill>
                <a:srgbClr val="231F20"/>
              </a:solidFill>
              <a:effectLst/>
              <a:uLnTx/>
              <a:uFillTx/>
              <a:latin typeface="Verdana"/>
              <a:ea typeface="+mn-ea"/>
              <a:cs typeface="+mn-cs"/>
            </a:endParaRPr>
          </a:p>
        </p:txBody>
      </p:sp>
      <p:sp>
        <p:nvSpPr>
          <p:cNvPr id="192" name="Speech Bubble: Rectangle with Corners Rounded 191">
            <a:extLst>
              <a:ext uri="{FF2B5EF4-FFF2-40B4-BE49-F238E27FC236}">
                <a16:creationId xmlns:a16="http://schemas.microsoft.com/office/drawing/2014/main" id="{4B924B56-7335-AEDE-B402-CB886575CBB4}"/>
              </a:ext>
            </a:extLst>
          </p:cNvPr>
          <p:cNvSpPr/>
          <p:nvPr/>
        </p:nvSpPr>
        <p:spPr>
          <a:xfrm>
            <a:off x="9358390" y="4381753"/>
            <a:ext cx="2059626" cy="410918"/>
          </a:xfrm>
          <a:prstGeom prst="wedgeRoundRectCallout">
            <a:avLst>
              <a:gd name="adj1" fmla="val -171383"/>
              <a:gd name="adj2" fmla="val 36656"/>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50" i="1" kern="0" dirty="0">
                <a:solidFill>
                  <a:srgbClr val="231F20"/>
                </a:solidFill>
                <a:latin typeface="Verdana"/>
              </a:rPr>
              <a:t>Back-end application</a:t>
            </a:r>
            <a:endParaRPr kumimoji="0" lang="en-AU" sz="1050" b="0" i="1" u="none" strike="noStrike" kern="0" cap="none" spc="0" normalizeH="0" baseline="0" noProof="0" dirty="0">
              <a:ln>
                <a:noFill/>
              </a:ln>
              <a:solidFill>
                <a:srgbClr val="231F20"/>
              </a:solidFill>
              <a:effectLst/>
              <a:uLnTx/>
              <a:uFillTx/>
              <a:latin typeface="Verdana"/>
              <a:ea typeface="+mn-ea"/>
              <a:cs typeface="+mn-cs"/>
            </a:endParaRPr>
          </a:p>
        </p:txBody>
      </p:sp>
      <p:sp>
        <p:nvSpPr>
          <p:cNvPr id="193" name="Speech Bubble: Rectangle with Corners Rounded 192">
            <a:extLst>
              <a:ext uri="{FF2B5EF4-FFF2-40B4-BE49-F238E27FC236}">
                <a16:creationId xmlns:a16="http://schemas.microsoft.com/office/drawing/2014/main" id="{C024C5F0-3DE9-A2A9-44DF-4F3679F364D9}"/>
              </a:ext>
            </a:extLst>
          </p:cNvPr>
          <p:cNvSpPr/>
          <p:nvPr/>
        </p:nvSpPr>
        <p:spPr>
          <a:xfrm>
            <a:off x="534204" y="4892428"/>
            <a:ext cx="2059626" cy="410918"/>
          </a:xfrm>
          <a:prstGeom prst="wedgeRoundRectCallout">
            <a:avLst>
              <a:gd name="adj1" fmla="val 80196"/>
              <a:gd name="adj2" fmla="val 247593"/>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50" b="0" i="1" u="none" strike="noStrike" kern="0" cap="none" spc="0" normalizeH="0" baseline="0" noProof="0" dirty="0">
                <a:ln>
                  <a:noFill/>
                </a:ln>
                <a:solidFill>
                  <a:srgbClr val="231F20"/>
                </a:solidFill>
                <a:effectLst/>
                <a:uLnTx/>
                <a:uFillTx/>
                <a:latin typeface="Verdana"/>
                <a:ea typeface="+mn-ea"/>
                <a:cs typeface="+mn-cs"/>
              </a:rPr>
              <a:t>MW users are authenticated by Entra ID</a:t>
            </a:r>
          </a:p>
        </p:txBody>
      </p:sp>
      <p:sp>
        <p:nvSpPr>
          <p:cNvPr id="194" name="Speech Bubble: Rectangle with Corners Rounded 193">
            <a:extLst>
              <a:ext uri="{FF2B5EF4-FFF2-40B4-BE49-F238E27FC236}">
                <a16:creationId xmlns:a16="http://schemas.microsoft.com/office/drawing/2014/main" id="{1D2D7A70-6E0C-FA7A-F2FD-5208D02B2875}"/>
              </a:ext>
            </a:extLst>
          </p:cNvPr>
          <p:cNvSpPr/>
          <p:nvPr/>
        </p:nvSpPr>
        <p:spPr>
          <a:xfrm>
            <a:off x="7878172" y="5261887"/>
            <a:ext cx="2059626" cy="545473"/>
          </a:xfrm>
          <a:prstGeom prst="wedgeRoundRectCallout">
            <a:avLst>
              <a:gd name="adj1" fmla="val -140861"/>
              <a:gd name="adj2" fmla="val 101886"/>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50" b="0" i="1" u="none" strike="noStrike" kern="0" cap="none" spc="0" normalizeH="0" baseline="0" noProof="0" dirty="0">
                <a:ln>
                  <a:noFill/>
                </a:ln>
                <a:solidFill>
                  <a:srgbClr val="231F20"/>
                </a:solidFill>
                <a:effectLst/>
                <a:uLnTx/>
                <a:uFillTx/>
                <a:latin typeface="Verdana"/>
                <a:ea typeface="+mn-ea"/>
                <a:cs typeface="+mn-cs"/>
              </a:rPr>
              <a:t>Public birdwatcher users are authenticated against user accounts in SQL table</a:t>
            </a:r>
          </a:p>
        </p:txBody>
      </p:sp>
      <p:sp>
        <p:nvSpPr>
          <p:cNvPr id="3" name="Rounded Rectangle 26">
            <a:extLst>
              <a:ext uri="{FF2B5EF4-FFF2-40B4-BE49-F238E27FC236}">
                <a16:creationId xmlns:a16="http://schemas.microsoft.com/office/drawing/2014/main" id="{406416E4-A245-EBAA-0BC5-8460438FCBEB}"/>
              </a:ext>
            </a:extLst>
          </p:cNvPr>
          <p:cNvSpPr/>
          <p:nvPr/>
        </p:nvSpPr>
        <p:spPr>
          <a:xfrm>
            <a:off x="6482335" y="4104870"/>
            <a:ext cx="942021" cy="19579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r>
              <a:rPr lang="en-AU" sz="1000" dirty="0" err="1">
                <a:solidFill>
                  <a:srgbClr val="FFFFFF"/>
                </a:solidFill>
                <a:latin typeface="Calibri"/>
              </a:rPr>
              <a:t>apim</a:t>
            </a:r>
            <a:endParaRPr lang="en-AU" sz="1000" dirty="0">
              <a:solidFill>
                <a:srgbClr val="FFFFFF"/>
              </a:solidFill>
              <a:latin typeface="Calibri"/>
            </a:endParaRPr>
          </a:p>
        </p:txBody>
      </p:sp>
      <p:sp>
        <p:nvSpPr>
          <p:cNvPr id="4" name="Rounded Rectangle 26">
            <a:extLst>
              <a:ext uri="{FF2B5EF4-FFF2-40B4-BE49-F238E27FC236}">
                <a16:creationId xmlns:a16="http://schemas.microsoft.com/office/drawing/2014/main" id="{129D38BC-D4BC-6829-2EDE-9DB571770D2E}"/>
              </a:ext>
            </a:extLst>
          </p:cNvPr>
          <p:cNvSpPr/>
          <p:nvPr/>
        </p:nvSpPr>
        <p:spPr>
          <a:xfrm>
            <a:off x="5125171" y="3460573"/>
            <a:ext cx="2764321" cy="25859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r>
              <a:rPr lang="en-AU" sz="1200" b="1" dirty="0"/>
              <a:t>Azure edge security</a:t>
            </a:r>
            <a:endParaRPr lang="en-AU" sz="1200" b="1" dirty="0">
              <a:solidFill>
                <a:schemeClr val="lt1"/>
              </a:solidFill>
            </a:endParaRPr>
          </a:p>
        </p:txBody>
      </p:sp>
      <p:cxnSp>
        <p:nvCxnSpPr>
          <p:cNvPr id="8" name="Elbow Connector 28">
            <a:extLst>
              <a:ext uri="{FF2B5EF4-FFF2-40B4-BE49-F238E27FC236}">
                <a16:creationId xmlns:a16="http://schemas.microsoft.com/office/drawing/2014/main" id="{CC5E92EE-D5D1-A468-5CB1-86241E2E2225}"/>
              </a:ext>
            </a:extLst>
          </p:cNvPr>
          <p:cNvCxnSpPr>
            <a:cxnSpLocks/>
            <a:stCxn id="4" idx="2"/>
            <a:endCxn id="3" idx="0"/>
          </p:cNvCxnSpPr>
          <p:nvPr/>
        </p:nvCxnSpPr>
        <p:spPr>
          <a:xfrm rot="16200000" flipH="1">
            <a:off x="6537486" y="3689010"/>
            <a:ext cx="385706" cy="446014"/>
          </a:xfrm>
          <a:prstGeom prst="bentConnector3">
            <a:avLst>
              <a:gd name="adj1" fmla="val 50000"/>
            </a:avLst>
          </a:prstGeom>
          <a:ln w="28575">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9" name="Elbow Connector 28">
            <a:extLst>
              <a:ext uri="{FF2B5EF4-FFF2-40B4-BE49-F238E27FC236}">
                <a16:creationId xmlns:a16="http://schemas.microsoft.com/office/drawing/2014/main" id="{CE6A4317-758C-1AFC-6A2A-89A0C9473701}"/>
              </a:ext>
            </a:extLst>
          </p:cNvPr>
          <p:cNvCxnSpPr>
            <a:cxnSpLocks/>
            <a:stCxn id="3" idx="2"/>
            <a:endCxn id="6" idx="0"/>
          </p:cNvCxnSpPr>
          <p:nvPr/>
        </p:nvCxnSpPr>
        <p:spPr>
          <a:xfrm rot="5400000">
            <a:off x="6391111" y="4130480"/>
            <a:ext cx="392051" cy="732421"/>
          </a:xfrm>
          <a:prstGeom prst="bentConnector3">
            <a:avLst>
              <a:gd name="adj1" fmla="val 50000"/>
            </a:avLst>
          </a:prstGeom>
          <a:ln w="28575">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52" name="Speech Bubble: Rectangle with Corners Rounded 51">
            <a:extLst>
              <a:ext uri="{FF2B5EF4-FFF2-40B4-BE49-F238E27FC236}">
                <a16:creationId xmlns:a16="http://schemas.microsoft.com/office/drawing/2014/main" id="{25E7B265-A393-D552-9DC5-2DE39D88577C}"/>
              </a:ext>
            </a:extLst>
          </p:cNvPr>
          <p:cNvSpPr/>
          <p:nvPr/>
        </p:nvSpPr>
        <p:spPr>
          <a:xfrm>
            <a:off x="9553175" y="2986986"/>
            <a:ext cx="2059626" cy="410918"/>
          </a:xfrm>
          <a:prstGeom prst="wedgeRoundRectCallout">
            <a:avLst>
              <a:gd name="adj1" fmla="val -145948"/>
              <a:gd name="adj2" fmla="val 96924"/>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50" i="1" kern="0" dirty="0">
                <a:solidFill>
                  <a:srgbClr val="231F20"/>
                </a:solidFill>
                <a:latin typeface="Verdana"/>
              </a:rPr>
              <a:t>Note Azure edge security doesn’t exist yet</a:t>
            </a:r>
            <a:endParaRPr kumimoji="0" lang="en-AU" sz="1050" b="0" i="1" u="none" strike="noStrike" kern="0" cap="none" spc="0" normalizeH="0" baseline="0" noProof="0" dirty="0">
              <a:ln>
                <a:noFill/>
              </a:ln>
              <a:solidFill>
                <a:srgbClr val="231F20"/>
              </a:solidFill>
              <a:effectLst/>
              <a:uLnTx/>
              <a:uFillTx/>
              <a:latin typeface="Verdana"/>
              <a:ea typeface="+mn-ea"/>
              <a:cs typeface="+mn-cs"/>
            </a:endParaRPr>
          </a:p>
        </p:txBody>
      </p:sp>
    </p:spTree>
    <p:extLst>
      <p:ext uri="{BB962C8B-B14F-4D97-AF65-F5344CB8AC3E}">
        <p14:creationId xmlns:p14="http://schemas.microsoft.com/office/powerpoint/2010/main" val="2254403482"/>
      </p:ext>
    </p:extLst>
  </p:cSld>
  <p:clrMapOvr>
    <a:masterClrMapping/>
  </p:clrMapOvr>
  <p:transition spd="slow">
    <p:wipe dir="r"/>
  </p:transition>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0176D1CB-52A9-A67C-B248-5F250047DB56}"/>
            </a:ext>
          </a:extLst>
        </p:cNvPr>
        <p:cNvGrpSpPr/>
        <p:nvPr/>
      </p:nvGrpSpPr>
      <p:grpSpPr>
        <a:xfrm>
          <a:off x="0" y="0"/>
          <a:ext cx="0" cy="0"/>
          <a:chOff x="0" y="0"/>
          <a:chExt cx="0" cy="0"/>
        </a:xfrm>
      </p:grpSpPr>
      <p:sp>
        <p:nvSpPr>
          <p:cNvPr id="24" name="Rounded Rectangle 23">
            <a:extLst>
              <a:ext uri="{FF2B5EF4-FFF2-40B4-BE49-F238E27FC236}">
                <a16:creationId xmlns:a16="http://schemas.microsoft.com/office/drawing/2014/main" id="{3A67C781-D6D7-1764-7D0C-DFDB1D960E1D}"/>
              </a:ext>
            </a:extLst>
          </p:cNvPr>
          <p:cNvSpPr/>
          <p:nvPr/>
        </p:nvSpPr>
        <p:spPr>
          <a:xfrm>
            <a:off x="3611532" y="1143003"/>
            <a:ext cx="8143232" cy="2344966"/>
          </a:xfrm>
          <a:prstGeom prst="roundRect">
            <a:avLst>
              <a:gd name="adj" fmla="val 5162"/>
            </a:avLst>
          </a:prstGeom>
          <a:no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FFFFFF">
                    <a:lumMod val="65000"/>
                  </a:srgbClr>
                </a:solidFill>
                <a:effectLst/>
                <a:uLnTx/>
                <a:uFillTx/>
                <a:latin typeface="Calibri"/>
                <a:ea typeface="+mn-ea"/>
                <a:cs typeface="+mn-cs"/>
              </a:rPr>
              <a:t>Internet</a:t>
            </a:r>
          </a:p>
        </p:txBody>
      </p:sp>
      <p:sp>
        <p:nvSpPr>
          <p:cNvPr id="2" name="Title 1">
            <a:extLst>
              <a:ext uri="{FF2B5EF4-FFF2-40B4-BE49-F238E27FC236}">
                <a16:creationId xmlns:a16="http://schemas.microsoft.com/office/drawing/2014/main" id="{E39C46C9-1890-726E-E020-C1FFA50DA0D7}"/>
              </a:ext>
            </a:extLst>
          </p:cNvPr>
          <p:cNvSpPr>
            <a:spLocks noGrp="1"/>
          </p:cNvSpPr>
          <p:nvPr>
            <p:ph type="title"/>
          </p:nvPr>
        </p:nvSpPr>
        <p:spPr>
          <a:xfrm>
            <a:off x="423413" y="0"/>
            <a:ext cx="4356997" cy="768171"/>
          </a:xfrm>
        </p:spPr>
        <p:txBody>
          <a:bodyPr/>
          <a:lstStyle/>
          <a:p>
            <a:r>
              <a:rPr lang="en-AU" sz="2000" dirty="0">
                <a:latin typeface="Verdana"/>
                <a:ea typeface="Verdana"/>
              </a:rPr>
              <a:t>Target State – Systems landscape</a:t>
            </a:r>
            <a:br>
              <a:rPr lang="en-AU" sz="2000" dirty="0">
                <a:latin typeface="Verdana"/>
                <a:ea typeface="Verdana"/>
              </a:rPr>
            </a:br>
            <a:r>
              <a:rPr lang="en-AU" sz="2000" dirty="0">
                <a:latin typeface="Verdana"/>
                <a:ea typeface="Verdana"/>
              </a:rPr>
              <a:t>Alternative network path</a:t>
            </a:r>
            <a:endParaRPr lang="en-AU" sz="2000" dirty="0"/>
          </a:p>
        </p:txBody>
      </p:sp>
      <p:sp>
        <p:nvSpPr>
          <p:cNvPr id="22" name="Rounded Rectangle 21">
            <a:extLst>
              <a:ext uri="{FF2B5EF4-FFF2-40B4-BE49-F238E27FC236}">
                <a16:creationId xmlns:a16="http://schemas.microsoft.com/office/drawing/2014/main" id="{63B9F2C7-0964-63B4-B068-2C257E676011}"/>
              </a:ext>
            </a:extLst>
          </p:cNvPr>
          <p:cNvSpPr/>
          <p:nvPr/>
        </p:nvSpPr>
        <p:spPr>
          <a:xfrm>
            <a:off x="324605" y="1127052"/>
            <a:ext cx="2269472" cy="5615715"/>
          </a:xfrm>
          <a:prstGeom prst="roundRect">
            <a:avLst>
              <a:gd name="adj" fmla="val 3829"/>
            </a:avLst>
          </a:prstGeom>
          <a:no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FFFFFF">
                    <a:lumMod val="65000"/>
                  </a:srgbClr>
                </a:solidFill>
                <a:effectLst/>
                <a:uLnTx/>
                <a:uFillTx/>
                <a:latin typeface="Calibri"/>
                <a:ea typeface="+mn-ea"/>
                <a:cs typeface="+mn-cs"/>
              </a:rPr>
              <a:t>Melbourne Water internal network</a:t>
            </a:r>
          </a:p>
        </p:txBody>
      </p:sp>
      <p:sp>
        <p:nvSpPr>
          <p:cNvPr id="23" name="Rounded Rectangle 22">
            <a:extLst>
              <a:ext uri="{FF2B5EF4-FFF2-40B4-BE49-F238E27FC236}">
                <a16:creationId xmlns:a16="http://schemas.microsoft.com/office/drawing/2014/main" id="{2F766DBB-9E7C-8A41-4087-C4E1A01027F1}"/>
              </a:ext>
            </a:extLst>
          </p:cNvPr>
          <p:cNvSpPr/>
          <p:nvPr/>
        </p:nvSpPr>
        <p:spPr>
          <a:xfrm>
            <a:off x="2593830" y="1127052"/>
            <a:ext cx="1017702" cy="2344967"/>
          </a:xfrm>
          <a:prstGeom prst="roundRect">
            <a:avLst>
              <a:gd name="adj" fmla="val 11640"/>
            </a:avLst>
          </a:prstGeom>
          <a:no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FFFFFF">
                    <a:lumMod val="65000"/>
                  </a:srgbClr>
                </a:solidFill>
                <a:effectLst/>
                <a:uLnTx/>
                <a:uFillTx/>
                <a:latin typeface="Calibri"/>
                <a:ea typeface="+mn-ea"/>
                <a:cs typeface="+mn-cs"/>
              </a:rPr>
              <a:t>DMZ</a:t>
            </a:r>
          </a:p>
        </p:txBody>
      </p:sp>
      <p:sp>
        <p:nvSpPr>
          <p:cNvPr id="25" name="Rounded Rectangle 24">
            <a:extLst>
              <a:ext uri="{FF2B5EF4-FFF2-40B4-BE49-F238E27FC236}">
                <a16:creationId xmlns:a16="http://schemas.microsoft.com/office/drawing/2014/main" id="{3C214602-BB31-2AF6-86FB-0A2D2C54D35F}"/>
              </a:ext>
            </a:extLst>
          </p:cNvPr>
          <p:cNvSpPr/>
          <p:nvPr/>
        </p:nvSpPr>
        <p:spPr>
          <a:xfrm>
            <a:off x="2593830" y="3497726"/>
            <a:ext cx="9160934" cy="3260990"/>
          </a:xfrm>
          <a:prstGeom prst="roundRect">
            <a:avLst>
              <a:gd name="adj" fmla="val 6395"/>
            </a:avLst>
          </a:prstGeom>
          <a:solidFill>
            <a:schemeClr val="accent1">
              <a:lumMod val="20000"/>
              <a:lumOff val="80000"/>
            </a:schemeClr>
          </a:solid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1"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FFFFFF">
                    <a:lumMod val="65000"/>
                  </a:srgbClr>
                </a:solidFill>
                <a:effectLst/>
                <a:uLnTx/>
                <a:uFillTx/>
                <a:latin typeface="Calibri"/>
                <a:ea typeface="+mn-ea"/>
                <a:cs typeface="+mn-cs"/>
              </a:rPr>
              <a:t>MW Azure tenancy</a:t>
            </a:r>
          </a:p>
        </p:txBody>
      </p:sp>
      <p:sp>
        <p:nvSpPr>
          <p:cNvPr id="13" name="Rounded Rectangle 26">
            <a:extLst>
              <a:ext uri="{FF2B5EF4-FFF2-40B4-BE49-F238E27FC236}">
                <a16:creationId xmlns:a16="http://schemas.microsoft.com/office/drawing/2014/main" id="{8A155C35-E982-B94C-6275-51AA9611555B}"/>
              </a:ext>
            </a:extLst>
          </p:cNvPr>
          <p:cNvSpPr/>
          <p:nvPr/>
        </p:nvSpPr>
        <p:spPr>
          <a:xfrm>
            <a:off x="4688856" y="5384389"/>
            <a:ext cx="1627569" cy="906974"/>
          </a:xfrm>
          <a:prstGeom prst="roundRect">
            <a:avLst>
              <a:gd name="adj" fmla="val 1246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r>
              <a:rPr lang="en-AU" sz="1200" b="1" dirty="0">
                <a:solidFill>
                  <a:schemeClr val="lt1"/>
                </a:solidFill>
              </a:rPr>
              <a:t>MySQL</a:t>
            </a:r>
          </a:p>
          <a:p>
            <a:pPr algn="ctr"/>
            <a:r>
              <a:rPr lang="en-AU" sz="1200" dirty="0">
                <a:solidFill>
                  <a:schemeClr val="lt1"/>
                </a:solidFill>
              </a:rPr>
              <a:t>Birdwatching database</a:t>
            </a:r>
          </a:p>
          <a:p>
            <a:pPr algn="ctr"/>
            <a:endParaRPr lang="en-AU" sz="1200" dirty="0">
              <a:solidFill>
                <a:schemeClr val="lt1"/>
              </a:solidFill>
            </a:endParaRPr>
          </a:p>
        </p:txBody>
      </p:sp>
      <p:grpSp>
        <p:nvGrpSpPr>
          <p:cNvPr id="63" name="Group 62">
            <a:extLst>
              <a:ext uri="{FF2B5EF4-FFF2-40B4-BE49-F238E27FC236}">
                <a16:creationId xmlns:a16="http://schemas.microsoft.com/office/drawing/2014/main" id="{EFE554C9-1104-2BE9-9057-022A86FAB61B}"/>
              </a:ext>
            </a:extLst>
          </p:cNvPr>
          <p:cNvGrpSpPr/>
          <p:nvPr/>
        </p:nvGrpSpPr>
        <p:grpSpPr>
          <a:xfrm>
            <a:off x="374768" y="3116994"/>
            <a:ext cx="771162" cy="741949"/>
            <a:chOff x="524693" y="1685602"/>
            <a:chExt cx="771162" cy="741949"/>
          </a:xfrm>
        </p:grpSpPr>
        <p:pic>
          <p:nvPicPr>
            <p:cNvPr id="61" name="Picture 60">
              <a:extLst>
                <a:ext uri="{FF2B5EF4-FFF2-40B4-BE49-F238E27FC236}">
                  <a16:creationId xmlns:a16="http://schemas.microsoft.com/office/drawing/2014/main" id="{35145C16-C66A-F7D2-6A98-E3D1540F2E1F}"/>
                </a:ext>
              </a:extLst>
            </p:cNvPr>
            <p:cNvPicPr>
              <a:picLocks noChangeAspect="1"/>
            </p:cNvPicPr>
            <p:nvPr/>
          </p:nvPicPr>
          <p:blipFill>
            <a:blip r:embed="rId2"/>
            <a:stretch>
              <a:fillRect/>
            </a:stretch>
          </p:blipFill>
          <p:spPr>
            <a:xfrm>
              <a:off x="701836" y="1685602"/>
              <a:ext cx="291780" cy="555959"/>
            </a:xfrm>
            <a:prstGeom prst="rect">
              <a:avLst/>
            </a:prstGeom>
          </p:spPr>
        </p:pic>
        <p:sp>
          <p:nvSpPr>
            <p:cNvPr id="62" name="TextBox 61">
              <a:extLst>
                <a:ext uri="{FF2B5EF4-FFF2-40B4-BE49-F238E27FC236}">
                  <a16:creationId xmlns:a16="http://schemas.microsoft.com/office/drawing/2014/main" id="{14696BCB-451E-EE2E-2A16-5ED6C3BA60A3}"/>
                </a:ext>
              </a:extLst>
            </p:cNvPr>
            <p:cNvSpPr txBox="1"/>
            <p:nvPr/>
          </p:nvSpPr>
          <p:spPr>
            <a:xfrm>
              <a:off x="524693" y="2217375"/>
              <a:ext cx="771162" cy="210176"/>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900"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Site operator</a:t>
              </a:r>
            </a:p>
          </p:txBody>
        </p:sp>
      </p:grpSp>
      <p:cxnSp>
        <p:nvCxnSpPr>
          <p:cNvPr id="65" name="Straight Arrow Connector 64">
            <a:extLst>
              <a:ext uri="{FF2B5EF4-FFF2-40B4-BE49-F238E27FC236}">
                <a16:creationId xmlns:a16="http://schemas.microsoft.com/office/drawing/2014/main" id="{BAAA0C76-C3A9-0330-E685-4722344BCF13}"/>
              </a:ext>
            </a:extLst>
          </p:cNvPr>
          <p:cNvCxnSpPr>
            <a:cxnSpLocks/>
            <a:stCxn id="61" idx="3"/>
            <a:endCxn id="20" idx="2"/>
          </p:cNvCxnSpPr>
          <p:nvPr/>
        </p:nvCxnSpPr>
        <p:spPr>
          <a:xfrm flipV="1">
            <a:off x="843691" y="3152957"/>
            <a:ext cx="743807" cy="242017"/>
          </a:xfrm>
          <a:prstGeom prst="bentConnector2">
            <a:avLst/>
          </a:prstGeom>
          <a:ln w="2540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C92C831-AA28-0320-BAD6-CB21F610E2C8}"/>
              </a:ext>
            </a:extLst>
          </p:cNvPr>
          <p:cNvGrpSpPr/>
          <p:nvPr/>
        </p:nvGrpSpPr>
        <p:grpSpPr>
          <a:xfrm>
            <a:off x="1040797" y="2691598"/>
            <a:ext cx="1093402" cy="461359"/>
            <a:chOff x="1948487" y="1439994"/>
            <a:chExt cx="1093402" cy="461359"/>
          </a:xfrm>
        </p:grpSpPr>
        <p:sp>
          <p:nvSpPr>
            <p:cNvPr id="20" name="Rounded Rectangle 26">
              <a:extLst>
                <a:ext uri="{FF2B5EF4-FFF2-40B4-BE49-F238E27FC236}">
                  <a16:creationId xmlns:a16="http://schemas.microsoft.com/office/drawing/2014/main" id="{C436AC0E-2FCD-1EE2-E29F-0150203DA577}"/>
                </a:ext>
              </a:extLst>
            </p:cNvPr>
            <p:cNvSpPr/>
            <p:nvPr/>
          </p:nvSpPr>
          <p:spPr>
            <a:xfrm>
              <a:off x="1948487" y="1439994"/>
              <a:ext cx="1093402" cy="461359"/>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FFFFFF"/>
                  </a:solidFill>
                  <a:effectLst/>
                  <a:uLnTx/>
                  <a:uFillTx/>
                  <a:latin typeface="Calibri"/>
                  <a:ea typeface="+mn-ea"/>
                  <a:cs typeface="+mn-cs"/>
                </a:rPr>
                <a:t>MW Laptop</a:t>
              </a:r>
            </a:p>
          </p:txBody>
        </p:sp>
        <p:sp>
          <p:nvSpPr>
            <p:cNvPr id="212" name="Rounded Rectangle 26">
              <a:extLst>
                <a:ext uri="{FF2B5EF4-FFF2-40B4-BE49-F238E27FC236}">
                  <a16:creationId xmlns:a16="http://schemas.microsoft.com/office/drawing/2014/main" id="{A88C968B-C05A-CF9A-2E3F-E326F7E7AE8C}"/>
                </a:ext>
              </a:extLst>
            </p:cNvPr>
            <p:cNvSpPr/>
            <p:nvPr/>
          </p:nvSpPr>
          <p:spPr>
            <a:xfrm>
              <a:off x="2012468" y="1631784"/>
              <a:ext cx="926974" cy="20947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solidFill>
                    <a:srgbClr val="FFFFFF"/>
                  </a:solidFill>
                  <a:effectLst/>
                  <a:uLnTx/>
                  <a:uFillTx/>
                  <a:latin typeface="Calibri"/>
                  <a:ea typeface="+mn-ea"/>
                  <a:cs typeface="+mn-cs"/>
                </a:rPr>
                <a:t>Edge browser</a:t>
              </a:r>
            </a:p>
          </p:txBody>
        </p:sp>
      </p:grpSp>
      <p:grpSp>
        <p:nvGrpSpPr>
          <p:cNvPr id="27" name="Group 26">
            <a:extLst>
              <a:ext uri="{FF2B5EF4-FFF2-40B4-BE49-F238E27FC236}">
                <a16:creationId xmlns:a16="http://schemas.microsoft.com/office/drawing/2014/main" id="{994ADAEA-A419-28F0-9851-F412AFDC335E}"/>
              </a:ext>
            </a:extLst>
          </p:cNvPr>
          <p:cNvGrpSpPr/>
          <p:nvPr/>
        </p:nvGrpSpPr>
        <p:grpSpPr>
          <a:xfrm>
            <a:off x="8592768" y="1365580"/>
            <a:ext cx="723495" cy="738077"/>
            <a:chOff x="443357" y="2271715"/>
            <a:chExt cx="723495" cy="738077"/>
          </a:xfrm>
        </p:grpSpPr>
        <p:pic>
          <p:nvPicPr>
            <p:cNvPr id="33" name="Picture 32">
              <a:extLst>
                <a:ext uri="{FF2B5EF4-FFF2-40B4-BE49-F238E27FC236}">
                  <a16:creationId xmlns:a16="http://schemas.microsoft.com/office/drawing/2014/main" id="{4858E388-594D-4C8D-F9B7-5BC75B1B3F0A}"/>
                </a:ext>
              </a:extLst>
            </p:cNvPr>
            <p:cNvPicPr>
              <a:picLocks noChangeAspect="1"/>
            </p:cNvPicPr>
            <p:nvPr/>
          </p:nvPicPr>
          <p:blipFill>
            <a:blip r:embed="rId2"/>
            <a:stretch>
              <a:fillRect/>
            </a:stretch>
          </p:blipFill>
          <p:spPr>
            <a:xfrm>
              <a:off x="612684" y="2271715"/>
              <a:ext cx="291780" cy="555959"/>
            </a:xfrm>
            <a:prstGeom prst="rect">
              <a:avLst/>
            </a:prstGeom>
          </p:spPr>
        </p:pic>
        <p:sp>
          <p:nvSpPr>
            <p:cNvPr id="34" name="TextBox 33">
              <a:extLst>
                <a:ext uri="{FF2B5EF4-FFF2-40B4-BE49-F238E27FC236}">
                  <a16:creationId xmlns:a16="http://schemas.microsoft.com/office/drawing/2014/main" id="{CF3EFDEA-BF45-9550-E610-541C02D9DAA8}"/>
                </a:ext>
              </a:extLst>
            </p:cNvPr>
            <p:cNvSpPr txBox="1"/>
            <p:nvPr/>
          </p:nvSpPr>
          <p:spPr>
            <a:xfrm>
              <a:off x="443357" y="2799616"/>
              <a:ext cx="723495" cy="210176"/>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600"/>
                </a:spcAft>
                <a:buClrTx/>
                <a:buSzTx/>
                <a:buFontTx/>
                <a:buNone/>
                <a:tabLst/>
                <a:defRPr/>
              </a:pPr>
              <a:r>
                <a:rPr kumimoji="0" lang="en-AU" sz="900"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Bird noticer</a:t>
              </a:r>
            </a:p>
          </p:txBody>
        </p:sp>
      </p:grpSp>
      <p:cxnSp>
        <p:nvCxnSpPr>
          <p:cNvPr id="38" name="Straight Arrow Connector 64">
            <a:extLst>
              <a:ext uri="{FF2B5EF4-FFF2-40B4-BE49-F238E27FC236}">
                <a16:creationId xmlns:a16="http://schemas.microsoft.com/office/drawing/2014/main" id="{C378FB6D-8A40-452F-BEEB-FEAE38D98FDC}"/>
              </a:ext>
            </a:extLst>
          </p:cNvPr>
          <p:cNvCxnSpPr>
            <a:cxnSpLocks/>
            <a:stCxn id="33" idx="1"/>
            <a:endCxn id="12" idx="0"/>
          </p:cNvCxnSpPr>
          <p:nvPr/>
        </p:nvCxnSpPr>
        <p:spPr>
          <a:xfrm rot="10800000">
            <a:off x="6778111" y="1596112"/>
            <a:ext cx="1983985" cy="47449"/>
          </a:xfrm>
          <a:prstGeom prst="bentConnector4">
            <a:avLst>
              <a:gd name="adj1" fmla="val 32810"/>
              <a:gd name="adj2" fmla="val 441261"/>
            </a:avLst>
          </a:prstGeom>
          <a:ln w="25400">
            <a:solidFill>
              <a:schemeClr val="bg1">
                <a:lumMod val="6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17FCD72A-8B8B-5541-B5D0-808D84CDD986}"/>
              </a:ext>
            </a:extLst>
          </p:cNvPr>
          <p:cNvGrpSpPr/>
          <p:nvPr/>
        </p:nvGrpSpPr>
        <p:grpSpPr>
          <a:xfrm>
            <a:off x="2672806" y="2338124"/>
            <a:ext cx="878146" cy="730765"/>
            <a:chOff x="4155291" y="3166532"/>
            <a:chExt cx="878146" cy="730765"/>
          </a:xfrm>
        </p:grpSpPr>
        <p:sp>
          <p:nvSpPr>
            <p:cNvPr id="68" name="Rounded Rectangle 26">
              <a:extLst>
                <a:ext uri="{FF2B5EF4-FFF2-40B4-BE49-F238E27FC236}">
                  <a16:creationId xmlns:a16="http://schemas.microsoft.com/office/drawing/2014/main" id="{A7A6031C-826B-45DB-7467-AD4A105BC96E}"/>
                </a:ext>
              </a:extLst>
            </p:cNvPr>
            <p:cNvSpPr/>
            <p:nvPr/>
          </p:nvSpPr>
          <p:spPr>
            <a:xfrm>
              <a:off x="4155291" y="3166532"/>
              <a:ext cx="878146" cy="730765"/>
            </a:xfrm>
            <a:prstGeom prst="roundRect">
              <a:avLst/>
            </a:prstGeom>
            <a:solidFill>
              <a:schemeClr val="bg1">
                <a:lumMod val="50000"/>
              </a:schemeClr>
            </a:solidFill>
            <a:ln w="25400" cap="flat" cmpd="sng" algn="ctr">
              <a:noFill/>
              <a:prstDash val="solid"/>
            </a:ln>
            <a:effectLst/>
          </p:spPr>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0" cap="none" spc="0" normalizeH="0" baseline="0" noProof="0" dirty="0">
                  <a:ln>
                    <a:noFill/>
                  </a:ln>
                  <a:solidFill>
                    <a:srgbClr val="FFFFFF"/>
                  </a:solidFill>
                  <a:effectLst/>
                  <a:uLnTx/>
                  <a:uFillTx/>
                  <a:latin typeface="Calibri"/>
                  <a:ea typeface="+mn-ea"/>
                  <a:cs typeface="+mn-cs"/>
                </a:rPr>
                <a:t>Web Proxy</a:t>
              </a:r>
            </a:p>
          </p:txBody>
        </p:sp>
        <p:sp>
          <p:nvSpPr>
            <p:cNvPr id="101" name="Rounded Rectangle 26">
              <a:extLst>
                <a:ext uri="{FF2B5EF4-FFF2-40B4-BE49-F238E27FC236}">
                  <a16:creationId xmlns:a16="http://schemas.microsoft.com/office/drawing/2014/main" id="{424225AB-FF00-A80F-4839-E2CC5F3DE7CF}"/>
                </a:ext>
              </a:extLst>
            </p:cNvPr>
            <p:cNvSpPr/>
            <p:nvPr/>
          </p:nvSpPr>
          <p:spPr>
            <a:xfrm>
              <a:off x="4307764" y="3694438"/>
              <a:ext cx="573199" cy="140556"/>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a:ln>
                    <a:noFill/>
                  </a:ln>
                  <a:solidFill>
                    <a:srgbClr val="FFFFFF"/>
                  </a:solidFill>
                  <a:effectLst/>
                  <a:uLnTx/>
                  <a:uFillTx/>
                  <a:latin typeface="Calibri"/>
                  <a:ea typeface="+mn-ea"/>
                  <a:cs typeface="+mn-cs"/>
                </a:rPr>
                <a:t>Session </a:t>
              </a:r>
            </a:p>
          </p:txBody>
        </p:sp>
      </p:grpSp>
      <p:cxnSp>
        <p:nvCxnSpPr>
          <p:cNvPr id="170" name="Elbow Connector 28">
            <a:extLst>
              <a:ext uri="{FF2B5EF4-FFF2-40B4-BE49-F238E27FC236}">
                <a16:creationId xmlns:a16="http://schemas.microsoft.com/office/drawing/2014/main" id="{41D0C5F6-D348-AD61-06BA-71781CDB461C}"/>
              </a:ext>
            </a:extLst>
          </p:cNvPr>
          <p:cNvCxnSpPr>
            <a:cxnSpLocks/>
            <a:stCxn id="6" idx="2"/>
            <a:endCxn id="13" idx="0"/>
          </p:cNvCxnSpPr>
          <p:nvPr/>
        </p:nvCxnSpPr>
        <p:spPr>
          <a:xfrm rot="5400000">
            <a:off x="5678872" y="4842336"/>
            <a:ext cx="365822" cy="718284"/>
          </a:xfrm>
          <a:prstGeom prst="bentConnector3">
            <a:avLst>
              <a:gd name="adj1" fmla="val 50000"/>
            </a:avLst>
          </a:prstGeom>
          <a:ln w="28575">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9" name="Rounded Rectangle 65">
            <a:extLst>
              <a:ext uri="{FF2B5EF4-FFF2-40B4-BE49-F238E27FC236}">
                <a16:creationId xmlns:a16="http://schemas.microsoft.com/office/drawing/2014/main" id="{22786D25-72A2-ACD3-A79B-8A112BF55D16}"/>
              </a:ext>
            </a:extLst>
          </p:cNvPr>
          <p:cNvSpPr/>
          <p:nvPr/>
        </p:nvSpPr>
        <p:spPr>
          <a:xfrm>
            <a:off x="6507332" y="191816"/>
            <a:ext cx="5595768" cy="56993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endParaRPr lang="en-AU" sz="900"/>
          </a:p>
        </p:txBody>
      </p:sp>
      <p:sp>
        <p:nvSpPr>
          <p:cNvPr id="14" name="Rounded Rectangle 66">
            <a:extLst>
              <a:ext uri="{FF2B5EF4-FFF2-40B4-BE49-F238E27FC236}">
                <a16:creationId xmlns:a16="http://schemas.microsoft.com/office/drawing/2014/main" id="{A7A6AF8B-E175-6234-C924-A3BFFFB664A0}"/>
              </a:ext>
            </a:extLst>
          </p:cNvPr>
          <p:cNvSpPr/>
          <p:nvPr/>
        </p:nvSpPr>
        <p:spPr>
          <a:xfrm>
            <a:off x="6657275" y="273703"/>
            <a:ext cx="606124" cy="175421"/>
          </a:xfrm>
          <a:prstGeom prst="roundRect">
            <a:avLst/>
          </a:prstGeom>
          <a:solidFill>
            <a:srgbClr val="00428B">
              <a:lumMod val="60000"/>
              <a:lumOff val="40000"/>
            </a:srgbClr>
          </a:solidFill>
          <a:ln w="25400" cap="flat" cmpd="sng" algn="ctr">
            <a:noFill/>
            <a:prstDash val="solid"/>
          </a:ln>
          <a:effectLst/>
        </p:spPr>
        <p:txBody>
          <a:bodyPr lIns="0" tIns="0" rIns="0" rtlCol="0" anchor="t" anchorCtr="0"/>
          <a:lstStyle/>
          <a:p>
            <a:pPr algn="ctr"/>
            <a:endParaRPr lang="en-AU" sz="1050" b="1" kern="0">
              <a:solidFill>
                <a:srgbClr val="FFFFFF"/>
              </a:solidFill>
              <a:latin typeface="Calibri"/>
            </a:endParaRPr>
          </a:p>
        </p:txBody>
      </p:sp>
      <p:sp>
        <p:nvSpPr>
          <p:cNvPr id="17" name="TextBox 16">
            <a:extLst>
              <a:ext uri="{FF2B5EF4-FFF2-40B4-BE49-F238E27FC236}">
                <a16:creationId xmlns:a16="http://schemas.microsoft.com/office/drawing/2014/main" id="{04498FB6-352B-C40D-05D6-BD2855E29207}"/>
              </a:ext>
            </a:extLst>
          </p:cNvPr>
          <p:cNvSpPr txBox="1"/>
          <p:nvPr/>
        </p:nvSpPr>
        <p:spPr>
          <a:xfrm>
            <a:off x="7289928" y="309457"/>
            <a:ext cx="913040" cy="119957"/>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Existing system</a:t>
            </a:r>
          </a:p>
        </p:txBody>
      </p:sp>
      <p:sp>
        <p:nvSpPr>
          <p:cNvPr id="18" name="Rounded Rectangle 94">
            <a:extLst>
              <a:ext uri="{FF2B5EF4-FFF2-40B4-BE49-F238E27FC236}">
                <a16:creationId xmlns:a16="http://schemas.microsoft.com/office/drawing/2014/main" id="{4D64A6A5-C2B8-89F1-4A97-A1372835559E}"/>
              </a:ext>
            </a:extLst>
          </p:cNvPr>
          <p:cNvSpPr/>
          <p:nvPr/>
        </p:nvSpPr>
        <p:spPr>
          <a:xfrm>
            <a:off x="6657275" y="523018"/>
            <a:ext cx="606124" cy="175421"/>
          </a:xfrm>
          <a:prstGeom prst="round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endParaRPr lang="en-AU" sz="1200"/>
          </a:p>
        </p:txBody>
      </p:sp>
      <p:sp>
        <p:nvSpPr>
          <p:cNvPr id="19" name="TextBox 18">
            <a:extLst>
              <a:ext uri="{FF2B5EF4-FFF2-40B4-BE49-F238E27FC236}">
                <a16:creationId xmlns:a16="http://schemas.microsoft.com/office/drawing/2014/main" id="{B738E2D8-3DE8-38FC-A758-833406B4B945}"/>
              </a:ext>
            </a:extLst>
          </p:cNvPr>
          <p:cNvSpPr txBox="1"/>
          <p:nvPr/>
        </p:nvSpPr>
        <p:spPr>
          <a:xfrm>
            <a:off x="7289928" y="530733"/>
            <a:ext cx="913040" cy="119957"/>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System with issues</a:t>
            </a:r>
          </a:p>
        </p:txBody>
      </p:sp>
      <p:cxnSp>
        <p:nvCxnSpPr>
          <p:cNvPr id="21" name="Straight Arrow Connector 20">
            <a:extLst>
              <a:ext uri="{FF2B5EF4-FFF2-40B4-BE49-F238E27FC236}">
                <a16:creationId xmlns:a16="http://schemas.microsoft.com/office/drawing/2014/main" id="{077494D2-4215-3F92-1AF4-70D4159A0BDC}"/>
              </a:ext>
            </a:extLst>
          </p:cNvPr>
          <p:cNvCxnSpPr/>
          <p:nvPr/>
        </p:nvCxnSpPr>
        <p:spPr>
          <a:xfrm flipV="1">
            <a:off x="10185833" y="307999"/>
            <a:ext cx="585019" cy="9024"/>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9387018-7796-740B-85EB-DDB4FBF073BA}"/>
              </a:ext>
            </a:extLst>
          </p:cNvPr>
          <p:cNvSpPr txBox="1"/>
          <p:nvPr/>
        </p:nvSpPr>
        <p:spPr>
          <a:xfrm>
            <a:off x="10881318" y="234115"/>
            <a:ext cx="1148413" cy="119957"/>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Data Flow (integration)</a:t>
            </a:r>
          </a:p>
        </p:txBody>
      </p:sp>
      <p:cxnSp>
        <p:nvCxnSpPr>
          <p:cNvPr id="29" name="Straight Arrow Connector 28">
            <a:extLst>
              <a:ext uri="{FF2B5EF4-FFF2-40B4-BE49-F238E27FC236}">
                <a16:creationId xmlns:a16="http://schemas.microsoft.com/office/drawing/2014/main" id="{3EAD1EC0-B08F-E7BB-8039-98A281AA33E4}"/>
              </a:ext>
            </a:extLst>
          </p:cNvPr>
          <p:cNvCxnSpPr/>
          <p:nvPr/>
        </p:nvCxnSpPr>
        <p:spPr>
          <a:xfrm flipV="1">
            <a:off x="10185833" y="638894"/>
            <a:ext cx="585019" cy="9024"/>
          </a:xfrm>
          <a:prstGeom prst="straightConnector1">
            <a:avLst/>
          </a:prstGeom>
          <a:ln w="2540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B56F041-B86B-B65C-1676-19BF143BB00D}"/>
              </a:ext>
            </a:extLst>
          </p:cNvPr>
          <p:cNvSpPr txBox="1"/>
          <p:nvPr/>
        </p:nvSpPr>
        <p:spPr>
          <a:xfrm>
            <a:off x="10881318" y="565010"/>
            <a:ext cx="1148413" cy="119957"/>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Data Flow (Manual)</a:t>
            </a:r>
          </a:p>
        </p:txBody>
      </p:sp>
      <p:sp>
        <p:nvSpPr>
          <p:cNvPr id="31" name="Rounded Rectangle 66">
            <a:extLst>
              <a:ext uri="{FF2B5EF4-FFF2-40B4-BE49-F238E27FC236}">
                <a16:creationId xmlns:a16="http://schemas.microsoft.com/office/drawing/2014/main" id="{DE834ACE-9A13-114F-42F2-39D1991F0729}"/>
              </a:ext>
            </a:extLst>
          </p:cNvPr>
          <p:cNvSpPr/>
          <p:nvPr/>
        </p:nvSpPr>
        <p:spPr>
          <a:xfrm>
            <a:off x="8398330" y="281139"/>
            <a:ext cx="606124" cy="175421"/>
          </a:xfrm>
          <a:prstGeom prst="roundRect">
            <a:avLst/>
          </a:prstGeom>
          <a:solidFill>
            <a:schemeClr val="bg1">
              <a:lumMod val="50000"/>
            </a:schemeClr>
          </a:solidFill>
          <a:ln w="25400" cap="flat" cmpd="sng" algn="ctr">
            <a:noFill/>
            <a:prstDash val="solid"/>
          </a:ln>
          <a:effectLst/>
        </p:spPr>
        <p:txBody>
          <a:bodyPr lIns="0" tIns="0" rIns="0" rtlCol="0" anchor="t" anchorCtr="0"/>
          <a:lstStyle/>
          <a:p>
            <a:pPr algn="ctr"/>
            <a:endParaRPr lang="en-AU" sz="1000" b="1" kern="0">
              <a:solidFill>
                <a:srgbClr val="FFFFFF"/>
              </a:solidFill>
              <a:latin typeface="Calibri"/>
            </a:endParaRPr>
          </a:p>
        </p:txBody>
      </p:sp>
      <p:sp>
        <p:nvSpPr>
          <p:cNvPr id="32" name="TextBox 31">
            <a:extLst>
              <a:ext uri="{FF2B5EF4-FFF2-40B4-BE49-F238E27FC236}">
                <a16:creationId xmlns:a16="http://schemas.microsoft.com/office/drawing/2014/main" id="{7AE14F62-91EF-7FF3-A43C-C426E1CB8182}"/>
              </a:ext>
            </a:extLst>
          </p:cNvPr>
          <p:cNvSpPr txBox="1"/>
          <p:nvPr/>
        </p:nvSpPr>
        <p:spPr>
          <a:xfrm>
            <a:off x="9021651" y="255947"/>
            <a:ext cx="673479" cy="131230"/>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Infrastructure component</a:t>
            </a:r>
          </a:p>
        </p:txBody>
      </p:sp>
      <p:sp>
        <p:nvSpPr>
          <p:cNvPr id="35" name="Rounded Rectangle 94">
            <a:extLst>
              <a:ext uri="{FF2B5EF4-FFF2-40B4-BE49-F238E27FC236}">
                <a16:creationId xmlns:a16="http://schemas.microsoft.com/office/drawing/2014/main" id="{1BDDD455-5D9A-A404-89CD-44D179305A2D}"/>
              </a:ext>
            </a:extLst>
          </p:cNvPr>
          <p:cNvSpPr/>
          <p:nvPr/>
        </p:nvSpPr>
        <p:spPr>
          <a:xfrm>
            <a:off x="8398330" y="525961"/>
            <a:ext cx="606124" cy="17542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endParaRPr lang="en-AU" sz="1200"/>
          </a:p>
        </p:txBody>
      </p:sp>
      <p:sp>
        <p:nvSpPr>
          <p:cNvPr id="36" name="TextBox 35">
            <a:extLst>
              <a:ext uri="{FF2B5EF4-FFF2-40B4-BE49-F238E27FC236}">
                <a16:creationId xmlns:a16="http://schemas.microsoft.com/office/drawing/2014/main" id="{31379CE1-49D7-F145-D175-68D4D5749ABF}"/>
              </a:ext>
            </a:extLst>
          </p:cNvPr>
          <p:cNvSpPr txBox="1"/>
          <p:nvPr/>
        </p:nvSpPr>
        <p:spPr>
          <a:xfrm>
            <a:off x="9030983" y="533676"/>
            <a:ext cx="1044384" cy="164763"/>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New / changed system</a:t>
            </a:r>
          </a:p>
        </p:txBody>
      </p:sp>
      <p:cxnSp>
        <p:nvCxnSpPr>
          <p:cNvPr id="37" name="Straight Arrow Connector 36">
            <a:extLst>
              <a:ext uri="{FF2B5EF4-FFF2-40B4-BE49-F238E27FC236}">
                <a16:creationId xmlns:a16="http://schemas.microsoft.com/office/drawing/2014/main" id="{C7D4D8A0-6BF6-9F44-07F4-12AAB7209777}"/>
              </a:ext>
            </a:extLst>
          </p:cNvPr>
          <p:cNvCxnSpPr/>
          <p:nvPr/>
        </p:nvCxnSpPr>
        <p:spPr>
          <a:xfrm flipV="1">
            <a:off x="10187307" y="460399"/>
            <a:ext cx="585019" cy="9024"/>
          </a:xfrm>
          <a:prstGeom prst="straightConnector1">
            <a:avLst/>
          </a:prstGeom>
          <a:ln w="25400">
            <a:solidFill>
              <a:schemeClr val="accent3">
                <a:lumMod val="75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1EA3D204-D08D-C928-5973-8E0FE31FF321}"/>
              </a:ext>
            </a:extLst>
          </p:cNvPr>
          <p:cNvSpPr txBox="1"/>
          <p:nvPr/>
        </p:nvSpPr>
        <p:spPr>
          <a:xfrm>
            <a:off x="10882792" y="386515"/>
            <a:ext cx="1148413" cy="119957"/>
          </a:xfrm>
          <a:prstGeom prst="rect">
            <a:avLst/>
          </a:prstGeom>
          <a:noFill/>
        </p:spPr>
        <p:txBody>
          <a:bodyPr wrap="square" lIns="0" tIns="0" rIns="0" bIns="0" rtlCol="0">
            <a:noAutofit/>
          </a:bodyPr>
          <a:lstStyle/>
          <a:p>
            <a:pPr>
              <a:lnSpc>
                <a:spcPct val="110000"/>
              </a:lnSpc>
              <a:spcBef>
                <a:spcPts val="600"/>
              </a:spcBef>
              <a:spcAft>
                <a:spcPts val="600"/>
              </a:spcAft>
            </a:pPr>
            <a:r>
              <a:rPr lang="en-AU" sz="700">
                <a:latin typeface="Verdana" pitchFamily="34" charset="0"/>
                <a:ea typeface="Verdana" pitchFamily="34" charset="0"/>
                <a:cs typeface="Verdana" pitchFamily="34" charset="0"/>
              </a:rPr>
              <a:t>New integration</a:t>
            </a:r>
          </a:p>
        </p:txBody>
      </p:sp>
      <p:sp>
        <p:nvSpPr>
          <p:cNvPr id="6" name="Rounded Rectangle 26">
            <a:extLst>
              <a:ext uri="{FF2B5EF4-FFF2-40B4-BE49-F238E27FC236}">
                <a16:creationId xmlns:a16="http://schemas.microsoft.com/office/drawing/2014/main" id="{C7182054-5655-C90F-33F3-C79FFB2F2B8A}"/>
              </a:ext>
            </a:extLst>
          </p:cNvPr>
          <p:cNvSpPr/>
          <p:nvPr/>
        </p:nvSpPr>
        <p:spPr>
          <a:xfrm>
            <a:off x="5749914" y="4692716"/>
            <a:ext cx="942021" cy="32585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r>
              <a:rPr lang="en-AU" sz="1200" b="1" dirty="0"/>
              <a:t>API</a:t>
            </a:r>
            <a:endParaRPr lang="en-AU" sz="1200" b="1" dirty="0">
              <a:solidFill>
                <a:schemeClr val="lt1"/>
              </a:solidFill>
            </a:endParaRPr>
          </a:p>
        </p:txBody>
      </p:sp>
      <p:grpSp>
        <p:nvGrpSpPr>
          <p:cNvPr id="11" name="Group 10">
            <a:extLst>
              <a:ext uri="{FF2B5EF4-FFF2-40B4-BE49-F238E27FC236}">
                <a16:creationId xmlns:a16="http://schemas.microsoft.com/office/drawing/2014/main" id="{54E980FC-6BBD-AF5E-A832-7E1FFF075F54}"/>
              </a:ext>
            </a:extLst>
          </p:cNvPr>
          <p:cNvGrpSpPr/>
          <p:nvPr/>
        </p:nvGrpSpPr>
        <p:grpSpPr>
          <a:xfrm>
            <a:off x="6096000" y="1596111"/>
            <a:ext cx="1364219" cy="1307157"/>
            <a:chOff x="4155291" y="3289379"/>
            <a:chExt cx="878146" cy="607918"/>
          </a:xfrm>
        </p:grpSpPr>
        <p:sp>
          <p:nvSpPr>
            <p:cNvPr id="12" name="Rounded Rectangle 26">
              <a:extLst>
                <a:ext uri="{FF2B5EF4-FFF2-40B4-BE49-F238E27FC236}">
                  <a16:creationId xmlns:a16="http://schemas.microsoft.com/office/drawing/2014/main" id="{066B4B2C-4FF2-60EA-BBBA-35C09F6D6C1C}"/>
                </a:ext>
              </a:extLst>
            </p:cNvPr>
            <p:cNvSpPr/>
            <p:nvPr/>
          </p:nvSpPr>
          <p:spPr>
            <a:xfrm>
              <a:off x="4155291" y="3289379"/>
              <a:ext cx="878146" cy="607918"/>
            </a:xfrm>
            <a:prstGeom prst="roundRect">
              <a:avLst/>
            </a:prstGeom>
            <a:solidFill>
              <a:schemeClr val="bg1">
                <a:lumMod val="50000"/>
              </a:schemeClr>
            </a:solidFill>
            <a:ln w="25400" cap="flat" cmpd="sng" algn="ctr">
              <a:noFill/>
              <a:prstDash val="solid"/>
            </a:ln>
            <a:effectLst/>
          </p:spPr>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0" cap="none" spc="0" normalizeH="0" baseline="0" noProof="0" dirty="0">
                  <a:ln>
                    <a:noFill/>
                  </a:ln>
                  <a:solidFill>
                    <a:srgbClr val="FFFFFF"/>
                  </a:solidFill>
                  <a:effectLst/>
                  <a:uLnTx/>
                  <a:uFillTx/>
                  <a:latin typeface="Calibri"/>
                  <a:ea typeface="+mn-ea"/>
                  <a:cs typeface="+mn-cs"/>
                </a:rPr>
                <a:t>Smartphone</a:t>
              </a:r>
            </a:p>
          </p:txBody>
        </p:sp>
        <p:sp>
          <p:nvSpPr>
            <p:cNvPr id="41" name="Rounded Rectangle 26">
              <a:extLst>
                <a:ext uri="{FF2B5EF4-FFF2-40B4-BE49-F238E27FC236}">
                  <a16:creationId xmlns:a16="http://schemas.microsoft.com/office/drawing/2014/main" id="{EAFD3934-7EC3-B50A-C834-1BBBE6D9F8AD}"/>
                </a:ext>
              </a:extLst>
            </p:cNvPr>
            <p:cNvSpPr/>
            <p:nvPr/>
          </p:nvSpPr>
          <p:spPr>
            <a:xfrm>
              <a:off x="4279766" y="3406172"/>
              <a:ext cx="669326" cy="181735"/>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a:ln>
                    <a:noFill/>
                  </a:ln>
                  <a:solidFill>
                    <a:srgbClr val="FFFFFF"/>
                  </a:solidFill>
                  <a:effectLst/>
                  <a:uLnTx/>
                  <a:uFillTx/>
                  <a:latin typeface="Calibri"/>
                  <a:ea typeface="+mn-ea"/>
                  <a:cs typeface="+mn-cs"/>
                </a:rPr>
                <a:t>WTP Birdwatching App</a:t>
              </a:r>
            </a:p>
          </p:txBody>
        </p:sp>
      </p:grpSp>
      <p:sp>
        <p:nvSpPr>
          <p:cNvPr id="54" name="Rounded Rectangle 26">
            <a:extLst>
              <a:ext uri="{FF2B5EF4-FFF2-40B4-BE49-F238E27FC236}">
                <a16:creationId xmlns:a16="http://schemas.microsoft.com/office/drawing/2014/main" id="{E8F35FF1-2677-A082-4D23-2656C7EA9C4F}"/>
              </a:ext>
            </a:extLst>
          </p:cNvPr>
          <p:cNvSpPr/>
          <p:nvPr/>
        </p:nvSpPr>
        <p:spPr>
          <a:xfrm>
            <a:off x="4422710" y="4692716"/>
            <a:ext cx="942020" cy="32585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r>
              <a:rPr lang="en-AU" sz="1200" b="1" dirty="0"/>
              <a:t>Web App</a:t>
            </a:r>
            <a:endParaRPr lang="en-AU" sz="1200" b="1" dirty="0">
              <a:solidFill>
                <a:schemeClr val="lt1"/>
              </a:solidFill>
            </a:endParaRPr>
          </a:p>
        </p:txBody>
      </p:sp>
      <p:cxnSp>
        <p:nvCxnSpPr>
          <p:cNvPr id="55" name="Elbow Connector 28">
            <a:extLst>
              <a:ext uri="{FF2B5EF4-FFF2-40B4-BE49-F238E27FC236}">
                <a16:creationId xmlns:a16="http://schemas.microsoft.com/office/drawing/2014/main" id="{01BD03D0-E197-99B1-BC10-22BDE6EB7E64}"/>
              </a:ext>
            </a:extLst>
          </p:cNvPr>
          <p:cNvCxnSpPr>
            <a:cxnSpLocks/>
            <a:stCxn id="101" idx="3"/>
            <a:endCxn id="54" idx="0"/>
          </p:cNvCxnSpPr>
          <p:nvPr/>
        </p:nvCxnSpPr>
        <p:spPr>
          <a:xfrm>
            <a:off x="3398478" y="2936308"/>
            <a:ext cx="1495242" cy="1756408"/>
          </a:xfrm>
          <a:prstGeom prst="bentConnector2">
            <a:avLst/>
          </a:prstGeom>
          <a:ln w="2540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28">
            <a:extLst>
              <a:ext uri="{FF2B5EF4-FFF2-40B4-BE49-F238E27FC236}">
                <a16:creationId xmlns:a16="http://schemas.microsoft.com/office/drawing/2014/main" id="{399E198B-CBDD-D466-408E-E7A7A0F5946E}"/>
              </a:ext>
            </a:extLst>
          </p:cNvPr>
          <p:cNvCxnSpPr>
            <a:cxnSpLocks/>
            <a:stCxn id="6" idx="1"/>
            <a:endCxn id="54" idx="3"/>
          </p:cNvCxnSpPr>
          <p:nvPr/>
        </p:nvCxnSpPr>
        <p:spPr>
          <a:xfrm rot="10800000">
            <a:off x="5364730" y="4855642"/>
            <a:ext cx="385184" cy="1"/>
          </a:xfrm>
          <a:prstGeom prst="bentConnector3">
            <a:avLst>
              <a:gd name="adj1" fmla="val 50000"/>
            </a:avLst>
          </a:prstGeom>
          <a:ln w="28575">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67" name="Rounded Rectangle 26">
            <a:extLst>
              <a:ext uri="{FF2B5EF4-FFF2-40B4-BE49-F238E27FC236}">
                <a16:creationId xmlns:a16="http://schemas.microsoft.com/office/drawing/2014/main" id="{EBC2D48C-2C60-699A-F80F-20FC38E577A5}"/>
              </a:ext>
            </a:extLst>
          </p:cNvPr>
          <p:cNvSpPr/>
          <p:nvPr/>
        </p:nvSpPr>
        <p:spPr>
          <a:xfrm>
            <a:off x="2976034" y="6166883"/>
            <a:ext cx="1093402" cy="42627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FFFFFF"/>
                </a:solidFill>
                <a:effectLst/>
                <a:uLnTx/>
                <a:uFillTx/>
                <a:latin typeface="Calibri"/>
                <a:ea typeface="+mn-ea"/>
                <a:cs typeface="+mn-cs"/>
              </a:rPr>
              <a:t>Entra ID (Authentication)</a:t>
            </a:r>
          </a:p>
        </p:txBody>
      </p:sp>
      <p:cxnSp>
        <p:nvCxnSpPr>
          <p:cNvPr id="70" name="Elbow Connector 28">
            <a:extLst>
              <a:ext uri="{FF2B5EF4-FFF2-40B4-BE49-F238E27FC236}">
                <a16:creationId xmlns:a16="http://schemas.microsoft.com/office/drawing/2014/main" id="{6A75397A-D3F9-04F5-CD45-32707CA29532}"/>
              </a:ext>
            </a:extLst>
          </p:cNvPr>
          <p:cNvCxnSpPr>
            <a:cxnSpLocks/>
            <a:stCxn id="67" idx="0"/>
            <a:endCxn id="54" idx="1"/>
          </p:cNvCxnSpPr>
          <p:nvPr/>
        </p:nvCxnSpPr>
        <p:spPr>
          <a:xfrm rot="5400000" flipH="1" flipV="1">
            <a:off x="3317101" y="5061275"/>
            <a:ext cx="1311242" cy="899975"/>
          </a:xfrm>
          <a:prstGeom prst="bentConnector2">
            <a:avLst/>
          </a:prstGeom>
          <a:ln w="28575">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89" name="Rounded Rectangle 26">
            <a:extLst>
              <a:ext uri="{FF2B5EF4-FFF2-40B4-BE49-F238E27FC236}">
                <a16:creationId xmlns:a16="http://schemas.microsoft.com/office/drawing/2014/main" id="{55CA867E-7982-54EF-EBA5-693CB8072F1E}"/>
              </a:ext>
            </a:extLst>
          </p:cNvPr>
          <p:cNvSpPr/>
          <p:nvPr/>
        </p:nvSpPr>
        <p:spPr>
          <a:xfrm>
            <a:off x="5039153" y="6041036"/>
            <a:ext cx="926974" cy="171535"/>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a:ln>
                  <a:noFill/>
                </a:ln>
                <a:solidFill>
                  <a:srgbClr val="FFFFFF"/>
                </a:solidFill>
                <a:effectLst/>
                <a:uLnTx/>
                <a:uFillTx/>
                <a:latin typeface="Calibri"/>
                <a:ea typeface="+mn-ea"/>
                <a:cs typeface="+mn-cs"/>
              </a:rPr>
              <a:t>User auth DB</a:t>
            </a:r>
          </a:p>
        </p:txBody>
      </p:sp>
      <p:sp>
        <p:nvSpPr>
          <p:cNvPr id="90" name="Rounded Rectangle 26">
            <a:extLst>
              <a:ext uri="{FF2B5EF4-FFF2-40B4-BE49-F238E27FC236}">
                <a16:creationId xmlns:a16="http://schemas.microsoft.com/office/drawing/2014/main" id="{ED28C3A5-91ED-FBD2-CC77-2134BA36479E}"/>
              </a:ext>
            </a:extLst>
          </p:cNvPr>
          <p:cNvSpPr/>
          <p:nvPr/>
        </p:nvSpPr>
        <p:spPr>
          <a:xfrm>
            <a:off x="5039153" y="5807361"/>
            <a:ext cx="926974" cy="171535"/>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a:ln>
                  <a:noFill/>
                </a:ln>
                <a:solidFill>
                  <a:srgbClr val="FFFFFF"/>
                </a:solidFill>
                <a:effectLst/>
                <a:uLnTx/>
                <a:uFillTx/>
                <a:latin typeface="Calibri"/>
                <a:ea typeface="+mn-ea"/>
                <a:cs typeface="+mn-cs"/>
              </a:rPr>
              <a:t>Application data</a:t>
            </a:r>
          </a:p>
        </p:txBody>
      </p:sp>
      <p:sp>
        <p:nvSpPr>
          <p:cNvPr id="100" name="Rounded Rectangle 26">
            <a:extLst>
              <a:ext uri="{FF2B5EF4-FFF2-40B4-BE49-F238E27FC236}">
                <a16:creationId xmlns:a16="http://schemas.microsoft.com/office/drawing/2014/main" id="{1117250A-BFCA-C653-BEE8-4146D7F09388}"/>
              </a:ext>
            </a:extLst>
          </p:cNvPr>
          <p:cNvSpPr/>
          <p:nvPr/>
        </p:nvSpPr>
        <p:spPr>
          <a:xfrm>
            <a:off x="1038772" y="1645750"/>
            <a:ext cx="1093402" cy="42627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FFFFFF"/>
                </a:solidFill>
                <a:effectLst/>
                <a:uLnTx/>
                <a:uFillTx/>
                <a:latin typeface="Calibri"/>
                <a:ea typeface="+mn-ea"/>
                <a:cs typeface="+mn-cs"/>
              </a:rPr>
              <a:t>BACID</a:t>
            </a:r>
          </a:p>
        </p:txBody>
      </p:sp>
      <p:sp>
        <p:nvSpPr>
          <p:cNvPr id="102" name="Rounded Rectangle 26">
            <a:extLst>
              <a:ext uri="{FF2B5EF4-FFF2-40B4-BE49-F238E27FC236}">
                <a16:creationId xmlns:a16="http://schemas.microsoft.com/office/drawing/2014/main" id="{519FB936-67E0-1572-4325-70FDB4FF183B}"/>
              </a:ext>
            </a:extLst>
          </p:cNvPr>
          <p:cNvSpPr/>
          <p:nvPr/>
        </p:nvSpPr>
        <p:spPr>
          <a:xfrm>
            <a:off x="4568407" y="2253873"/>
            <a:ext cx="1093402" cy="42627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err="1">
                <a:ln>
                  <a:noFill/>
                </a:ln>
                <a:solidFill>
                  <a:srgbClr val="FFFFFF"/>
                </a:solidFill>
                <a:effectLst/>
                <a:uLnTx/>
                <a:uFillTx/>
                <a:latin typeface="Calibri"/>
                <a:ea typeface="+mn-ea"/>
                <a:cs typeface="+mn-cs"/>
              </a:rPr>
              <a:t>bluetooth</a:t>
            </a:r>
            <a:r>
              <a:rPr kumimoji="0" lang="en-AU" sz="1000" b="0" i="0" u="none" strike="noStrike" kern="1200" cap="none" spc="0" normalizeH="0" baseline="0" noProof="0" dirty="0">
                <a:ln>
                  <a:noFill/>
                </a:ln>
                <a:solidFill>
                  <a:srgbClr val="FFFFFF"/>
                </a:solidFill>
                <a:effectLst/>
                <a:uLnTx/>
                <a:uFillTx/>
                <a:latin typeface="Calibri"/>
                <a:ea typeface="+mn-ea"/>
                <a:cs typeface="+mn-cs"/>
              </a:rPr>
              <a:t>  gate lock</a:t>
            </a:r>
          </a:p>
        </p:txBody>
      </p:sp>
      <p:cxnSp>
        <p:nvCxnSpPr>
          <p:cNvPr id="104" name="Elbow Connector 28">
            <a:extLst>
              <a:ext uri="{FF2B5EF4-FFF2-40B4-BE49-F238E27FC236}">
                <a16:creationId xmlns:a16="http://schemas.microsoft.com/office/drawing/2014/main" id="{FF0C43C6-07CB-0E96-FCDF-DDD9627610FD}"/>
              </a:ext>
            </a:extLst>
          </p:cNvPr>
          <p:cNvCxnSpPr>
            <a:cxnSpLocks/>
            <a:stCxn id="102" idx="0"/>
            <a:endCxn id="100" idx="3"/>
          </p:cNvCxnSpPr>
          <p:nvPr/>
        </p:nvCxnSpPr>
        <p:spPr>
          <a:xfrm rot="16200000" flipV="1">
            <a:off x="3426147" y="564912"/>
            <a:ext cx="394988" cy="2982934"/>
          </a:xfrm>
          <a:prstGeom prst="bentConnector2">
            <a:avLst/>
          </a:prstGeom>
          <a:ln w="2540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13" name="Rounded Rectangle 26">
            <a:extLst>
              <a:ext uri="{FF2B5EF4-FFF2-40B4-BE49-F238E27FC236}">
                <a16:creationId xmlns:a16="http://schemas.microsoft.com/office/drawing/2014/main" id="{FF7900E3-4EF0-5B17-1F83-896ACE75FD36}"/>
              </a:ext>
            </a:extLst>
          </p:cNvPr>
          <p:cNvSpPr/>
          <p:nvPr/>
        </p:nvSpPr>
        <p:spPr>
          <a:xfrm>
            <a:off x="6290875" y="2424002"/>
            <a:ext cx="1038313" cy="38509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a:ln>
                  <a:noFill/>
                </a:ln>
                <a:solidFill>
                  <a:srgbClr val="FFFFFF"/>
                </a:solidFill>
                <a:effectLst/>
                <a:uLnTx/>
                <a:uFillTx/>
                <a:latin typeface="Calibri"/>
                <a:ea typeface="+mn-ea"/>
                <a:cs typeface="+mn-cs"/>
              </a:rPr>
              <a:t>Gallagher mobile app</a:t>
            </a:r>
          </a:p>
        </p:txBody>
      </p:sp>
      <p:sp>
        <p:nvSpPr>
          <p:cNvPr id="103" name="Lightning Bolt 102">
            <a:extLst>
              <a:ext uri="{FF2B5EF4-FFF2-40B4-BE49-F238E27FC236}">
                <a16:creationId xmlns:a16="http://schemas.microsoft.com/office/drawing/2014/main" id="{CBB7B8C2-BB03-9D87-A9C1-79A1824798E6}"/>
              </a:ext>
            </a:extLst>
          </p:cNvPr>
          <p:cNvSpPr/>
          <p:nvPr/>
        </p:nvSpPr>
        <p:spPr>
          <a:xfrm>
            <a:off x="5476466" y="2338124"/>
            <a:ext cx="887412" cy="352997"/>
          </a:xfrm>
          <a:prstGeom prst="lightningBolt">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9" name="Rounded Rectangle 26">
            <a:extLst>
              <a:ext uri="{FF2B5EF4-FFF2-40B4-BE49-F238E27FC236}">
                <a16:creationId xmlns:a16="http://schemas.microsoft.com/office/drawing/2014/main" id="{EE00133C-08F5-227F-81BC-EF81F5822E9D}"/>
              </a:ext>
            </a:extLst>
          </p:cNvPr>
          <p:cNvSpPr/>
          <p:nvPr/>
        </p:nvSpPr>
        <p:spPr>
          <a:xfrm>
            <a:off x="4176228" y="4576784"/>
            <a:ext cx="2764321" cy="1917321"/>
          </a:xfrm>
          <a:prstGeom prst="roundRect">
            <a:avLst>
              <a:gd name="adj" fmla="val 9264"/>
            </a:avLst>
          </a:prstGeom>
          <a:noFill/>
          <a:ln w="25400" cap="flat" cmpd="sng" algn="ctr">
            <a:solidFill>
              <a:schemeClr val="tx1"/>
            </a:solidFill>
            <a:prstDash val="sysDash"/>
          </a:ln>
          <a:effectLst/>
        </p:spPr>
        <p:txBody>
          <a:bodyPr lIns="0" tIns="0" rIns="0" bIns="0"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00" kern="0" dirty="0">
                <a:latin typeface="Calibri"/>
              </a:rPr>
              <a:t>WTP Birdwatching app backend</a:t>
            </a:r>
            <a:endParaRPr kumimoji="0" lang="en-AU" sz="1000" b="0" i="0" u="none" strike="noStrike" kern="0" cap="none" spc="0" normalizeH="0" baseline="0" noProof="0" dirty="0">
              <a:ln>
                <a:noFill/>
              </a:ln>
              <a:effectLst/>
              <a:uLnTx/>
              <a:uFillTx/>
              <a:latin typeface="Calibri"/>
              <a:ea typeface="+mn-ea"/>
              <a:cs typeface="+mn-cs"/>
            </a:endParaRPr>
          </a:p>
        </p:txBody>
      </p:sp>
      <p:cxnSp>
        <p:nvCxnSpPr>
          <p:cNvPr id="98" name="Straight Arrow Connector 51">
            <a:extLst>
              <a:ext uri="{FF2B5EF4-FFF2-40B4-BE49-F238E27FC236}">
                <a16:creationId xmlns:a16="http://schemas.microsoft.com/office/drawing/2014/main" id="{787A1859-37CB-8971-0D6A-97BB62B97278}"/>
              </a:ext>
            </a:extLst>
          </p:cNvPr>
          <p:cNvCxnSpPr>
            <a:cxnSpLocks/>
            <a:stCxn id="101" idx="1"/>
            <a:endCxn id="20" idx="3"/>
          </p:cNvCxnSpPr>
          <p:nvPr/>
        </p:nvCxnSpPr>
        <p:spPr>
          <a:xfrm rot="10800000">
            <a:off x="2134199" y="2922278"/>
            <a:ext cx="691080" cy="14030"/>
          </a:xfrm>
          <a:prstGeom prst="bentConnector3">
            <a:avLst>
              <a:gd name="adj1" fmla="val 50000"/>
            </a:avLst>
          </a:prstGeom>
          <a:ln w="2540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2" name="Straight Arrow Connector 64">
            <a:extLst>
              <a:ext uri="{FF2B5EF4-FFF2-40B4-BE49-F238E27FC236}">
                <a16:creationId xmlns:a16="http://schemas.microsoft.com/office/drawing/2014/main" id="{C02EE6DC-1CEF-3E81-1822-708655E89BBD}"/>
              </a:ext>
            </a:extLst>
          </p:cNvPr>
          <p:cNvCxnSpPr>
            <a:cxnSpLocks/>
            <a:stCxn id="61" idx="0"/>
            <a:endCxn id="100" idx="2"/>
          </p:cNvCxnSpPr>
          <p:nvPr/>
        </p:nvCxnSpPr>
        <p:spPr>
          <a:xfrm rot="5400000" flipH="1" flipV="1">
            <a:off x="619150" y="2150671"/>
            <a:ext cx="1044974" cy="887672"/>
          </a:xfrm>
          <a:prstGeom prst="bentConnector3">
            <a:avLst>
              <a:gd name="adj1" fmla="val 82600"/>
            </a:avLst>
          </a:prstGeom>
          <a:ln w="2540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90" name="Speech Bubble: Rectangle with Corners Rounded 189">
            <a:extLst>
              <a:ext uri="{FF2B5EF4-FFF2-40B4-BE49-F238E27FC236}">
                <a16:creationId xmlns:a16="http://schemas.microsoft.com/office/drawing/2014/main" id="{E59F92EB-844F-CAE1-A53C-A8B947C0840D}"/>
              </a:ext>
            </a:extLst>
          </p:cNvPr>
          <p:cNvSpPr/>
          <p:nvPr/>
        </p:nvSpPr>
        <p:spPr>
          <a:xfrm>
            <a:off x="9529317" y="2013084"/>
            <a:ext cx="2059626" cy="410918"/>
          </a:xfrm>
          <a:prstGeom prst="wedgeRoundRectCallout">
            <a:avLst>
              <a:gd name="adj1" fmla="val -139936"/>
              <a:gd name="adj2" fmla="val -32883"/>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50" i="1" kern="0" dirty="0">
                <a:solidFill>
                  <a:srgbClr val="231F20"/>
                </a:solidFill>
                <a:latin typeface="Verdana"/>
              </a:rPr>
              <a:t>Mobile app (Android and IOS versions)</a:t>
            </a:r>
            <a:endParaRPr kumimoji="0" lang="en-AU" sz="1050" b="0" i="1" u="none" strike="noStrike" kern="0" cap="none" spc="0" normalizeH="0" baseline="0" noProof="0" dirty="0">
              <a:ln>
                <a:noFill/>
              </a:ln>
              <a:solidFill>
                <a:srgbClr val="231F20"/>
              </a:solidFill>
              <a:effectLst/>
              <a:uLnTx/>
              <a:uFillTx/>
              <a:latin typeface="Verdana"/>
              <a:ea typeface="+mn-ea"/>
              <a:cs typeface="+mn-cs"/>
            </a:endParaRPr>
          </a:p>
        </p:txBody>
      </p:sp>
      <p:sp>
        <p:nvSpPr>
          <p:cNvPr id="191" name="Speech Bubble: Rectangle with Corners Rounded 190">
            <a:extLst>
              <a:ext uri="{FF2B5EF4-FFF2-40B4-BE49-F238E27FC236}">
                <a16:creationId xmlns:a16="http://schemas.microsoft.com/office/drawing/2014/main" id="{B2127F68-61B6-33B7-0024-98029A7599A8}"/>
              </a:ext>
            </a:extLst>
          </p:cNvPr>
          <p:cNvSpPr/>
          <p:nvPr/>
        </p:nvSpPr>
        <p:spPr>
          <a:xfrm>
            <a:off x="9553175" y="2511308"/>
            <a:ext cx="2059626" cy="410918"/>
          </a:xfrm>
          <a:prstGeom prst="wedgeRoundRectCallout">
            <a:avLst>
              <a:gd name="adj1" fmla="val -152422"/>
              <a:gd name="adj2" fmla="val -49109"/>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50" i="1" kern="0" dirty="0">
                <a:solidFill>
                  <a:srgbClr val="231F20"/>
                </a:solidFill>
                <a:latin typeface="Verdana"/>
              </a:rPr>
              <a:t>Gallagher app to allow use of </a:t>
            </a:r>
            <a:r>
              <a:rPr lang="en-AU" sz="1050" i="1" kern="0" dirty="0" err="1">
                <a:solidFill>
                  <a:srgbClr val="231F20"/>
                </a:solidFill>
                <a:latin typeface="Verdana"/>
              </a:rPr>
              <a:t>bluetooth</a:t>
            </a:r>
            <a:r>
              <a:rPr lang="en-AU" sz="1050" i="1" kern="0" dirty="0">
                <a:solidFill>
                  <a:srgbClr val="231F20"/>
                </a:solidFill>
                <a:latin typeface="Verdana"/>
              </a:rPr>
              <a:t> locks</a:t>
            </a:r>
            <a:endParaRPr kumimoji="0" lang="en-AU" sz="1050" b="0" i="1" u="none" strike="noStrike" kern="0" cap="none" spc="0" normalizeH="0" baseline="0" noProof="0" dirty="0">
              <a:ln>
                <a:noFill/>
              </a:ln>
              <a:solidFill>
                <a:srgbClr val="231F20"/>
              </a:solidFill>
              <a:effectLst/>
              <a:uLnTx/>
              <a:uFillTx/>
              <a:latin typeface="Verdana"/>
              <a:ea typeface="+mn-ea"/>
              <a:cs typeface="+mn-cs"/>
            </a:endParaRPr>
          </a:p>
        </p:txBody>
      </p:sp>
      <p:sp>
        <p:nvSpPr>
          <p:cNvPr id="192" name="Speech Bubble: Rectangle with Corners Rounded 191">
            <a:extLst>
              <a:ext uri="{FF2B5EF4-FFF2-40B4-BE49-F238E27FC236}">
                <a16:creationId xmlns:a16="http://schemas.microsoft.com/office/drawing/2014/main" id="{B48A549D-5694-A75E-511B-59E9D82D398F}"/>
              </a:ext>
            </a:extLst>
          </p:cNvPr>
          <p:cNvSpPr/>
          <p:nvPr/>
        </p:nvSpPr>
        <p:spPr>
          <a:xfrm>
            <a:off x="9358390" y="4381753"/>
            <a:ext cx="2059626" cy="410918"/>
          </a:xfrm>
          <a:prstGeom prst="wedgeRoundRectCallout">
            <a:avLst>
              <a:gd name="adj1" fmla="val -171383"/>
              <a:gd name="adj2" fmla="val 36656"/>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50" i="1" kern="0" dirty="0">
                <a:solidFill>
                  <a:srgbClr val="231F20"/>
                </a:solidFill>
                <a:latin typeface="Verdana"/>
              </a:rPr>
              <a:t>Back-end application</a:t>
            </a:r>
            <a:endParaRPr kumimoji="0" lang="en-AU" sz="1050" b="0" i="1" u="none" strike="noStrike" kern="0" cap="none" spc="0" normalizeH="0" baseline="0" noProof="0" dirty="0">
              <a:ln>
                <a:noFill/>
              </a:ln>
              <a:solidFill>
                <a:srgbClr val="231F20"/>
              </a:solidFill>
              <a:effectLst/>
              <a:uLnTx/>
              <a:uFillTx/>
              <a:latin typeface="Verdana"/>
              <a:ea typeface="+mn-ea"/>
              <a:cs typeface="+mn-cs"/>
            </a:endParaRPr>
          </a:p>
        </p:txBody>
      </p:sp>
      <p:sp>
        <p:nvSpPr>
          <p:cNvPr id="193" name="Speech Bubble: Rectangle with Corners Rounded 192">
            <a:extLst>
              <a:ext uri="{FF2B5EF4-FFF2-40B4-BE49-F238E27FC236}">
                <a16:creationId xmlns:a16="http://schemas.microsoft.com/office/drawing/2014/main" id="{0CA76109-F30D-4961-09F7-3BE389854201}"/>
              </a:ext>
            </a:extLst>
          </p:cNvPr>
          <p:cNvSpPr/>
          <p:nvPr/>
        </p:nvSpPr>
        <p:spPr>
          <a:xfrm>
            <a:off x="368383" y="6090120"/>
            <a:ext cx="2059626" cy="410918"/>
          </a:xfrm>
          <a:prstGeom prst="wedgeRoundRectCallout">
            <a:avLst>
              <a:gd name="adj1" fmla="val 78891"/>
              <a:gd name="adj2" fmla="val 33793"/>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50" b="0" i="1" u="none" strike="noStrike" kern="0" cap="none" spc="0" normalizeH="0" baseline="0" noProof="0" dirty="0">
                <a:ln>
                  <a:noFill/>
                </a:ln>
                <a:solidFill>
                  <a:srgbClr val="231F20"/>
                </a:solidFill>
                <a:effectLst/>
                <a:uLnTx/>
                <a:uFillTx/>
                <a:latin typeface="Verdana"/>
                <a:ea typeface="+mn-ea"/>
                <a:cs typeface="+mn-cs"/>
              </a:rPr>
              <a:t>MW users are authenticated by Entra ID</a:t>
            </a:r>
          </a:p>
        </p:txBody>
      </p:sp>
      <p:sp>
        <p:nvSpPr>
          <p:cNvPr id="194" name="Speech Bubble: Rectangle with Corners Rounded 193">
            <a:extLst>
              <a:ext uri="{FF2B5EF4-FFF2-40B4-BE49-F238E27FC236}">
                <a16:creationId xmlns:a16="http://schemas.microsoft.com/office/drawing/2014/main" id="{57A081CA-08CD-344D-5C65-9905703D5316}"/>
              </a:ext>
            </a:extLst>
          </p:cNvPr>
          <p:cNvSpPr/>
          <p:nvPr/>
        </p:nvSpPr>
        <p:spPr>
          <a:xfrm>
            <a:off x="7878172" y="5261887"/>
            <a:ext cx="2059626" cy="545473"/>
          </a:xfrm>
          <a:prstGeom prst="wedgeRoundRectCallout">
            <a:avLst>
              <a:gd name="adj1" fmla="val -140861"/>
              <a:gd name="adj2" fmla="val 101886"/>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50" b="0" i="1" u="none" strike="noStrike" kern="0" cap="none" spc="0" normalizeH="0" baseline="0" noProof="0" dirty="0">
                <a:ln>
                  <a:noFill/>
                </a:ln>
                <a:solidFill>
                  <a:srgbClr val="231F20"/>
                </a:solidFill>
                <a:effectLst/>
                <a:uLnTx/>
                <a:uFillTx/>
                <a:latin typeface="Verdana"/>
                <a:ea typeface="+mn-ea"/>
                <a:cs typeface="+mn-cs"/>
              </a:rPr>
              <a:t>Public birdwatcher users are authenticated against user accounts in SQL table</a:t>
            </a:r>
          </a:p>
        </p:txBody>
      </p:sp>
      <p:sp>
        <p:nvSpPr>
          <p:cNvPr id="3" name="Rounded Rectangle 26">
            <a:extLst>
              <a:ext uri="{FF2B5EF4-FFF2-40B4-BE49-F238E27FC236}">
                <a16:creationId xmlns:a16="http://schemas.microsoft.com/office/drawing/2014/main" id="{AAFD6208-3607-1159-8C8D-5F5E3DC580FF}"/>
              </a:ext>
            </a:extLst>
          </p:cNvPr>
          <p:cNvSpPr/>
          <p:nvPr/>
        </p:nvSpPr>
        <p:spPr>
          <a:xfrm>
            <a:off x="5278905" y="3862801"/>
            <a:ext cx="942021" cy="19579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gn="ctr"/>
            <a:r>
              <a:rPr lang="en-AU" sz="1000" dirty="0" err="1">
                <a:solidFill>
                  <a:srgbClr val="FFFFFF"/>
                </a:solidFill>
                <a:latin typeface="Calibri"/>
              </a:rPr>
              <a:t>apim</a:t>
            </a:r>
            <a:endParaRPr lang="en-AU" sz="1000" dirty="0">
              <a:solidFill>
                <a:srgbClr val="FFFFFF"/>
              </a:solidFill>
              <a:latin typeface="Calibri"/>
            </a:endParaRPr>
          </a:p>
        </p:txBody>
      </p:sp>
      <p:cxnSp>
        <p:nvCxnSpPr>
          <p:cNvPr id="8" name="Elbow Connector 28">
            <a:extLst>
              <a:ext uri="{FF2B5EF4-FFF2-40B4-BE49-F238E27FC236}">
                <a16:creationId xmlns:a16="http://schemas.microsoft.com/office/drawing/2014/main" id="{53F9A0BA-7E1A-7866-4CAC-8059C0A17B47}"/>
              </a:ext>
            </a:extLst>
          </p:cNvPr>
          <p:cNvCxnSpPr>
            <a:cxnSpLocks/>
            <a:stCxn id="46" idx="3"/>
            <a:endCxn id="3" idx="1"/>
          </p:cNvCxnSpPr>
          <p:nvPr/>
        </p:nvCxnSpPr>
        <p:spPr>
          <a:xfrm flipV="1">
            <a:off x="2769183" y="3960699"/>
            <a:ext cx="2509722" cy="181652"/>
          </a:xfrm>
          <a:prstGeom prst="bentConnector3">
            <a:avLst>
              <a:gd name="adj1" fmla="val 50000"/>
            </a:avLst>
          </a:prstGeom>
          <a:ln w="28575">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9" name="Elbow Connector 28">
            <a:extLst>
              <a:ext uri="{FF2B5EF4-FFF2-40B4-BE49-F238E27FC236}">
                <a16:creationId xmlns:a16="http://schemas.microsoft.com/office/drawing/2014/main" id="{9611A868-ABBE-474D-7142-657E102FC9AB}"/>
              </a:ext>
            </a:extLst>
          </p:cNvPr>
          <p:cNvCxnSpPr>
            <a:cxnSpLocks/>
            <a:stCxn id="3" idx="2"/>
            <a:endCxn id="6" idx="0"/>
          </p:cNvCxnSpPr>
          <p:nvPr/>
        </p:nvCxnSpPr>
        <p:spPr>
          <a:xfrm rot="16200000" flipH="1">
            <a:off x="5668360" y="4140151"/>
            <a:ext cx="634120" cy="471009"/>
          </a:xfrm>
          <a:prstGeom prst="bentConnector3">
            <a:avLst>
              <a:gd name="adj1" fmla="val 50000"/>
            </a:avLst>
          </a:prstGeom>
          <a:ln w="28575">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52" name="Speech Bubble: Rectangle with Corners Rounded 51">
            <a:extLst>
              <a:ext uri="{FF2B5EF4-FFF2-40B4-BE49-F238E27FC236}">
                <a16:creationId xmlns:a16="http://schemas.microsoft.com/office/drawing/2014/main" id="{E074EC96-EA63-C0CC-85DD-D1EE4B8C0BB8}"/>
              </a:ext>
            </a:extLst>
          </p:cNvPr>
          <p:cNvSpPr/>
          <p:nvPr/>
        </p:nvSpPr>
        <p:spPr>
          <a:xfrm>
            <a:off x="9553175" y="2986986"/>
            <a:ext cx="2059626" cy="410918"/>
          </a:xfrm>
          <a:prstGeom prst="wedgeRoundRectCallout">
            <a:avLst>
              <a:gd name="adj1" fmla="val -145948"/>
              <a:gd name="adj2" fmla="val 96924"/>
              <a:gd name="adj3" fmla="val 16667"/>
            </a:avLst>
          </a:prstGeom>
          <a:solidFill>
            <a:schemeClr val="bg1">
              <a:lumMod val="95000"/>
              <a:alpha val="76000"/>
            </a:schemeClr>
          </a:solidFill>
          <a:ln w="19050" cap="flat" cmpd="sng" algn="ctr">
            <a:solidFill>
              <a:schemeClr val="bg1">
                <a:lumMod val="50000"/>
              </a:schemeClr>
            </a:solidFill>
            <a:prstDash val="sys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50" i="1" kern="0" dirty="0">
                <a:solidFill>
                  <a:srgbClr val="231F20"/>
                </a:solidFill>
                <a:latin typeface="Verdana"/>
              </a:rPr>
              <a:t>Note Azure edge security doesn’t exist yet</a:t>
            </a:r>
            <a:endParaRPr kumimoji="0" lang="en-AU" sz="1050" b="0" i="1" u="none" strike="noStrike" kern="0" cap="none" spc="0" normalizeH="0" baseline="0" noProof="0" dirty="0">
              <a:ln>
                <a:noFill/>
              </a:ln>
              <a:solidFill>
                <a:srgbClr val="231F20"/>
              </a:solidFill>
              <a:effectLst/>
              <a:uLnTx/>
              <a:uFillTx/>
              <a:latin typeface="Verdana"/>
              <a:ea typeface="+mn-ea"/>
              <a:cs typeface="+mn-cs"/>
            </a:endParaRPr>
          </a:p>
        </p:txBody>
      </p:sp>
      <p:pic>
        <p:nvPicPr>
          <p:cNvPr id="46" name="Picture 45">
            <a:extLst>
              <a:ext uri="{FF2B5EF4-FFF2-40B4-BE49-F238E27FC236}">
                <a16:creationId xmlns:a16="http://schemas.microsoft.com/office/drawing/2014/main" id="{5A106FC8-D1E0-2828-42B0-D81D8A0FEF48}"/>
              </a:ext>
            </a:extLst>
          </p:cNvPr>
          <p:cNvPicPr>
            <a:picLocks noChangeAspect="1"/>
          </p:cNvPicPr>
          <p:nvPr/>
        </p:nvPicPr>
        <p:blipFill>
          <a:blip r:embed="rId3"/>
          <a:stretch>
            <a:fillRect/>
          </a:stretch>
        </p:blipFill>
        <p:spPr>
          <a:xfrm>
            <a:off x="2439159" y="3977339"/>
            <a:ext cx="330024" cy="330024"/>
          </a:xfrm>
          <a:prstGeom prst="rect">
            <a:avLst/>
          </a:prstGeom>
        </p:spPr>
      </p:pic>
      <p:pic>
        <p:nvPicPr>
          <p:cNvPr id="50" name="Picture 49">
            <a:extLst>
              <a:ext uri="{FF2B5EF4-FFF2-40B4-BE49-F238E27FC236}">
                <a16:creationId xmlns:a16="http://schemas.microsoft.com/office/drawing/2014/main" id="{907AB7F8-8FE3-1F0D-0C8A-CD1FA951E695}"/>
              </a:ext>
            </a:extLst>
          </p:cNvPr>
          <p:cNvPicPr>
            <a:picLocks noChangeAspect="1"/>
          </p:cNvPicPr>
          <p:nvPr/>
        </p:nvPicPr>
        <p:blipFill>
          <a:blip r:embed="rId3"/>
          <a:stretch>
            <a:fillRect/>
          </a:stretch>
        </p:blipFill>
        <p:spPr>
          <a:xfrm>
            <a:off x="2445269" y="3097980"/>
            <a:ext cx="330024" cy="330024"/>
          </a:xfrm>
          <a:prstGeom prst="rect">
            <a:avLst/>
          </a:prstGeom>
        </p:spPr>
      </p:pic>
      <p:pic>
        <p:nvPicPr>
          <p:cNvPr id="51" name="Picture 50">
            <a:extLst>
              <a:ext uri="{FF2B5EF4-FFF2-40B4-BE49-F238E27FC236}">
                <a16:creationId xmlns:a16="http://schemas.microsoft.com/office/drawing/2014/main" id="{53DDB618-869A-7E76-5EDC-7A4ADDEE5968}"/>
              </a:ext>
            </a:extLst>
          </p:cNvPr>
          <p:cNvPicPr>
            <a:picLocks noChangeAspect="1"/>
          </p:cNvPicPr>
          <p:nvPr/>
        </p:nvPicPr>
        <p:blipFill>
          <a:blip r:embed="rId3"/>
          <a:stretch>
            <a:fillRect/>
          </a:stretch>
        </p:blipFill>
        <p:spPr>
          <a:xfrm>
            <a:off x="3451867" y="3070490"/>
            <a:ext cx="330024" cy="330024"/>
          </a:xfrm>
          <a:prstGeom prst="rect">
            <a:avLst/>
          </a:prstGeom>
        </p:spPr>
      </p:pic>
      <p:cxnSp>
        <p:nvCxnSpPr>
          <p:cNvPr id="53" name="Elbow Connector 28">
            <a:extLst>
              <a:ext uri="{FF2B5EF4-FFF2-40B4-BE49-F238E27FC236}">
                <a16:creationId xmlns:a16="http://schemas.microsoft.com/office/drawing/2014/main" id="{4AB0817F-6814-466D-0EE9-CF7C183C7C1C}"/>
              </a:ext>
            </a:extLst>
          </p:cNvPr>
          <p:cNvCxnSpPr>
            <a:cxnSpLocks/>
            <a:stCxn id="50" idx="1"/>
            <a:endCxn id="46" idx="1"/>
          </p:cNvCxnSpPr>
          <p:nvPr/>
        </p:nvCxnSpPr>
        <p:spPr>
          <a:xfrm rot="10800000" flipV="1">
            <a:off x="2439159" y="3262991"/>
            <a:ext cx="6110" cy="879359"/>
          </a:xfrm>
          <a:prstGeom prst="bentConnector3">
            <a:avLst>
              <a:gd name="adj1" fmla="val 3841408"/>
            </a:avLst>
          </a:prstGeom>
          <a:ln w="28575">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8" name="Elbow Connector 28">
            <a:extLst>
              <a:ext uri="{FF2B5EF4-FFF2-40B4-BE49-F238E27FC236}">
                <a16:creationId xmlns:a16="http://schemas.microsoft.com/office/drawing/2014/main" id="{0E2C383E-CB5C-ABCA-00CE-8F65F77780CA}"/>
              </a:ext>
            </a:extLst>
          </p:cNvPr>
          <p:cNvCxnSpPr>
            <a:cxnSpLocks/>
            <a:stCxn id="51" idx="1"/>
            <a:endCxn id="50" idx="3"/>
          </p:cNvCxnSpPr>
          <p:nvPr/>
        </p:nvCxnSpPr>
        <p:spPr>
          <a:xfrm rot="10800000" flipV="1">
            <a:off x="2775293" y="3235502"/>
            <a:ext cx="676574" cy="27490"/>
          </a:xfrm>
          <a:prstGeom prst="bentConnector3">
            <a:avLst>
              <a:gd name="adj1" fmla="val 50000"/>
            </a:avLst>
          </a:prstGeom>
          <a:ln w="28575">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6" name="Elbow Connector 28">
            <a:extLst>
              <a:ext uri="{FF2B5EF4-FFF2-40B4-BE49-F238E27FC236}">
                <a16:creationId xmlns:a16="http://schemas.microsoft.com/office/drawing/2014/main" id="{2BF31F62-3325-A063-52A1-8BB566C73C46}"/>
              </a:ext>
            </a:extLst>
          </p:cNvPr>
          <p:cNvCxnSpPr>
            <a:cxnSpLocks/>
            <a:stCxn id="41" idx="1"/>
            <a:endCxn id="51" idx="3"/>
          </p:cNvCxnSpPr>
          <p:nvPr/>
        </p:nvCxnSpPr>
        <p:spPr>
          <a:xfrm rot="10800000" flipV="1">
            <a:off x="3781891" y="2042626"/>
            <a:ext cx="2507484" cy="1192875"/>
          </a:xfrm>
          <a:prstGeom prst="bentConnector3">
            <a:avLst>
              <a:gd name="adj1" fmla="val 83607"/>
            </a:avLst>
          </a:prstGeom>
          <a:ln w="28575">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404821"/>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2400" dirty="0"/>
              <a:t>Key Decision 1:</a:t>
            </a:r>
          </a:p>
        </p:txBody>
      </p:sp>
      <p:sp>
        <p:nvSpPr>
          <p:cNvPr id="3" name="AutoShape 2" descr="Enlarge Image"/>
          <p:cNvSpPr>
            <a:spLocks noChangeAspect="1" noChangeArrowheads="1"/>
          </p:cNvSpPr>
          <p:nvPr/>
        </p:nvSpPr>
        <p:spPr bwMode="auto">
          <a:xfrm>
            <a:off x="207433" y="-144462"/>
            <a:ext cx="4064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AU" sz="2400">
              <a:latin typeface="+mj-lt"/>
            </a:endParaRPr>
          </a:p>
        </p:txBody>
      </p:sp>
      <p:graphicFrame>
        <p:nvGraphicFramePr>
          <p:cNvPr id="12" name="Table 11"/>
          <p:cNvGraphicFramePr>
            <a:graphicFrameLocks noGrp="1"/>
          </p:cNvGraphicFramePr>
          <p:nvPr>
            <p:extLst>
              <p:ext uri="{D42A27DB-BD31-4B8C-83A1-F6EECF244321}">
                <p14:modId xmlns:p14="http://schemas.microsoft.com/office/powerpoint/2010/main" val="2132612159"/>
              </p:ext>
            </p:extLst>
          </p:nvPr>
        </p:nvGraphicFramePr>
        <p:xfrm>
          <a:off x="471473" y="1189247"/>
          <a:ext cx="11520178" cy="4698406"/>
        </p:xfrm>
        <a:graphic>
          <a:graphicData uri="http://schemas.openxmlformats.org/drawingml/2006/table">
            <a:tbl>
              <a:tblPr bandRow="1">
                <a:tableStyleId>{21E4AEA4-8DFA-4A89-87EB-49C32662AFE0}</a:tableStyleId>
              </a:tblPr>
              <a:tblGrid>
                <a:gridCol w="2127793">
                  <a:extLst>
                    <a:ext uri="{9D8B030D-6E8A-4147-A177-3AD203B41FA5}">
                      <a16:colId xmlns:a16="http://schemas.microsoft.com/office/drawing/2014/main" val="20000"/>
                    </a:ext>
                  </a:extLst>
                </a:gridCol>
                <a:gridCol w="1998133">
                  <a:extLst>
                    <a:ext uri="{9D8B030D-6E8A-4147-A177-3AD203B41FA5}">
                      <a16:colId xmlns:a16="http://schemas.microsoft.com/office/drawing/2014/main" val="20001"/>
                    </a:ext>
                  </a:extLst>
                </a:gridCol>
                <a:gridCol w="7394252">
                  <a:extLst>
                    <a:ext uri="{9D8B030D-6E8A-4147-A177-3AD203B41FA5}">
                      <a16:colId xmlns:a16="http://schemas.microsoft.com/office/drawing/2014/main" val="20002"/>
                    </a:ext>
                  </a:extLst>
                </a:gridCol>
              </a:tblGrid>
              <a:tr h="571503">
                <a:tc>
                  <a:txBody>
                    <a:bodyPr/>
                    <a:lstStyle/>
                    <a:p>
                      <a:pPr algn="ctr"/>
                      <a:r>
                        <a:rPr lang="en-AU" sz="1400" dirty="0">
                          <a:latin typeface="+mj-lt"/>
                          <a:ea typeface="Verdana" panose="020B0604030504040204" pitchFamily="34" charset="0"/>
                          <a:cs typeface="Verdana" panose="020B0604030504040204" pitchFamily="34" charset="0"/>
                        </a:rPr>
                        <a:t>Description</a:t>
                      </a:r>
                    </a:p>
                  </a:txBody>
                  <a:tcPr marL="112560" marR="112560" marT="60960" marB="60960" anchor="ctr"/>
                </a:tc>
                <a:tc gridSpan="2">
                  <a:txBody>
                    <a:bodyPr/>
                    <a:lstStyle/>
                    <a:p>
                      <a:r>
                        <a:rPr lang="en-AU" sz="1400" i="0" dirty="0">
                          <a:latin typeface="+mj-lt"/>
                          <a:ea typeface="Verdana" panose="020B0604030504040204" pitchFamily="34" charset="0"/>
                          <a:cs typeface="Verdana" panose="020B0604030504040204" pitchFamily="34" charset="0"/>
                        </a:rPr>
                        <a:t>WTP Birdwatching app – conceptual design</a:t>
                      </a:r>
                    </a:p>
                  </a:txBody>
                  <a:tcPr marL="112560" marR="112560" marT="60960" marB="60960" anchor="ctr"/>
                </a:tc>
                <a:tc hMerge="1">
                  <a:txBody>
                    <a:bodyPr/>
                    <a:lstStyle/>
                    <a:p>
                      <a:endParaRPr lang="en-AU"/>
                    </a:p>
                  </a:txBody>
                  <a:tcPr/>
                </a:tc>
                <a:extLst>
                  <a:ext uri="{0D108BD9-81ED-4DB2-BD59-A6C34878D82A}">
                    <a16:rowId xmlns:a16="http://schemas.microsoft.com/office/drawing/2014/main" val="10000"/>
                  </a:ext>
                </a:extLst>
              </a:tr>
              <a:tr h="494220">
                <a:tc>
                  <a:txBody>
                    <a:bodyPr/>
                    <a:lstStyle/>
                    <a:p>
                      <a:pPr algn="ctr"/>
                      <a:r>
                        <a:rPr lang="en-AU" sz="1400" dirty="0">
                          <a:latin typeface="+mj-lt"/>
                          <a:ea typeface="Verdana" panose="020B0604030504040204" pitchFamily="34" charset="0"/>
                          <a:cs typeface="Verdana" panose="020B0604030504040204" pitchFamily="34" charset="0"/>
                        </a:rPr>
                        <a:t>Scope</a:t>
                      </a:r>
                    </a:p>
                  </a:txBody>
                  <a:tcPr marL="112560" marR="112560" marT="60960" marB="60960" anchor="ctr"/>
                </a:tc>
                <a:tc gridSpan="2">
                  <a:txBody>
                    <a:bodyPr/>
                    <a:lstStyle/>
                    <a:p>
                      <a:r>
                        <a:rPr lang="en-AU" sz="1400" i="0" dirty="0">
                          <a:latin typeface="+mj-lt"/>
                          <a:ea typeface="Verdana" panose="020B0604030504040204" pitchFamily="34" charset="0"/>
                          <a:cs typeface="Verdana" panose="020B0604030504040204" pitchFamily="34" charset="0"/>
                        </a:rPr>
                        <a:t>Hosting environment</a:t>
                      </a:r>
                    </a:p>
                  </a:txBody>
                  <a:tcPr marL="112560" marR="112560" marT="60960" marB="60960" anchor="ctr"/>
                </a:tc>
                <a:tc hMerge="1">
                  <a:txBody>
                    <a:bodyPr/>
                    <a:lstStyle/>
                    <a:p>
                      <a:endParaRPr lang="en-AU"/>
                    </a:p>
                  </a:txBody>
                  <a:tcPr/>
                </a:tc>
                <a:extLst>
                  <a:ext uri="{0D108BD9-81ED-4DB2-BD59-A6C34878D82A}">
                    <a16:rowId xmlns:a16="http://schemas.microsoft.com/office/drawing/2014/main" val="10001"/>
                  </a:ext>
                </a:extLst>
              </a:tr>
              <a:tr h="561269">
                <a:tc>
                  <a:txBody>
                    <a:bodyPr/>
                    <a:lstStyle/>
                    <a:p>
                      <a:pPr algn="ctr"/>
                      <a:r>
                        <a:rPr lang="en-AU" sz="1400" dirty="0">
                          <a:latin typeface="+mj-lt"/>
                          <a:ea typeface="Verdana" panose="020B0604030504040204" pitchFamily="34" charset="0"/>
                          <a:cs typeface="Verdana" panose="020B0604030504040204" pitchFamily="34" charset="0"/>
                        </a:rPr>
                        <a:t>Options considered</a:t>
                      </a:r>
                    </a:p>
                  </a:txBody>
                  <a:tcPr marL="112560" marR="112560" marT="60960" marB="60960" anchor="ctr"/>
                </a:tc>
                <a:tc gridSpan="2">
                  <a:txBody>
                    <a:bodyPr/>
                    <a:lstStyle/>
                    <a:p>
                      <a:r>
                        <a:rPr lang="en-AU" sz="1400" dirty="0">
                          <a:latin typeface="+mj-lt"/>
                          <a:ea typeface="Verdana" panose="020B0604030504040204" pitchFamily="34" charset="0"/>
                          <a:cs typeface="Verdana" panose="020B0604030504040204" pitchFamily="34" charset="0"/>
                        </a:rPr>
                        <a:t>Option 1: MW Azure tenancy </a:t>
                      </a:r>
                    </a:p>
                    <a:p>
                      <a:r>
                        <a:rPr lang="en-AU" sz="1400" dirty="0">
                          <a:latin typeface="+mj-lt"/>
                          <a:ea typeface="Verdana" panose="020B0604030504040204" pitchFamily="34" charset="0"/>
                          <a:cs typeface="Verdana" panose="020B0604030504040204" pitchFamily="34" charset="0"/>
                        </a:rPr>
                        <a:t>Option 2: Other, separate environment</a:t>
                      </a:r>
                      <a:endParaRPr lang="en-AU" sz="1400" i="0" dirty="0">
                        <a:latin typeface="+mj-lt"/>
                        <a:ea typeface="Verdana" panose="020B0604030504040204" pitchFamily="34" charset="0"/>
                        <a:cs typeface="Verdana" panose="020B0604030504040204" pitchFamily="34" charset="0"/>
                      </a:endParaRPr>
                    </a:p>
                  </a:txBody>
                  <a:tcPr marL="112560" marR="112560" marT="60960" marB="60960" anchor="ctr"/>
                </a:tc>
                <a:tc hMerge="1">
                  <a:txBody>
                    <a:bodyPr/>
                    <a:lstStyle/>
                    <a:p>
                      <a:endParaRPr lang="en-AU"/>
                    </a:p>
                  </a:txBody>
                  <a:tcPr/>
                </a:tc>
                <a:extLst>
                  <a:ext uri="{0D108BD9-81ED-4DB2-BD59-A6C34878D82A}">
                    <a16:rowId xmlns:a16="http://schemas.microsoft.com/office/drawing/2014/main" val="10002"/>
                  </a:ext>
                </a:extLst>
              </a:tr>
              <a:tr h="732071">
                <a:tc>
                  <a:txBody>
                    <a:bodyPr/>
                    <a:lstStyle/>
                    <a:p>
                      <a:pPr algn="ctr"/>
                      <a:r>
                        <a:rPr lang="en-AU" sz="1400" dirty="0">
                          <a:latin typeface="+mj-lt"/>
                          <a:ea typeface="Verdana" panose="020B0604030504040204" pitchFamily="34" charset="0"/>
                          <a:cs typeface="Verdana" panose="020B0604030504040204" pitchFamily="34" charset="0"/>
                        </a:rPr>
                        <a:t>Recommended option</a:t>
                      </a:r>
                    </a:p>
                  </a:txBody>
                  <a:tcPr marL="112560" marR="112560" marT="60960" marB="60960" anchor="ctr"/>
                </a:tc>
                <a:tc gridSpan="2">
                  <a:txBody>
                    <a:bodyPr/>
                    <a:lstStyle/>
                    <a:p>
                      <a:r>
                        <a:rPr lang="en-AU" sz="1400" kern="1200" dirty="0">
                          <a:solidFill>
                            <a:schemeClr val="dk1"/>
                          </a:solidFill>
                          <a:latin typeface="+mn-lt"/>
                          <a:ea typeface="Verdana" panose="020B0604030504040204" pitchFamily="34" charset="0"/>
                          <a:cs typeface="Verdana" panose="020B0604030504040204" pitchFamily="34" charset="0"/>
                        </a:rPr>
                        <a:t>Option 1: MW Azure tenancy </a:t>
                      </a:r>
                    </a:p>
                  </a:txBody>
                  <a:tcPr marL="112560" marR="112560" marT="60960" marB="60960" anchor="ctr"/>
                </a:tc>
                <a:tc hMerge="1">
                  <a:txBody>
                    <a:bodyPr/>
                    <a:lstStyle/>
                    <a:p>
                      <a:endParaRPr lang="en-AU" dirty="0"/>
                    </a:p>
                  </a:txBody>
                  <a:tcPr/>
                </a:tc>
                <a:extLst>
                  <a:ext uri="{0D108BD9-81ED-4DB2-BD59-A6C34878D82A}">
                    <a16:rowId xmlns:a16="http://schemas.microsoft.com/office/drawing/2014/main" val="10003"/>
                  </a:ext>
                </a:extLst>
              </a:tr>
              <a:tr h="335280">
                <a:tc rowSpan="4">
                  <a:txBody>
                    <a:bodyPr/>
                    <a:lstStyle/>
                    <a:p>
                      <a:pPr algn="ctr"/>
                      <a:r>
                        <a:rPr lang="en-AU" sz="1400" dirty="0">
                          <a:latin typeface="+mj-lt"/>
                          <a:ea typeface="Verdana" panose="020B0604030504040204" pitchFamily="34" charset="0"/>
                          <a:cs typeface="Verdana" panose="020B0604030504040204" pitchFamily="34" charset="0"/>
                        </a:rPr>
                        <a:t>Justification</a:t>
                      </a:r>
                    </a:p>
                  </a:txBody>
                  <a:tcPr marL="112560" marR="112560" marT="60960" marB="60960" anchor="ctr"/>
                </a:tc>
                <a:tc>
                  <a:txBody>
                    <a:bodyPr/>
                    <a:lstStyle/>
                    <a:p>
                      <a:r>
                        <a:rPr lang="en-AU" sz="1400" dirty="0">
                          <a:latin typeface="+mj-lt"/>
                          <a:ea typeface="Verdana" panose="020B0604030504040204" pitchFamily="34" charset="0"/>
                          <a:cs typeface="Verdana" panose="020B0604030504040204" pitchFamily="34" charset="0"/>
                        </a:rPr>
                        <a:t>Strategic Alignment</a:t>
                      </a:r>
                      <a:endParaRPr lang="en-AU" sz="1400" i="0" dirty="0">
                        <a:latin typeface="+mj-lt"/>
                        <a:ea typeface="Verdana" panose="020B0604030504040204" pitchFamily="34" charset="0"/>
                        <a:cs typeface="Verdana" panose="020B0604030504040204" pitchFamily="34" charset="0"/>
                      </a:endParaRPr>
                    </a:p>
                  </a:txBody>
                  <a:tcPr marL="112560" marR="112560" marT="60960" marB="60960" anchor="ctr"/>
                </a:tc>
                <a:tc>
                  <a:txBody>
                    <a:bodyPr/>
                    <a:lstStyle/>
                    <a:p>
                      <a:r>
                        <a:rPr lang="en-AU" sz="1400" i="0" dirty="0">
                          <a:latin typeface="+mj-lt"/>
                          <a:ea typeface="Verdana" panose="020B0604030504040204" pitchFamily="34" charset="0"/>
                          <a:cs typeface="Verdana" panose="020B0604030504040204" pitchFamily="34" charset="0"/>
                        </a:rPr>
                        <a:t>Alignment with current cloud hosting strategy</a:t>
                      </a:r>
                    </a:p>
                  </a:txBody>
                  <a:tcPr marL="112560" marR="112560" marT="60960" marB="60960" anchor="ctr"/>
                </a:tc>
                <a:extLst>
                  <a:ext uri="{0D108BD9-81ED-4DB2-BD59-A6C34878D82A}">
                    <a16:rowId xmlns:a16="http://schemas.microsoft.com/office/drawing/2014/main" val="10004"/>
                  </a:ext>
                </a:extLst>
              </a:tr>
              <a:tr h="335280">
                <a:tc vMerge="1">
                  <a:txBody>
                    <a:bodyPr/>
                    <a:lstStyle/>
                    <a:p>
                      <a:endParaRPr lang="en-AU"/>
                    </a:p>
                  </a:txBody>
                  <a:tcPr/>
                </a:tc>
                <a:tc>
                  <a:txBody>
                    <a:bodyPr/>
                    <a:lstStyle/>
                    <a:p>
                      <a:r>
                        <a:rPr lang="en-AU" sz="1400" dirty="0">
                          <a:latin typeface="+mj-lt"/>
                          <a:ea typeface="Verdana" panose="020B0604030504040204" pitchFamily="34" charset="0"/>
                          <a:cs typeface="Verdana" panose="020B0604030504040204" pitchFamily="34" charset="0"/>
                        </a:rPr>
                        <a:t>Solution Risk</a:t>
                      </a:r>
                      <a:endParaRPr lang="en-AU" sz="1400" i="0" dirty="0">
                        <a:latin typeface="+mj-lt"/>
                        <a:ea typeface="Verdana" panose="020B0604030504040204" pitchFamily="34" charset="0"/>
                        <a:cs typeface="Verdana" panose="020B0604030504040204" pitchFamily="34" charset="0"/>
                      </a:endParaRPr>
                    </a:p>
                  </a:txBody>
                  <a:tcPr marL="112560" marR="112560" marT="60960" marB="60960" anchor="ctr"/>
                </a:tc>
                <a:tc>
                  <a:txBody>
                    <a:bodyPr/>
                    <a:lstStyle/>
                    <a:p>
                      <a:r>
                        <a:rPr lang="en-AU" sz="1400" i="0" dirty="0">
                          <a:latin typeface="+mj-lt"/>
                          <a:ea typeface="Verdana" panose="020B0604030504040204" pitchFamily="34" charset="0"/>
                          <a:cs typeface="Verdana" panose="020B0604030504040204" pitchFamily="34" charset="0"/>
                        </a:rPr>
                        <a:t>Moderate risk – proposed system will have external facing APIs</a:t>
                      </a:r>
                    </a:p>
                  </a:txBody>
                  <a:tcPr marL="112560" marR="112560" marT="60960" marB="60960" anchor="ctr"/>
                </a:tc>
                <a:extLst>
                  <a:ext uri="{0D108BD9-81ED-4DB2-BD59-A6C34878D82A}">
                    <a16:rowId xmlns:a16="http://schemas.microsoft.com/office/drawing/2014/main" val="10005"/>
                  </a:ext>
                </a:extLst>
              </a:tr>
              <a:tr h="335280">
                <a:tc vMerge="1">
                  <a:txBody>
                    <a:bodyPr/>
                    <a:lstStyle/>
                    <a:p>
                      <a:endParaRPr lang="en-AU"/>
                    </a:p>
                  </a:txBody>
                  <a:tcPr/>
                </a:tc>
                <a:tc>
                  <a:txBody>
                    <a:bodyPr/>
                    <a:lstStyle/>
                    <a:p>
                      <a:r>
                        <a:rPr lang="en-AU" sz="1400" dirty="0">
                          <a:latin typeface="+mj-lt"/>
                          <a:ea typeface="Verdana" panose="020B0604030504040204" pitchFamily="34" charset="0"/>
                          <a:cs typeface="Verdana" panose="020B0604030504040204" pitchFamily="34" charset="0"/>
                        </a:rPr>
                        <a:t>Functional Fit</a:t>
                      </a:r>
                      <a:endParaRPr lang="en-AU" sz="1400" i="0" dirty="0">
                        <a:latin typeface="+mj-lt"/>
                        <a:ea typeface="Verdana" panose="020B0604030504040204" pitchFamily="34" charset="0"/>
                        <a:cs typeface="Verdana" panose="020B0604030504040204" pitchFamily="34" charset="0"/>
                      </a:endParaRPr>
                    </a:p>
                  </a:txBody>
                  <a:tcPr marL="112560" marR="112560" marT="60960" marB="60960" anchor="ctr"/>
                </a:tc>
                <a:tc>
                  <a:txBody>
                    <a:bodyPr/>
                    <a:lstStyle/>
                    <a:p>
                      <a:r>
                        <a:rPr lang="en-AU" sz="1400" i="0" dirty="0">
                          <a:latin typeface="+mj-lt"/>
                          <a:ea typeface="Verdana" panose="020B0604030504040204" pitchFamily="34" charset="0"/>
                          <a:cs typeface="Verdana" panose="020B0604030504040204" pitchFamily="34" charset="0"/>
                        </a:rPr>
                        <a:t>Proposed solution meets business functional needs</a:t>
                      </a:r>
                    </a:p>
                  </a:txBody>
                  <a:tcPr marL="112560" marR="112560" marT="60960" marB="60960" anchor="ctr"/>
                </a:tc>
                <a:extLst>
                  <a:ext uri="{0D108BD9-81ED-4DB2-BD59-A6C34878D82A}">
                    <a16:rowId xmlns:a16="http://schemas.microsoft.com/office/drawing/2014/main" val="10006"/>
                  </a:ext>
                </a:extLst>
              </a:tr>
              <a:tr h="335280">
                <a:tc vMerge="1">
                  <a:txBody>
                    <a:bodyPr/>
                    <a:lstStyle/>
                    <a:p>
                      <a:endParaRPr lang="en-AU"/>
                    </a:p>
                  </a:txBody>
                  <a:tcPr/>
                </a:tc>
                <a:tc>
                  <a:txBody>
                    <a:bodyPr/>
                    <a:lstStyle/>
                    <a:p>
                      <a:r>
                        <a:rPr lang="en-AU" sz="1400" dirty="0">
                          <a:latin typeface="+mj-lt"/>
                          <a:ea typeface="Verdana" panose="020B0604030504040204" pitchFamily="34" charset="0"/>
                          <a:cs typeface="Verdana" panose="020B0604030504040204" pitchFamily="34" charset="0"/>
                        </a:rPr>
                        <a:t>Total Cost of Ownership</a:t>
                      </a:r>
                      <a:endParaRPr lang="en-AU" sz="1400" i="0" dirty="0">
                        <a:latin typeface="+mj-lt"/>
                        <a:ea typeface="Verdana" panose="020B0604030504040204" pitchFamily="34" charset="0"/>
                        <a:cs typeface="Verdana" panose="020B0604030504040204" pitchFamily="34" charset="0"/>
                      </a:endParaRPr>
                    </a:p>
                  </a:txBody>
                  <a:tcPr marL="112560" marR="112560" marT="60960" marB="60960" anchor="ctr"/>
                </a:tc>
                <a:tc>
                  <a:txBody>
                    <a:bodyPr/>
                    <a:lstStyle/>
                    <a:p>
                      <a:r>
                        <a:rPr lang="en-AU" sz="1400" i="0" dirty="0">
                          <a:latin typeface="+mj-lt"/>
                          <a:ea typeface="Verdana" panose="020B0604030504040204" pitchFamily="34" charset="0"/>
                          <a:cs typeface="Verdana" panose="020B0604030504040204" pitchFamily="34" charset="0"/>
                        </a:rPr>
                        <a:t>Ongoing management of the system will be required. It is proposed to utilise our internal development team for this.</a:t>
                      </a:r>
                    </a:p>
                    <a:p>
                      <a:endParaRPr lang="en-AU" sz="1400" i="0" dirty="0">
                        <a:latin typeface="+mj-lt"/>
                        <a:ea typeface="Verdana" panose="020B0604030504040204" pitchFamily="34" charset="0"/>
                        <a:cs typeface="Verdana" panose="020B0604030504040204" pitchFamily="34" charset="0"/>
                      </a:endParaRPr>
                    </a:p>
                  </a:txBody>
                  <a:tcPr marL="112560" marR="112560" marT="60960" marB="60960" anchor="ctr"/>
                </a:tc>
                <a:extLst>
                  <a:ext uri="{0D108BD9-81ED-4DB2-BD59-A6C34878D82A}">
                    <a16:rowId xmlns:a16="http://schemas.microsoft.com/office/drawing/2014/main" val="10007"/>
                  </a:ext>
                </a:extLst>
              </a:tr>
              <a:tr h="571503">
                <a:tc>
                  <a:txBody>
                    <a:bodyPr/>
                    <a:lstStyle/>
                    <a:p>
                      <a:pPr algn="ctr"/>
                      <a:r>
                        <a:rPr lang="en-AU" sz="1400" dirty="0">
                          <a:latin typeface="+mj-lt"/>
                          <a:ea typeface="Verdana" panose="020B0604030504040204" pitchFamily="34" charset="0"/>
                          <a:cs typeface="Verdana" panose="020B0604030504040204" pitchFamily="34" charset="0"/>
                        </a:rPr>
                        <a:t>Trade-offs</a:t>
                      </a:r>
                    </a:p>
                  </a:txBody>
                  <a:tcPr marL="112560" marR="112560" marT="60960" marB="60960" anchor="ctr"/>
                </a:tc>
                <a:tc gridSpan="2">
                  <a:txBody>
                    <a:bodyPr/>
                    <a:lstStyle/>
                    <a:p>
                      <a:r>
                        <a:rPr lang="en-AU" sz="1400" i="0" dirty="0">
                          <a:latin typeface="+mj-lt"/>
                          <a:ea typeface="Verdana" panose="020B0604030504040204" pitchFamily="34" charset="0"/>
                          <a:cs typeface="Verdana" panose="020B0604030504040204" pitchFamily="34" charset="0"/>
                        </a:rPr>
                        <a:t>The proposed solution will use an internal database based authentication for public users. While the strategic option would be to integrate with Dynamics and use Entra ID B2C, this isn’t feasible at this time (Recommend re-visiting in 2 years time)</a:t>
                      </a:r>
                    </a:p>
                  </a:txBody>
                  <a:tcPr marL="112560" marR="112560" marT="60960" marB="60960" anchor="ctr"/>
                </a:tc>
                <a:tc hMerge="1">
                  <a:txBody>
                    <a:bodyPr/>
                    <a:lstStyle/>
                    <a:p>
                      <a:endParaRPr lang="en-AU"/>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86126783"/>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2400" dirty="0"/>
              <a:t>Key Decision 1: Principles Alignment</a:t>
            </a:r>
          </a:p>
        </p:txBody>
      </p:sp>
      <p:sp>
        <p:nvSpPr>
          <p:cNvPr id="3" name="AutoShape 2" descr="Enlarge Image"/>
          <p:cNvSpPr>
            <a:spLocks noChangeAspect="1" noChangeArrowheads="1"/>
          </p:cNvSpPr>
          <p:nvPr/>
        </p:nvSpPr>
        <p:spPr bwMode="auto">
          <a:xfrm>
            <a:off x="207433" y="-144462"/>
            <a:ext cx="4064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AU" sz="2400">
              <a:latin typeface="+mj-lt"/>
            </a:endParaRPr>
          </a:p>
        </p:txBody>
      </p:sp>
      <p:graphicFrame>
        <p:nvGraphicFramePr>
          <p:cNvPr id="5" name="Content Placeholder 5"/>
          <p:cNvGraphicFramePr>
            <a:graphicFrameLocks noGrp="1"/>
          </p:cNvGraphicFramePr>
          <p:nvPr>
            <p:ph sz="quarter" idx="10"/>
            <p:extLst>
              <p:ext uri="{D42A27DB-BD31-4B8C-83A1-F6EECF244321}">
                <p14:modId xmlns:p14="http://schemas.microsoft.com/office/powerpoint/2010/main" val="277094058"/>
              </p:ext>
            </p:extLst>
          </p:nvPr>
        </p:nvGraphicFramePr>
        <p:xfrm>
          <a:off x="207433" y="1180594"/>
          <a:ext cx="11752900" cy="4627603"/>
        </p:xfrm>
        <a:graphic>
          <a:graphicData uri="http://schemas.openxmlformats.org/drawingml/2006/table">
            <a:tbl>
              <a:tblPr firstRow="1" bandRow="1">
                <a:tableStyleId>{5C22544A-7EE6-4342-B048-85BDC9FD1C3A}</a:tableStyleId>
              </a:tblPr>
              <a:tblGrid>
                <a:gridCol w="2672471">
                  <a:extLst>
                    <a:ext uri="{9D8B030D-6E8A-4147-A177-3AD203B41FA5}">
                      <a16:colId xmlns:a16="http://schemas.microsoft.com/office/drawing/2014/main" val="20000"/>
                    </a:ext>
                  </a:extLst>
                </a:gridCol>
                <a:gridCol w="1510392">
                  <a:extLst>
                    <a:ext uri="{9D8B030D-6E8A-4147-A177-3AD203B41FA5}">
                      <a16:colId xmlns:a16="http://schemas.microsoft.com/office/drawing/2014/main" val="20001"/>
                    </a:ext>
                  </a:extLst>
                </a:gridCol>
                <a:gridCol w="7570037">
                  <a:extLst>
                    <a:ext uri="{9D8B030D-6E8A-4147-A177-3AD203B41FA5}">
                      <a16:colId xmlns:a16="http://schemas.microsoft.com/office/drawing/2014/main" val="20002"/>
                    </a:ext>
                  </a:extLst>
                </a:gridCol>
              </a:tblGrid>
              <a:tr h="525219">
                <a:tc>
                  <a:txBody>
                    <a:bodyPr/>
                    <a:lstStyle/>
                    <a:p>
                      <a:pPr algn="ctr"/>
                      <a:r>
                        <a:rPr lang="en-AU" sz="1500" b="1" kern="1200" dirty="0">
                          <a:solidFill>
                            <a:schemeClr val="lt1"/>
                          </a:solidFill>
                          <a:latin typeface="+mn-lt"/>
                          <a:ea typeface="Verdana" panose="020B0604030504040204" pitchFamily="34" charset="0"/>
                          <a:cs typeface="Verdana" panose="020B0604030504040204" pitchFamily="34" charset="0"/>
                        </a:rPr>
                        <a:t>Architecture</a:t>
                      </a:r>
                      <a:r>
                        <a:rPr lang="en-AU" sz="1500" b="1" kern="1200" baseline="0" dirty="0">
                          <a:solidFill>
                            <a:schemeClr val="lt1"/>
                          </a:solidFill>
                          <a:latin typeface="+mn-lt"/>
                          <a:ea typeface="Verdana" panose="020B0604030504040204" pitchFamily="34" charset="0"/>
                          <a:cs typeface="Verdana" panose="020B0604030504040204" pitchFamily="34" charset="0"/>
                        </a:rPr>
                        <a:t> principles</a:t>
                      </a:r>
                      <a:endParaRPr lang="en-AU" sz="1500" b="1" kern="1200" dirty="0">
                        <a:solidFill>
                          <a:schemeClr val="lt1"/>
                        </a:solidFill>
                        <a:latin typeface="+mn-lt"/>
                        <a:ea typeface="Verdana" panose="020B0604030504040204" pitchFamily="34" charset="0"/>
                        <a:cs typeface="Verdana" panose="020B0604030504040204" pitchFamily="34" charset="0"/>
                      </a:endParaRPr>
                    </a:p>
                  </a:txBody>
                  <a:tcPr marL="121920" marR="121920" marT="60960" marB="60960" anchor="ctr"/>
                </a:tc>
                <a:tc>
                  <a:txBody>
                    <a:bodyPr/>
                    <a:lstStyle/>
                    <a:p>
                      <a:pPr algn="ctr"/>
                      <a:r>
                        <a:rPr lang="en-AU" sz="1500" dirty="0">
                          <a:latin typeface="+mn-lt"/>
                          <a:ea typeface="Verdana" panose="020B0604030504040204" pitchFamily="34" charset="0"/>
                          <a:cs typeface="Verdana" panose="020B0604030504040204" pitchFamily="34" charset="0"/>
                        </a:rPr>
                        <a:t>Alignment</a:t>
                      </a:r>
                    </a:p>
                  </a:txBody>
                  <a:tcPr marL="121920" marR="121920" marT="60960" marB="60960" anchor="ctr"/>
                </a:tc>
                <a:tc>
                  <a:txBody>
                    <a:bodyPr/>
                    <a:lstStyle/>
                    <a:p>
                      <a:pPr algn="ctr"/>
                      <a:r>
                        <a:rPr lang="en-AU" sz="1500" dirty="0">
                          <a:latin typeface="+mn-lt"/>
                          <a:ea typeface="Verdana" panose="020B0604030504040204" pitchFamily="34" charset="0"/>
                          <a:cs typeface="Verdana" panose="020B0604030504040204" pitchFamily="34" charset="0"/>
                        </a:rPr>
                        <a:t>Rationale and business</a:t>
                      </a:r>
                      <a:r>
                        <a:rPr lang="en-AU" sz="1500" baseline="0" dirty="0">
                          <a:latin typeface="+mn-lt"/>
                          <a:ea typeface="Verdana" panose="020B0604030504040204" pitchFamily="34" charset="0"/>
                          <a:cs typeface="Verdana" panose="020B0604030504040204" pitchFamily="34" charset="0"/>
                        </a:rPr>
                        <a:t> Implications</a:t>
                      </a:r>
                      <a:endParaRPr lang="en-AU" sz="1500" dirty="0">
                        <a:latin typeface="+mn-lt"/>
                        <a:ea typeface="Verdana" panose="020B0604030504040204" pitchFamily="34" charset="0"/>
                        <a:cs typeface="Verdana" panose="020B0604030504040204" pitchFamily="34" charset="0"/>
                      </a:endParaRPr>
                    </a:p>
                  </a:txBody>
                  <a:tcPr marL="121920" marR="121920" marT="60960" marB="60960" anchor="ctr"/>
                </a:tc>
                <a:extLst>
                  <a:ext uri="{0D108BD9-81ED-4DB2-BD59-A6C34878D82A}">
                    <a16:rowId xmlns:a16="http://schemas.microsoft.com/office/drawing/2014/main" val="10000"/>
                  </a:ext>
                </a:extLst>
              </a:tr>
              <a:tr h="525219">
                <a:tc>
                  <a:txBody>
                    <a:bodyPr/>
                    <a:lstStyle/>
                    <a:p>
                      <a:pPr algn="ctr">
                        <a:spcAft>
                          <a:spcPts val="0"/>
                        </a:spcAft>
                      </a:pPr>
                      <a:r>
                        <a:rPr lang="en-AU" sz="1400" b="0" dirty="0">
                          <a:solidFill>
                            <a:schemeClr val="tx1"/>
                          </a:solidFill>
                          <a:effectLst/>
                          <a:latin typeface="+mn-lt"/>
                          <a:ea typeface="Verdana" panose="020B0604030504040204" pitchFamily="34" charset="0"/>
                          <a:cs typeface="Verdana" panose="020B0604030504040204" pitchFamily="34" charset="0"/>
                        </a:rPr>
                        <a:t>Maximise</a:t>
                      </a:r>
                      <a:r>
                        <a:rPr lang="en-AU" sz="1400" b="0" baseline="0" dirty="0">
                          <a:solidFill>
                            <a:schemeClr val="tx1"/>
                          </a:solidFill>
                          <a:effectLst/>
                          <a:latin typeface="+mn-lt"/>
                          <a:ea typeface="Verdana" panose="020B0604030504040204" pitchFamily="34" charset="0"/>
                          <a:cs typeface="Verdana" panose="020B0604030504040204" pitchFamily="34" charset="0"/>
                        </a:rPr>
                        <a:t> the benefit to the Enterprise</a:t>
                      </a:r>
                      <a:endParaRPr lang="en-AU" sz="1400" b="0" dirty="0">
                        <a:solidFill>
                          <a:schemeClr val="tx1"/>
                        </a:solidFill>
                        <a:effectLst/>
                        <a:latin typeface="+mn-lt"/>
                        <a:ea typeface="Verdana" panose="020B0604030504040204" pitchFamily="34" charset="0"/>
                        <a:cs typeface="Verdana" panose="020B0604030504040204" pitchFamily="34" charset="0"/>
                      </a:endParaRPr>
                    </a:p>
                  </a:txBody>
                  <a:tcPr marL="84421" marR="84421" marT="0" marB="0" anchor="ctr">
                    <a:solidFill>
                      <a:schemeClr val="bg1"/>
                    </a:solidFill>
                  </a:tcPr>
                </a:tc>
                <a:tc>
                  <a:txBody>
                    <a:bodyPr/>
                    <a:lstStyle/>
                    <a:p>
                      <a:pPr algn="ctr"/>
                      <a:r>
                        <a:rPr lang="en-AU" sz="1400" dirty="0">
                          <a:latin typeface="+mn-lt"/>
                          <a:ea typeface="Verdana" panose="020B0604030504040204" pitchFamily="34" charset="0"/>
                          <a:cs typeface="Verdana" panose="020B0604030504040204" pitchFamily="34" charset="0"/>
                        </a:rPr>
                        <a:t>Full</a:t>
                      </a:r>
                    </a:p>
                  </a:txBody>
                  <a:tcPr marL="121920" marR="121920" marT="60960" marB="60960" anchor="ctr">
                    <a:solidFill>
                      <a:schemeClr val="accent3">
                        <a:lumMod val="60000"/>
                        <a:lumOff val="40000"/>
                      </a:schemeClr>
                    </a:solidFill>
                  </a:tcPr>
                </a:tc>
                <a:tc>
                  <a:txBody>
                    <a:bodyPr/>
                    <a:lstStyle/>
                    <a:p>
                      <a:pPr algn="l"/>
                      <a:r>
                        <a:rPr lang="en-AU" sz="1400" baseline="0" dirty="0">
                          <a:latin typeface="+mn-lt"/>
                          <a:ea typeface="Verdana" panose="020B0604030504040204" pitchFamily="34" charset="0"/>
                          <a:cs typeface="Verdana" panose="020B0604030504040204" pitchFamily="34" charset="0"/>
                        </a:rPr>
                        <a:t>Will provide improved customer experience for public stakeholders</a:t>
                      </a:r>
                    </a:p>
                  </a:txBody>
                  <a:tcPr marL="121920" marR="121920" marT="60960" marB="60960" anchor="ctr">
                    <a:solidFill>
                      <a:schemeClr val="bg1"/>
                    </a:solidFill>
                  </a:tcPr>
                </a:tc>
                <a:extLst>
                  <a:ext uri="{0D108BD9-81ED-4DB2-BD59-A6C34878D82A}">
                    <a16:rowId xmlns:a16="http://schemas.microsoft.com/office/drawing/2014/main" val="10001"/>
                  </a:ext>
                </a:extLst>
              </a:tr>
              <a:tr h="581999">
                <a:tc>
                  <a:txBody>
                    <a:bodyPr/>
                    <a:lstStyle/>
                    <a:p>
                      <a:pPr algn="ctr">
                        <a:spcAft>
                          <a:spcPts val="0"/>
                        </a:spcAft>
                      </a:pPr>
                      <a:r>
                        <a:rPr lang="en-AU" sz="1400" b="0" dirty="0">
                          <a:solidFill>
                            <a:schemeClr val="tx1"/>
                          </a:solidFill>
                          <a:effectLst/>
                          <a:latin typeface="+mn-lt"/>
                          <a:ea typeface="Verdana" panose="020B0604030504040204" pitchFamily="34" charset="0"/>
                          <a:cs typeface="Verdana" panose="020B0604030504040204" pitchFamily="34" charset="0"/>
                        </a:rPr>
                        <a:t>Deliver with early and continuous engagement of stakeholders</a:t>
                      </a:r>
                    </a:p>
                  </a:txBody>
                  <a:tcPr marL="84421" marR="84421" marT="0" marB="0" anchor="ctr">
                    <a:solidFill>
                      <a:schemeClr val="bg1"/>
                    </a:solidFill>
                  </a:tcPr>
                </a:tc>
                <a:tc>
                  <a:txBody>
                    <a:bodyPr/>
                    <a:lstStyle/>
                    <a:p>
                      <a:pPr algn="ctr"/>
                      <a:r>
                        <a:rPr lang="en-AU" sz="1400" dirty="0">
                          <a:latin typeface="+mn-lt"/>
                          <a:ea typeface="Verdana" panose="020B0604030504040204" pitchFamily="34" charset="0"/>
                          <a:cs typeface="Verdana" panose="020B0604030504040204" pitchFamily="34" charset="0"/>
                        </a:rPr>
                        <a:t>Full</a:t>
                      </a:r>
                    </a:p>
                  </a:txBody>
                  <a:tcPr marL="121920" marR="121920" marT="60960" marB="60960" anchor="ctr">
                    <a:solidFill>
                      <a:schemeClr val="accent3">
                        <a:lumMod val="60000"/>
                        <a:lumOff val="40000"/>
                      </a:schemeClr>
                    </a:solidFill>
                  </a:tcPr>
                </a:tc>
                <a:tc>
                  <a:txBody>
                    <a:bodyPr/>
                    <a:lstStyle/>
                    <a:p>
                      <a:pPr algn="l"/>
                      <a:r>
                        <a:rPr lang="en-AU" sz="1400" dirty="0">
                          <a:latin typeface="+mn-lt"/>
                          <a:ea typeface="Verdana" panose="020B0604030504040204" pitchFamily="34" charset="0"/>
                          <a:cs typeface="Verdana" panose="020B0604030504040204" pitchFamily="34" charset="0"/>
                        </a:rPr>
                        <a:t>Solution has been developed with business stakeholders</a:t>
                      </a:r>
                    </a:p>
                  </a:txBody>
                  <a:tcPr marL="121920" marR="121920" marT="60960" marB="60960" anchor="ctr">
                    <a:solidFill>
                      <a:schemeClr val="bg1"/>
                    </a:solidFill>
                  </a:tcPr>
                </a:tc>
                <a:extLst>
                  <a:ext uri="{0D108BD9-81ED-4DB2-BD59-A6C34878D82A}">
                    <a16:rowId xmlns:a16="http://schemas.microsoft.com/office/drawing/2014/main" val="10002"/>
                  </a:ext>
                </a:extLst>
              </a:tr>
              <a:tr h="581999">
                <a:tc>
                  <a:txBody>
                    <a:bodyPr/>
                    <a:lstStyle/>
                    <a:p>
                      <a:pPr algn="ctr">
                        <a:spcAft>
                          <a:spcPts val="0"/>
                        </a:spcAft>
                      </a:pPr>
                      <a:r>
                        <a:rPr lang="en-AU" sz="1400" b="0" kern="1200" dirty="0">
                          <a:solidFill>
                            <a:schemeClr val="tx1"/>
                          </a:solidFill>
                          <a:effectLst/>
                          <a:latin typeface="+mn-lt"/>
                          <a:ea typeface="Verdana" panose="020B0604030504040204" pitchFamily="34" charset="0"/>
                          <a:cs typeface="Verdana" panose="020B0604030504040204" pitchFamily="34" charset="0"/>
                        </a:rPr>
                        <a:t>Simplify and Standardise the architecture</a:t>
                      </a:r>
                    </a:p>
                  </a:txBody>
                  <a:tcPr marL="84421" marR="84421" marT="0" marB="0" anchor="c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0"/>
                          </a:solidFill>
                          <a:effectLst/>
                          <a:uLnTx/>
                          <a:uFillTx/>
                          <a:latin typeface="Calibri"/>
                          <a:ea typeface="Verdana" panose="020B0604030504040204" pitchFamily="34" charset="0"/>
                          <a:cs typeface="Verdana" panose="020B0604030504040204" pitchFamily="34" charset="0"/>
                        </a:rPr>
                        <a:t>Full</a:t>
                      </a:r>
                    </a:p>
                  </a:txBody>
                  <a:tcPr marL="121920" marR="121920" marT="60960" marB="60960" anchor="ctr">
                    <a:solidFill>
                      <a:schemeClr val="accent3">
                        <a:lumMod val="60000"/>
                        <a:lumOff val="40000"/>
                      </a:schemeClr>
                    </a:solidFill>
                  </a:tcPr>
                </a:tc>
                <a:tc>
                  <a:txBody>
                    <a:bodyPr/>
                    <a:lstStyle/>
                    <a:p>
                      <a:pPr algn="l"/>
                      <a:r>
                        <a:rPr lang="en-AU" sz="1400" dirty="0">
                          <a:latin typeface="+mn-lt"/>
                          <a:ea typeface="Verdana" panose="020B0604030504040204" pitchFamily="34" charset="0"/>
                          <a:cs typeface="Verdana" panose="020B0604030504040204" pitchFamily="34" charset="0"/>
                        </a:rPr>
                        <a:t>Will use standard mobile application software stack</a:t>
                      </a:r>
                    </a:p>
                  </a:txBody>
                  <a:tcPr marL="121920" marR="121920" marT="60960" marB="60960" anchor="ctr">
                    <a:solidFill>
                      <a:schemeClr val="bg1"/>
                    </a:solidFill>
                  </a:tcPr>
                </a:tc>
                <a:extLst>
                  <a:ext uri="{0D108BD9-81ED-4DB2-BD59-A6C34878D82A}">
                    <a16:rowId xmlns:a16="http://schemas.microsoft.com/office/drawing/2014/main" val="10003"/>
                  </a:ext>
                </a:extLst>
              </a:tr>
              <a:tr h="681365">
                <a:tc>
                  <a:txBody>
                    <a:bodyPr/>
                    <a:lstStyle/>
                    <a:p>
                      <a:pPr algn="ctr">
                        <a:spcAft>
                          <a:spcPts val="0"/>
                        </a:spcAft>
                      </a:pPr>
                      <a:r>
                        <a:rPr lang="en-AU" sz="1400" b="0" kern="1200" dirty="0">
                          <a:solidFill>
                            <a:schemeClr val="tx1"/>
                          </a:solidFill>
                          <a:effectLst/>
                          <a:latin typeface="+mn-lt"/>
                          <a:ea typeface="Verdana" panose="020B0604030504040204" pitchFamily="34" charset="0"/>
                          <a:cs typeface="Verdana" panose="020B0604030504040204" pitchFamily="34" charset="0"/>
                        </a:rPr>
                        <a:t>Consider end-to-end service lifecycle and total cost of ownership in decisions</a:t>
                      </a:r>
                    </a:p>
                  </a:txBody>
                  <a:tcPr marL="84421" marR="84421" marT="0" marB="0" anchor="c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0"/>
                          </a:solidFill>
                          <a:effectLst/>
                          <a:uLnTx/>
                          <a:uFillTx/>
                          <a:latin typeface="Calibri"/>
                          <a:ea typeface="Verdana" panose="020B0604030504040204" pitchFamily="34" charset="0"/>
                          <a:cs typeface="Verdana" panose="020B0604030504040204" pitchFamily="34" charset="0"/>
                        </a:rPr>
                        <a:t>Full</a:t>
                      </a:r>
                    </a:p>
                  </a:txBody>
                  <a:tcPr marL="121920" marR="121920" marT="60960" marB="60960" anchor="ctr">
                    <a:solidFill>
                      <a:schemeClr val="accent3">
                        <a:lumMod val="60000"/>
                        <a:lumOff val="40000"/>
                      </a:schemeClr>
                    </a:solidFill>
                  </a:tcPr>
                </a:tc>
                <a:tc>
                  <a:txBody>
                    <a:bodyPr/>
                    <a:lstStyle/>
                    <a:p>
                      <a:pPr marL="0" indent="0" algn="l">
                        <a:buFont typeface="Arial" panose="020B0604020202020204" pitchFamily="34" charset="0"/>
                        <a:buNone/>
                      </a:pPr>
                      <a:r>
                        <a:rPr lang="en-AU" sz="1400" baseline="0" dirty="0">
                          <a:latin typeface="+mn-lt"/>
                          <a:ea typeface="Verdana" panose="020B0604030504040204" pitchFamily="34" charset="0"/>
                          <a:cs typeface="Verdana" panose="020B0604030504040204" pitchFamily="34" charset="0"/>
                        </a:rPr>
                        <a:t>Will leverage in-house mobile application capability</a:t>
                      </a:r>
                    </a:p>
                  </a:txBody>
                  <a:tcPr marL="121920" marR="121920" marT="60960" marB="60960" anchor="ctr">
                    <a:solidFill>
                      <a:schemeClr val="bg1"/>
                    </a:solidFill>
                  </a:tcPr>
                </a:tc>
                <a:extLst>
                  <a:ext uri="{0D108BD9-81ED-4DB2-BD59-A6C34878D82A}">
                    <a16:rowId xmlns:a16="http://schemas.microsoft.com/office/drawing/2014/main" val="10004"/>
                  </a:ext>
                </a:extLst>
              </a:tr>
              <a:tr h="581999">
                <a:tc>
                  <a:txBody>
                    <a:bodyPr/>
                    <a:lstStyle/>
                    <a:p>
                      <a:pPr algn="ctr">
                        <a:spcAft>
                          <a:spcPts val="0"/>
                        </a:spcAft>
                      </a:pPr>
                      <a:r>
                        <a:rPr lang="en-AU" sz="1400" b="0" kern="1200" dirty="0">
                          <a:solidFill>
                            <a:schemeClr val="tx1"/>
                          </a:solidFill>
                          <a:effectLst/>
                          <a:latin typeface="+mn-lt"/>
                          <a:ea typeface="Verdana" panose="020B0604030504040204" pitchFamily="34" charset="0"/>
                          <a:cs typeface="Verdana" panose="020B0604030504040204" pitchFamily="34" charset="0"/>
                        </a:rPr>
                        <a:t>Care for information</a:t>
                      </a:r>
                    </a:p>
                  </a:txBody>
                  <a:tcPr marL="84421" marR="84421" marT="0" marB="0" anchor="ctr">
                    <a:solidFill>
                      <a:schemeClr val="bg1"/>
                    </a:solidFill>
                  </a:tcPr>
                </a:tc>
                <a:tc>
                  <a:txBody>
                    <a:bodyPr/>
                    <a:lstStyle/>
                    <a:p>
                      <a:pPr algn="ctr"/>
                      <a:r>
                        <a:rPr lang="en-AU" sz="1400" dirty="0">
                          <a:solidFill>
                            <a:schemeClr val="tx1"/>
                          </a:solidFill>
                          <a:latin typeface="+mn-lt"/>
                          <a:ea typeface="Verdana" panose="020B0604030504040204" pitchFamily="34" charset="0"/>
                          <a:cs typeface="Verdana" panose="020B0604030504040204" pitchFamily="34" charset="0"/>
                        </a:rPr>
                        <a:t>Full</a:t>
                      </a:r>
                    </a:p>
                  </a:txBody>
                  <a:tcPr marL="121920" marR="121920" marT="60960" marB="60960" anchor="ctr">
                    <a:solidFill>
                      <a:schemeClr val="accent3">
                        <a:lumMod val="60000"/>
                        <a:lumOff val="40000"/>
                      </a:schemeClr>
                    </a:solidFill>
                  </a:tcPr>
                </a:tc>
                <a:tc>
                  <a:txBody>
                    <a:bodyPr/>
                    <a:lstStyle/>
                    <a:p>
                      <a:pPr algn="l"/>
                      <a:r>
                        <a:rPr lang="en-AU" sz="1400" dirty="0">
                          <a:latin typeface="+mn-lt"/>
                          <a:ea typeface="Verdana" panose="020B0604030504040204" pitchFamily="34" charset="0"/>
                          <a:cs typeface="Verdana" panose="020B0604030504040204" pitchFamily="34" charset="0"/>
                        </a:rPr>
                        <a:t>Solution detailed design will follow MW cyber security standards</a:t>
                      </a:r>
                    </a:p>
                  </a:txBody>
                  <a:tcPr marL="121920" marR="121920" marT="60960" marB="60960" anchor="ctr">
                    <a:solidFill>
                      <a:schemeClr val="bg1"/>
                    </a:solidFill>
                  </a:tcPr>
                </a:tc>
                <a:extLst>
                  <a:ext uri="{0D108BD9-81ED-4DB2-BD59-A6C34878D82A}">
                    <a16:rowId xmlns:a16="http://schemas.microsoft.com/office/drawing/2014/main" val="10005"/>
                  </a:ext>
                </a:extLst>
              </a:tr>
              <a:tr h="581999">
                <a:tc>
                  <a:txBody>
                    <a:bodyPr/>
                    <a:lstStyle/>
                    <a:p>
                      <a:pPr algn="ctr">
                        <a:spcAft>
                          <a:spcPts val="0"/>
                        </a:spcAft>
                      </a:pPr>
                      <a:r>
                        <a:rPr lang="en-AU" sz="1400" b="0" kern="1200" dirty="0">
                          <a:solidFill>
                            <a:schemeClr val="tx1"/>
                          </a:solidFill>
                          <a:effectLst/>
                          <a:latin typeface="+mn-lt"/>
                          <a:ea typeface="Verdana" panose="020B0604030504040204" pitchFamily="34" charset="0"/>
                          <a:cs typeface="Verdana" panose="020B0604030504040204" pitchFamily="34" charset="0"/>
                        </a:rPr>
                        <a:t>Architect</a:t>
                      </a:r>
                      <a:r>
                        <a:rPr lang="en-AU" sz="1400" b="0" kern="1200" baseline="0" dirty="0">
                          <a:solidFill>
                            <a:schemeClr val="tx1"/>
                          </a:solidFill>
                          <a:effectLst/>
                          <a:latin typeface="+mn-lt"/>
                          <a:ea typeface="Verdana" panose="020B0604030504040204" pitchFamily="34" charset="0"/>
                          <a:cs typeface="Verdana" panose="020B0604030504040204" pitchFamily="34" charset="0"/>
                        </a:rPr>
                        <a:t> for adaptability</a:t>
                      </a:r>
                      <a:endParaRPr lang="en-AU" sz="1400" b="0" kern="1200" dirty="0">
                        <a:solidFill>
                          <a:schemeClr val="tx1"/>
                        </a:solidFill>
                        <a:effectLst/>
                        <a:latin typeface="+mn-lt"/>
                        <a:ea typeface="Verdana" panose="020B0604030504040204" pitchFamily="34" charset="0"/>
                        <a:cs typeface="Verdana" panose="020B0604030504040204" pitchFamily="34" charset="0"/>
                      </a:endParaRPr>
                    </a:p>
                  </a:txBody>
                  <a:tcPr marL="84421" marR="84421" marT="0" marB="0" anchor="ctr">
                    <a:solidFill>
                      <a:schemeClr val="bg1"/>
                    </a:solidFill>
                  </a:tcPr>
                </a:tc>
                <a:tc>
                  <a:txBody>
                    <a:bodyPr/>
                    <a:lstStyle/>
                    <a:p>
                      <a:pPr algn="ctr"/>
                      <a:r>
                        <a:rPr lang="en-AU" sz="1400" dirty="0">
                          <a:solidFill>
                            <a:schemeClr val="tx1"/>
                          </a:solidFill>
                          <a:latin typeface="+mn-lt"/>
                          <a:ea typeface="Verdana" panose="020B0604030504040204" pitchFamily="34" charset="0"/>
                          <a:cs typeface="Verdana" panose="020B0604030504040204" pitchFamily="34" charset="0"/>
                        </a:rPr>
                        <a:t>Full</a:t>
                      </a:r>
                    </a:p>
                  </a:txBody>
                  <a:tcPr marL="121920" marR="121920" marT="60960" marB="60960" anchor="ctr">
                    <a:solidFill>
                      <a:schemeClr val="accent3">
                        <a:lumMod val="60000"/>
                        <a:lumOff val="40000"/>
                      </a:schemeClr>
                    </a:solidFill>
                  </a:tcPr>
                </a:tc>
                <a:tc>
                  <a:txBody>
                    <a:bodyPr/>
                    <a:lstStyle/>
                    <a:p>
                      <a:pPr algn="l"/>
                      <a:r>
                        <a:rPr lang="en-AU" sz="1400" baseline="0" dirty="0">
                          <a:latin typeface="+mn-lt"/>
                          <a:ea typeface="Verdana" panose="020B0604030504040204" pitchFamily="34" charset="0"/>
                          <a:cs typeface="Verdana" panose="020B0604030504040204" pitchFamily="34" charset="0"/>
                        </a:rPr>
                        <a:t>3-tier solution architecture (model, view, control) allows for ease of reconfiguration of the system in future if needed</a:t>
                      </a:r>
                    </a:p>
                  </a:txBody>
                  <a:tcPr marL="121920" marR="121920" marT="60960" marB="60960" anchor="ctr">
                    <a:solidFill>
                      <a:schemeClr val="bg1"/>
                    </a:solidFill>
                  </a:tcPr>
                </a:tc>
                <a:extLst>
                  <a:ext uri="{0D108BD9-81ED-4DB2-BD59-A6C34878D82A}">
                    <a16:rowId xmlns:a16="http://schemas.microsoft.com/office/drawing/2014/main" val="10006"/>
                  </a:ext>
                </a:extLst>
              </a:tr>
              <a:tr h="567804">
                <a:tc>
                  <a:txBody>
                    <a:bodyPr/>
                    <a:lstStyle/>
                    <a:p>
                      <a:pPr algn="ctr">
                        <a:spcAft>
                          <a:spcPts val="0"/>
                        </a:spcAft>
                      </a:pPr>
                      <a:r>
                        <a:rPr lang="en-AU" sz="1400" b="0" kern="1200" dirty="0">
                          <a:solidFill>
                            <a:schemeClr val="tx1"/>
                          </a:solidFill>
                          <a:effectLst/>
                          <a:latin typeface="+mn-lt"/>
                          <a:ea typeface="Verdana" panose="020B0604030504040204" pitchFamily="34" charset="0"/>
                          <a:cs typeface="Verdana" panose="020B0604030504040204" pitchFamily="34" charset="0"/>
                        </a:rPr>
                        <a:t>Solutions are designed to be user-centred,</a:t>
                      </a:r>
                      <a:r>
                        <a:rPr lang="en-AU" sz="1400" b="0" kern="1200" baseline="0" dirty="0">
                          <a:solidFill>
                            <a:schemeClr val="tx1"/>
                          </a:solidFill>
                          <a:effectLst/>
                          <a:latin typeface="+mn-lt"/>
                          <a:ea typeface="Verdana" panose="020B0604030504040204" pitchFamily="34" charset="0"/>
                          <a:cs typeface="Verdana" panose="020B0604030504040204" pitchFamily="34" charset="0"/>
                        </a:rPr>
                        <a:t> accessible and usable.</a:t>
                      </a:r>
                      <a:endParaRPr lang="en-AU" sz="1400" b="0" kern="1200" dirty="0">
                        <a:solidFill>
                          <a:schemeClr val="tx1"/>
                        </a:solidFill>
                        <a:effectLst/>
                        <a:latin typeface="+mn-lt"/>
                        <a:ea typeface="Verdana" panose="020B0604030504040204" pitchFamily="34" charset="0"/>
                        <a:cs typeface="Verdana" panose="020B0604030504040204" pitchFamily="34" charset="0"/>
                      </a:endParaRPr>
                    </a:p>
                  </a:txBody>
                  <a:tcPr marL="84421" marR="84421" marT="0" marB="0" anchor="ctr">
                    <a:solidFill>
                      <a:schemeClr val="bg1"/>
                    </a:solidFill>
                  </a:tcPr>
                </a:tc>
                <a:tc>
                  <a:txBody>
                    <a:bodyPr/>
                    <a:lstStyle/>
                    <a:p>
                      <a:pPr algn="ctr"/>
                      <a:r>
                        <a:rPr lang="en-AU" sz="1400" dirty="0">
                          <a:solidFill>
                            <a:schemeClr val="tx1"/>
                          </a:solidFill>
                          <a:latin typeface="+mn-lt"/>
                          <a:ea typeface="Verdana" panose="020B0604030504040204" pitchFamily="34" charset="0"/>
                          <a:cs typeface="Verdana" panose="020B0604030504040204" pitchFamily="34" charset="0"/>
                        </a:rPr>
                        <a:t>Full</a:t>
                      </a:r>
                    </a:p>
                  </a:txBody>
                  <a:tcPr marL="121920" marR="121920" marT="60960" marB="60960" anchor="ctr">
                    <a:solidFill>
                      <a:schemeClr val="accent3">
                        <a:lumMod val="60000"/>
                        <a:lumOff val="40000"/>
                      </a:schemeClr>
                    </a:solidFill>
                  </a:tcPr>
                </a:tc>
                <a:tc>
                  <a:txBody>
                    <a:bodyPr/>
                    <a:lstStyle/>
                    <a:p>
                      <a:pPr algn="l"/>
                      <a:r>
                        <a:rPr lang="en-AU" sz="1400" baseline="0" dirty="0">
                          <a:latin typeface="+mn-lt"/>
                          <a:ea typeface="Verdana" panose="020B0604030504040204" pitchFamily="34" charset="0"/>
                          <a:cs typeface="Verdana" panose="020B0604030504040204" pitchFamily="34" charset="0"/>
                        </a:rPr>
                        <a:t>Will support and enable Melbourne Water’s </a:t>
                      </a:r>
                      <a:r>
                        <a:rPr lang="en-AU" sz="1400" b="0" dirty="0"/>
                        <a:t>accessibility &amp; usability standards and requirements</a:t>
                      </a:r>
                      <a:endParaRPr lang="en-AU" sz="1400" b="0" baseline="0" dirty="0">
                        <a:latin typeface="+mn-lt"/>
                        <a:ea typeface="Verdana" panose="020B0604030504040204" pitchFamily="34" charset="0"/>
                        <a:cs typeface="Verdana" panose="020B0604030504040204" pitchFamily="34" charset="0"/>
                      </a:endParaRPr>
                    </a:p>
                  </a:txBody>
                  <a:tcPr marL="121920" marR="121920" marT="60960" marB="60960" anchor="ctr">
                    <a:solidFill>
                      <a:schemeClr val="bg1"/>
                    </a:solidFill>
                  </a:tcPr>
                </a:tc>
                <a:extLst>
                  <a:ext uri="{0D108BD9-81ED-4DB2-BD59-A6C34878D82A}">
                    <a16:rowId xmlns:a16="http://schemas.microsoft.com/office/drawing/2014/main" val="1387660669"/>
                  </a:ext>
                </a:extLst>
              </a:tr>
            </a:tbl>
          </a:graphicData>
        </a:graphic>
      </p:graphicFrame>
    </p:spTree>
    <p:extLst>
      <p:ext uri="{BB962C8B-B14F-4D97-AF65-F5344CB8AC3E}">
        <p14:creationId xmlns:p14="http://schemas.microsoft.com/office/powerpoint/2010/main" val="444709237"/>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570939" y="1163059"/>
            <a:ext cx="5129015" cy="5119200"/>
          </a:xfrm>
        </p:spPr>
        <p:txBody>
          <a:bodyPr/>
          <a:lstStyle/>
          <a:p>
            <a:pPr marL="304165" indent="-304165">
              <a:buFont typeface="+mj-lt"/>
              <a:buAutoNum type="arabicPeriod"/>
            </a:pPr>
            <a:r>
              <a:rPr lang="en-AU" sz="1400" b="0" dirty="0">
                <a:latin typeface="+mj-lt"/>
                <a:ea typeface="Verdana"/>
              </a:rPr>
              <a:t>The recommendation of this paper is to endorse re-development of the WTP birdwatching application to a production ready solution</a:t>
            </a:r>
          </a:p>
          <a:p>
            <a:pPr marL="304165" indent="-304165">
              <a:buFont typeface="+mj-lt"/>
              <a:buAutoNum type="arabicPeriod"/>
            </a:pPr>
            <a:endParaRPr lang="en-AU" sz="1400" b="0" dirty="0">
              <a:latin typeface="+mn-lt"/>
            </a:endParaRPr>
          </a:p>
          <a:p>
            <a:pPr marL="64770" indent="-304165"/>
            <a:r>
              <a:rPr lang="en-AU" sz="1467" b="0" dirty="0">
                <a:solidFill>
                  <a:schemeClr val="accent2"/>
                </a:solidFill>
                <a:latin typeface="+mn-lt"/>
              </a:rPr>
              <a:t>Implications</a:t>
            </a:r>
          </a:p>
          <a:p>
            <a:pPr marL="342900" indent="-342900">
              <a:buAutoNum type="arabicPeriod"/>
            </a:pPr>
            <a:r>
              <a:rPr lang="en-AU" sz="1400" dirty="0">
                <a:ea typeface="Verdana"/>
              </a:rPr>
              <a:t>Solution will be designed and built by our internal mobile apps team</a:t>
            </a:r>
          </a:p>
          <a:p>
            <a:pPr marL="342900" indent="-342900">
              <a:buAutoNum type="arabicPeriod"/>
            </a:pPr>
            <a:r>
              <a:rPr lang="en-AU" sz="1400" dirty="0">
                <a:ea typeface="Verdana"/>
              </a:rPr>
              <a:t>It is noted the public user authentication will be based on a SQL mechanism. It is recommended to re-visit this in 2 years when the Dynamics CRM and Entra ID B2C capability is available</a:t>
            </a:r>
          </a:p>
          <a:p>
            <a:pPr marL="342900" indent="-342900">
              <a:buAutoNum type="arabicPeriod"/>
            </a:pPr>
            <a:r>
              <a:rPr lang="en-AU" sz="1400" dirty="0">
                <a:ea typeface="Verdana"/>
              </a:rPr>
              <a:t>Note the solution would ideally use the Azure edge security layer for external presentation of APIs.  This is still in development and won’t be available until after April 2026</a:t>
            </a:r>
            <a:endParaRPr lang="en-AU" dirty="0"/>
          </a:p>
          <a:p>
            <a:pPr marL="304165" indent="-304165">
              <a:buFont typeface="+mj-lt"/>
              <a:buAutoNum type="arabicPeriod"/>
            </a:pPr>
            <a:endParaRPr lang="en-AU" sz="1400" b="0" dirty="0">
              <a:latin typeface="+mn-lt"/>
            </a:endParaRPr>
          </a:p>
        </p:txBody>
      </p:sp>
      <p:sp>
        <p:nvSpPr>
          <p:cNvPr id="6" name="Title 1"/>
          <p:cNvSpPr>
            <a:spLocks noGrp="1"/>
          </p:cNvSpPr>
          <p:nvPr>
            <p:ph type="title"/>
          </p:nvPr>
        </p:nvSpPr>
        <p:spPr>
          <a:xfrm>
            <a:off x="495301" y="0"/>
            <a:ext cx="2493433" cy="796925"/>
          </a:xfrm>
        </p:spPr>
        <p:txBody>
          <a:bodyPr/>
          <a:lstStyle/>
          <a:p>
            <a:r>
              <a:rPr lang="en-AU" sz="2400" dirty="0"/>
              <a:t>Recommendation</a:t>
            </a:r>
          </a:p>
        </p:txBody>
      </p:sp>
      <p:cxnSp>
        <p:nvCxnSpPr>
          <p:cNvPr id="7" name="Straight Connector 6"/>
          <p:cNvCxnSpPr/>
          <p:nvPr/>
        </p:nvCxnSpPr>
        <p:spPr>
          <a:xfrm>
            <a:off x="6089223" y="1109133"/>
            <a:ext cx="0" cy="5469467"/>
          </a:xfrm>
          <a:prstGeom prst="line">
            <a:avLst/>
          </a:prstGeom>
          <a:ln>
            <a:solidFill>
              <a:srgbClr val="349872"/>
            </a:solidFill>
          </a:ln>
        </p:spPr>
        <p:style>
          <a:lnRef idx="1">
            <a:schemeClr val="accent1"/>
          </a:lnRef>
          <a:fillRef idx="0">
            <a:schemeClr val="accent1"/>
          </a:fillRef>
          <a:effectRef idx="0">
            <a:schemeClr val="accent1"/>
          </a:effectRef>
          <a:fontRef idx="minor">
            <a:schemeClr val="tx1"/>
          </a:fontRef>
        </p:style>
      </p:cxnSp>
      <p:sp>
        <p:nvSpPr>
          <p:cNvPr id="8" name="Title 1"/>
          <p:cNvSpPr txBox="1">
            <a:spLocks/>
          </p:cNvSpPr>
          <p:nvPr/>
        </p:nvSpPr>
        <p:spPr>
          <a:xfrm>
            <a:off x="6352617" y="36240"/>
            <a:ext cx="2493433" cy="796925"/>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1550" kern="1200" spc="-70" baseline="0">
                <a:solidFill>
                  <a:schemeClr val="bg1"/>
                </a:solidFill>
                <a:latin typeface="Verdana" pitchFamily="34" charset="0"/>
                <a:ea typeface="Verdana" pitchFamily="34" charset="0"/>
                <a:cs typeface="Verdana" pitchFamily="34" charset="0"/>
              </a:defRPr>
            </a:lvl1pPr>
          </a:lstStyle>
          <a:p>
            <a:r>
              <a:rPr lang="en-AU" sz="2400" dirty="0"/>
              <a:t>Next Steps</a:t>
            </a:r>
          </a:p>
        </p:txBody>
      </p:sp>
      <p:sp>
        <p:nvSpPr>
          <p:cNvPr id="9" name="Content Placeholder 2"/>
          <p:cNvSpPr txBox="1">
            <a:spLocks/>
          </p:cNvSpPr>
          <p:nvPr/>
        </p:nvSpPr>
        <p:spPr>
          <a:xfrm>
            <a:off x="6352615" y="1109133"/>
            <a:ext cx="5461524" cy="5119200"/>
          </a:xfrm>
          <a:prstGeom prst="rect">
            <a:avLst/>
          </a:prstGeom>
        </p:spPr>
        <p:txBody>
          <a:bodyPr vert="horz" lIns="0" tIns="0" rIns="0" bIns="0" rtlCol="0" anchor="t" anchorCtr="0">
            <a:noAutofit/>
          </a:bodyPr>
          <a:lstStyle>
            <a:lvl1pPr marL="0" indent="0" algn="l" defTabSz="914400" rtl="0" eaLnBrk="1" latinLnBrk="0" hangingPunct="1">
              <a:lnSpc>
                <a:spcPct val="101000"/>
              </a:lnSpc>
              <a:spcBef>
                <a:spcPts val="300"/>
              </a:spcBef>
              <a:spcAft>
                <a:spcPts val="300"/>
              </a:spcAft>
              <a:buFontTx/>
              <a:buNone/>
              <a:defRPr sz="1350" b="1" kern="1200">
                <a:solidFill>
                  <a:schemeClr val="tx2"/>
                </a:solidFill>
                <a:latin typeface="Verdana" pitchFamily="34" charset="0"/>
                <a:ea typeface="Verdana" pitchFamily="34" charset="0"/>
                <a:cs typeface="Verdana" pitchFamily="34" charset="0"/>
              </a:defRPr>
            </a:lvl1pPr>
            <a:lvl2pPr marL="0" indent="0" algn="l" defTabSz="914400" rtl="0" eaLnBrk="1" latinLnBrk="0" hangingPunct="1">
              <a:lnSpc>
                <a:spcPct val="101000"/>
              </a:lnSpc>
              <a:spcBef>
                <a:spcPts val="600"/>
              </a:spcBef>
              <a:spcAft>
                <a:spcPts val="600"/>
              </a:spcAft>
              <a:buFontTx/>
              <a:buNone/>
              <a:defRPr sz="1350" kern="1200" spc="-20" baseline="0">
                <a:solidFill>
                  <a:schemeClr val="tx2"/>
                </a:solidFill>
                <a:latin typeface="Verdana" pitchFamily="34" charset="0"/>
                <a:ea typeface="Verdana" pitchFamily="34" charset="0"/>
                <a:cs typeface="Verdana" pitchFamily="34" charset="0"/>
              </a:defRPr>
            </a:lvl2pPr>
            <a:lvl3pPr marL="261938" indent="-247650" algn="l" defTabSz="914400" rtl="0" eaLnBrk="1" latinLnBrk="0" hangingPunct="1">
              <a:lnSpc>
                <a:spcPct val="101000"/>
              </a:lnSpc>
              <a:spcBef>
                <a:spcPts val="1200"/>
              </a:spcBef>
              <a:buSzPct val="100000"/>
              <a:buFont typeface="Arial" pitchFamily="34" charset="0"/>
              <a:buChar char="•"/>
              <a:defRPr sz="1350" kern="1200" spc="-20" baseline="0">
                <a:solidFill>
                  <a:schemeClr val="tx2"/>
                </a:solidFill>
                <a:latin typeface="Verdana" pitchFamily="34" charset="0"/>
                <a:ea typeface="Verdana" pitchFamily="34" charset="0"/>
                <a:cs typeface="Verdana" pitchFamily="34" charset="0"/>
              </a:defRPr>
            </a:lvl3pPr>
            <a:lvl4pPr marL="514350" indent="-247650" algn="l" defTabSz="914400" rtl="0" eaLnBrk="1" latinLnBrk="0" hangingPunct="1">
              <a:lnSpc>
                <a:spcPct val="101000"/>
              </a:lnSpc>
              <a:spcBef>
                <a:spcPts val="0"/>
              </a:spcBef>
              <a:buSzPct val="100000"/>
              <a:buFont typeface="Arial" pitchFamily="34" charset="0"/>
              <a:buChar char="•"/>
              <a:defRPr sz="1350" kern="1200" spc="-20" baseline="0">
                <a:solidFill>
                  <a:schemeClr val="tx2"/>
                </a:solidFill>
                <a:latin typeface="Verdana" pitchFamily="34" charset="0"/>
                <a:ea typeface="Verdana" pitchFamily="34" charset="0"/>
                <a:cs typeface="Verdana" pitchFamily="34" charset="0"/>
              </a:defRPr>
            </a:lvl4pPr>
            <a:lvl5pPr marL="752475" indent="-247650" algn="l" defTabSz="914400" rtl="0" eaLnBrk="1" latinLnBrk="0" hangingPunct="1">
              <a:lnSpc>
                <a:spcPct val="101000"/>
              </a:lnSpc>
              <a:spcBef>
                <a:spcPts val="0"/>
              </a:spcBef>
              <a:buSzPct val="100000"/>
              <a:buFont typeface="Arial" pitchFamily="34" charset="0"/>
              <a:buChar char="•"/>
              <a:defRPr sz="1350" kern="1200" spc="-20" baseline="0">
                <a:solidFill>
                  <a:schemeClr val="tx2"/>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04165" indent="-304165">
              <a:buAutoNum type="arabicPeriod"/>
            </a:pPr>
            <a:r>
              <a:rPr lang="en-AU" sz="1400" b="0" dirty="0">
                <a:latin typeface="+mn-lt"/>
                <a:ea typeface="Verdana"/>
              </a:rPr>
              <a:t>Solution detailed design</a:t>
            </a:r>
          </a:p>
          <a:p>
            <a:pPr marL="304165" indent="-304165">
              <a:buAutoNum type="arabicPeriod"/>
            </a:pPr>
            <a:r>
              <a:rPr lang="en-AU" sz="1400" b="0" dirty="0">
                <a:latin typeface="+mn-lt"/>
                <a:ea typeface="Verdana"/>
              </a:rPr>
              <a:t> </a:t>
            </a:r>
            <a:endParaRPr lang="en-AU" sz="1400" b="0" dirty="0">
              <a:latin typeface="+mn-lt"/>
            </a:endParaRPr>
          </a:p>
          <a:p>
            <a:endParaRPr lang="en-US" sz="1867" b="0" dirty="0">
              <a:latin typeface="+mn-lt"/>
            </a:endParaRPr>
          </a:p>
          <a:p>
            <a:endParaRPr lang="en-US" sz="1867" b="0" dirty="0">
              <a:latin typeface="+mn-lt"/>
            </a:endParaRPr>
          </a:p>
        </p:txBody>
      </p:sp>
    </p:spTree>
    <p:extLst>
      <p:ext uri="{BB962C8B-B14F-4D97-AF65-F5344CB8AC3E}">
        <p14:creationId xmlns:p14="http://schemas.microsoft.com/office/powerpoint/2010/main" val="2942072971"/>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98C0D-DD98-E25B-4E91-92BE0B436698}"/>
              </a:ext>
            </a:extLst>
          </p:cNvPr>
          <p:cNvSpPr>
            <a:spLocks noGrp="1"/>
          </p:cNvSpPr>
          <p:nvPr>
            <p:ph type="title"/>
          </p:nvPr>
        </p:nvSpPr>
        <p:spPr/>
        <p:txBody>
          <a:bodyPr/>
          <a:lstStyle/>
          <a:p>
            <a:r>
              <a:rPr lang="en-AU"/>
              <a:t>Architecture risks</a:t>
            </a:r>
          </a:p>
        </p:txBody>
      </p:sp>
      <p:sp>
        <p:nvSpPr>
          <p:cNvPr id="3" name="Content Placeholder 2">
            <a:extLst>
              <a:ext uri="{FF2B5EF4-FFF2-40B4-BE49-F238E27FC236}">
                <a16:creationId xmlns:a16="http://schemas.microsoft.com/office/drawing/2014/main" id="{B9A6047D-63FA-A7A5-00CB-08B01C5AD263}"/>
              </a:ext>
            </a:extLst>
          </p:cNvPr>
          <p:cNvSpPr>
            <a:spLocks noGrp="1"/>
          </p:cNvSpPr>
          <p:nvPr>
            <p:ph sz="quarter" idx="10"/>
          </p:nvPr>
        </p:nvSpPr>
        <p:spPr/>
        <p:txBody>
          <a:bodyPr/>
          <a:lstStyle/>
          <a:p>
            <a:r>
              <a:rPr lang="en-AU"/>
              <a:t>Note outcome risks / requirements from TIRA here:</a:t>
            </a:r>
          </a:p>
          <a:p>
            <a:endParaRPr lang="en-AU"/>
          </a:p>
          <a:p>
            <a:r>
              <a:rPr lang="en-AU"/>
              <a:t>Information:</a:t>
            </a:r>
          </a:p>
          <a:p>
            <a:endParaRPr lang="en-AU"/>
          </a:p>
          <a:p>
            <a:r>
              <a:rPr lang="en-AU"/>
              <a:t>Privacy: </a:t>
            </a:r>
          </a:p>
          <a:p>
            <a:endParaRPr lang="en-AU"/>
          </a:p>
          <a:p>
            <a:r>
              <a:rPr lang="en-AU"/>
              <a:t>Cyber security:</a:t>
            </a:r>
          </a:p>
          <a:p>
            <a:endParaRPr lang="en-AU"/>
          </a:p>
        </p:txBody>
      </p:sp>
    </p:spTree>
    <p:extLst>
      <p:ext uri="{BB962C8B-B14F-4D97-AF65-F5344CB8AC3E}">
        <p14:creationId xmlns:p14="http://schemas.microsoft.com/office/powerpoint/2010/main" val="2900208853"/>
      </p:ext>
    </p:extLst>
  </p:cSld>
  <p:clrMapOvr>
    <a:masterClrMapping/>
  </p:clrMapOvr>
  <p:transition spd="slow">
    <p:wipe dir="r"/>
  </p:transition>
</p:sld>
</file>

<file path=ppt/theme/theme1.xml><?xml version="1.0" encoding="utf-8"?>
<a:theme xmlns:a="http://schemas.openxmlformats.org/drawingml/2006/main" name="Melbourne Water Layouts">
  <a:themeElements>
    <a:clrScheme name="MW Palette 1">
      <a:dk1>
        <a:srgbClr val="000000"/>
      </a:dk1>
      <a:lt1>
        <a:srgbClr val="FFFFFF"/>
      </a:lt1>
      <a:dk2>
        <a:srgbClr val="4D4F53"/>
      </a:dk2>
      <a:lt2>
        <a:srgbClr val="B2B4B3"/>
      </a:lt2>
      <a:accent1>
        <a:srgbClr val="0092D7"/>
      </a:accent1>
      <a:accent2>
        <a:srgbClr val="00428B"/>
      </a:accent2>
      <a:accent3>
        <a:srgbClr val="75BB19"/>
      </a:accent3>
      <a:accent4>
        <a:srgbClr val="00967D"/>
      </a:accent4>
      <a:accent5>
        <a:srgbClr val="AAA38E"/>
      </a:accent5>
      <a:accent6>
        <a:srgbClr val="718674"/>
      </a:accent6>
      <a:hlink>
        <a:srgbClr val="3333FF"/>
      </a:hlink>
      <a:folHlink>
        <a:srgbClr val="CC009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635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spcAft>
            <a:spcPts val="600"/>
          </a:spcAft>
          <a:defRPr smtClean="0">
            <a:latin typeface="Verdana" pitchFamily="34" charset="0"/>
            <a:ea typeface="Verdana" pitchFamily="34" charset="0"/>
            <a:cs typeface="Verdana"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0dd0d01-0c82-49ca-9249-22c71f88f61d" xsi:nil="true"/>
    <lcf76f155ced4ddcb4097134ff3c332f xmlns="7a812f58-dfe4-42ee-bb03-4fa2d5cca37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899928667478B43B6C03EC077716DDD" ma:contentTypeVersion="11" ma:contentTypeDescription="Create a new document." ma:contentTypeScope="" ma:versionID="e3c4c02b1406ce47340a61f0e55a31ab">
  <xsd:schema xmlns:xsd="http://www.w3.org/2001/XMLSchema" xmlns:xs="http://www.w3.org/2001/XMLSchema" xmlns:p="http://schemas.microsoft.com/office/2006/metadata/properties" xmlns:ns2="7a812f58-dfe4-42ee-bb03-4fa2d5cca37a" xmlns:ns3="d0dd0d01-0c82-49ca-9249-22c71f88f61d" targetNamespace="http://schemas.microsoft.com/office/2006/metadata/properties" ma:root="true" ma:fieldsID="31c1996d910ee2cdecb5c73cd6c83cc7" ns2:_="" ns3:_="">
    <xsd:import namespace="7a812f58-dfe4-42ee-bb03-4fa2d5cca37a"/>
    <xsd:import namespace="d0dd0d01-0c82-49ca-9249-22c71f88f6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812f58-dfe4-42ee-bb03-4fa2d5cca3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cd3dfc-bda3-408c-b55f-d8b2e2a7c8d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0dd0d01-0c82-49ca-9249-22c71f88f61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80a52c1-fa2b-4f4a-9615-8ba9b99ca1bd}" ma:internalName="TaxCatchAll" ma:showField="CatchAllData" ma:web="d0dd0d01-0c82-49ca-9249-22c71f88f6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B48DEF-3B9A-4CBE-939F-5DE27CF4019A}">
  <ds:schemaRefs>
    <ds:schemaRef ds:uri="d0dd0d01-0c82-49ca-9249-22c71f88f61d"/>
    <ds:schemaRef ds:uri="7a812f58-dfe4-42ee-bb03-4fa2d5cca37a"/>
    <ds:schemaRef ds:uri="http://purl.org/dc/terms/"/>
    <ds:schemaRef ds:uri="http://purl.org/dc/dcmitype/"/>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D2855A7-5321-466A-9053-E1419517DE6F}">
  <ds:schemaRefs>
    <ds:schemaRef ds:uri="http://schemas.microsoft.com/sharepoint/v3/contenttype/forms"/>
  </ds:schemaRefs>
</ds:datastoreItem>
</file>

<file path=customXml/itemProps3.xml><?xml version="1.0" encoding="utf-8"?>
<ds:datastoreItem xmlns:ds="http://schemas.openxmlformats.org/officeDocument/2006/customXml" ds:itemID="{977853E1-BBD2-4C1A-88FA-2E4906BA3A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812f58-dfe4-42ee-bb03-4fa2d5cca37a"/>
    <ds:schemaRef ds:uri="d0dd0d01-0c82-49ca-9249-22c71f88f6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2111</TotalTime>
  <Words>1486</Words>
  <Application>Microsoft Office PowerPoint</Application>
  <PresentationFormat>Widescreen</PresentationFormat>
  <Paragraphs>275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Verdana</vt:lpstr>
      <vt:lpstr>Melbourne Water Layouts</vt:lpstr>
      <vt:lpstr>Architecture Presentation</vt:lpstr>
      <vt:lpstr>Executive Summary</vt:lpstr>
      <vt:lpstr>Strategic Context</vt:lpstr>
      <vt:lpstr>Strategic Context (multiple, 2 slides ideal)</vt:lpstr>
      <vt:lpstr>WTP birdwatching location</vt:lpstr>
      <vt:lpstr>Functional use case</vt:lpstr>
      <vt:lpstr>Target State – Systems landscape</vt:lpstr>
      <vt:lpstr>Target State – Systems landscape Alternative network path</vt:lpstr>
      <vt:lpstr>Key Decision 1:</vt:lpstr>
      <vt:lpstr>Key Decision 1: Principles Alignment</vt:lpstr>
      <vt:lpstr>Recommendation</vt:lpstr>
      <vt:lpstr>Architecture risks</vt:lpstr>
    </vt:vector>
  </TitlesOfParts>
  <Manager>Sneep Badwal</Manager>
  <Company>Melbourne Water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AGA - WTP Birdwatching App</dc:title>
  <dc:subject>AGA - WTP Birdwatching App</dc:subject>
  <dc:creator>Gary Franks</dc:creator>
  <cp:lastModifiedBy>Floyd Reyes</cp:lastModifiedBy>
  <cp:revision>107</cp:revision>
  <dcterms:created xsi:type="dcterms:W3CDTF">2019-09-22T23:03:43Z</dcterms:created>
  <dcterms:modified xsi:type="dcterms:W3CDTF">2026-03-24T03:55:03Z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0x0101006899928667478B43B6C03EC077716DDD</vt:lpwstr>
  </property>
  <property fmtid="{D5CDD505-2E9C-101B-9397-08002B2CF9AE}" pid="3" name="MediaServiceImageTags">
    <vt:lpwstr/>
  </property>
  <property fmtid="{D5CDD505-2E9C-101B-9397-08002B2CF9AE}" pid="4" name="MSIP_Label_8d1a0ea4-6344-45fe-bd17-9bfc2ab6afb4_Enabled">
    <vt:lpwstr>true</vt:lpwstr>
  </property>
  <property fmtid="{D5CDD505-2E9C-101B-9397-08002B2CF9AE}" pid="5" name="MSIP_Label_8d1a0ea4-6344-45fe-bd17-9bfc2ab6afb4_SetDate">
    <vt:lpwstr>2025-01-21T03:37:36Z</vt:lpwstr>
  </property>
  <property fmtid="{D5CDD505-2E9C-101B-9397-08002B2CF9AE}" pid="6" name="MSIP_Label_8d1a0ea4-6344-45fe-bd17-9bfc2ab6afb4_Method">
    <vt:lpwstr>Standard</vt:lpwstr>
  </property>
  <property fmtid="{D5CDD505-2E9C-101B-9397-08002B2CF9AE}" pid="7" name="MSIP_Label_8d1a0ea4-6344-45fe-bd17-9bfc2ab6afb4_Name">
    <vt:lpwstr>OFFICIAL</vt:lpwstr>
  </property>
  <property fmtid="{D5CDD505-2E9C-101B-9397-08002B2CF9AE}" pid="8" name="MSIP_Label_8d1a0ea4-6344-45fe-bd17-9bfc2ab6afb4_SiteId">
    <vt:lpwstr>fe26127b-78ee-42c7-803e-4d67c0488cf9</vt:lpwstr>
  </property>
  <property fmtid="{D5CDD505-2E9C-101B-9397-08002B2CF9AE}" pid="9" name="MSIP_Label_8d1a0ea4-6344-45fe-bd17-9bfc2ab6afb4_ActionId">
    <vt:lpwstr>c0c840b6-57e8-4e5e-b2db-2047dd9754cb</vt:lpwstr>
  </property>
  <property fmtid="{D5CDD505-2E9C-101B-9397-08002B2CF9AE}" pid="10" name="MSIP_Label_8d1a0ea4-6344-45fe-bd17-9bfc2ab6afb4_ContentBits">
    <vt:lpwstr>1</vt:lpwstr>
  </property>
  <property fmtid="{D5CDD505-2E9C-101B-9397-08002B2CF9AE}" pid="11" name="MSIP_Label_8d1a0ea4-6344-45fe-bd17-9bfc2ab6afb4_Tag">
    <vt:lpwstr>10, 3, 0, 2</vt:lpwstr>
  </property>
  <property fmtid="{D5CDD505-2E9C-101B-9397-08002B2CF9AE}" pid="12" name="ClassificationContentMarkingHeaderLocations">
    <vt:lpwstr>Melbourne Water Layouts:7</vt:lpwstr>
  </property>
  <property fmtid="{D5CDD505-2E9C-101B-9397-08002B2CF9AE}" pid="13" name="ClassificationContentMarkingHeaderText">
    <vt:lpwstr>OFFICIAL</vt:lpwstr>
  </property>
</Properties>
</file>